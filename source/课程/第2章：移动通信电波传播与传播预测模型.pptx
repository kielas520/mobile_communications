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350" r:id="rId4"/>
    <p:sldId id="258" r:id="rId5"/>
    <p:sldId id="351" r:id="rId6"/>
    <p:sldId id="352" r:id="rId7"/>
    <p:sldId id="353" r:id="rId8"/>
    <p:sldId id="262" r:id="rId9"/>
    <p:sldId id="355" r:id="rId10"/>
    <p:sldId id="356" r:id="rId11"/>
    <p:sldId id="357" r:id="rId12"/>
    <p:sldId id="358" r:id="rId13"/>
    <p:sldId id="359" r:id="rId14"/>
    <p:sldId id="360" r:id="rId15"/>
    <p:sldId id="361" r:id="rId16"/>
    <p:sldId id="368" r:id="rId17"/>
    <p:sldId id="263" r:id="rId18"/>
    <p:sldId id="265" r:id="rId19"/>
    <p:sldId id="266" r:id="rId20"/>
    <p:sldId id="267" r:id="rId21"/>
    <p:sldId id="268" r:id="rId22"/>
    <p:sldId id="363" r:id="rId23"/>
    <p:sldId id="270" r:id="rId24"/>
    <p:sldId id="364" r:id="rId25"/>
    <p:sldId id="271" r:id="rId26"/>
    <p:sldId id="272" r:id="rId27"/>
    <p:sldId id="370" r:id="rId28"/>
    <p:sldId id="369" r:id="rId29"/>
    <p:sldId id="273" r:id="rId30"/>
    <p:sldId id="276" r:id="rId31"/>
    <p:sldId id="277" r:id="rId32"/>
    <p:sldId id="279" r:id="rId33"/>
    <p:sldId id="373" r:id="rId34"/>
    <p:sldId id="283" r:id="rId35"/>
    <p:sldId id="318" r:id="rId36"/>
    <p:sldId id="374" r:id="rId37"/>
    <p:sldId id="375" r:id="rId38"/>
    <p:sldId id="376" r:id="rId39"/>
    <p:sldId id="372" r:id="rId40"/>
    <p:sldId id="371" r:id="rId41"/>
    <p:sldId id="319" r:id="rId42"/>
    <p:sldId id="320" r:id="rId43"/>
    <p:sldId id="365" r:id="rId44"/>
    <p:sldId id="321" r:id="rId45"/>
    <p:sldId id="333" r:id="rId4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7" d="100"/>
          <a:sy n="87" d="100"/>
        </p:scale>
        <p:origin x="-876" y="-7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13.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7.wmf"/><Relationship Id="rId1" Type="http://schemas.openxmlformats.org/officeDocument/2006/relationships/image" Target="../media/image6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269923"/>
            <a:ext cx="7406640" cy="1104138"/>
          </a:xfrm>
        </p:spPr>
        <p:txBody>
          <a:bodyPr anchor="b"/>
          <a:lstStyle>
            <a:lvl1pPr algn="l">
              <a:defRPr/>
            </a:lvl1pPr>
          </a:lstStyle>
          <a:p>
            <a:r>
              <a:rPr kumimoji="0" lang="zh-CN" altLang="en-US" smtClean="0"/>
              <a:t>单击此处编辑母版标题样式</a:t>
            </a:r>
            <a:endParaRPr kumimoji="0" lang="en-US"/>
          </a:p>
        </p:txBody>
      </p:sp>
      <p:sp>
        <p:nvSpPr>
          <p:cNvPr id="22" name="副标题 21"/>
          <p:cNvSpPr>
            <a:spLocks noGrp="1"/>
          </p:cNvSpPr>
          <p:nvPr>
            <p:ph type="subTitle" idx="1"/>
          </p:nvPr>
        </p:nvSpPr>
        <p:spPr>
          <a:xfrm>
            <a:off x="1432560" y="1387548"/>
            <a:ext cx="7406640" cy="131445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7" name="日期占位符 6"/>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B78DFF7E-7004-46E6-B1F8-C73F83B32ACC}" type="slidenum">
              <a:rPr lang="zh-CN" altLang="en-US" smtClean="0"/>
            </a:fld>
            <a:endParaRPr lang="zh-CN" altLang="en-US"/>
          </a:p>
        </p:txBody>
      </p:sp>
      <p:sp>
        <p:nvSpPr>
          <p:cNvPr id="8" name="椭圆 7"/>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008762"/>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矩形 6"/>
          <p:cNvSpPr/>
          <p:nvPr/>
        </p:nvSpPr>
        <p:spPr>
          <a:xfrm>
            <a:off x="2282890" y="-41"/>
            <a:ext cx="6858000"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1950244"/>
            <a:ext cx="6400800" cy="1714500"/>
          </a:xfrm>
        </p:spPr>
        <p:txBody>
          <a:bodyPr anchor="t"/>
          <a:lstStyle>
            <a:lvl1pPr algn="l">
              <a:lnSpc>
                <a:spcPts val="4500"/>
              </a:lnSpc>
              <a:buNone/>
              <a:defRPr sz="4000" b="1"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2578392" y="800100"/>
            <a:ext cx="6400800" cy="1132284"/>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8DFF7E-7004-46E6-B1F8-C73F83B32ACC}" type="slidenum">
              <a:rPr lang="zh-CN" altLang="en-US" smtClean="0"/>
            </a:fld>
            <a:endParaRPr lang="zh-CN" altLang="en-US"/>
          </a:p>
        </p:txBody>
      </p:sp>
      <p:sp>
        <p:nvSpPr>
          <p:cNvPr id="10" name="矩形 9"/>
          <p:cNvSpPr/>
          <p:nvPr/>
        </p:nvSpPr>
        <p:spPr bwMode="invGray">
          <a:xfrm>
            <a:off x="2286000" y="0"/>
            <a:ext cx="76200"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059403"/>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05740"/>
            <a:ext cx="7498080" cy="85725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870252"/>
            <a:ext cx="8229600" cy="857250"/>
          </a:xfrm>
        </p:spPr>
        <p:txBody>
          <a:bodyPr anchor="ctr"/>
          <a:lstStyle>
            <a:lvl1pPr algn="ctr">
              <a:defRPr sz="4500" b="1"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727002"/>
            <a:ext cx="4023360" cy="30861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63440" y="727002"/>
            <a:ext cx="4023360" cy="30861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05740"/>
            <a:ext cx="7498080" cy="857250"/>
          </a:xfrm>
        </p:spPr>
        <p:txBody>
          <a:bodyPr anchor="ct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矩形 4"/>
          <p:cNvSpPr/>
          <p:nvPr/>
        </p:nvSpPr>
        <p:spPr>
          <a:xfrm>
            <a:off x="1014984" y="0"/>
            <a:ext cx="8129016"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78DFF7E-7004-46E6-B1F8-C73F83B32ACC}" type="slidenum">
              <a:rPr lang="zh-CN" altLang="en-US" smtClean="0"/>
            </a:fld>
            <a:endParaRPr lang="zh-CN" altLang="en-US"/>
          </a:p>
        </p:txBody>
      </p:sp>
      <p:sp>
        <p:nvSpPr>
          <p:cNvPr id="6" name="矩形 5"/>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800100"/>
            <a:ext cx="2743200" cy="1485900"/>
          </a:xfrm>
        </p:spPr>
        <p:txBody>
          <a:bodyPr anchor="b">
            <a:noAutofit/>
          </a:bodyPr>
          <a:lstStyle>
            <a:lvl1pPr algn="l">
              <a:buNone/>
              <a:defRPr sz="2100" b="1">
                <a:effectLst/>
              </a:defRPr>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8DFF7E-7004-46E6-B1F8-C73F83B32ACC}" type="slidenum">
              <a:rPr lang="zh-CN" altLang="en-US" smtClean="0"/>
            </a:fld>
            <a:endParaRPr lang="zh-CN" altLang="en-US"/>
          </a:p>
        </p:txBody>
      </p:sp>
      <p:sp>
        <p:nvSpPr>
          <p:cNvPr id="8" name="矩形 7"/>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zh-CN" altLang="en-US" smtClean="0"/>
              <a:t>单击图标添加图片</a:t>
            </a:r>
            <a:endParaRPr kumimoji="0" lang="en-US" dirty="0"/>
          </a:p>
        </p:txBody>
      </p:sp>
      <p:sp>
        <p:nvSpPr>
          <p:cNvPr id="9" name="流程图: 过程 8"/>
          <p:cNvSpPr/>
          <p:nvPr/>
        </p:nvSpPr>
        <p:spPr>
          <a:xfrm rot="19468671">
            <a:off x="396725" y="715756"/>
            <a:ext cx="685800"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702589"/>
            <a:ext cx="649224"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Tree>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05980"/>
            <a:ext cx="1828800" cy="4388644"/>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1143000" y="205980"/>
            <a:ext cx="5562600" cy="4388644"/>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74817FDD-E2E8-4567-9204-02A3346181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8DFF7E-7004-46E6-B1F8-C73F83B32ACC}" type="slidenum">
              <a:rPr lang="zh-CN" altLang="en-US" smtClean="0"/>
            </a:fld>
            <a:endParaRPr lang="zh-CN" altLang="en-US"/>
          </a:p>
        </p:txBody>
      </p:sp>
    </p:spTree>
  </p:cSld>
  <p:clrMapOvr>
    <a:masterClrMapping/>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171450"/>
            <a:ext cx="8540750" cy="857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200151"/>
            <a:ext cx="4000500" cy="337423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762500" y="1200150"/>
            <a:ext cx="4000500" cy="162996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762500" y="2944416"/>
            <a:ext cx="4000500" cy="162996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a:xfrm>
            <a:off x="298451" y="4683919"/>
            <a:ext cx="2289175" cy="357188"/>
          </a:xfrm>
        </p:spPr>
        <p:txBody>
          <a:bodyPr/>
          <a:lstStyle>
            <a:lvl1pPr>
              <a:defRPr/>
            </a:lvl1pPr>
          </a:lstStyle>
          <a:p>
            <a:endParaRPr lang="en-US" altLang="zh-CN"/>
          </a:p>
        </p:txBody>
      </p:sp>
      <p:sp>
        <p:nvSpPr>
          <p:cNvPr id="7" name="页脚占位符 6"/>
          <p:cNvSpPr>
            <a:spLocks noGrp="1"/>
          </p:cNvSpPr>
          <p:nvPr>
            <p:ph type="ftr" sz="quarter" idx="11"/>
          </p:nvPr>
        </p:nvSpPr>
        <p:spPr>
          <a:xfrm>
            <a:off x="3121025" y="4683919"/>
            <a:ext cx="2895600" cy="357188"/>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0025" y="4683919"/>
            <a:ext cx="2289175" cy="357188"/>
          </a:xfrm>
        </p:spPr>
        <p:txBody>
          <a:bodyPr/>
          <a:lstStyle>
            <a:lvl1pPr>
              <a:defRPr/>
            </a:lvl1pPr>
          </a:lstStyle>
          <a:p>
            <a:fld id="{C9C55E78-FD7C-4372-9D62-E4FB50B7C55C}" type="slidenum">
              <a:rPr lang="en-US" altLang="zh-CN"/>
            </a:fld>
            <a:endParaRPr lang="en-US" altLang="zh-CN"/>
          </a:p>
        </p:txBody>
      </p:sp>
    </p:spTree>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171450"/>
            <a:ext cx="8540750" cy="857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200151"/>
            <a:ext cx="4000500" cy="337423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2500" y="1200151"/>
            <a:ext cx="4000500" cy="337423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298451" y="4683919"/>
            <a:ext cx="2289175" cy="357188"/>
          </a:xfrm>
        </p:spPr>
        <p:txBody>
          <a:bodyPr/>
          <a:lstStyle>
            <a:lvl1pPr>
              <a:defRPr/>
            </a:lvl1pPr>
          </a:lstStyle>
          <a:p>
            <a:endParaRPr lang="en-US" altLang="zh-CN"/>
          </a:p>
        </p:txBody>
      </p:sp>
      <p:sp>
        <p:nvSpPr>
          <p:cNvPr id="6" name="页脚占位符 5"/>
          <p:cNvSpPr>
            <a:spLocks noGrp="1"/>
          </p:cNvSpPr>
          <p:nvPr>
            <p:ph type="ftr" sz="quarter" idx="11"/>
          </p:nvPr>
        </p:nvSpPr>
        <p:spPr>
          <a:xfrm>
            <a:off x="3121025" y="4683919"/>
            <a:ext cx="2895600" cy="357188"/>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0025" y="4683919"/>
            <a:ext cx="2289175" cy="357188"/>
          </a:xfrm>
        </p:spPr>
        <p:txBody>
          <a:bodyPr/>
          <a:lstStyle>
            <a:lvl1pPr>
              <a:defRPr/>
            </a:lvl1pPr>
          </a:lstStyle>
          <a:p>
            <a:fld id="{FF148E82-DD12-4894-9228-371CBEE85EFD}" type="slidenum">
              <a:rPr lang="en-US" altLang="zh-CN"/>
            </a:fld>
            <a:endParaRPr lang="en-US" altLang="zh-CN"/>
          </a:p>
        </p:txBody>
      </p:sp>
    </p:spTree>
  </p:cSld>
  <p:clrMapOvr>
    <a:masterClrMapping/>
  </p:clrMapOvr>
  <p:transition>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611941"/>
            <a:ext cx="1638887" cy="1229165"/>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7" y="15827"/>
            <a:ext cx="1702191" cy="127664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2"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4" y="-41"/>
            <a:ext cx="8131127"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05979"/>
            <a:ext cx="7498080" cy="857250"/>
          </a:xfrm>
          <a:prstGeom prst="rect">
            <a:avLst/>
          </a:prstGeom>
        </p:spPr>
        <p:txBody>
          <a:bodyPr anchor="ctr">
            <a:normAutofit/>
          </a:bodyPr>
          <a:lstStyle/>
          <a:p>
            <a:r>
              <a:rPr kumimoji="0" lang="zh-CN" altLang="en-US" smtClean="0"/>
              <a:t>单击此处编辑母版标题样式</a:t>
            </a:r>
            <a:endParaRPr kumimoji="0" lang="en-US"/>
          </a:p>
        </p:txBody>
      </p:sp>
      <p:sp>
        <p:nvSpPr>
          <p:cNvPr id="9" name="文本占位符 8"/>
          <p:cNvSpPr>
            <a:spLocks noGrp="1"/>
          </p:cNvSpPr>
          <p:nvPr>
            <p:ph type="body" idx="1"/>
          </p:nvPr>
        </p:nvSpPr>
        <p:spPr>
          <a:xfrm>
            <a:off x="1435608" y="1085850"/>
            <a:ext cx="7498080" cy="3600450"/>
          </a:xfrm>
          <a:prstGeom prst="rect">
            <a:avLst/>
          </a:prstGeom>
        </p:spPr>
        <p:txBody>
          <a:bodyPr>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24" name="日期占位符 23"/>
          <p:cNvSpPr>
            <a:spLocks noGrp="1"/>
          </p:cNvSpPr>
          <p:nvPr>
            <p:ph type="dt" sz="half" idx="2"/>
          </p:nvPr>
        </p:nvSpPr>
        <p:spPr>
          <a:xfrm>
            <a:off x="3581400" y="4729162"/>
            <a:ext cx="2133600" cy="357188"/>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74817FDD-E2E8-4567-9204-02A33461818C}" type="datetimeFigureOut">
              <a:rPr lang="zh-CN" altLang="en-US" smtClean="0"/>
            </a:fld>
            <a:endParaRPr lang="zh-CN" altLang="en-US"/>
          </a:p>
        </p:txBody>
      </p:sp>
      <p:sp>
        <p:nvSpPr>
          <p:cNvPr id="10" name="页脚占位符 9"/>
          <p:cNvSpPr>
            <a:spLocks noGrp="1"/>
          </p:cNvSpPr>
          <p:nvPr>
            <p:ph type="ftr" sz="quarter" idx="3"/>
          </p:nvPr>
        </p:nvSpPr>
        <p:spPr>
          <a:xfrm>
            <a:off x="5715000" y="4729162"/>
            <a:ext cx="2895600" cy="357188"/>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p>
        </p:txBody>
      </p:sp>
      <p:sp>
        <p:nvSpPr>
          <p:cNvPr id="22" name="灯片编号占位符 21"/>
          <p:cNvSpPr>
            <a:spLocks noGrp="1"/>
          </p:cNvSpPr>
          <p:nvPr>
            <p:ph type="sldNum" sz="quarter" idx="4"/>
          </p:nvPr>
        </p:nvSpPr>
        <p:spPr>
          <a:xfrm>
            <a:off x="8613648" y="4729162"/>
            <a:ext cx="457200" cy="357188"/>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B78DFF7E-7004-46E6-B1F8-C73F83B32ACC}" type="slidenum">
              <a:rPr lang="zh-CN" altLang="en-US" smtClean="0"/>
            </a:fld>
            <a:endParaRPr lang="zh-CN" altLang="en-US"/>
          </a:p>
        </p:txBody>
      </p:sp>
      <p:sp>
        <p:nvSpPr>
          <p:cNvPr id="15" name="矩形 14"/>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d"/>
  </p:transition>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GI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6.png"/><Relationship Id="rId2" Type="http://schemas.openxmlformats.org/officeDocument/2006/relationships/image" Target="../media/image2.GIF"/><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image" Target="../media/image9.wmf"/><Relationship Id="rId8" Type="http://schemas.openxmlformats.org/officeDocument/2006/relationships/oleObject" Target="../embeddings/oleObject3.bin"/><Relationship Id="rId7" Type="http://schemas.openxmlformats.org/officeDocument/2006/relationships/image" Target="../media/image8.wmf"/><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 Id="rId3" Type="http://schemas.openxmlformats.org/officeDocument/2006/relationships/image" Target="../media/image6.png"/><Relationship Id="rId2" Type="http://schemas.openxmlformats.org/officeDocument/2006/relationships/image" Target="../media/image2.GIF"/><Relationship Id="rId13" Type="http://schemas.openxmlformats.org/officeDocument/2006/relationships/vmlDrawing" Target="../drawings/vmlDrawing1.vml"/><Relationship Id="rId12" Type="http://schemas.openxmlformats.org/officeDocument/2006/relationships/slideLayout" Target="../slideLayouts/slideLayout4.xml"/><Relationship Id="rId11" Type="http://schemas.openxmlformats.org/officeDocument/2006/relationships/image" Target="../media/image10.wmf"/><Relationship Id="rId10" Type="http://schemas.openxmlformats.org/officeDocument/2006/relationships/oleObject" Target="../embeddings/oleObject4.bin"/><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9" Type="http://schemas.openxmlformats.org/officeDocument/2006/relationships/image" Target="../media/image9.wmf"/><Relationship Id="rId8" Type="http://schemas.openxmlformats.org/officeDocument/2006/relationships/oleObject" Target="../embeddings/oleObject7.bin"/><Relationship Id="rId7" Type="http://schemas.openxmlformats.org/officeDocument/2006/relationships/image" Target="../media/image8.wmf"/><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 Id="rId3" Type="http://schemas.openxmlformats.org/officeDocument/2006/relationships/image" Target="../media/image6.png"/><Relationship Id="rId2" Type="http://schemas.openxmlformats.org/officeDocument/2006/relationships/image" Target="../media/image2.GIF"/><Relationship Id="rId19" Type="http://schemas.openxmlformats.org/officeDocument/2006/relationships/vmlDrawing" Target="../drawings/vmlDrawing2.vml"/><Relationship Id="rId18" Type="http://schemas.openxmlformats.org/officeDocument/2006/relationships/slideLayout" Target="../slideLayouts/slideLayout4.xml"/><Relationship Id="rId17" Type="http://schemas.openxmlformats.org/officeDocument/2006/relationships/image" Target="../media/image13.wmf"/><Relationship Id="rId16" Type="http://schemas.openxmlformats.org/officeDocument/2006/relationships/oleObject" Target="../embeddings/oleObject11.bin"/><Relationship Id="rId15" Type="http://schemas.openxmlformats.org/officeDocument/2006/relationships/image" Target="../media/image12.wmf"/><Relationship Id="rId14" Type="http://schemas.openxmlformats.org/officeDocument/2006/relationships/oleObject" Target="../embeddings/oleObject10.bin"/><Relationship Id="rId13" Type="http://schemas.openxmlformats.org/officeDocument/2006/relationships/image" Target="../media/image11.wmf"/><Relationship Id="rId12" Type="http://schemas.openxmlformats.org/officeDocument/2006/relationships/oleObject" Target="../embeddings/oleObject9.bin"/><Relationship Id="rId11" Type="http://schemas.openxmlformats.org/officeDocument/2006/relationships/image" Target="../media/image10.wmf"/><Relationship Id="rId10" Type="http://schemas.openxmlformats.org/officeDocument/2006/relationships/oleObject" Target="../embeddings/oleObject8.bin"/><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3.wmf"/><Relationship Id="rId7" Type="http://schemas.openxmlformats.org/officeDocument/2006/relationships/oleObject" Target="../embeddings/oleObject14.bin"/><Relationship Id="rId6" Type="http://schemas.openxmlformats.org/officeDocument/2006/relationships/image" Target="../media/image12.wmf"/><Relationship Id="rId5" Type="http://schemas.openxmlformats.org/officeDocument/2006/relationships/oleObject" Target="../embeddings/oleObject13.bin"/><Relationship Id="rId4" Type="http://schemas.openxmlformats.org/officeDocument/2006/relationships/image" Target="../media/image11.wmf"/><Relationship Id="rId3" Type="http://schemas.openxmlformats.org/officeDocument/2006/relationships/oleObject" Target="../embeddings/oleObject12.bin"/><Relationship Id="rId2" Type="http://schemas.openxmlformats.org/officeDocument/2006/relationships/image" Target="../media/image2.GIF"/><Relationship Id="rId14" Type="http://schemas.openxmlformats.org/officeDocument/2006/relationships/vmlDrawing" Target="../drawings/vmlDrawing3.vml"/><Relationship Id="rId13" Type="http://schemas.openxmlformats.org/officeDocument/2006/relationships/slideLayout" Target="../slideLayouts/slideLayout4.xml"/><Relationship Id="rId12" Type="http://schemas.openxmlformats.org/officeDocument/2006/relationships/image" Target="../media/image15.wmf"/><Relationship Id="rId11" Type="http://schemas.openxmlformats.org/officeDocument/2006/relationships/oleObject" Target="../embeddings/oleObject16.bin"/><Relationship Id="rId10" Type="http://schemas.openxmlformats.org/officeDocument/2006/relationships/image" Target="../media/image14.wmf"/><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6.png"/><Relationship Id="rId2" Type="http://schemas.openxmlformats.org/officeDocument/2006/relationships/image" Target="../media/image2.GIF"/><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4.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oleObject" Target="../embeddings/oleObject17.bin"/><Relationship Id="rId3" Type="http://schemas.openxmlformats.org/officeDocument/2006/relationships/image" Target="../media/image17.png"/><Relationship Id="rId2" Type="http://schemas.openxmlformats.org/officeDocument/2006/relationships/image" Target="../media/image2.GIF"/><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4.xml"/><Relationship Id="rId5" Type="http://schemas.openxmlformats.org/officeDocument/2006/relationships/image" Target="../media/image22.wmf"/><Relationship Id="rId4" Type="http://schemas.openxmlformats.org/officeDocument/2006/relationships/oleObject" Target="../embeddings/oleObject18.bin"/><Relationship Id="rId3" Type="http://schemas.openxmlformats.org/officeDocument/2006/relationships/image" Target="../media/image21.png"/><Relationship Id="rId2" Type="http://schemas.openxmlformats.org/officeDocument/2006/relationships/image" Target="../media/image2.GIF"/><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3.png"/><Relationship Id="rId2" Type="http://schemas.openxmlformats.org/officeDocument/2006/relationships/image" Target="../media/image2.GIF"/><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4.xml"/><Relationship Id="rId7" Type="http://schemas.openxmlformats.org/officeDocument/2006/relationships/image" Target="../media/image25.wmf"/><Relationship Id="rId6" Type="http://schemas.openxmlformats.org/officeDocument/2006/relationships/oleObject" Target="../embeddings/oleObject20.bin"/><Relationship Id="rId5" Type="http://schemas.openxmlformats.org/officeDocument/2006/relationships/image" Target="../media/image24.wmf"/><Relationship Id="rId4" Type="http://schemas.openxmlformats.org/officeDocument/2006/relationships/oleObject" Target="../embeddings/oleObject19.bin"/><Relationship Id="rId3" Type="http://schemas.openxmlformats.org/officeDocument/2006/relationships/image" Target="../media/image23.png"/><Relationship Id="rId2" Type="http://schemas.openxmlformats.org/officeDocument/2006/relationships/image" Target="../media/image2.GIF"/><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GIF"/><Relationship Id="rId7" Type="http://schemas.openxmlformats.org/officeDocument/2006/relationships/image" Target="../media/image29.png"/><Relationship Id="rId6" Type="http://schemas.openxmlformats.org/officeDocument/2006/relationships/image" Target="../media/image28.wmf"/><Relationship Id="rId5" Type="http://schemas.openxmlformats.org/officeDocument/2006/relationships/oleObject" Target="../embeddings/oleObject23.bin"/><Relationship Id="rId4" Type="http://schemas.openxmlformats.org/officeDocument/2006/relationships/image" Target="../media/image27.wmf"/><Relationship Id="rId3" Type="http://schemas.openxmlformats.org/officeDocument/2006/relationships/oleObject" Target="../embeddings/oleObject22.bin"/><Relationship Id="rId2" Type="http://schemas.openxmlformats.org/officeDocument/2006/relationships/image" Target="../media/image26.wmf"/><Relationship Id="rId10" Type="http://schemas.openxmlformats.org/officeDocument/2006/relationships/vmlDrawing" Target="../drawings/vmlDrawing7.vml"/><Relationship Id="rId1"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GIF"/><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27.bin"/><Relationship Id="rId8" Type="http://schemas.openxmlformats.org/officeDocument/2006/relationships/image" Target="../media/image34.wmf"/><Relationship Id="rId7" Type="http://schemas.openxmlformats.org/officeDocument/2006/relationships/oleObject" Target="../embeddings/oleObject26.bin"/><Relationship Id="rId6" Type="http://schemas.openxmlformats.org/officeDocument/2006/relationships/image" Target="../media/image2.GIF"/><Relationship Id="rId5" Type="http://schemas.openxmlformats.org/officeDocument/2006/relationships/image" Target="../media/image33.emf"/><Relationship Id="rId4" Type="http://schemas.openxmlformats.org/officeDocument/2006/relationships/image" Target="../media/image32.wmf"/><Relationship Id="rId3" Type="http://schemas.openxmlformats.org/officeDocument/2006/relationships/oleObject" Target="../embeddings/oleObject25.bin"/><Relationship Id="rId2" Type="http://schemas.openxmlformats.org/officeDocument/2006/relationships/image" Target="../media/image31.wmf"/><Relationship Id="rId12" Type="http://schemas.openxmlformats.org/officeDocument/2006/relationships/vmlDrawing" Target="../drawings/vmlDrawing8.vml"/><Relationship Id="rId11" Type="http://schemas.openxmlformats.org/officeDocument/2006/relationships/slideLayout" Target="../slideLayouts/slideLayout12.xml"/><Relationship Id="rId10" Type="http://schemas.openxmlformats.org/officeDocument/2006/relationships/image" Target="../media/image35.wmf"/><Relationship Id="rId1"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36.emf"/><Relationship Id="rId2" Type="http://schemas.openxmlformats.org/officeDocument/2006/relationships/oleObject" Target="../embeddings/oleObject28.bin"/><Relationship Id="rId1" Type="http://schemas.openxmlformats.org/officeDocument/2006/relationships/image" Target="../media/image2.GIF"/></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36.emf"/><Relationship Id="rId2" Type="http://schemas.openxmlformats.org/officeDocument/2006/relationships/oleObject" Target="../embeddings/oleObject29.bin"/><Relationship Id="rId1" Type="http://schemas.openxmlformats.org/officeDocument/2006/relationships/image" Target="../media/image2.GIF"/></Relationships>
</file>

<file path=ppt/slides/_rels/slide22.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12.xml"/><Relationship Id="rId5" Type="http://schemas.openxmlformats.org/officeDocument/2006/relationships/image" Target="../media/image2.GIF"/><Relationship Id="rId4" Type="http://schemas.openxmlformats.org/officeDocument/2006/relationships/image" Target="../media/image38.emf"/><Relationship Id="rId3" Type="http://schemas.openxmlformats.org/officeDocument/2006/relationships/oleObject" Target="../embeddings/oleObject31.bin"/><Relationship Id="rId2" Type="http://schemas.openxmlformats.org/officeDocument/2006/relationships/image" Target="../media/image37.wmf"/><Relationship Id="rId1"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12.xml"/><Relationship Id="rId5" Type="http://schemas.openxmlformats.org/officeDocument/2006/relationships/image" Target="../media/image2.GIF"/><Relationship Id="rId4" Type="http://schemas.openxmlformats.org/officeDocument/2006/relationships/image" Target="../media/image40.wmf"/><Relationship Id="rId3" Type="http://schemas.openxmlformats.org/officeDocument/2006/relationships/oleObject" Target="../embeddings/oleObject33.bin"/><Relationship Id="rId2" Type="http://schemas.openxmlformats.org/officeDocument/2006/relationships/image" Target="../media/image39.wmf"/><Relationship Id="rId1" Type="http://schemas.openxmlformats.org/officeDocument/2006/relationships/oleObject" Target="../embeddings/oleObject32.bin"/></Relationships>
</file>

<file path=ppt/slides/_rels/slide24.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6.xml"/><Relationship Id="rId7" Type="http://schemas.openxmlformats.org/officeDocument/2006/relationships/image" Target="../media/image43.wmf"/><Relationship Id="rId6" Type="http://schemas.openxmlformats.org/officeDocument/2006/relationships/oleObject" Target="../embeddings/oleObject36.bin"/><Relationship Id="rId5" Type="http://schemas.openxmlformats.org/officeDocument/2006/relationships/image" Target="../media/image42.wmf"/><Relationship Id="rId4" Type="http://schemas.openxmlformats.org/officeDocument/2006/relationships/oleObject" Target="../embeddings/oleObject35.bin"/><Relationship Id="rId3" Type="http://schemas.openxmlformats.org/officeDocument/2006/relationships/image" Target="../media/image41.wmf"/><Relationship Id="rId2" Type="http://schemas.openxmlformats.org/officeDocument/2006/relationships/oleObject" Target="../embeddings/oleObject34.bin"/><Relationship Id="rId1" Type="http://schemas.openxmlformats.org/officeDocument/2006/relationships/image" Target="../media/image2.GIF"/></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2.xml"/><Relationship Id="rId3" Type="http://schemas.openxmlformats.org/officeDocument/2006/relationships/image" Target="../media/image44.wmf"/><Relationship Id="rId2" Type="http://schemas.openxmlformats.org/officeDocument/2006/relationships/oleObject" Target="../embeddings/oleObject37.bin"/><Relationship Id="rId1" Type="http://schemas.openxmlformats.org/officeDocument/2006/relationships/image" Target="../media/image2.GIF"/></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image" Target="../media/image44.wmf"/><Relationship Id="rId2" Type="http://schemas.openxmlformats.org/officeDocument/2006/relationships/oleObject" Target="../embeddings/oleObject38.bin"/><Relationship Id="rId1" Type="http://schemas.openxmlformats.org/officeDocument/2006/relationships/image" Target="../media/image2.GIF"/></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2.GIF"/><Relationship Id="rId3" Type="http://schemas.openxmlformats.org/officeDocument/2006/relationships/image" Target="../media/image47.wmf"/><Relationship Id="rId2" Type="http://schemas.openxmlformats.org/officeDocument/2006/relationships/oleObject" Target="../embeddings/oleObject39.bin"/><Relationship Id="rId1"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GIF"/></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2.GIF"/><Relationship Id="rId5" Type="http://schemas.openxmlformats.org/officeDocument/2006/relationships/image" Target="../media/image50.png"/><Relationship Id="rId4" Type="http://schemas.openxmlformats.org/officeDocument/2006/relationships/image" Target="../media/image49.wmf"/><Relationship Id="rId3" Type="http://schemas.openxmlformats.org/officeDocument/2006/relationships/oleObject" Target="../embeddings/oleObject41.bin"/><Relationship Id="rId2" Type="http://schemas.openxmlformats.org/officeDocument/2006/relationships/image" Target="../media/image48.wmf"/><Relationship Id="rId1" Type="http://schemas.openxmlformats.org/officeDocument/2006/relationships/oleObject" Target="../embeddings/oleObject40.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51.wmf"/><Relationship Id="rId2" Type="http://schemas.openxmlformats.org/officeDocument/2006/relationships/oleObject" Target="../embeddings/oleObject42.bin"/><Relationship Id="rId1" Type="http://schemas.openxmlformats.org/officeDocument/2006/relationships/image" Target="../media/image2.GI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2.xml"/><Relationship Id="rId7" Type="http://schemas.openxmlformats.org/officeDocument/2006/relationships/image" Target="../media/image55.wmf"/><Relationship Id="rId6" Type="http://schemas.openxmlformats.org/officeDocument/2006/relationships/oleObject" Target="../embeddings/oleObject44.bin"/><Relationship Id="rId5" Type="http://schemas.openxmlformats.org/officeDocument/2006/relationships/image" Target="../media/image54.wmf"/><Relationship Id="rId4" Type="http://schemas.openxmlformats.org/officeDocument/2006/relationships/oleObject" Target="../embeddings/oleObject43.bin"/><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2.GIF"/></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46.bin"/><Relationship Id="rId3" Type="http://schemas.openxmlformats.org/officeDocument/2006/relationships/image" Target="../media/image56.wmf"/><Relationship Id="rId2" Type="http://schemas.openxmlformats.org/officeDocument/2006/relationships/oleObject" Target="../embeddings/oleObject45.bin"/><Relationship Id="rId1" Type="http://schemas.openxmlformats.org/officeDocument/2006/relationships/image" Target="../media/image2.GI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2.GI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GIF"/></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64.wmf"/><Relationship Id="rId7" Type="http://schemas.openxmlformats.org/officeDocument/2006/relationships/oleObject" Target="../embeddings/oleObject50.bin"/><Relationship Id="rId6" Type="http://schemas.openxmlformats.org/officeDocument/2006/relationships/image" Target="../media/image63.wmf"/><Relationship Id="rId5" Type="http://schemas.openxmlformats.org/officeDocument/2006/relationships/oleObject" Target="../embeddings/oleObject49.bin"/><Relationship Id="rId4" Type="http://schemas.openxmlformats.org/officeDocument/2006/relationships/image" Target="../media/image62.wmf"/><Relationship Id="rId3" Type="http://schemas.openxmlformats.org/officeDocument/2006/relationships/oleObject" Target="../embeddings/oleObject48.bin"/><Relationship Id="rId2" Type="http://schemas.openxmlformats.org/officeDocument/2006/relationships/image" Target="../media/image61.wmf"/><Relationship Id="rId13" Type="http://schemas.openxmlformats.org/officeDocument/2006/relationships/vmlDrawing" Target="../drawings/vmlDrawing21.vml"/><Relationship Id="rId12" Type="http://schemas.openxmlformats.org/officeDocument/2006/relationships/slideLayout" Target="../slideLayouts/slideLayout12.xml"/><Relationship Id="rId11" Type="http://schemas.openxmlformats.org/officeDocument/2006/relationships/image" Target="../media/image2.GIF"/><Relationship Id="rId10" Type="http://schemas.openxmlformats.org/officeDocument/2006/relationships/image" Target="../media/image65.wmf"/><Relationship Id="rId1" Type="http://schemas.openxmlformats.org/officeDocument/2006/relationships/oleObject" Target="../embeddings/oleObject47.bin"/></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12.xml"/><Relationship Id="rId7" Type="http://schemas.openxmlformats.org/officeDocument/2006/relationships/image" Target="../media/image61.wmf"/><Relationship Id="rId6" Type="http://schemas.openxmlformats.org/officeDocument/2006/relationships/oleObject" Target="../embeddings/oleObject54.bin"/><Relationship Id="rId5" Type="http://schemas.openxmlformats.org/officeDocument/2006/relationships/image" Target="../media/image2.GIF"/><Relationship Id="rId4" Type="http://schemas.openxmlformats.org/officeDocument/2006/relationships/image" Target="../media/image67.wmf"/><Relationship Id="rId3" Type="http://schemas.openxmlformats.org/officeDocument/2006/relationships/oleObject" Target="../embeddings/oleObject53.bin"/><Relationship Id="rId2" Type="http://schemas.openxmlformats.org/officeDocument/2006/relationships/image" Target="../media/image66.wmf"/><Relationship Id="rId1" Type="http://schemas.openxmlformats.org/officeDocument/2006/relationships/oleObject" Target="../embeddings/oleObject52.bin"/></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23.vml"/><Relationship Id="rId6" Type="http://schemas.openxmlformats.org/officeDocument/2006/relationships/slideLayout" Target="../slideLayouts/slideLayout13.xml"/><Relationship Id="rId5" Type="http://schemas.openxmlformats.org/officeDocument/2006/relationships/image" Target="../media/image2.GIF"/><Relationship Id="rId4" Type="http://schemas.openxmlformats.org/officeDocument/2006/relationships/image" Target="../media/image69.wmf"/><Relationship Id="rId3" Type="http://schemas.openxmlformats.org/officeDocument/2006/relationships/oleObject" Target="../embeddings/oleObject56.bin"/><Relationship Id="rId2" Type="http://schemas.openxmlformats.org/officeDocument/2006/relationships/image" Target="../media/image68.wmf"/><Relationship Id="rId1" Type="http://schemas.openxmlformats.org/officeDocument/2006/relationships/oleObject" Target="../embeddings/oleObject55.bin"/></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Rot="1" noChangeArrowheads="1"/>
          </p:cNvSpPr>
          <p:nvPr/>
        </p:nvSpPr>
        <p:spPr bwMode="auto">
          <a:xfrm>
            <a:off x="323850" y="590868"/>
            <a:ext cx="8540750" cy="857250"/>
          </a:xfrm>
          <a:prstGeom prst="rect">
            <a:avLst/>
          </a:prstGeom>
          <a:noFill/>
          <a:ln w="9525">
            <a:noFill/>
            <a:miter lim="800000"/>
          </a:ln>
          <a:effectLst/>
        </p:spPr>
        <p:txBody>
          <a:bodyPr anchor="ctr"/>
          <a:lstStyle/>
          <a:p>
            <a:pPr marL="711200" indent="-711200" algn="ctr"/>
            <a:r>
              <a:rPr lang="zh-CN" altLang="en-US" sz="4000" b="1" dirty="0">
                <a:solidFill>
                  <a:schemeClr val="tx2"/>
                </a:solidFill>
                <a:latin typeface="宋体" panose="02010600030101010101" pitchFamily="2" charset="-122"/>
                <a:ea typeface="宋体" panose="02010600030101010101" pitchFamily="2" charset="-122"/>
              </a:rPr>
              <a:t>第二章 移动通信电波传播环境与</a:t>
            </a:r>
            <a:br>
              <a:rPr lang="zh-CN" altLang="en-US" sz="4000" b="1" dirty="0">
                <a:solidFill>
                  <a:schemeClr val="tx2"/>
                </a:solidFill>
                <a:latin typeface="宋体" panose="02010600030101010101" pitchFamily="2" charset="-122"/>
                <a:ea typeface="宋体" panose="02010600030101010101" pitchFamily="2" charset="-122"/>
              </a:rPr>
            </a:br>
            <a:r>
              <a:rPr lang="zh-CN" altLang="en-US" sz="4000" b="1" dirty="0">
                <a:solidFill>
                  <a:schemeClr val="tx2"/>
                </a:solidFill>
                <a:latin typeface="宋体" panose="02010600030101010101" pitchFamily="2" charset="-122"/>
                <a:ea typeface="宋体" panose="02010600030101010101" pitchFamily="2" charset="-122"/>
              </a:rPr>
              <a:t>传播预测模型</a:t>
            </a:r>
            <a:endParaRPr lang="zh-CN" altLang="en-US" sz="4000" b="1" dirty="0">
              <a:solidFill>
                <a:schemeClr val="tx2"/>
              </a:solidFill>
              <a:latin typeface="宋体" panose="02010600030101010101" pitchFamily="2" charset="-122"/>
              <a:ea typeface="宋体" panose="02010600030101010101" pitchFamily="2" charset="-122"/>
            </a:endParaRPr>
          </a:p>
        </p:txBody>
      </p:sp>
      <p:pic>
        <p:nvPicPr>
          <p:cNvPr id="26" name="图片 25"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27" name="TextBox 26"/>
          <p:cNvSpPr txBox="1"/>
          <p:nvPr/>
        </p:nvSpPr>
        <p:spPr>
          <a:xfrm>
            <a:off x="611560" y="1635646"/>
            <a:ext cx="8280920" cy="3324628"/>
          </a:xfrm>
          <a:prstGeom prst="rect">
            <a:avLst/>
          </a:prstGeom>
          <a:noFill/>
        </p:spPr>
        <p:txBody>
          <a:bodyPr wrap="square" rtlCol="0">
            <a:spAutoFit/>
          </a:bodyPr>
          <a:lstStyle/>
          <a:p>
            <a:pPr>
              <a:lnSpc>
                <a:spcPts val="3200"/>
              </a:lnSpc>
            </a:pPr>
            <a:r>
              <a:rPr lang="en-US" altLang="zh-CN" sz="2400" dirty="0" smtClean="0">
                <a:latin typeface="宋体" panose="02010600030101010101" pitchFamily="2" charset="-122"/>
                <a:ea typeface="宋体" panose="02010600030101010101" pitchFamily="2" charset="-122"/>
              </a:rPr>
              <a:t>2.1 </a:t>
            </a:r>
            <a:r>
              <a:rPr lang="zh-CN" altLang="en-US" sz="2400" dirty="0" smtClean="0">
                <a:latin typeface="宋体" panose="02010600030101010101" pitchFamily="2" charset="-122"/>
                <a:ea typeface="宋体" panose="02010600030101010101" pitchFamily="2" charset="-122"/>
              </a:rPr>
              <a:t>概述</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2.2 </a:t>
            </a:r>
            <a:r>
              <a:rPr lang="zh-CN" altLang="en-US" sz="2400" dirty="0" smtClean="0">
                <a:latin typeface="宋体" panose="02010600030101010101" pitchFamily="2" charset="-122"/>
                <a:ea typeface="宋体" panose="02010600030101010101" pitchFamily="2" charset="-122"/>
              </a:rPr>
              <a:t>自由空间的电波传播</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2.3 3</a:t>
            </a:r>
            <a:r>
              <a:rPr lang="zh-CN" altLang="en-US" sz="2400" dirty="0" smtClean="0">
                <a:latin typeface="宋体" panose="02010600030101010101" pitchFamily="2" charset="-122"/>
                <a:ea typeface="宋体" panose="02010600030101010101" pitchFamily="2" charset="-122"/>
              </a:rPr>
              <a:t>种基本传播机制</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2.4 </a:t>
            </a:r>
            <a:r>
              <a:rPr lang="zh-CN" altLang="en-US" sz="2400" dirty="0" smtClean="0">
                <a:latin typeface="宋体" panose="02010600030101010101" pitchFamily="2" charset="-122"/>
                <a:ea typeface="宋体" panose="02010600030101010101" pitchFamily="2" charset="-122"/>
              </a:rPr>
              <a:t>对数距离路径损耗模型</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2.5 </a:t>
            </a:r>
            <a:r>
              <a:rPr lang="zh-CN" altLang="en-US" sz="2400" dirty="0" smtClean="0">
                <a:latin typeface="宋体" panose="02010600030101010101" pitchFamily="2" charset="-122"/>
                <a:ea typeface="宋体" panose="02010600030101010101" pitchFamily="2" charset="-122"/>
              </a:rPr>
              <a:t>阴影衰落</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2.6 </a:t>
            </a:r>
            <a:r>
              <a:rPr lang="zh-CN" altLang="en-US" sz="2400" dirty="0" smtClean="0">
                <a:latin typeface="宋体" panose="02010600030101010101" pitchFamily="2" charset="-122"/>
                <a:ea typeface="宋体" panose="02010600030101010101" pitchFamily="2" charset="-122"/>
              </a:rPr>
              <a:t>移动无线信道及特性参数</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2.7 MIMO</a:t>
            </a:r>
            <a:r>
              <a:rPr lang="zh-CN" altLang="en-US" sz="2400" dirty="0" smtClean="0">
                <a:latin typeface="宋体" panose="02010600030101010101" pitchFamily="2" charset="-122"/>
                <a:ea typeface="宋体" panose="02010600030101010101" pitchFamily="2" charset="-122"/>
              </a:rPr>
              <a:t>信道</a:t>
            </a:r>
            <a:endParaRPr lang="en-US" altLang="zh-CN" sz="2400" dirty="0" smtClean="0">
              <a:latin typeface="宋体" panose="02010600030101010101" pitchFamily="2" charset="-122"/>
              <a:ea typeface="宋体" panose="02010600030101010101" pitchFamily="2" charset="-122"/>
            </a:endParaRPr>
          </a:p>
          <a:p>
            <a:pPr>
              <a:lnSpc>
                <a:spcPts val="3200"/>
              </a:lnSpc>
            </a:pPr>
            <a:r>
              <a:rPr lang="en-US" altLang="zh-CN" sz="2400" dirty="0" smtClean="0">
                <a:latin typeface="宋体" panose="02010600030101010101" pitchFamily="2" charset="-122"/>
                <a:ea typeface="宋体" panose="02010600030101010101" pitchFamily="2" charset="-122"/>
              </a:rPr>
              <a:t>2.8 </a:t>
            </a:r>
            <a:r>
              <a:rPr lang="zh-CN" altLang="en-US" sz="2400" dirty="0" smtClean="0">
                <a:latin typeface="宋体" panose="02010600030101010101" pitchFamily="2" charset="-122"/>
                <a:ea typeface="宋体" panose="02010600030101010101" pitchFamily="2" charset="-122"/>
              </a:rPr>
              <a:t>电波传播损耗预测模型</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Rot="1" noChangeArrowheads="1"/>
          </p:cNvSpPr>
          <p:nvPr/>
        </p:nvSpPr>
        <p:spPr bwMode="auto">
          <a:xfrm>
            <a:off x="323850" y="590868"/>
            <a:ext cx="8540750" cy="857250"/>
          </a:xfrm>
          <a:prstGeom prst="rect">
            <a:avLst/>
          </a:prstGeom>
          <a:noFill/>
          <a:ln w="9525">
            <a:noFill/>
            <a:miter lim="800000"/>
          </a:ln>
          <a:effectLst/>
        </p:spPr>
        <p:txBody>
          <a:bodyPr anchor="ctr"/>
          <a:lstStyle/>
          <a:p>
            <a:pPr marL="711200" indent="-711200" algn="ctr"/>
            <a:r>
              <a:rPr lang="zh-CN" altLang="en-US" sz="4000" b="1" dirty="0">
                <a:solidFill>
                  <a:schemeClr val="tx2"/>
                </a:solidFill>
                <a:latin typeface="宋体" panose="02010600030101010101" pitchFamily="2" charset="-122"/>
                <a:ea typeface="宋体" panose="02010600030101010101" pitchFamily="2" charset="-122"/>
              </a:rPr>
              <a:t>第二章 移动通信电波传播环境与</a:t>
            </a:r>
            <a:br>
              <a:rPr lang="zh-CN" altLang="en-US" sz="4000" b="1" dirty="0">
                <a:solidFill>
                  <a:schemeClr val="tx2"/>
                </a:solidFill>
                <a:latin typeface="宋体" panose="02010600030101010101" pitchFamily="2" charset="-122"/>
                <a:ea typeface="宋体" panose="02010600030101010101" pitchFamily="2" charset="-122"/>
              </a:rPr>
            </a:br>
            <a:r>
              <a:rPr lang="zh-CN" altLang="en-US" sz="4000" b="1" dirty="0">
                <a:solidFill>
                  <a:schemeClr val="tx2"/>
                </a:solidFill>
                <a:latin typeface="宋体" panose="02010600030101010101" pitchFamily="2" charset="-122"/>
                <a:ea typeface="宋体" panose="02010600030101010101" pitchFamily="2" charset="-122"/>
              </a:rPr>
              <a:t>传播预测模型</a:t>
            </a:r>
            <a:endParaRPr lang="zh-CN" altLang="en-US" sz="4000" b="1" dirty="0">
              <a:solidFill>
                <a:schemeClr val="tx2"/>
              </a:solidFill>
              <a:latin typeface="宋体" panose="02010600030101010101" pitchFamily="2" charset="-122"/>
              <a:ea typeface="宋体" panose="02010600030101010101" pitchFamily="2" charset="-122"/>
            </a:endParaRPr>
          </a:p>
        </p:txBody>
      </p:sp>
      <p:pic>
        <p:nvPicPr>
          <p:cNvPr id="26" name="图片 25"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27" name="TextBox 26"/>
          <p:cNvSpPr txBox="1"/>
          <p:nvPr/>
        </p:nvSpPr>
        <p:spPr>
          <a:xfrm>
            <a:off x="395536" y="1491630"/>
            <a:ext cx="8748464" cy="3599512"/>
          </a:xfrm>
          <a:prstGeom prst="rect">
            <a:avLst/>
          </a:prstGeom>
          <a:noFill/>
        </p:spPr>
        <p:txBody>
          <a:bodyPr wrap="square" rtlCol="0">
            <a:spAutoFit/>
          </a:bodyPr>
          <a:lstStyle/>
          <a:p>
            <a:pPr>
              <a:lnSpc>
                <a:spcPct val="150000"/>
              </a:lnSpc>
            </a:pPr>
            <a:r>
              <a:rPr lang="zh-CN" altLang="en-US" sz="2600" dirty="0" smtClean="0">
                <a:latin typeface="宋体" panose="02010600030101010101" pitchFamily="2" charset="-122"/>
                <a:ea typeface="宋体" panose="02010600030101010101" pitchFamily="2" charset="-122"/>
              </a:rPr>
              <a:t>这章的主要内容：</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1</a:t>
            </a:r>
            <a:r>
              <a:rPr lang="zh-CN" altLang="en-US" sz="2600" dirty="0" smtClean="0">
                <a:latin typeface="宋体" panose="02010600030101010101" pitchFamily="2" charset="-122"/>
                <a:ea typeface="宋体" panose="02010600030101010101" pitchFamily="2" charset="-122"/>
              </a:rPr>
              <a:t>）理解电波传播的基本特性；</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2</a:t>
            </a:r>
            <a:r>
              <a:rPr lang="zh-CN" altLang="en-US" sz="2600" dirty="0" smtClean="0">
                <a:latin typeface="宋体" panose="02010600030101010101" pitchFamily="2" charset="-122"/>
                <a:ea typeface="宋体" panose="02010600030101010101" pitchFamily="2" charset="-122"/>
              </a:rPr>
              <a:t>）了解</a:t>
            </a:r>
            <a:r>
              <a:rPr lang="en-US" altLang="zh-CN" sz="2600" dirty="0" smtClean="0">
                <a:latin typeface="宋体" panose="02010600030101010101" pitchFamily="2" charset="-122"/>
                <a:ea typeface="宋体" panose="02010600030101010101" pitchFamily="2" charset="-122"/>
              </a:rPr>
              <a:t>3</a:t>
            </a:r>
            <a:r>
              <a:rPr lang="zh-CN" altLang="en-US" sz="2600" dirty="0" smtClean="0">
                <a:latin typeface="宋体" panose="02010600030101010101" pitchFamily="2" charset="-122"/>
                <a:ea typeface="宋体" panose="02010600030101010101" pitchFamily="2" charset="-122"/>
              </a:rPr>
              <a:t>种电波传播的机制；</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3</a:t>
            </a:r>
            <a:r>
              <a:rPr lang="zh-CN" altLang="en-US" sz="2600" dirty="0" smtClean="0">
                <a:latin typeface="宋体" panose="02010600030101010101" pitchFamily="2" charset="-122"/>
                <a:ea typeface="宋体" panose="02010600030101010101" pitchFamily="2" charset="-122"/>
              </a:rPr>
              <a:t>）掌握自由空间和阴影衰落的概念；</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4</a:t>
            </a:r>
            <a:r>
              <a:rPr lang="zh-CN" altLang="en-US" sz="2600" dirty="0" smtClean="0">
                <a:latin typeface="宋体" panose="02010600030101010101" pitchFamily="2" charset="-122"/>
                <a:ea typeface="宋体" panose="02010600030101010101" pitchFamily="2" charset="-122"/>
              </a:rPr>
              <a:t>）掌握多径衰落的特性和多普勒频移；</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5</a:t>
            </a:r>
            <a:r>
              <a:rPr lang="zh-CN" altLang="en-US" sz="2600" dirty="0" smtClean="0">
                <a:latin typeface="宋体" panose="02010600030101010101" pitchFamily="2" charset="-122"/>
                <a:ea typeface="宋体" panose="02010600030101010101" pitchFamily="2" charset="-122"/>
              </a:rPr>
              <a:t>）了解传播预测模型的基本概念</a:t>
            </a:r>
            <a:endParaRPr lang="zh-CN" altLang="en-US" sz="2600" dirty="0">
              <a:latin typeface="宋体" panose="02010600030101010101" pitchFamily="2" charset="-122"/>
              <a:ea typeface="宋体" panose="0201060003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rrowheads="1"/>
          </p:cNvSpPr>
          <p:nvPr>
            <p:ph type="title"/>
          </p:nvPr>
        </p:nvSpPr>
        <p:spPr>
          <a:xfrm>
            <a:off x="1435608" y="357504"/>
            <a:ext cx="7498080" cy="705725"/>
          </a:xfrm>
        </p:spPr>
        <p:txBody>
          <a:bodyPr>
            <a:normAutofit/>
          </a:bodyPr>
          <a:lstStyle/>
          <a:p>
            <a:r>
              <a:rPr lang="en-US" altLang="zh-CN" sz="4000" b="1" dirty="0" smtClean="0">
                <a:effectLst>
                  <a:outerShdw blurRad="38100" dist="38100" dir="2700000" algn="tl">
                    <a:srgbClr val="C0C0C0"/>
                  </a:outerShdw>
                </a:effectLst>
              </a:rPr>
              <a:t>2.1 </a:t>
            </a:r>
            <a:r>
              <a:rPr lang="zh-CN" altLang="en-US" sz="4000" b="1" dirty="0">
                <a:effectLst>
                  <a:outerShdw blurRad="38100" dist="38100" dir="2700000" algn="tl">
                    <a:srgbClr val="C0C0C0"/>
                  </a:outerShdw>
                </a:effectLst>
              </a:rPr>
              <a:t>电波传播的基本特性</a:t>
            </a:r>
            <a:endParaRPr lang="zh-CN" altLang="en-US" sz="4000" b="1" dirty="0">
              <a:effectLst>
                <a:outerShdw blurRad="38100" dist="38100" dir="2700000" algn="tl">
                  <a:srgbClr val="C0C0C0"/>
                </a:outerShdw>
              </a:effectLst>
            </a:endParaRPr>
          </a:p>
        </p:txBody>
      </p:sp>
      <p:pic>
        <p:nvPicPr>
          <p:cNvPr id="31" name="图片 30"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pic>
        <p:nvPicPr>
          <p:cNvPr id="47106" name="Picture 2"/>
          <p:cNvPicPr>
            <a:picLocks noChangeAspect="1" noChangeArrowheads="1"/>
          </p:cNvPicPr>
          <p:nvPr/>
        </p:nvPicPr>
        <p:blipFill>
          <a:blip r:embed="rId2" cstate="print"/>
          <a:srcRect/>
          <a:stretch>
            <a:fillRect/>
          </a:stretch>
        </p:blipFill>
        <p:spPr bwMode="auto">
          <a:xfrm>
            <a:off x="4355977" y="951570"/>
            <a:ext cx="4625629" cy="2754306"/>
          </a:xfrm>
          <a:prstGeom prst="rect">
            <a:avLst/>
          </a:prstGeom>
          <a:solidFill>
            <a:schemeClr val="accent4">
              <a:lumMod val="20000"/>
              <a:lumOff val="80000"/>
            </a:schemeClr>
          </a:solidFill>
          <a:ln w="9525" cmpd="sng">
            <a:noFill/>
            <a:miter lim="800000"/>
            <a:headEnd/>
            <a:tailEnd/>
          </a:ln>
        </p:spPr>
      </p:pic>
      <p:sp>
        <p:nvSpPr>
          <p:cNvPr id="33" name="TextBox 32"/>
          <p:cNvSpPr txBox="1"/>
          <p:nvPr/>
        </p:nvSpPr>
        <p:spPr>
          <a:xfrm>
            <a:off x="539552" y="1005577"/>
            <a:ext cx="4680520" cy="3693319"/>
          </a:xfrm>
          <a:prstGeom prst="rect">
            <a:avLst/>
          </a:prstGeom>
          <a:noFill/>
        </p:spPr>
        <p:txBody>
          <a:bodyPr wrap="square" rtlCol="0">
            <a:spAutoFit/>
          </a:bodyPr>
          <a:lstStyle/>
          <a:p>
            <a:pPr>
              <a:lnSpc>
                <a:spcPct val="150000"/>
              </a:lnSpc>
            </a:pPr>
            <a:r>
              <a:rPr lang="zh-CN" altLang="en-US" sz="2600" b="1" dirty="0" smtClean="0">
                <a:solidFill>
                  <a:srgbClr val="7030A0"/>
                </a:solidFill>
                <a:latin typeface="宋体" panose="02010600030101010101" pitchFamily="2" charset="-122"/>
                <a:ea typeface="宋体" panose="02010600030101010101" pitchFamily="2" charset="-122"/>
              </a:rPr>
              <a:t>电波传播的基本特性就是衰落，表现在以下几个方面：</a:t>
            </a:r>
            <a:endParaRPr lang="en-US" altLang="zh-CN" sz="2600" b="1" dirty="0" smtClean="0">
              <a:solidFill>
                <a:srgbClr val="7030A0"/>
              </a:solidFill>
              <a:latin typeface="宋体" panose="02010600030101010101" pitchFamily="2" charset="-122"/>
              <a:ea typeface="宋体" panose="02010600030101010101" pitchFamily="2" charset="-122"/>
            </a:endParaRPr>
          </a:p>
          <a:p>
            <a:pPr>
              <a:lnSpc>
                <a:spcPct val="150000"/>
              </a:lnSpc>
            </a:pPr>
            <a:r>
              <a:rPr lang="zh-CN" altLang="en-US" sz="2600" b="1" dirty="0" smtClean="0">
                <a:solidFill>
                  <a:srgbClr val="7030A0"/>
                </a:solidFill>
                <a:latin typeface="宋体" panose="02010600030101010101" pitchFamily="2" charset="-122"/>
                <a:ea typeface="宋体" panose="02010600030101010101" pitchFamily="2" charset="-122"/>
              </a:rPr>
              <a:t>（</a:t>
            </a:r>
            <a:r>
              <a:rPr lang="en-US" altLang="zh-CN" sz="2600" b="1" dirty="0" smtClean="0">
                <a:solidFill>
                  <a:srgbClr val="7030A0"/>
                </a:solidFill>
                <a:latin typeface="宋体" panose="02010600030101010101" pitchFamily="2" charset="-122"/>
                <a:ea typeface="宋体" panose="02010600030101010101" pitchFamily="2" charset="-122"/>
              </a:rPr>
              <a:t>1</a:t>
            </a:r>
            <a:r>
              <a:rPr lang="zh-CN" altLang="en-US" sz="2600" b="1" dirty="0" smtClean="0">
                <a:solidFill>
                  <a:srgbClr val="7030A0"/>
                </a:solidFill>
                <a:latin typeface="宋体" panose="02010600030101010101" pitchFamily="2" charset="-122"/>
                <a:ea typeface="宋体" panose="02010600030101010101" pitchFamily="2" charset="-122"/>
              </a:rPr>
              <a:t>）自由空间传输损耗；</a:t>
            </a:r>
            <a:endParaRPr lang="en-US" altLang="zh-CN" sz="2600" b="1" dirty="0" smtClean="0">
              <a:solidFill>
                <a:srgbClr val="7030A0"/>
              </a:solidFill>
              <a:latin typeface="宋体" panose="02010600030101010101" pitchFamily="2" charset="-122"/>
              <a:ea typeface="宋体" panose="02010600030101010101" pitchFamily="2" charset="-122"/>
            </a:endParaRPr>
          </a:p>
          <a:p>
            <a:pPr>
              <a:lnSpc>
                <a:spcPct val="150000"/>
              </a:lnSpc>
            </a:pPr>
            <a:r>
              <a:rPr lang="zh-CN" altLang="en-US" sz="2600" b="1" dirty="0" smtClean="0">
                <a:solidFill>
                  <a:srgbClr val="7030A0"/>
                </a:solidFill>
                <a:latin typeface="宋体" panose="02010600030101010101" pitchFamily="2" charset="-122"/>
                <a:ea typeface="宋体" panose="02010600030101010101" pitchFamily="2" charset="-122"/>
              </a:rPr>
              <a:t>（</a:t>
            </a:r>
            <a:r>
              <a:rPr lang="en-US" altLang="zh-CN" sz="2600" b="1" dirty="0" smtClean="0">
                <a:solidFill>
                  <a:srgbClr val="7030A0"/>
                </a:solidFill>
                <a:latin typeface="宋体" panose="02010600030101010101" pitchFamily="2" charset="-122"/>
                <a:ea typeface="宋体" panose="02010600030101010101" pitchFamily="2" charset="-122"/>
              </a:rPr>
              <a:t>2</a:t>
            </a:r>
            <a:r>
              <a:rPr lang="zh-CN" altLang="en-US" sz="2600" b="1" dirty="0" smtClean="0">
                <a:solidFill>
                  <a:srgbClr val="7030A0"/>
                </a:solidFill>
                <a:latin typeface="宋体" panose="02010600030101010101" pitchFamily="2" charset="-122"/>
                <a:ea typeface="宋体" panose="02010600030101010101" pitchFamily="2" charset="-122"/>
              </a:rPr>
              <a:t>）阴影衰落；</a:t>
            </a:r>
            <a:endParaRPr lang="en-US" altLang="zh-CN" sz="2600" b="1" dirty="0" smtClean="0">
              <a:solidFill>
                <a:srgbClr val="7030A0"/>
              </a:solidFill>
              <a:latin typeface="宋体" panose="02010600030101010101" pitchFamily="2" charset="-122"/>
              <a:ea typeface="宋体" panose="02010600030101010101" pitchFamily="2" charset="-122"/>
            </a:endParaRPr>
          </a:p>
          <a:p>
            <a:pPr>
              <a:lnSpc>
                <a:spcPct val="150000"/>
              </a:lnSpc>
            </a:pPr>
            <a:r>
              <a:rPr lang="zh-CN" altLang="en-US" sz="2600" b="1" dirty="0" smtClean="0">
                <a:solidFill>
                  <a:srgbClr val="7030A0"/>
                </a:solidFill>
                <a:latin typeface="宋体" panose="02010600030101010101" pitchFamily="2" charset="-122"/>
                <a:ea typeface="宋体" panose="02010600030101010101" pitchFamily="2" charset="-122"/>
              </a:rPr>
              <a:t>（</a:t>
            </a:r>
            <a:r>
              <a:rPr lang="en-US" altLang="zh-CN" sz="2600" b="1" dirty="0" smtClean="0">
                <a:solidFill>
                  <a:srgbClr val="7030A0"/>
                </a:solidFill>
                <a:latin typeface="宋体" panose="02010600030101010101" pitchFamily="2" charset="-122"/>
                <a:ea typeface="宋体" panose="02010600030101010101" pitchFamily="2" charset="-122"/>
              </a:rPr>
              <a:t>3</a:t>
            </a:r>
            <a:r>
              <a:rPr lang="zh-CN" altLang="en-US" sz="2600" b="1" dirty="0" smtClean="0">
                <a:solidFill>
                  <a:srgbClr val="7030A0"/>
                </a:solidFill>
                <a:latin typeface="宋体" panose="02010600030101010101" pitchFamily="2" charset="-122"/>
                <a:ea typeface="宋体" panose="02010600030101010101" pitchFamily="2" charset="-122"/>
              </a:rPr>
              <a:t>）多径衰落；</a:t>
            </a:r>
            <a:endParaRPr lang="en-US" altLang="zh-CN" sz="2600" b="1" dirty="0" smtClean="0">
              <a:solidFill>
                <a:srgbClr val="7030A0"/>
              </a:solidFill>
              <a:latin typeface="宋体" panose="02010600030101010101" pitchFamily="2" charset="-122"/>
              <a:ea typeface="宋体" panose="02010600030101010101" pitchFamily="2" charset="-122"/>
            </a:endParaRPr>
          </a:p>
          <a:p>
            <a:pPr>
              <a:lnSpc>
                <a:spcPct val="150000"/>
              </a:lnSpc>
            </a:pPr>
            <a:r>
              <a:rPr lang="zh-CN" altLang="en-US" sz="2600" b="1" dirty="0" smtClean="0">
                <a:solidFill>
                  <a:srgbClr val="7030A0"/>
                </a:solidFill>
                <a:latin typeface="宋体" panose="02010600030101010101" pitchFamily="2" charset="-122"/>
                <a:ea typeface="宋体" panose="02010600030101010101" pitchFamily="2" charset="-122"/>
              </a:rPr>
              <a:t>（</a:t>
            </a:r>
            <a:r>
              <a:rPr lang="en-US" altLang="zh-CN" sz="2600" b="1" dirty="0" smtClean="0">
                <a:solidFill>
                  <a:srgbClr val="7030A0"/>
                </a:solidFill>
                <a:latin typeface="宋体" panose="02010600030101010101" pitchFamily="2" charset="-122"/>
                <a:ea typeface="宋体" panose="02010600030101010101" pitchFamily="2" charset="-122"/>
              </a:rPr>
              <a:t>4</a:t>
            </a:r>
            <a:r>
              <a:rPr lang="zh-CN" altLang="en-US" sz="2600" b="1" dirty="0" smtClean="0">
                <a:solidFill>
                  <a:srgbClr val="7030A0"/>
                </a:solidFill>
                <a:latin typeface="宋体" panose="02010600030101010101" pitchFamily="2" charset="-122"/>
                <a:ea typeface="宋体" panose="02010600030101010101" pitchFamily="2" charset="-122"/>
              </a:rPr>
              <a:t>）多普勒频移；</a:t>
            </a:r>
            <a:endParaRPr lang="zh-CN" altLang="en-US" sz="2600" b="1" dirty="0">
              <a:solidFill>
                <a:srgbClr val="7030A0"/>
              </a:solidFill>
              <a:latin typeface="宋体" panose="02010600030101010101" pitchFamily="2" charset="-122"/>
              <a:ea typeface="宋体" panose="02010600030101010101" pitchFamily="2" charset="-122"/>
            </a:endParaRPr>
          </a:p>
        </p:txBody>
      </p:sp>
      <p:sp>
        <p:nvSpPr>
          <p:cNvPr id="6" name="TextBox 5"/>
          <p:cNvSpPr txBox="1"/>
          <p:nvPr/>
        </p:nvSpPr>
        <p:spPr>
          <a:xfrm>
            <a:off x="3923928" y="1977684"/>
            <a:ext cx="4896544" cy="120032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nSpc>
                <a:spcPct val="150000"/>
              </a:lnSpc>
            </a:pPr>
            <a:r>
              <a:rPr lang="zh-CN" altLang="en-US" sz="2400" dirty="0" smtClean="0"/>
              <a:t>随信号传播距离变化而导致的传播损耗；即自由空间传输损耗。</a:t>
            </a:r>
            <a:endParaRPr lang="zh-CN" altLang="en-US" sz="2400" dirty="0"/>
          </a:p>
        </p:txBody>
      </p:sp>
      <p:sp>
        <p:nvSpPr>
          <p:cNvPr id="7" name="TextBox 6"/>
          <p:cNvSpPr txBox="1"/>
          <p:nvPr/>
        </p:nvSpPr>
        <p:spPr>
          <a:xfrm>
            <a:off x="3923928" y="2679762"/>
            <a:ext cx="4896544" cy="175432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nSpc>
                <a:spcPct val="150000"/>
              </a:lnSpc>
            </a:pPr>
            <a:r>
              <a:rPr lang="zh-CN" altLang="en-US" sz="2400" dirty="0" smtClean="0"/>
              <a:t>由于传播环境中的地形起伏、建筑物及其他障碍物对电磁波的遮蔽所引起的损耗，一般称为阴影损耗。</a:t>
            </a:r>
            <a:endParaRPr lang="zh-CN" altLang="en-US" sz="2400" dirty="0"/>
          </a:p>
        </p:txBody>
      </p:sp>
      <p:sp>
        <p:nvSpPr>
          <p:cNvPr id="8" name="TextBox 7"/>
          <p:cNvSpPr txBox="1"/>
          <p:nvPr/>
        </p:nvSpPr>
        <p:spPr>
          <a:xfrm>
            <a:off x="72008" y="258634"/>
            <a:ext cx="4572000" cy="452431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nSpc>
                <a:spcPct val="150000"/>
              </a:lnSpc>
            </a:pPr>
            <a:r>
              <a:rPr lang="zh-CN" altLang="en-US" sz="2400" dirty="0" smtClean="0"/>
              <a:t>无线电波在传播路径上受到周围环境中地形地物的作用而产生的反射、绕射和散射，使得其到达接收机时是从多条路径传来的多个信号的叠加，这种多径传播所引起的信号在接收端幅度、相位和到达时间的随机变化将导致严重的衰落，即多径衰落。</a:t>
            </a:r>
            <a:endParaRPr lang="zh-CN" altLang="en-US" sz="2400" dirty="0"/>
          </a:p>
        </p:txBody>
      </p:sp>
      <p:sp>
        <p:nvSpPr>
          <p:cNvPr id="9" name="TextBox 8"/>
          <p:cNvSpPr txBox="1"/>
          <p:nvPr/>
        </p:nvSpPr>
        <p:spPr>
          <a:xfrm>
            <a:off x="4139952" y="2783706"/>
            <a:ext cx="4896544" cy="2308324"/>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nSpc>
                <a:spcPct val="150000"/>
              </a:lnSpc>
            </a:pPr>
            <a:r>
              <a:rPr lang="zh-CN" altLang="en-US" sz="2400" dirty="0" smtClean="0"/>
              <a:t>移动台在传播径向方向的运动将使接收信号产生多普勒（</a:t>
            </a:r>
            <a:r>
              <a:rPr lang="en-US" altLang="zh-CN" sz="2400" dirty="0" smtClean="0"/>
              <a:t>Doppler</a:t>
            </a:r>
            <a:r>
              <a:rPr lang="zh-CN" altLang="en-US" sz="2400" dirty="0" smtClean="0"/>
              <a:t>）效应，其结果会导致接收信号在频域的扩展。</a:t>
            </a:r>
            <a:endParaRPr lang="zh-CN" alt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 calcmode="lin" valueType="num">
                                      <p:cBhvr additive="base">
                                        <p:cTn id="7"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
                                            <p:txEl>
                                              <p:pRg st="1" end="1"/>
                                            </p:txEl>
                                          </p:spTgt>
                                        </p:tgtEl>
                                        <p:attrNameLst>
                                          <p:attrName>style.visibility</p:attrName>
                                        </p:attrNameLst>
                                      </p:cBhvr>
                                      <p:to>
                                        <p:strVal val="visible"/>
                                      </p:to>
                                    </p:set>
                                    <p:anim calcmode="lin" valueType="num">
                                      <p:cBhvr additive="base">
                                        <p:cTn id="13" dur="500" fill="hold"/>
                                        <p:tgtEl>
                                          <p:spTgt spid="3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grpId="1" nodeType="clickEffect">
                                  <p:stCondLst>
                                    <p:cond delay="0"/>
                                  </p:stCondLst>
                                  <p:childTnLst>
                                    <p:animEffect transition="out" filter="wipe(down)">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3">
                                            <p:txEl>
                                              <p:pRg st="2" end="2"/>
                                            </p:txEl>
                                          </p:spTgt>
                                        </p:tgtEl>
                                        <p:attrNameLst>
                                          <p:attrName>style.visibility</p:attrName>
                                        </p:attrNameLst>
                                      </p:cBhvr>
                                      <p:to>
                                        <p:strVal val="visible"/>
                                      </p:to>
                                    </p:set>
                                    <p:anim calcmode="lin" valueType="num">
                                      <p:cBhvr additive="base">
                                        <p:cTn id="30" dur="500" fill="hold"/>
                                        <p:tgtEl>
                                          <p:spTgt spid="33">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1+#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1" nodeType="clickEffect">
                                  <p:stCondLst>
                                    <p:cond delay="0"/>
                                  </p:stCondLst>
                                  <p:childTnLst>
                                    <p:animEffect transition="out" filter="wipe(down)">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
                                            <p:txEl>
                                              <p:pRg st="3" end="3"/>
                                            </p:txEl>
                                          </p:spTgt>
                                        </p:tgtEl>
                                        <p:attrNameLst>
                                          <p:attrName>style.visibility</p:attrName>
                                        </p:attrNameLst>
                                      </p:cBhvr>
                                      <p:to>
                                        <p:strVal val="visible"/>
                                      </p:to>
                                    </p:set>
                                    <p:anim calcmode="lin" valueType="num">
                                      <p:cBhvr additive="base">
                                        <p:cTn id="47" dur="500" fill="hold"/>
                                        <p:tgtEl>
                                          <p:spTgt spid="3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47106"/>
                                        </p:tgtEl>
                                        <p:attrNameLst>
                                          <p:attrName>style.visibility</p:attrName>
                                        </p:attrNameLst>
                                      </p:cBhvr>
                                      <p:to>
                                        <p:strVal val="visible"/>
                                      </p:to>
                                    </p:set>
                                    <p:anim calcmode="lin" valueType="num">
                                      <p:cBhvr>
                                        <p:cTn id="53" dur="500" fill="hold"/>
                                        <p:tgtEl>
                                          <p:spTgt spid="47106"/>
                                        </p:tgtEl>
                                        <p:attrNameLst>
                                          <p:attrName>ppt_w</p:attrName>
                                        </p:attrNameLst>
                                      </p:cBhvr>
                                      <p:tavLst>
                                        <p:tav tm="0">
                                          <p:val>
                                            <p:fltVal val="0"/>
                                          </p:val>
                                        </p:tav>
                                        <p:tav tm="100000">
                                          <p:val>
                                            <p:strVal val="#ppt_w"/>
                                          </p:val>
                                        </p:tav>
                                      </p:tavLst>
                                    </p:anim>
                                    <p:anim calcmode="lin" valueType="num">
                                      <p:cBhvr>
                                        <p:cTn id="54" dur="500" fill="hold"/>
                                        <p:tgtEl>
                                          <p:spTgt spid="47106"/>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1000"/>
                                        <p:tgtEl>
                                          <p:spTgt spid="8"/>
                                        </p:tgtEl>
                                      </p:cBhvr>
                                    </p:animEffect>
                                    <p:anim calcmode="lin" valueType="num">
                                      <p:cBhvr>
                                        <p:cTn id="60" dur="1000" fill="hold"/>
                                        <p:tgtEl>
                                          <p:spTgt spid="8"/>
                                        </p:tgtEl>
                                        <p:attrNameLst>
                                          <p:attrName>ppt_x</p:attrName>
                                        </p:attrNameLst>
                                      </p:cBhvr>
                                      <p:tavLst>
                                        <p:tav tm="0">
                                          <p:val>
                                            <p:strVal val="#ppt_x"/>
                                          </p:val>
                                        </p:tav>
                                        <p:tav tm="100000">
                                          <p:val>
                                            <p:strVal val="#ppt_x"/>
                                          </p:val>
                                        </p:tav>
                                      </p:tavLst>
                                    </p:anim>
                                    <p:anim calcmode="lin" valueType="num">
                                      <p:cBhvr>
                                        <p:cTn id="6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xit" presetSubtype="4" fill="hold" grpId="1" nodeType="clickEffect">
                                  <p:stCondLst>
                                    <p:cond delay="0"/>
                                  </p:stCondLst>
                                  <p:childTnLst>
                                    <p:animEffect transition="out" filter="wipe(down)">
                                      <p:cBhvr>
                                        <p:cTn id="65" dur="500"/>
                                        <p:tgtEl>
                                          <p:spTgt spid="8"/>
                                        </p:tgtEl>
                                      </p:cBhvr>
                                    </p:animEffect>
                                    <p:set>
                                      <p:cBhvr>
                                        <p:cTn id="66" dur="1" fill="hold">
                                          <p:stCondLst>
                                            <p:cond delay="499"/>
                                          </p:stCondLst>
                                        </p:cTn>
                                        <p:tgtEl>
                                          <p:spTgt spid="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xit" presetSubtype="4" fill="hold" nodeType="clickEffect">
                                  <p:stCondLst>
                                    <p:cond delay="0"/>
                                  </p:stCondLst>
                                  <p:childTnLst>
                                    <p:animEffect transition="out" filter="wipe(down)">
                                      <p:cBhvr>
                                        <p:cTn id="70" dur="500"/>
                                        <p:tgtEl>
                                          <p:spTgt spid="47106"/>
                                        </p:tgtEl>
                                      </p:cBhvr>
                                    </p:animEffect>
                                    <p:set>
                                      <p:cBhvr>
                                        <p:cTn id="71" dur="1" fill="hold">
                                          <p:stCondLst>
                                            <p:cond delay="499"/>
                                          </p:stCondLst>
                                        </p:cTn>
                                        <p:tgtEl>
                                          <p:spTgt spid="47106"/>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33">
                                            <p:txEl>
                                              <p:pRg st="4" end="4"/>
                                            </p:txEl>
                                          </p:spTgt>
                                        </p:tgtEl>
                                        <p:attrNameLst>
                                          <p:attrName>style.visibility</p:attrName>
                                        </p:attrNameLst>
                                      </p:cBhvr>
                                      <p:to>
                                        <p:strVal val="visible"/>
                                      </p:to>
                                    </p:set>
                                    <p:anim calcmode="lin" valueType="num">
                                      <p:cBhvr additive="base">
                                        <p:cTn id="76" dur="500" fill="hold"/>
                                        <p:tgtEl>
                                          <p:spTgt spid="33">
                                            <p:txEl>
                                              <p:pRg st="4" end="4"/>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3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1" presetClass="entr" presetSubtype="4" fill="hold" grpId="0"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wheel(4)">
                                      <p:cBhvr>
                                        <p:cTn id="82" dur="2000"/>
                                        <p:tgtEl>
                                          <p:spTgt spid="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xit" presetSubtype="4" fill="hold" grpId="1" nodeType="clickEffect">
                                  <p:stCondLst>
                                    <p:cond delay="0"/>
                                  </p:stCondLst>
                                  <p:childTnLst>
                                    <p:animEffect transition="out" filter="wipe(down)">
                                      <p:cBhvr>
                                        <p:cTn id="86" dur="500"/>
                                        <p:tgtEl>
                                          <p:spTgt spid="9"/>
                                        </p:tgtEl>
                                      </p:cBhvr>
                                    </p:animEffect>
                                    <p:set>
                                      <p:cBhvr>
                                        <p:cTn id="8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rrowheads="1"/>
          </p:cNvSpPr>
          <p:nvPr>
            <p:ph type="title"/>
          </p:nvPr>
        </p:nvSpPr>
        <p:spPr>
          <a:xfrm>
            <a:off x="1435608" y="357504"/>
            <a:ext cx="7498080" cy="705725"/>
          </a:xfrm>
        </p:spPr>
        <p:txBody>
          <a:bodyPr>
            <a:normAutofit/>
          </a:bodyPr>
          <a:lstStyle/>
          <a:p>
            <a:r>
              <a:rPr lang="en-US" altLang="zh-CN" sz="4000" b="1" dirty="0" smtClean="0">
                <a:effectLst>
                  <a:outerShdw blurRad="38100" dist="38100" dir="2700000" algn="tl">
                    <a:srgbClr val="C0C0C0"/>
                  </a:outerShdw>
                </a:effectLst>
              </a:rPr>
              <a:t>2.1 </a:t>
            </a:r>
            <a:r>
              <a:rPr lang="zh-CN" altLang="en-US" sz="4000" b="1" dirty="0">
                <a:effectLst>
                  <a:outerShdw blurRad="38100" dist="38100" dir="2700000" algn="tl">
                    <a:srgbClr val="C0C0C0"/>
                  </a:outerShdw>
                </a:effectLst>
              </a:rPr>
              <a:t>电波传播的基本特性</a:t>
            </a:r>
            <a:endParaRPr lang="zh-CN" altLang="en-US" sz="4000" b="1" dirty="0">
              <a:effectLst>
                <a:outerShdw blurRad="38100" dist="38100" dir="2700000" algn="tl">
                  <a:srgbClr val="C0C0C0"/>
                </a:outerShdw>
              </a:effectLst>
            </a:endParaRPr>
          </a:p>
        </p:txBody>
      </p:sp>
      <p:pic>
        <p:nvPicPr>
          <p:cNvPr id="31" name="图片 30"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33" name="TextBox 32"/>
          <p:cNvSpPr txBox="1"/>
          <p:nvPr/>
        </p:nvSpPr>
        <p:spPr>
          <a:xfrm>
            <a:off x="179512" y="1005576"/>
            <a:ext cx="8640960" cy="2862322"/>
          </a:xfrm>
          <a:prstGeom prst="rect">
            <a:avLst/>
          </a:prstGeom>
          <a:noFill/>
        </p:spPr>
        <p:txBody>
          <a:bodyPr wrap="square" rtlCol="0">
            <a:spAutoFit/>
          </a:bodyPr>
          <a:lstStyle/>
          <a:p>
            <a:pPr marL="0" lvl="1">
              <a:lnSpc>
                <a:spcPct val="150000"/>
              </a:lnSpc>
            </a:pP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无线信道的分类：</a:t>
            </a:r>
            <a:endPar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0" lvl="1">
              <a:lnSpc>
                <a:spcPct val="150000"/>
              </a:lnSpc>
            </a:pP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1</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）根据不同距离内信号强度变化的大小分为</a:t>
            </a:r>
            <a:r>
              <a:rPr lang="zh-CN" altLang="en-US" sz="2400" b="1" dirty="0" smtClean="0">
                <a:solidFill>
                  <a:srgbClr val="C00000"/>
                </a:solidFill>
                <a:effectLst>
                  <a:outerShdw blurRad="38100" dist="38100" dir="2700000" algn="tl">
                    <a:srgbClr val="C0C0C0"/>
                  </a:outerShdw>
                </a:effectLst>
                <a:latin typeface="宋体" panose="02010600030101010101" pitchFamily="2" charset="-122"/>
                <a:ea typeface="宋体" panose="02010600030101010101" pitchFamily="2" charset="-122"/>
              </a:rPr>
              <a:t>小尺度衰落</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和大</a:t>
            </a:r>
            <a:r>
              <a:rPr lang="zh-CN" altLang="en-US" sz="2400" b="1" dirty="0" smtClean="0">
                <a:solidFill>
                  <a:srgbClr val="C00000"/>
                </a:solidFill>
                <a:effectLst>
                  <a:outerShdw blurRad="38100" dist="38100" dir="2700000" algn="tl">
                    <a:srgbClr val="C0C0C0"/>
                  </a:outerShdw>
                </a:effectLst>
                <a:latin typeface="宋体" panose="02010600030101010101" pitchFamily="2" charset="-122"/>
                <a:ea typeface="宋体" panose="02010600030101010101" pitchFamily="2" charset="-122"/>
              </a:rPr>
              <a:t>尺度衰落</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a:t>
            </a:r>
            <a:endPar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0" lvl="1">
              <a:lnSpc>
                <a:spcPct val="150000"/>
              </a:lnSpc>
            </a:pP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2</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）根据信号与信道变化快慢程度的不同分为</a:t>
            </a:r>
            <a:r>
              <a:rPr lang="zh-CN" altLang="en-US" sz="2400" b="1" dirty="0" smtClean="0">
                <a:solidFill>
                  <a:srgbClr val="C00000"/>
                </a:solidFill>
                <a:effectLst>
                  <a:outerShdw blurRad="38100" dist="38100" dir="2700000" algn="tl">
                    <a:srgbClr val="C0C0C0"/>
                  </a:outerShdw>
                </a:effectLst>
                <a:latin typeface="宋体" panose="02010600030101010101" pitchFamily="2" charset="-122"/>
                <a:ea typeface="宋体" panose="02010600030101010101" pitchFamily="2" charset="-122"/>
              </a:rPr>
              <a:t>短期快衰落</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 和</a:t>
            </a:r>
            <a:r>
              <a:rPr lang="zh-CN" altLang="en-US" sz="2400" b="1" dirty="0" smtClean="0">
                <a:solidFill>
                  <a:srgbClr val="C00000"/>
                </a:solidFill>
                <a:effectLst>
                  <a:outerShdw blurRad="38100" dist="38100" dir="2700000" algn="tl">
                    <a:srgbClr val="C0C0C0"/>
                  </a:outerShdw>
                </a:effectLst>
                <a:latin typeface="宋体" panose="02010600030101010101" pitchFamily="2" charset="-122"/>
                <a:ea typeface="宋体" panose="02010600030101010101" pitchFamily="2" charset="-122"/>
              </a:rPr>
              <a:t>长期慢衰落</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a:t>
            </a:r>
            <a:endPar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grpSp>
        <p:nvGrpSpPr>
          <p:cNvPr id="6" name="Group 5"/>
          <p:cNvGrpSpPr/>
          <p:nvPr/>
        </p:nvGrpSpPr>
        <p:grpSpPr bwMode="auto">
          <a:xfrm>
            <a:off x="1187624" y="3219822"/>
            <a:ext cx="6769100" cy="1674019"/>
            <a:chOff x="1642" y="4584"/>
            <a:chExt cx="6825" cy="3272"/>
          </a:xfrm>
        </p:grpSpPr>
        <p:pic>
          <p:nvPicPr>
            <p:cNvPr id="7" name="Picture 6"/>
            <p:cNvPicPr>
              <a:picLocks noChangeAspect="1" noChangeArrowheads="1"/>
            </p:cNvPicPr>
            <p:nvPr/>
          </p:nvPicPr>
          <p:blipFill>
            <a:blip r:embed="rId2" cstate="print">
              <a:grayscl/>
              <a:lum bright="20000" contrast="26000"/>
            </a:blip>
            <a:srcRect/>
            <a:stretch>
              <a:fillRect/>
            </a:stretch>
          </p:blipFill>
          <p:spPr bwMode="auto">
            <a:xfrm>
              <a:off x="1642" y="4597"/>
              <a:ext cx="6825" cy="3259"/>
            </a:xfrm>
            <a:prstGeom prst="rect">
              <a:avLst/>
            </a:prstGeom>
            <a:solidFill>
              <a:srgbClr val="BF61FF"/>
            </a:solidFill>
            <a:ln w="9525">
              <a:noFill/>
              <a:miter lim="800000"/>
              <a:headEnd/>
              <a:tailEnd/>
            </a:ln>
          </p:spPr>
        </p:pic>
        <p:sp>
          <p:nvSpPr>
            <p:cNvPr id="8" name="AutoShape 7"/>
            <p:cNvSpPr>
              <a:spLocks noChangeArrowheads="1"/>
            </p:cNvSpPr>
            <p:nvPr/>
          </p:nvSpPr>
          <p:spPr bwMode="auto">
            <a:xfrm>
              <a:off x="6571" y="5206"/>
              <a:ext cx="1449" cy="622"/>
            </a:xfrm>
            <a:prstGeom prst="wedgeRectCallout">
              <a:avLst>
                <a:gd name="adj1" fmla="val -104315"/>
                <a:gd name="adj2" fmla="val 106431"/>
              </a:avLst>
            </a:prstGeom>
            <a:solidFill>
              <a:srgbClr val="98EAE6"/>
            </a:solidFill>
            <a:ln w="9525">
              <a:solidFill>
                <a:srgbClr val="000000"/>
              </a:solidFill>
              <a:miter lim="800000"/>
            </a:ln>
          </p:spPr>
          <p:txBody>
            <a:bodyPr/>
            <a:lstStyle/>
            <a:p>
              <a:pPr algn="ctr"/>
              <a:r>
                <a:rPr lang="zh-CN" altLang="en-US" sz="1600">
                  <a:latin typeface="Times New Roman" panose="02020603050405020304" pitchFamily="18" charset="0"/>
                </a:rPr>
                <a:t>大尺度衰落</a:t>
              </a:r>
              <a:endParaRPr lang="zh-CN" altLang="en-US" sz="1600">
                <a:latin typeface="Times New Roman" panose="02020603050405020304" pitchFamily="18" charset="0"/>
              </a:endParaRPr>
            </a:p>
          </p:txBody>
        </p:sp>
        <p:sp>
          <p:nvSpPr>
            <p:cNvPr id="9" name="AutoShape 8"/>
            <p:cNvSpPr>
              <a:spLocks noChangeArrowheads="1"/>
            </p:cNvSpPr>
            <p:nvPr/>
          </p:nvSpPr>
          <p:spPr bwMode="auto">
            <a:xfrm>
              <a:off x="3673" y="4584"/>
              <a:ext cx="1612" cy="622"/>
            </a:xfrm>
            <a:prstGeom prst="wedgeRectCallout">
              <a:avLst>
                <a:gd name="adj1" fmla="val 21838"/>
                <a:gd name="adj2" fmla="val 86977"/>
              </a:avLst>
            </a:prstGeom>
            <a:solidFill>
              <a:srgbClr val="98EAE6"/>
            </a:solidFill>
            <a:ln w="9525">
              <a:noFill/>
              <a:miter lim="800000"/>
            </a:ln>
          </p:spPr>
          <p:txBody>
            <a:bodyPr/>
            <a:lstStyle/>
            <a:p>
              <a:pPr algn="ctr"/>
              <a:r>
                <a:rPr lang="zh-CN" altLang="en-US" sz="1600">
                  <a:latin typeface="Times New Roman" panose="02020603050405020304" pitchFamily="18" charset="0"/>
                </a:rPr>
                <a:t>小尺度衰落</a:t>
              </a:r>
              <a:endParaRPr lang="zh-CN" altLang="en-US" sz="1600">
                <a:latin typeface="Times New Roman" panose="02020603050405020304" pitchFamily="18" charset="0"/>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additive="base">
                                        <p:cTn id="14" dur="500" fill="hold"/>
                                        <p:tgtEl>
                                          <p:spTgt spid="33"/>
                                        </p:tgtEl>
                                        <p:attrNameLst>
                                          <p:attrName>ppt_x</p:attrName>
                                        </p:attrNameLst>
                                      </p:cBhvr>
                                      <p:tavLst>
                                        <p:tav tm="0">
                                          <p:val>
                                            <p:strVal val="#ppt_x"/>
                                          </p:val>
                                        </p:tav>
                                        <p:tav tm="100000">
                                          <p:val>
                                            <p:strVal val="#ppt_x"/>
                                          </p:val>
                                        </p:tav>
                                      </p:tavLst>
                                    </p:anim>
                                    <p:anim calcmode="lin" valueType="num">
                                      <p:cBhvr additive="base">
                                        <p:cTn id="1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rrowheads="1"/>
          </p:cNvSpPr>
          <p:nvPr>
            <p:ph type="title"/>
          </p:nvPr>
        </p:nvSpPr>
        <p:spPr>
          <a:xfrm>
            <a:off x="1435608" y="357504"/>
            <a:ext cx="7498080" cy="705725"/>
          </a:xfrm>
        </p:spPr>
        <p:txBody>
          <a:bodyPr>
            <a:normAutofit/>
          </a:bodyPr>
          <a:lstStyle/>
          <a:p>
            <a:r>
              <a:rPr lang="en-US" altLang="zh-CN" sz="4000" b="1" dirty="0" smtClean="0">
                <a:effectLst>
                  <a:outerShdw blurRad="38100" dist="38100" dir="2700000" algn="tl">
                    <a:srgbClr val="C0C0C0"/>
                  </a:outerShdw>
                </a:effectLst>
              </a:rPr>
              <a:t>2.1 </a:t>
            </a:r>
            <a:r>
              <a:rPr lang="zh-CN" altLang="en-US" sz="4000" b="1" dirty="0">
                <a:effectLst>
                  <a:outerShdw blurRad="38100" dist="38100" dir="2700000" algn="tl">
                    <a:srgbClr val="C0C0C0"/>
                  </a:outerShdw>
                </a:effectLst>
              </a:rPr>
              <a:t>电波传播的基本特性</a:t>
            </a:r>
            <a:endParaRPr lang="zh-CN" altLang="en-US" sz="4000" b="1" dirty="0">
              <a:effectLst>
                <a:outerShdw blurRad="38100" dist="38100" dir="2700000" algn="tl">
                  <a:srgbClr val="C0C0C0"/>
                </a:outerShdw>
              </a:effectLst>
            </a:endParaRPr>
          </a:p>
        </p:txBody>
      </p:sp>
      <p:pic>
        <p:nvPicPr>
          <p:cNvPr id="31" name="图片 30"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33" name="TextBox 32"/>
          <p:cNvSpPr txBox="1"/>
          <p:nvPr/>
        </p:nvSpPr>
        <p:spPr>
          <a:xfrm>
            <a:off x="179512" y="1005576"/>
            <a:ext cx="8640960" cy="646331"/>
          </a:xfrm>
          <a:prstGeom prst="rect">
            <a:avLst/>
          </a:prstGeom>
          <a:noFill/>
        </p:spPr>
        <p:txBody>
          <a:bodyPr wrap="square" rtlCol="0">
            <a:spAutoFit/>
          </a:bodyPr>
          <a:lstStyle/>
          <a:p>
            <a:pPr marL="0" lvl="1">
              <a:lnSpc>
                <a:spcPct val="150000"/>
              </a:lnSpc>
            </a:pP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无线信道的分类：</a:t>
            </a:r>
            <a:endPar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p:txBody>
      </p:sp>
      <p:graphicFrame>
        <p:nvGraphicFramePr>
          <p:cNvPr id="10" name="Group 4"/>
          <p:cNvGraphicFramePr>
            <a:graphicFrameLocks noGrp="1"/>
          </p:cNvGraphicFramePr>
          <p:nvPr>
            <p:ph sz="quarter" idx="4294967295"/>
          </p:nvPr>
        </p:nvGraphicFramePr>
        <p:xfrm>
          <a:off x="322264" y="1707654"/>
          <a:ext cx="8821737" cy="2592271"/>
        </p:xfrm>
        <a:graphic>
          <a:graphicData uri="http://schemas.openxmlformats.org/drawingml/2006/table">
            <a:tbl>
              <a:tblPr/>
              <a:tblGrid>
                <a:gridCol w="809625"/>
                <a:gridCol w="3875087"/>
                <a:gridCol w="4137025"/>
              </a:tblGrid>
              <a:tr h="67813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大尺度衰落（主要特征是阴影）</a:t>
                      </a:r>
                      <a:endPar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小尺度衰落（主要特征是多径）</a:t>
                      </a:r>
                      <a:endPar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r>
              <a:tr h="68207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描述</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长距离上信号强度的缓慢变化</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短距离上信号强度的快速波动</a:t>
                      </a:r>
                      <a:endPar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r>
              <a:tr h="68798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原因</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信道路径上固定障碍物的阴影</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移动台运动和地点的变化</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r>
              <a:tr h="54408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影响</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业务覆盖区域</a:t>
                      </a:r>
                      <a:endParaRPr kumimoji="0" lang="zh-CN" altLang="en-US" sz="1800" b="0"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信号传输质量</a:t>
                      </a:r>
                      <a:endParaRPr kumimoji="0" lang="zh-CN" altLang="en-US" sz="1800" b="0"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ppt_x"/>
                                          </p:val>
                                        </p:tav>
                                        <p:tav tm="100000">
                                          <p:val>
                                            <p:strVal val="#ppt_x"/>
                                          </p:val>
                                        </p:tav>
                                      </p:tavLst>
                                    </p:anim>
                                    <p:anim calcmode="lin" valueType="num">
                                      <p:cBhvr additive="base">
                                        <p:cTn id="1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4)">
                                      <p:cBhvr>
                                        <p:cTn id="1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rrowheads="1"/>
          </p:cNvSpPr>
          <p:nvPr>
            <p:ph type="title"/>
          </p:nvPr>
        </p:nvSpPr>
        <p:spPr>
          <a:xfrm>
            <a:off x="1435608" y="357504"/>
            <a:ext cx="7498080" cy="705725"/>
          </a:xfrm>
        </p:spPr>
        <p:txBody>
          <a:bodyPr>
            <a:normAutofit/>
          </a:bodyPr>
          <a:lstStyle/>
          <a:p>
            <a:r>
              <a:rPr lang="en-US" altLang="zh-CN" sz="4000" b="1" dirty="0" smtClean="0">
                <a:effectLst>
                  <a:outerShdw blurRad="38100" dist="38100" dir="2700000" algn="tl">
                    <a:srgbClr val="C0C0C0"/>
                  </a:outerShdw>
                </a:effectLst>
              </a:rPr>
              <a:t>2.1 </a:t>
            </a:r>
            <a:r>
              <a:rPr lang="zh-CN" altLang="en-US" sz="4000" b="1" dirty="0">
                <a:effectLst>
                  <a:outerShdw blurRad="38100" dist="38100" dir="2700000" algn="tl">
                    <a:srgbClr val="C0C0C0"/>
                  </a:outerShdw>
                </a:effectLst>
              </a:rPr>
              <a:t>电波传</a:t>
            </a:r>
            <a:r>
              <a:rPr lang="zh-CN" altLang="en-US" sz="4000" b="1" dirty="0" smtClean="0">
                <a:effectLst>
                  <a:outerShdw blurRad="38100" dist="38100" dir="2700000" algn="tl">
                    <a:srgbClr val="C0C0C0"/>
                  </a:outerShdw>
                </a:effectLst>
              </a:rPr>
              <a:t>播特性的研究</a:t>
            </a:r>
            <a:endParaRPr lang="zh-CN" altLang="en-US" sz="4000" b="1" dirty="0">
              <a:effectLst>
                <a:outerShdw blurRad="38100" dist="38100" dir="2700000" algn="tl">
                  <a:srgbClr val="C0C0C0"/>
                </a:outerShdw>
              </a:effectLst>
            </a:endParaRPr>
          </a:p>
        </p:txBody>
      </p:sp>
      <p:pic>
        <p:nvPicPr>
          <p:cNvPr id="31" name="图片 30"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grpSp>
        <p:nvGrpSpPr>
          <p:cNvPr id="6" name="Group 6"/>
          <p:cNvGrpSpPr/>
          <p:nvPr/>
        </p:nvGrpSpPr>
        <p:grpSpPr bwMode="auto">
          <a:xfrm>
            <a:off x="3114676" y="3371851"/>
            <a:ext cx="4924425" cy="1416845"/>
            <a:chOff x="1962" y="2832"/>
            <a:chExt cx="3102" cy="1190"/>
          </a:xfrm>
        </p:grpSpPr>
        <p:grpSp>
          <p:nvGrpSpPr>
            <p:cNvPr id="7" name="Group 7"/>
            <p:cNvGrpSpPr/>
            <p:nvPr/>
          </p:nvGrpSpPr>
          <p:grpSpPr bwMode="auto">
            <a:xfrm>
              <a:off x="1962" y="2832"/>
              <a:ext cx="3102" cy="774"/>
              <a:chOff x="2304" y="2880"/>
              <a:chExt cx="3102" cy="774"/>
            </a:xfrm>
          </p:grpSpPr>
          <p:sp>
            <p:nvSpPr>
              <p:cNvPr id="9" name="AutoShape 8"/>
              <p:cNvSpPr>
                <a:spLocks noChangeArrowheads="1"/>
              </p:cNvSpPr>
              <p:nvPr/>
            </p:nvSpPr>
            <p:spPr bwMode="gray">
              <a:xfrm>
                <a:off x="2334" y="2880"/>
                <a:ext cx="3072" cy="774"/>
              </a:xfrm>
              <a:prstGeom prst="roundRect">
                <a:avLst>
                  <a:gd name="adj" fmla="val 10889"/>
                </a:avLst>
              </a:prstGeom>
              <a:gradFill rotWithShape="1">
                <a:gsLst>
                  <a:gs pos="0">
                    <a:schemeClr val="accent2"/>
                  </a:gs>
                  <a:gs pos="100000">
                    <a:schemeClr val="accent2">
                      <a:gamma/>
                      <a:tint val="21176"/>
                      <a:invGamma/>
                    </a:schemeClr>
                  </a:gs>
                </a:gsLst>
                <a:lin ang="0" scaled="1"/>
              </a:gradFill>
              <a:ln w="38100">
                <a:noFill/>
                <a:round/>
              </a:ln>
              <a:effectLst/>
            </p:spPr>
            <p:txBody>
              <a:bodyPr wrap="none" anchor="ctr"/>
              <a:lstStyle/>
              <a:p>
                <a:endParaRPr lang="zh-CN" altLang="en-US"/>
              </a:p>
            </p:txBody>
          </p:sp>
          <p:sp>
            <p:nvSpPr>
              <p:cNvPr id="11" name="AutoShape 9"/>
              <p:cNvSpPr>
                <a:spLocks noChangeArrowheads="1"/>
              </p:cNvSpPr>
              <p:nvPr/>
            </p:nvSpPr>
            <p:spPr bwMode="gray">
              <a:xfrm>
                <a:off x="2304" y="3168"/>
                <a:ext cx="336" cy="240"/>
              </a:xfrm>
              <a:prstGeom prst="rightArrow">
                <a:avLst>
                  <a:gd name="adj1" fmla="val 50000"/>
                  <a:gd name="adj2" fmla="val 58333"/>
                </a:avLst>
              </a:prstGeom>
              <a:solidFill>
                <a:schemeClr val="bg1"/>
              </a:solidFill>
              <a:ln w="9525">
                <a:noFill/>
                <a:miter lim="800000"/>
              </a:ln>
              <a:effectLst/>
            </p:spPr>
            <p:txBody>
              <a:bodyPr wrap="none" anchor="ctr"/>
              <a:lstStyle/>
              <a:p>
                <a:endParaRPr lang="zh-CN" altLang="en-US"/>
              </a:p>
            </p:txBody>
          </p:sp>
        </p:grpSp>
        <p:sp>
          <p:nvSpPr>
            <p:cNvPr id="8" name="Text Box 10"/>
            <p:cNvSpPr txBox="1">
              <a:spLocks noChangeArrowheads="1"/>
            </p:cNvSpPr>
            <p:nvPr/>
          </p:nvSpPr>
          <p:spPr bwMode="gray">
            <a:xfrm>
              <a:off x="2394" y="2936"/>
              <a:ext cx="2540" cy="1086"/>
            </a:xfrm>
            <a:prstGeom prst="rect">
              <a:avLst/>
            </a:prstGeom>
            <a:noFill/>
            <a:ln w="9525" algn="ctr">
              <a:noFill/>
              <a:miter lim="800000"/>
            </a:ln>
            <a:effectLst/>
          </p:spPr>
          <p:txBody>
            <a:bodyPr>
              <a:spAutoFit/>
            </a:bodyPr>
            <a:lstStyle/>
            <a:p>
              <a:r>
                <a:rPr lang="zh-CN" altLang="en-US" sz="2000" b="1">
                  <a:solidFill>
                    <a:srgbClr val="343300"/>
                  </a:solidFill>
                </a:rPr>
                <a:t>基本方法</a:t>
              </a:r>
              <a:endParaRPr lang="zh-CN" altLang="en-US" sz="2000" b="1">
                <a:solidFill>
                  <a:srgbClr val="343300"/>
                </a:solidFill>
              </a:endParaRPr>
            </a:p>
            <a:p>
              <a:pPr>
                <a:buClr>
                  <a:srgbClr val="000000"/>
                </a:buClr>
                <a:buFontTx/>
                <a:buChar char="•"/>
              </a:pPr>
              <a:r>
                <a:rPr lang="zh-CN" altLang="en-US" sz="2000" b="1">
                  <a:solidFill>
                    <a:srgbClr val="FF0000"/>
                  </a:solidFill>
                </a:rPr>
                <a:t>理论分析方法</a:t>
              </a:r>
              <a:r>
                <a:rPr lang="zh-CN" altLang="en-US" sz="2000">
                  <a:solidFill>
                    <a:srgbClr val="000000"/>
                  </a:solidFill>
                </a:rPr>
                <a:t>（如射线跟踪法）</a:t>
              </a:r>
              <a:endParaRPr lang="zh-CN" altLang="en-US" sz="2000">
                <a:solidFill>
                  <a:srgbClr val="000000"/>
                </a:solidFill>
              </a:endParaRPr>
            </a:p>
            <a:p>
              <a:pPr>
                <a:buClr>
                  <a:srgbClr val="000000"/>
                </a:buClr>
                <a:buFontTx/>
                <a:buChar char="•"/>
              </a:pPr>
              <a:r>
                <a:rPr lang="zh-CN" altLang="en-US" sz="2000" b="1">
                  <a:solidFill>
                    <a:srgbClr val="FF0000"/>
                  </a:solidFill>
                </a:rPr>
                <a:t>现场测试方法</a:t>
              </a:r>
              <a:r>
                <a:rPr lang="zh-CN" altLang="en-US" sz="2000">
                  <a:solidFill>
                    <a:srgbClr val="000000"/>
                  </a:solidFill>
                </a:rPr>
                <a:t>（如冲激响应法）</a:t>
              </a:r>
              <a:endParaRPr lang="zh-CN" altLang="en-US" sz="2000">
                <a:solidFill>
                  <a:srgbClr val="000000"/>
                </a:solidFill>
              </a:endParaRPr>
            </a:p>
            <a:p>
              <a:r>
                <a:rPr lang="zh-CN" altLang="en-US" b="1"/>
                <a:t>            </a:t>
              </a:r>
              <a:endParaRPr lang="zh-CN" altLang="en-US" b="1"/>
            </a:p>
          </p:txBody>
        </p:sp>
      </p:grpSp>
      <p:grpSp>
        <p:nvGrpSpPr>
          <p:cNvPr id="12" name="Group 11"/>
          <p:cNvGrpSpPr/>
          <p:nvPr/>
        </p:nvGrpSpPr>
        <p:grpSpPr bwMode="auto">
          <a:xfrm>
            <a:off x="3114676" y="2393156"/>
            <a:ext cx="4924425" cy="1139428"/>
            <a:chOff x="1962" y="2010"/>
            <a:chExt cx="3102" cy="957"/>
          </a:xfrm>
        </p:grpSpPr>
        <p:grpSp>
          <p:nvGrpSpPr>
            <p:cNvPr id="13" name="Group 12"/>
            <p:cNvGrpSpPr/>
            <p:nvPr/>
          </p:nvGrpSpPr>
          <p:grpSpPr bwMode="auto">
            <a:xfrm>
              <a:off x="1962" y="2010"/>
              <a:ext cx="3102" cy="774"/>
              <a:chOff x="2304" y="2058"/>
              <a:chExt cx="3102" cy="774"/>
            </a:xfrm>
          </p:grpSpPr>
          <p:sp>
            <p:nvSpPr>
              <p:cNvPr id="15" name="AutoShape 13"/>
              <p:cNvSpPr>
                <a:spLocks noChangeArrowheads="1"/>
              </p:cNvSpPr>
              <p:nvPr/>
            </p:nvSpPr>
            <p:spPr bwMode="gray">
              <a:xfrm>
                <a:off x="2334" y="2058"/>
                <a:ext cx="3072" cy="774"/>
              </a:xfrm>
              <a:prstGeom prst="roundRect">
                <a:avLst>
                  <a:gd name="adj" fmla="val 10889"/>
                </a:avLst>
              </a:prstGeom>
              <a:gradFill rotWithShape="1">
                <a:gsLst>
                  <a:gs pos="0">
                    <a:schemeClr val="hlink"/>
                  </a:gs>
                  <a:gs pos="100000">
                    <a:schemeClr val="hlink">
                      <a:gamma/>
                      <a:tint val="21176"/>
                      <a:invGamma/>
                    </a:schemeClr>
                  </a:gs>
                </a:gsLst>
                <a:lin ang="0" scaled="1"/>
              </a:gradFill>
              <a:ln w="38100">
                <a:noFill/>
                <a:round/>
              </a:ln>
              <a:effectLst/>
            </p:spPr>
            <p:txBody>
              <a:bodyPr wrap="none" anchor="ctr"/>
              <a:lstStyle/>
              <a:p>
                <a:endParaRPr lang="zh-CN" altLang="en-US"/>
              </a:p>
            </p:txBody>
          </p:sp>
          <p:sp>
            <p:nvSpPr>
              <p:cNvPr id="16" name="AutoShape 14"/>
              <p:cNvSpPr>
                <a:spLocks noChangeArrowheads="1"/>
              </p:cNvSpPr>
              <p:nvPr/>
            </p:nvSpPr>
            <p:spPr bwMode="gray">
              <a:xfrm>
                <a:off x="2304" y="2352"/>
                <a:ext cx="336" cy="240"/>
              </a:xfrm>
              <a:prstGeom prst="rightArrow">
                <a:avLst>
                  <a:gd name="adj1" fmla="val 50000"/>
                  <a:gd name="adj2" fmla="val 58333"/>
                </a:avLst>
              </a:prstGeom>
              <a:solidFill>
                <a:schemeClr val="bg1"/>
              </a:solidFill>
              <a:ln w="9525">
                <a:noFill/>
                <a:miter lim="800000"/>
              </a:ln>
              <a:effectLst/>
            </p:spPr>
            <p:txBody>
              <a:bodyPr wrap="none" anchor="ctr"/>
              <a:lstStyle/>
              <a:p>
                <a:endParaRPr lang="zh-CN" altLang="en-US"/>
              </a:p>
            </p:txBody>
          </p:sp>
        </p:grpSp>
        <p:sp>
          <p:nvSpPr>
            <p:cNvPr id="14" name="Text Box 15"/>
            <p:cNvSpPr txBox="1">
              <a:spLocks noChangeArrowheads="1"/>
            </p:cNvSpPr>
            <p:nvPr/>
          </p:nvSpPr>
          <p:spPr bwMode="gray">
            <a:xfrm>
              <a:off x="2394" y="2114"/>
              <a:ext cx="2540" cy="853"/>
            </a:xfrm>
            <a:prstGeom prst="rect">
              <a:avLst/>
            </a:prstGeom>
            <a:noFill/>
            <a:ln w="9525" algn="ctr">
              <a:noFill/>
              <a:miter lim="800000"/>
            </a:ln>
            <a:effectLst/>
          </p:spPr>
          <p:txBody>
            <a:bodyPr>
              <a:spAutoFit/>
            </a:bodyPr>
            <a:lstStyle/>
            <a:p>
              <a:r>
                <a:rPr lang="zh-CN" altLang="en-US" sz="2000" b="1" dirty="0">
                  <a:solidFill>
                    <a:srgbClr val="343300"/>
                  </a:solidFill>
                </a:rPr>
                <a:t>应用成果</a:t>
              </a:r>
              <a:endParaRPr lang="zh-CN" altLang="en-US" sz="2000" b="1" dirty="0">
                <a:solidFill>
                  <a:srgbClr val="343300"/>
                </a:solidFill>
              </a:endParaRPr>
            </a:p>
            <a:p>
              <a:pPr>
                <a:buFontTx/>
                <a:buChar char="•"/>
              </a:pPr>
              <a:r>
                <a:rPr lang="zh-CN" altLang="en-US" sz="2000" dirty="0">
                  <a:solidFill>
                    <a:srgbClr val="000000"/>
                  </a:solidFill>
                </a:rPr>
                <a:t>传播预测模型的建立</a:t>
              </a:r>
              <a:endParaRPr lang="zh-CN" altLang="en-US" sz="2000" dirty="0">
                <a:solidFill>
                  <a:srgbClr val="000000"/>
                </a:solidFill>
              </a:endParaRPr>
            </a:p>
            <a:p>
              <a:pPr>
                <a:buFontTx/>
                <a:buChar char="•"/>
              </a:pPr>
              <a:r>
                <a:rPr lang="zh-CN" altLang="en-US" sz="2000" dirty="0">
                  <a:solidFill>
                    <a:srgbClr val="000000"/>
                  </a:solidFill>
                </a:rPr>
                <a:t>为实现信道仿真提供基础</a:t>
              </a:r>
              <a:endParaRPr lang="zh-CN" altLang="en-US" sz="2000" dirty="0">
                <a:solidFill>
                  <a:srgbClr val="000000"/>
                </a:solidFill>
              </a:endParaRPr>
            </a:p>
          </p:txBody>
        </p:sp>
      </p:grpSp>
      <p:grpSp>
        <p:nvGrpSpPr>
          <p:cNvPr id="17" name="Group 16"/>
          <p:cNvGrpSpPr/>
          <p:nvPr/>
        </p:nvGrpSpPr>
        <p:grpSpPr bwMode="auto">
          <a:xfrm>
            <a:off x="3114676" y="1275160"/>
            <a:ext cx="4913313" cy="1336033"/>
            <a:chOff x="1962" y="1152"/>
            <a:chExt cx="3102" cy="1023"/>
          </a:xfrm>
        </p:grpSpPr>
        <p:grpSp>
          <p:nvGrpSpPr>
            <p:cNvPr id="18" name="Group 17"/>
            <p:cNvGrpSpPr/>
            <p:nvPr/>
          </p:nvGrpSpPr>
          <p:grpSpPr bwMode="auto">
            <a:xfrm>
              <a:off x="1962" y="1152"/>
              <a:ext cx="3102" cy="774"/>
              <a:chOff x="2304" y="1200"/>
              <a:chExt cx="3102" cy="774"/>
            </a:xfrm>
          </p:grpSpPr>
          <p:sp>
            <p:nvSpPr>
              <p:cNvPr id="20" name="AutoShape 18"/>
              <p:cNvSpPr>
                <a:spLocks noChangeArrowheads="1"/>
              </p:cNvSpPr>
              <p:nvPr/>
            </p:nvSpPr>
            <p:spPr bwMode="gray">
              <a:xfrm>
                <a:off x="2334" y="1200"/>
                <a:ext cx="3072" cy="774"/>
              </a:xfrm>
              <a:prstGeom prst="roundRect">
                <a:avLst>
                  <a:gd name="adj" fmla="val 10889"/>
                </a:avLst>
              </a:prstGeom>
              <a:gradFill rotWithShape="1">
                <a:gsLst>
                  <a:gs pos="0">
                    <a:schemeClr val="accent1"/>
                  </a:gs>
                  <a:gs pos="100000">
                    <a:schemeClr val="accent1">
                      <a:gamma/>
                      <a:tint val="21176"/>
                      <a:invGamma/>
                    </a:schemeClr>
                  </a:gs>
                </a:gsLst>
                <a:lin ang="0" scaled="1"/>
              </a:gradFill>
              <a:ln w="38100">
                <a:noFill/>
                <a:round/>
              </a:ln>
              <a:effectLst/>
            </p:spPr>
            <p:txBody>
              <a:bodyPr wrap="none" anchor="ctr"/>
              <a:lstStyle/>
              <a:p>
                <a:endParaRPr lang="zh-CN" altLang="en-US"/>
              </a:p>
            </p:txBody>
          </p:sp>
          <p:sp>
            <p:nvSpPr>
              <p:cNvPr id="21" name="AutoShape 19"/>
              <p:cNvSpPr>
                <a:spLocks noChangeArrowheads="1"/>
              </p:cNvSpPr>
              <p:nvPr/>
            </p:nvSpPr>
            <p:spPr bwMode="gray">
              <a:xfrm>
                <a:off x="2304" y="1488"/>
                <a:ext cx="336" cy="240"/>
              </a:xfrm>
              <a:prstGeom prst="rightArrow">
                <a:avLst>
                  <a:gd name="adj1" fmla="val 50000"/>
                  <a:gd name="adj2" fmla="val 58333"/>
                </a:avLst>
              </a:prstGeom>
              <a:solidFill>
                <a:schemeClr val="bg1"/>
              </a:solidFill>
              <a:ln w="9525">
                <a:noFill/>
                <a:miter lim="800000"/>
              </a:ln>
              <a:effectLst/>
            </p:spPr>
            <p:txBody>
              <a:bodyPr wrap="none" anchor="ctr"/>
              <a:lstStyle/>
              <a:p>
                <a:endParaRPr lang="zh-CN" altLang="en-US"/>
              </a:p>
            </p:txBody>
          </p:sp>
        </p:grpSp>
        <p:sp>
          <p:nvSpPr>
            <p:cNvPr id="19" name="Text Box 20"/>
            <p:cNvSpPr txBox="1">
              <a:spLocks noChangeArrowheads="1"/>
            </p:cNvSpPr>
            <p:nvPr/>
          </p:nvSpPr>
          <p:spPr bwMode="gray">
            <a:xfrm>
              <a:off x="2381" y="1162"/>
              <a:ext cx="2540" cy="1013"/>
            </a:xfrm>
            <a:prstGeom prst="rect">
              <a:avLst/>
            </a:prstGeom>
            <a:noFill/>
            <a:ln w="9525" algn="ctr">
              <a:noFill/>
              <a:miter lim="800000"/>
            </a:ln>
            <a:effectLst/>
          </p:spPr>
          <p:txBody>
            <a:bodyPr>
              <a:spAutoFit/>
            </a:bodyPr>
            <a:lstStyle/>
            <a:p>
              <a:r>
                <a:rPr lang="zh-CN" altLang="en-US" sz="2000" b="1" dirty="0">
                  <a:solidFill>
                    <a:srgbClr val="000000"/>
                  </a:solidFill>
                </a:rPr>
                <a:t>考虑问题</a:t>
              </a:r>
              <a:endParaRPr lang="zh-CN" altLang="en-US" sz="2000" b="1" dirty="0">
                <a:solidFill>
                  <a:srgbClr val="000000"/>
                </a:solidFill>
              </a:endParaRPr>
            </a:p>
            <a:p>
              <a:pPr>
                <a:buFontTx/>
                <a:buChar char="•"/>
              </a:pPr>
              <a:r>
                <a:rPr lang="zh-CN" altLang="en-US" sz="2000" dirty="0">
                  <a:solidFill>
                    <a:srgbClr val="000000"/>
                  </a:solidFill>
                </a:rPr>
                <a:t>衰落的物理机制</a:t>
              </a:r>
              <a:endParaRPr lang="zh-CN" altLang="en-US" sz="2000" dirty="0">
                <a:solidFill>
                  <a:srgbClr val="000000"/>
                </a:solidFill>
              </a:endParaRPr>
            </a:p>
            <a:p>
              <a:pPr>
                <a:buFontTx/>
                <a:buChar char="•"/>
              </a:pPr>
              <a:r>
                <a:rPr lang="zh-CN" altLang="en-US" sz="2000" dirty="0">
                  <a:solidFill>
                    <a:srgbClr val="000000"/>
                  </a:solidFill>
                </a:rPr>
                <a:t>功率的路径损耗</a:t>
              </a:r>
              <a:endParaRPr lang="zh-CN" altLang="en-US" sz="2000" dirty="0">
                <a:solidFill>
                  <a:srgbClr val="000000"/>
                </a:solidFill>
              </a:endParaRPr>
            </a:p>
            <a:p>
              <a:pPr>
                <a:buFontTx/>
                <a:buChar char="•"/>
              </a:pPr>
              <a:r>
                <a:rPr lang="zh-CN" altLang="en-US" sz="2000" dirty="0">
                  <a:solidFill>
                    <a:srgbClr val="000000"/>
                  </a:solidFill>
                </a:rPr>
                <a:t>接收信号的变化和分布特性</a:t>
              </a:r>
              <a:endParaRPr lang="zh-CN" altLang="en-US" sz="2000" dirty="0">
                <a:solidFill>
                  <a:srgbClr val="000000"/>
                </a:solidFill>
              </a:endParaRPr>
            </a:p>
          </p:txBody>
        </p:sp>
      </p:grpSp>
      <p:grpSp>
        <p:nvGrpSpPr>
          <p:cNvPr id="22" name="Group 3"/>
          <p:cNvGrpSpPr/>
          <p:nvPr/>
        </p:nvGrpSpPr>
        <p:grpSpPr bwMode="auto">
          <a:xfrm>
            <a:off x="0" y="1221581"/>
            <a:ext cx="2743200" cy="3314700"/>
            <a:chOff x="0" y="1026"/>
            <a:chExt cx="1728" cy="2784"/>
          </a:xfrm>
        </p:grpSpPr>
        <p:sp>
          <p:nvSpPr>
            <p:cNvPr id="23" name="AutoShape 4"/>
            <p:cNvSpPr>
              <a:spLocks noChangeArrowheads="1"/>
            </p:cNvSpPr>
            <p:nvPr/>
          </p:nvSpPr>
          <p:spPr bwMode="gray">
            <a:xfrm>
              <a:off x="0" y="1026"/>
              <a:ext cx="1728" cy="2784"/>
            </a:xfrm>
            <a:prstGeom prst="rightArrow">
              <a:avLst>
                <a:gd name="adj1" fmla="val 62787"/>
                <a:gd name="adj2" fmla="val 41259"/>
              </a:avLst>
            </a:prstGeom>
            <a:gradFill rotWithShape="1">
              <a:gsLst>
                <a:gs pos="0">
                  <a:schemeClr val="bg2">
                    <a:gamma/>
                    <a:tint val="0"/>
                    <a:invGamma/>
                    <a:alpha val="0"/>
                  </a:schemeClr>
                </a:gs>
                <a:gs pos="100000">
                  <a:schemeClr val="bg2">
                    <a:alpha val="50000"/>
                  </a:schemeClr>
                </a:gs>
              </a:gsLst>
              <a:lin ang="0" scaled="1"/>
            </a:gradFill>
            <a:ln w="19050" algn="ctr">
              <a:solidFill>
                <a:schemeClr val="bg2"/>
              </a:solidFill>
              <a:miter lim="800000"/>
            </a:ln>
            <a:effectLst/>
          </p:spPr>
          <p:txBody>
            <a:bodyPr wrap="none" anchor="ctr"/>
            <a:lstStyle/>
            <a:p>
              <a:pPr algn="ctr"/>
              <a:endParaRPr lang="zh-CN" altLang="zh-CN"/>
            </a:p>
          </p:txBody>
        </p:sp>
        <p:sp>
          <p:nvSpPr>
            <p:cNvPr id="24" name="Text Box 5"/>
            <p:cNvSpPr txBox="1">
              <a:spLocks noChangeArrowheads="1"/>
            </p:cNvSpPr>
            <p:nvPr/>
          </p:nvSpPr>
          <p:spPr bwMode="black">
            <a:xfrm>
              <a:off x="0" y="1979"/>
              <a:ext cx="1588" cy="905"/>
            </a:xfrm>
            <a:prstGeom prst="rect">
              <a:avLst/>
            </a:prstGeom>
            <a:noFill/>
            <a:ln w="9525">
              <a:noFill/>
              <a:miter lim="800000"/>
            </a:ln>
            <a:effectLst/>
          </p:spPr>
          <p:txBody>
            <a:bodyPr>
              <a:spAutoFit/>
            </a:bodyPr>
            <a:lstStyle/>
            <a:p>
              <a:pPr marL="120650" indent="-120650"/>
              <a:r>
                <a:rPr lang="zh-CN" altLang="en-US" sz="3200" b="1" dirty="0">
                  <a:solidFill>
                    <a:schemeClr val="tx2"/>
                  </a:solidFill>
                  <a:effectLst>
                    <a:outerShdw blurRad="38100" dist="38100" dir="2700000" algn="tl">
                      <a:srgbClr val="C0C0C0"/>
                    </a:outerShdw>
                  </a:effectLst>
                </a:rPr>
                <a:t>电波传播特性的研究</a:t>
              </a:r>
              <a:endParaRPr lang="zh-CN" altLang="en-US" sz="3200" b="1" dirty="0">
                <a:solidFill>
                  <a:schemeClr val="tx2"/>
                </a:solidFill>
                <a:effectLst>
                  <a:outerShdw blurRad="38100" dist="38100" dir="2700000" algn="tl">
                    <a:srgbClr val="C0C0C0"/>
                  </a:outerShdw>
                </a:effectLst>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slide(fromLeft)">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slide(from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lide(fromLef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p:cNvSpPr>
            <a:spLocks noChangeArrowheads="1"/>
          </p:cNvSpPr>
          <p:nvPr/>
        </p:nvSpPr>
        <p:spPr bwMode="black">
          <a:xfrm>
            <a:off x="1619672" y="1059582"/>
            <a:ext cx="7200800" cy="1200329"/>
          </a:xfrm>
          <a:prstGeom prst="rect">
            <a:avLst/>
          </a:prstGeom>
          <a:noFill/>
          <a:ln w="9525" algn="ctr">
            <a:noFill/>
            <a:miter lim="800000"/>
          </a:ln>
          <a:effectLst/>
        </p:spPr>
        <p:txBody>
          <a:bodyPr wrap="square">
            <a:spAutoFit/>
          </a:bodyPr>
          <a:lstStyle/>
          <a:p>
            <a:pPr algn="just">
              <a:lnSpc>
                <a:spcPct val="150000"/>
              </a:lnSpc>
            </a:pPr>
            <a:r>
              <a:rPr lang="zh-CN" altLang="en-US" sz="2400" dirty="0">
                <a:solidFill>
                  <a:srgbClr val="000000"/>
                </a:solidFill>
                <a:latin typeface="宋体" panose="02010600030101010101" pitchFamily="2" charset="-122"/>
                <a:ea typeface="宋体" panose="02010600030101010101" pitchFamily="2" charset="-122"/>
              </a:rPr>
              <a:t>在理想的、均匀的、各向同性的介质中传播，只存在电磁波能量扩散而引起的传播损</a:t>
            </a:r>
            <a:r>
              <a:rPr lang="zh-CN" altLang="en-US" sz="2400" dirty="0" smtClean="0">
                <a:solidFill>
                  <a:srgbClr val="000000"/>
                </a:solidFill>
                <a:latin typeface="宋体" panose="02010600030101010101" pitchFamily="2" charset="-122"/>
                <a:ea typeface="宋体" panose="02010600030101010101" pitchFamily="2" charset="-122"/>
              </a:rPr>
              <a:t>耗。</a:t>
            </a:r>
            <a:endParaRPr lang="zh-CN" altLang="en-US" sz="2400" dirty="0">
              <a:solidFill>
                <a:srgbClr val="000000"/>
              </a:solidFill>
              <a:latin typeface="宋体" panose="02010600030101010101" pitchFamily="2" charset="-122"/>
              <a:ea typeface="宋体" panose="02010600030101010101" pitchFamily="2" charset="-122"/>
            </a:endParaRPr>
          </a:p>
        </p:txBody>
      </p:sp>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定义</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pic>
        <p:nvPicPr>
          <p:cNvPr id="2054" name="Picture 6"/>
          <p:cNvPicPr>
            <a:picLocks noChangeAspect="1" noChangeArrowheads="1"/>
          </p:cNvPicPr>
          <p:nvPr/>
        </p:nvPicPr>
        <p:blipFill>
          <a:blip r:embed="rId3" cstate="print"/>
          <a:srcRect/>
          <a:stretch>
            <a:fillRect/>
          </a:stretch>
        </p:blipFill>
        <p:spPr bwMode="auto">
          <a:xfrm>
            <a:off x="2627784" y="1977684"/>
            <a:ext cx="5688632" cy="3108558"/>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4" presetClass="entr" presetSubtype="0" accel="100000" fill="hold" grpId="0" nodeType="clickEffect">
                                  <p:stCondLst>
                                    <p:cond delay="0"/>
                                  </p:stCondLst>
                                  <p:childTnLst>
                                    <p:set>
                                      <p:cBhvr>
                                        <p:cTn id="12" dur="1" fill="hold">
                                          <p:stCondLst>
                                            <p:cond delay="0"/>
                                          </p:stCondLst>
                                        </p:cTn>
                                        <p:tgtEl>
                                          <p:spTgt spid="135171"/>
                                        </p:tgtEl>
                                        <p:attrNameLst>
                                          <p:attrName>style.visibility</p:attrName>
                                        </p:attrNameLst>
                                      </p:cBhvr>
                                      <p:to>
                                        <p:strVal val="visible"/>
                                      </p:to>
                                    </p:set>
                                    <p:anim calcmode="lin" valueType="num">
                                      <p:cBhvr>
                                        <p:cTn id="13" dur="500" fill="hold"/>
                                        <p:tgtEl>
                                          <p:spTgt spid="135171"/>
                                        </p:tgtEl>
                                        <p:attrNameLst>
                                          <p:attrName>ppt_w</p:attrName>
                                        </p:attrNameLst>
                                      </p:cBhvr>
                                      <p:tavLst>
                                        <p:tav tm="0">
                                          <p:val>
                                            <p:strVal val="#ppt_w*0.05"/>
                                          </p:val>
                                        </p:tav>
                                        <p:tav tm="100000">
                                          <p:val>
                                            <p:strVal val="#ppt_w"/>
                                          </p:val>
                                        </p:tav>
                                      </p:tavLst>
                                    </p:anim>
                                    <p:anim calcmode="lin" valueType="num">
                                      <p:cBhvr>
                                        <p:cTn id="14" dur="500" fill="hold"/>
                                        <p:tgtEl>
                                          <p:spTgt spid="135171"/>
                                        </p:tgtEl>
                                        <p:attrNameLst>
                                          <p:attrName>ppt_h</p:attrName>
                                        </p:attrNameLst>
                                      </p:cBhvr>
                                      <p:tavLst>
                                        <p:tav tm="0">
                                          <p:val>
                                            <p:strVal val="#ppt_h"/>
                                          </p:val>
                                        </p:tav>
                                        <p:tav tm="100000">
                                          <p:val>
                                            <p:strVal val="#ppt_h"/>
                                          </p:val>
                                        </p:tav>
                                      </p:tavLst>
                                    </p:anim>
                                    <p:anim calcmode="lin" valueType="num">
                                      <p:cBhvr>
                                        <p:cTn id="15" dur="500" fill="hold"/>
                                        <p:tgtEl>
                                          <p:spTgt spid="135171"/>
                                        </p:tgtEl>
                                        <p:attrNameLst>
                                          <p:attrName>ppt_x</p:attrName>
                                        </p:attrNameLst>
                                      </p:cBhvr>
                                      <p:tavLst>
                                        <p:tav tm="0">
                                          <p:val>
                                            <p:strVal val="#ppt_x-.2"/>
                                          </p:val>
                                        </p:tav>
                                        <p:tav tm="100000">
                                          <p:val>
                                            <p:strVal val="#ppt_x"/>
                                          </p:val>
                                        </p:tav>
                                      </p:tavLst>
                                    </p:anim>
                                    <p:anim calcmode="lin" valueType="num">
                                      <p:cBhvr>
                                        <p:cTn id="16" dur="500" fill="hold"/>
                                        <p:tgtEl>
                                          <p:spTgt spid="135171"/>
                                        </p:tgtEl>
                                        <p:attrNameLst>
                                          <p:attrName>ppt_y</p:attrName>
                                        </p:attrNameLst>
                                      </p:cBhvr>
                                      <p:tavLst>
                                        <p:tav tm="0">
                                          <p:val>
                                            <p:strVal val="#ppt_y"/>
                                          </p:val>
                                        </p:tav>
                                        <p:tav tm="100000">
                                          <p:val>
                                            <p:strVal val="#ppt_y"/>
                                          </p:val>
                                        </p:tav>
                                      </p:tavLst>
                                    </p:anim>
                                    <p:animEffect transition="in" filter="fade">
                                      <p:cBhvr>
                                        <p:cTn id="17" dur="500"/>
                                        <p:tgtEl>
                                          <p:spTgt spid="13517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54"/>
                                        </p:tgtEl>
                                        <p:attrNameLst>
                                          <p:attrName>style.visibility</p:attrName>
                                        </p:attrNameLst>
                                      </p:cBhvr>
                                      <p:to>
                                        <p:strVal val="visible"/>
                                      </p:to>
                                    </p:set>
                                    <p:anim calcmode="lin" valueType="num">
                                      <p:cBhvr additive="base">
                                        <p:cTn id="22" dur="500" fill="hold"/>
                                        <p:tgtEl>
                                          <p:spTgt spid="2054"/>
                                        </p:tgtEl>
                                        <p:attrNameLst>
                                          <p:attrName>ppt_x</p:attrName>
                                        </p:attrNameLst>
                                      </p:cBhvr>
                                      <p:tavLst>
                                        <p:tav tm="0">
                                          <p:val>
                                            <p:strVal val="#ppt_x"/>
                                          </p:val>
                                        </p:tav>
                                        <p:tav tm="100000">
                                          <p:val>
                                            <p:strVal val="#ppt_x"/>
                                          </p:val>
                                        </p:tav>
                                      </p:tavLst>
                                    </p:anim>
                                    <p:anim calcmode="lin" valueType="num">
                                      <p:cBhvr additive="base">
                                        <p:cTn id="23" dur="500" fill="hold"/>
                                        <p:tgtEl>
                                          <p:spTgt spid="20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计算</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pic>
        <p:nvPicPr>
          <p:cNvPr id="2054" name="Picture 6"/>
          <p:cNvPicPr>
            <a:picLocks noChangeAspect="1" noChangeArrowheads="1"/>
          </p:cNvPicPr>
          <p:nvPr/>
        </p:nvPicPr>
        <p:blipFill>
          <a:blip r:embed="rId3" cstate="print"/>
          <a:srcRect/>
          <a:stretch>
            <a:fillRect/>
          </a:stretch>
        </p:blipFill>
        <p:spPr bwMode="auto">
          <a:xfrm>
            <a:off x="2339752" y="1437624"/>
            <a:ext cx="5688632" cy="3108558"/>
          </a:xfrm>
          <a:prstGeom prst="rect">
            <a:avLst/>
          </a:prstGeom>
          <a:noFill/>
          <a:ln w="9525">
            <a:noFill/>
            <a:miter lim="800000"/>
            <a:headEnd/>
            <a:tailEnd/>
          </a:ln>
        </p:spPr>
      </p:pic>
      <p:graphicFrame>
        <p:nvGraphicFramePr>
          <p:cNvPr id="12" name="对象 11"/>
          <p:cNvGraphicFramePr>
            <a:graphicFrameLocks noChangeAspect="1"/>
          </p:cNvGraphicFramePr>
          <p:nvPr/>
        </p:nvGraphicFramePr>
        <p:xfrm>
          <a:off x="3203848" y="2193708"/>
          <a:ext cx="360040" cy="405045"/>
        </p:xfrm>
        <a:graphic>
          <a:graphicData uri="http://schemas.openxmlformats.org/presentationml/2006/ole">
            <mc:AlternateContent xmlns:mc="http://schemas.openxmlformats.org/markup-compatibility/2006">
              <mc:Choice xmlns:v="urn:schemas-microsoft-com:vml" Requires="v">
                <p:oleObj spid="_x0000_s1025" name="公式" r:id="rId4" imgW="3657600" imgH="5486400" progId="Equation.KSEE3">
                  <p:embed/>
                </p:oleObj>
              </mc:Choice>
              <mc:Fallback>
                <p:oleObj name="公式" r:id="rId4" imgW="3657600" imgH="5486400" progId="Equation.KSEE3">
                  <p:embed/>
                  <p:pic>
                    <p:nvPicPr>
                      <p:cNvPr id="0" name="图片 1024" descr="image7"/>
                      <p:cNvPicPr>
                        <a:picLocks noChangeAspect="1"/>
                      </p:cNvPicPr>
                      <p:nvPr/>
                    </p:nvPicPr>
                    <p:blipFill>
                      <a:blip r:embed="rId5"/>
                      <a:stretch>
                        <a:fillRect/>
                      </a:stretch>
                    </p:blipFill>
                    <p:spPr>
                      <a:xfrm>
                        <a:off x="3203848" y="2193708"/>
                        <a:ext cx="360040" cy="405045"/>
                      </a:xfrm>
                      <a:prstGeom prst="rect">
                        <a:avLst/>
                      </a:prstGeom>
                      <a:noFill/>
                      <a:ln w="9525">
                        <a:noFill/>
                      </a:ln>
                    </p:spPr>
                  </p:pic>
                </p:oleObj>
              </mc:Fallback>
            </mc:AlternateContent>
          </a:graphicData>
        </a:graphic>
      </p:graphicFrame>
      <p:graphicFrame>
        <p:nvGraphicFramePr>
          <p:cNvPr id="110595" name="Object 3"/>
          <p:cNvGraphicFramePr>
            <a:graphicFrameLocks noChangeAspect="1"/>
          </p:cNvGraphicFramePr>
          <p:nvPr/>
        </p:nvGraphicFramePr>
        <p:xfrm>
          <a:off x="7884369" y="2463739"/>
          <a:ext cx="390525" cy="383381"/>
        </p:xfrm>
        <a:graphic>
          <a:graphicData uri="http://schemas.openxmlformats.org/presentationml/2006/ole">
            <mc:AlternateContent xmlns:mc="http://schemas.openxmlformats.org/markup-compatibility/2006">
              <mc:Choice xmlns:v="urn:schemas-microsoft-com:vml" Requires="v">
                <p:oleObj spid="_x0000_s1026" name="公式" r:id="rId6" imgW="3962400" imgH="5181600" progId="Equation.KSEE3">
                  <p:embed/>
                </p:oleObj>
              </mc:Choice>
              <mc:Fallback>
                <p:oleObj name="公式" r:id="rId6" imgW="3962400" imgH="5181600" progId="Equation.KSEE3">
                  <p:embed/>
                  <p:pic>
                    <p:nvPicPr>
                      <p:cNvPr id="0" name="图片 1025" descr="image8"/>
                      <p:cNvPicPr>
                        <a:picLocks noChangeAspect="1"/>
                      </p:cNvPicPr>
                      <p:nvPr/>
                    </p:nvPicPr>
                    <p:blipFill>
                      <a:blip r:embed="rId7"/>
                      <a:stretch>
                        <a:fillRect/>
                      </a:stretch>
                    </p:blipFill>
                    <p:spPr>
                      <a:xfrm>
                        <a:off x="7884369" y="2463739"/>
                        <a:ext cx="390525" cy="383381"/>
                      </a:xfrm>
                      <a:prstGeom prst="rect">
                        <a:avLst/>
                      </a:prstGeom>
                      <a:noFill/>
                      <a:ln w="9525">
                        <a:noFill/>
                      </a:ln>
                    </p:spPr>
                  </p:pic>
                </p:oleObj>
              </mc:Fallback>
            </mc:AlternateContent>
          </a:graphicData>
        </a:graphic>
      </p:graphicFrame>
      <p:graphicFrame>
        <p:nvGraphicFramePr>
          <p:cNvPr id="110596" name="Object 4"/>
          <p:cNvGraphicFramePr>
            <a:graphicFrameLocks noChangeAspect="1"/>
          </p:cNvGraphicFramePr>
          <p:nvPr/>
        </p:nvGraphicFramePr>
        <p:xfrm>
          <a:off x="4211960" y="3759882"/>
          <a:ext cx="2252662" cy="698897"/>
        </p:xfrm>
        <a:graphic>
          <a:graphicData uri="http://schemas.openxmlformats.org/presentationml/2006/ole">
            <mc:AlternateContent xmlns:mc="http://schemas.openxmlformats.org/markup-compatibility/2006">
              <mc:Choice xmlns:v="urn:schemas-microsoft-com:vml" Requires="v">
                <p:oleObj spid="_x0000_s1027" name="公式" r:id="rId8" imgW="22860000" imgH="9448800" progId="Equation.KSEE3">
                  <p:embed/>
                </p:oleObj>
              </mc:Choice>
              <mc:Fallback>
                <p:oleObj name="公式" r:id="rId8" imgW="22860000" imgH="9448800" progId="Equation.KSEE3">
                  <p:embed/>
                  <p:pic>
                    <p:nvPicPr>
                      <p:cNvPr id="0" name="图片 1026" descr="image9"/>
                      <p:cNvPicPr>
                        <a:picLocks noChangeAspect="1"/>
                      </p:cNvPicPr>
                      <p:nvPr/>
                    </p:nvPicPr>
                    <p:blipFill>
                      <a:blip r:embed="rId9"/>
                      <a:stretch>
                        <a:fillRect/>
                      </a:stretch>
                    </p:blipFill>
                    <p:spPr>
                      <a:xfrm>
                        <a:off x="4211960" y="3759882"/>
                        <a:ext cx="2252662" cy="698897"/>
                      </a:xfrm>
                      <a:prstGeom prst="rect">
                        <a:avLst/>
                      </a:prstGeom>
                      <a:noFill/>
                      <a:ln w="9525">
                        <a:noFill/>
                      </a:ln>
                    </p:spPr>
                  </p:pic>
                </p:oleObj>
              </mc:Fallback>
            </mc:AlternateContent>
          </a:graphicData>
        </a:graphic>
      </p:graphicFrame>
      <p:sp>
        <p:nvSpPr>
          <p:cNvPr id="15" name="圆角矩形标注 14"/>
          <p:cNvSpPr/>
          <p:nvPr/>
        </p:nvSpPr>
        <p:spPr>
          <a:xfrm>
            <a:off x="6516216" y="4387416"/>
            <a:ext cx="2376264" cy="756084"/>
          </a:xfrm>
          <a:prstGeom prst="wedgeRoundRectCallout">
            <a:avLst>
              <a:gd name="adj1" fmla="val -101394"/>
              <a:gd name="adj2" fmla="val -44041"/>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rPr>
              <a:t>以</a:t>
            </a:r>
            <a:r>
              <a:rPr lang="en-US" altLang="zh-CN" sz="2400" dirty="0" smtClean="0">
                <a:solidFill>
                  <a:schemeClr val="tx1"/>
                </a:solidFill>
              </a:rPr>
              <a:t>d</a:t>
            </a:r>
            <a:r>
              <a:rPr lang="zh-CN" altLang="en-US" sz="2400" dirty="0" smtClean="0">
                <a:solidFill>
                  <a:schemeClr val="tx1"/>
                </a:solidFill>
              </a:rPr>
              <a:t>为半径的球面面积</a:t>
            </a:r>
            <a:endParaRPr lang="zh-CN" altLang="en-US" sz="2400" dirty="0">
              <a:solidFill>
                <a:schemeClr val="tx1"/>
              </a:solidFill>
            </a:endParaRPr>
          </a:p>
        </p:txBody>
      </p:sp>
      <p:sp>
        <p:nvSpPr>
          <p:cNvPr id="16" name="圆角矩形标注 15"/>
          <p:cNvSpPr/>
          <p:nvPr/>
        </p:nvSpPr>
        <p:spPr>
          <a:xfrm>
            <a:off x="1115616" y="3543858"/>
            <a:ext cx="2376264" cy="756084"/>
          </a:xfrm>
          <a:prstGeom prst="wedgeRoundRectCallout">
            <a:avLst>
              <a:gd name="adj1" fmla="val 119106"/>
              <a:gd name="adj2" fmla="val -5168"/>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rPr>
              <a:t>手机有效接收面积</a:t>
            </a:r>
            <a:endParaRPr lang="zh-CN" altLang="en-US" sz="2400" dirty="0">
              <a:solidFill>
                <a:schemeClr val="tx1"/>
              </a:solidFill>
            </a:endParaRPr>
          </a:p>
        </p:txBody>
      </p:sp>
      <p:graphicFrame>
        <p:nvGraphicFramePr>
          <p:cNvPr id="110597" name="Object 5"/>
          <p:cNvGraphicFramePr>
            <a:graphicFrameLocks noChangeAspect="1"/>
          </p:cNvGraphicFramePr>
          <p:nvPr/>
        </p:nvGraphicFramePr>
        <p:xfrm>
          <a:off x="1403649" y="4245936"/>
          <a:ext cx="1592263" cy="744141"/>
        </p:xfrm>
        <a:graphic>
          <a:graphicData uri="http://schemas.openxmlformats.org/presentationml/2006/ole">
            <mc:AlternateContent xmlns:mc="http://schemas.openxmlformats.org/markup-compatibility/2006">
              <mc:Choice xmlns:v="urn:schemas-microsoft-com:vml" Requires="v">
                <p:oleObj spid="_x0000_s1028" name="公式" r:id="rId10" imgW="16154400" imgH="10058400" progId="Equation.KSEE3">
                  <p:embed/>
                </p:oleObj>
              </mc:Choice>
              <mc:Fallback>
                <p:oleObj name="公式" r:id="rId10" imgW="16154400" imgH="10058400" progId="Equation.KSEE3">
                  <p:embed/>
                  <p:pic>
                    <p:nvPicPr>
                      <p:cNvPr id="0" name="图片 1027" descr="image10"/>
                      <p:cNvPicPr>
                        <a:picLocks noChangeAspect="1"/>
                      </p:cNvPicPr>
                      <p:nvPr/>
                    </p:nvPicPr>
                    <p:blipFill>
                      <a:blip r:embed="rId11"/>
                      <a:stretch>
                        <a:fillRect/>
                      </a:stretch>
                    </p:blipFill>
                    <p:spPr>
                      <a:xfrm>
                        <a:off x="1403649" y="4245936"/>
                        <a:ext cx="1592263" cy="744141"/>
                      </a:xfrm>
                      <a:prstGeom prst="rect">
                        <a:avLst/>
                      </a:prstGeom>
                      <a:noFill/>
                      <a:ln w="9525">
                        <a:noFill/>
                      </a:ln>
                    </p:spPr>
                  </p:pic>
                </p:oleObj>
              </mc:Fallback>
            </mc:AlternateContent>
          </a:graphicData>
        </a:graphic>
      </p:graphicFrame>
      <p:sp>
        <p:nvSpPr>
          <p:cNvPr id="18" name="圆角矩形标注 17"/>
          <p:cNvSpPr/>
          <p:nvPr/>
        </p:nvSpPr>
        <p:spPr>
          <a:xfrm>
            <a:off x="3419872" y="4549434"/>
            <a:ext cx="2304256" cy="594066"/>
          </a:xfrm>
          <a:prstGeom prst="wedgeRoundRectCallout">
            <a:avLst>
              <a:gd name="adj1" fmla="val -73405"/>
              <a:gd name="adj2" fmla="val -5981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chemeClr val="tx1"/>
                </a:solidFill>
              </a:rPr>
              <a:t>G,</a:t>
            </a:r>
            <a:r>
              <a:rPr lang="zh-CN" altLang="en-US" sz="2400" dirty="0" smtClean="0">
                <a:solidFill>
                  <a:schemeClr val="tx1"/>
                </a:solidFill>
              </a:rPr>
              <a:t>天线增益，</a:t>
            </a:r>
            <a:r>
              <a:rPr lang="en-US" altLang="zh-CN" sz="2400" dirty="0" smtClean="0">
                <a:solidFill>
                  <a:schemeClr val="tx1"/>
                </a:solidFill>
              </a:rPr>
              <a:t>λ</a:t>
            </a:r>
            <a:r>
              <a:rPr lang="zh-CN" altLang="en-US" sz="2400" dirty="0" smtClean="0">
                <a:solidFill>
                  <a:schemeClr val="tx1"/>
                </a:solidFill>
              </a:rPr>
              <a:t>波长</a:t>
            </a:r>
            <a:endParaRPr lang="zh-CN" altLang="en-US" sz="2400" dirty="0">
              <a:solidFill>
                <a:schemeClr val="tx1"/>
              </a:solidFil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4" fill="hold" nodeType="clickEffect">
                                  <p:stCondLst>
                                    <p:cond delay="0"/>
                                  </p:stCondLst>
                                  <p:childTnLst>
                                    <p:set>
                                      <p:cBhvr>
                                        <p:cTn id="12" dur="1" fill="hold">
                                          <p:stCondLst>
                                            <p:cond delay="0"/>
                                          </p:stCondLst>
                                        </p:cTn>
                                        <p:tgtEl>
                                          <p:spTgt spid="2054"/>
                                        </p:tgtEl>
                                        <p:attrNameLst>
                                          <p:attrName>style.visibility</p:attrName>
                                        </p:attrNameLst>
                                      </p:cBhvr>
                                      <p:to>
                                        <p:strVal val="visible"/>
                                      </p:to>
                                    </p:set>
                                    <p:animEffect transition="in" filter="wheel(4)">
                                      <p:cBhvr>
                                        <p:cTn id="13" dur="2000"/>
                                        <p:tgtEl>
                                          <p:spTgt spid="205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0596"/>
                                        </p:tgtEl>
                                        <p:attrNameLst>
                                          <p:attrName>style.visibility</p:attrName>
                                        </p:attrNameLst>
                                      </p:cBhvr>
                                      <p:to>
                                        <p:strVal val="visible"/>
                                      </p:to>
                                    </p:set>
                                    <p:anim calcmode="lin" valueType="num">
                                      <p:cBhvr additive="base">
                                        <p:cTn id="18" dur="500" fill="hold"/>
                                        <p:tgtEl>
                                          <p:spTgt spid="110596"/>
                                        </p:tgtEl>
                                        <p:attrNameLst>
                                          <p:attrName>ppt_x</p:attrName>
                                        </p:attrNameLst>
                                      </p:cBhvr>
                                      <p:tavLst>
                                        <p:tav tm="0">
                                          <p:val>
                                            <p:strVal val="#ppt_x"/>
                                          </p:val>
                                        </p:tav>
                                        <p:tav tm="100000">
                                          <p:val>
                                            <p:strVal val="#ppt_x"/>
                                          </p:val>
                                        </p:tav>
                                      </p:tavLst>
                                    </p:anim>
                                    <p:anim calcmode="lin" valueType="num">
                                      <p:cBhvr additive="base">
                                        <p:cTn id="19" dur="500" fill="hold"/>
                                        <p:tgtEl>
                                          <p:spTgt spid="11059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0597"/>
                                        </p:tgtEl>
                                        <p:attrNameLst>
                                          <p:attrName>style.visibility</p:attrName>
                                        </p:attrNameLst>
                                      </p:cBhvr>
                                      <p:to>
                                        <p:strVal val="visible"/>
                                      </p:to>
                                    </p:set>
                                    <p:anim calcmode="lin" valueType="num">
                                      <p:cBhvr additive="base">
                                        <p:cTn id="24" dur="500" fill="hold"/>
                                        <p:tgtEl>
                                          <p:spTgt spid="110597"/>
                                        </p:tgtEl>
                                        <p:attrNameLst>
                                          <p:attrName>ppt_x</p:attrName>
                                        </p:attrNameLst>
                                      </p:cBhvr>
                                      <p:tavLst>
                                        <p:tav tm="0">
                                          <p:val>
                                            <p:strVal val="#ppt_x"/>
                                          </p:val>
                                        </p:tav>
                                        <p:tav tm="100000">
                                          <p:val>
                                            <p:strVal val="#ppt_x"/>
                                          </p:val>
                                        </p:tav>
                                      </p:tavLst>
                                    </p:anim>
                                    <p:anim calcmode="lin" valueType="num">
                                      <p:cBhvr additive="base">
                                        <p:cTn id="25" dur="500" fill="hold"/>
                                        <p:tgtEl>
                                          <p:spTgt spid="11059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4" presetClass="entr" presetSubtype="0" accel="10000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strVal val="#ppt_w*0.05"/>
                                          </p:val>
                                        </p:tav>
                                        <p:tav tm="100000">
                                          <p:val>
                                            <p:strVal val="#ppt_w"/>
                                          </p:val>
                                        </p:tav>
                                      </p:tavLst>
                                    </p:anim>
                                    <p:anim calcmode="lin" valueType="num">
                                      <p:cBhvr>
                                        <p:cTn id="31" dur="500" fill="hold"/>
                                        <p:tgtEl>
                                          <p:spTgt spid="15"/>
                                        </p:tgtEl>
                                        <p:attrNameLst>
                                          <p:attrName>ppt_h</p:attrName>
                                        </p:attrNameLst>
                                      </p:cBhvr>
                                      <p:tavLst>
                                        <p:tav tm="0">
                                          <p:val>
                                            <p:strVal val="#ppt_h"/>
                                          </p:val>
                                        </p:tav>
                                        <p:tav tm="100000">
                                          <p:val>
                                            <p:strVal val="#ppt_h"/>
                                          </p:val>
                                        </p:tav>
                                      </p:tavLst>
                                    </p:anim>
                                    <p:anim calcmode="lin" valueType="num">
                                      <p:cBhvr>
                                        <p:cTn id="32" dur="500" fill="hold"/>
                                        <p:tgtEl>
                                          <p:spTgt spid="15"/>
                                        </p:tgtEl>
                                        <p:attrNameLst>
                                          <p:attrName>ppt_x</p:attrName>
                                        </p:attrNameLst>
                                      </p:cBhvr>
                                      <p:tavLst>
                                        <p:tav tm="0">
                                          <p:val>
                                            <p:strVal val="#ppt_x-.2"/>
                                          </p:val>
                                        </p:tav>
                                        <p:tav tm="100000">
                                          <p:val>
                                            <p:strVal val="#ppt_x"/>
                                          </p:val>
                                        </p:tav>
                                      </p:tavLst>
                                    </p:anim>
                                    <p:anim calcmode="lin" valueType="num">
                                      <p:cBhvr>
                                        <p:cTn id="33" dur="500" fill="hold"/>
                                        <p:tgtEl>
                                          <p:spTgt spid="15"/>
                                        </p:tgtEl>
                                        <p:attrNameLst>
                                          <p:attrName>ppt_y</p:attrName>
                                        </p:attrNameLst>
                                      </p:cBhvr>
                                      <p:tavLst>
                                        <p:tav tm="0">
                                          <p:val>
                                            <p:strVal val="#ppt_y"/>
                                          </p:val>
                                        </p:tav>
                                        <p:tav tm="100000">
                                          <p:val>
                                            <p:strVal val="#ppt_y"/>
                                          </p:val>
                                        </p:tav>
                                      </p:tavLst>
                                    </p:anim>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54" presetClass="entr" presetSubtype="0" accel="10000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strVal val="#ppt_w*0.05"/>
                                          </p:val>
                                        </p:tav>
                                        <p:tav tm="100000">
                                          <p:val>
                                            <p:strVal val="#ppt_w"/>
                                          </p:val>
                                        </p:tav>
                                      </p:tavLst>
                                    </p:anim>
                                    <p:anim calcmode="lin" valueType="num">
                                      <p:cBhvr>
                                        <p:cTn id="40" dur="500" fill="hold"/>
                                        <p:tgtEl>
                                          <p:spTgt spid="16"/>
                                        </p:tgtEl>
                                        <p:attrNameLst>
                                          <p:attrName>ppt_h</p:attrName>
                                        </p:attrNameLst>
                                      </p:cBhvr>
                                      <p:tavLst>
                                        <p:tav tm="0">
                                          <p:val>
                                            <p:strVal val="#ppt_h"/>
                                          </p:val>
                                        </p:tav>
                                        <p:tav tm="100000">
                                          <p:val>
                                            <p:strVal val="#ppt_h"/>
                                          </p:val>
                                        </p:tav>
                                      </p:tavLst>
                                    </p:anim>
                                    <p:anim calcmode="lin" valueType="num">
                                      <p:cBhvr>
                                        <p:cTn id="41" dur="500" fill="hold"/>
                                        <p:tgtEl>
                                          <p:spTgt spid="16"/>
                                        </p:tgtEl>
                                        <p:attrNameLst>
                                          <p:attrName>ppt_x</p:attrName>
                                        </p:attrNameLst>
                                      </p:cBhvr>
                                      <p:tavLst>
                                        <p:tav tm="0">
                                          <p:val>
                                            <p:strVal val="#ppt_x-.2"/>
                                          </p:val>
                                        </p:tav>
                                        <p:tav tm="100000">
                                          <p:val>
                                            <p:strVal val="#ppt_x"/>
                                          </p:val>
                                        </p:tav>
                                      </p:tavLst>
                                    </p:anim>
                                    <p:anim calcmode="lin" valueType="num">
                                      <p:cBhvr>
                                        <p:cTn id="42" dur="500" fill="hold"/>
                                        <p:tgtEl>
                                          <p:spTgt spid="16"/>
                                        </p:tgtEl>
                                        <p:attrNameLst>
                                          <p:attrName>ppt_y</p:attrName>
                                        </p:attrNameLst>
                                      </p:cBhvr>
                                      <p:tavLst>
                                        <p:tav tm="0">
                                          <p:val>
                                            <p:strVal val="#ppt_y"/>
                                          </p:val>
                                        </p:tav>
                                        <p:tav tm="100000">
                                          <p:val>
                                            <p:strVal val="#ppt_y"/>
                                          </p:val>
                                        </p:tav>
                                      </p:tavLst>
                                    </p:anim>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54" presetClass="entr" presetSubtype="0" accel="10000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strVal val="#ppt_w*0.05"/>
                                          </p:val>
                                        </p:tav>
                                        <p:tav tm="100000">
                                          <p:val>
                                            <p:strVal val="#ppt_w"/>
                                          </p:val>
                                        </p:tav>
                                      </p:tavLst>
                                    </p:anim>
                                    <p:anim calcmode="lin" valueType="num">
                                      <p:cBhvr>
                                        <p:cTn id="49" dur="500" fill="hold"/>
                                        <p:tgtEl>
                                          <p:spTgt spid="18"/>
                                        </p:tgtEl>
                                        <p:attrNameLst>
                                          <p:attrName>ppt_h</p:attrName>
                                        </p:attrNameLst>
                                      </p:cBhvr>
                                      <p:tavLst>
                                        <p:tav tm="0">
                                          <p:val>
                                            <p:strVal val="#ppt_h"/>
                                          </p:val>
                                        </p:tav>
                                        <p:tav tm="100000">
                                          <p:val>
                                            <p:strVal val="#ppt_h"/>
                                          </p:val>
                                        </p:tav>
                                      </p:tavLst>
                                    </p:anim>
                                    <p:anim calcmode="lin" valueType="num">
                                      <p:cBhvr>
                                        <p:cTn id="50" dur="500" fill="hold"/>
                                        <p:tgtEl>
                                          <p:spTgt spid="18"/>
                                        </p:tgtEl>
                                        <p:attrNameLst>
                                          <p:attrName>ppt_x</p:attrName>
                                        </p:attrNameLst>
                                      </p:cBhvr>
                                      <p:tavLst>
                                        <p:tav tm="0">
                                          <p:val>
                                            <p:strVal val="#ppt_x-.2"/>
                                          </p:val>
                                        </p:tav>
                                        <p:tav tm="100000">
                                          <p:val>
                                            <p:strVal val="#ppt_x"/>
                                          </p:val>
                                        </p:tav>
                                      </p:tavLst>
                                    </p:anim>
                                    <p:anim calcmode="lin" valueType="num">
                                      <p:cBhvr>
                                        <p:cTn id="51" dur="500" fill="hold"/>
                                        <p:tgtEl>
                                          <p:spTgt spid="18"/>
                                        </p:tgtEl>
                                        <p:attrNameLst>
                                          <p:attrName>ppt_y</p:attrName>
                                        </p:attrNameLst>
                                      </p:cBhvr>
                                      <p:tavLst>
                                        <p:tav tm="0">
                                          <p:val>
                                            <p:strVal val="#ppt_y"/>
                                          </p:val>
                                        </p:tav>
                                        <p:tav tm="100000">
                                          <p:val>
                                            <p:strVal val="#ppt_y"/>
                                          </p:val>
                                        </p:tav>
                                      </p:tavLst>
                                    </p:anim>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计算</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pic>
        <p:nvPicPr>
          <p:cNvPr id="2054" name="Picture 6"/>
          <p:cNvPicPr>
            <a:picLocks noChangeAspect="1" noChangeArrowheads="1"/>
          </p:cNvPicPr>
          <p:nvPr/>
        </p:nvPicPr>
        <p:blipFill>
          <a:blip r:embed="rId3" cstate="print"/>
          <a:srcRect/>
          <a:stretch>
            <a:fillRect/>
          </a:stretch>
        </p:blipFill>
        <p:spPr bwMode="auto">
          <a:xfrm>
            <a:off x="2339752" y="1437624"/>
            <a:ext cx="5688632" cy="3108558"/>
          </a:xfrm>
          <a:prstGeom prst="rect">
            <a:avLst/>
          </a:prstGeom>
          <a:noFill/>
          <a:ln w="9525">
            <a:noFill/>
            <a:miter lim="800000"/>
            <a:headEnd/>
            <a:tailEnd/>
          </a:ln>
        </p:spPr>
      </p:pic>
      <p:graphicFrame>
        <p:nvGraphicFramePr>
          <p:cNvPr id="12" name="对象 11"/>
          <p:cNvGraphicFramePr>
            <a:graphicFrameLocks noChangeAspect="1"/>
          </p:cNvGraphicFramePr>
          <p:nvPr/>
        </p:nvGraphicFramePr>
        <p:xfrm>
          <a:off x="3203848" y="2193708"/>
          <a:ext cx="360040" cy="405045"/>
        </p:xfrm>
        <a:graphic>
          <a:graphicData uri="http://schemas.openxmlformats.org/presentationml/2006/ole">
            <mc:AlternateContent xmlns:mc="http://schemas.openxmlformats.org/markup-compatibility/2006">
              <mc:Choice xmlns:v="urn:schemas-microsoft-com:vml" Requires="v">
                <p:oleObj spid="_x0000_s2049" name="公式" r:id="rId4" imgW="3657600" imgH="5486400" progId="Equation.KSEE3">
                  <p:embed/>
                </p:oleObj>
              </mc:Choice>
              <mc:Fallback>
                <p:oleObj name="公式" r:id="rId4" imgW="3657600" imgH="5486400" progId="Equation.KSEE3">
                  <p:embed/>
                  <p:pic>
                    <p:nvPicPr>
                      <p:cNvPr id="0" name="图片 2048" descr="image7"/>
                      <p:cNvPicPr>
                        <a:picLocks noChangeAspect="1"/>
                      </p:cNvPicPr>
                      <p:nvPr/>
                    </p:nvPicPr>
                    <p:blipFill>
                      <a:blip r:embed="rId5"/>
                      <a:stretch>
                        <a:fillRect/>
                      </a:stretch>
                    </p:blipFill>
                    <p:spPr>
                      <a:xfrm>
                        <a:off x="3203848" y="2193708"/>
                        <a:ext cx="360040" cy="405045"/>
                      </a:xfrm>
                      <a:prstGeom prst="rect">
                        <a:avLst/>
                      </a:prstGeom>
                      <a:noFill/>
                      <a:ln w="9525">
                        <a:noFill/>
                      </a:ln>
                    </p:spPr>
                  </p:pic>
                </p:oleObj>
              </mc:Fallback>
            </mc:AlternateContent>
          </a:graphicData>
        </a:graphic>
      </p:graphicFrame>
      <p:graphicFrame>
        <p:nvGraphicFramePr>
          <p:cNvPr id="110595" name="Object 3"/>
          <p:cNvGraphicFramePr>
            <a:graphicFrameLocks noChangeAspect="1"/>
          </p:cNvGraphicFramePr>
          <p:nvPr/>
        </p:nvGraphicFramePr>
        <p:xfrm>
          <a:off x="7884369" y="2463739"/>
          <a:ext cx="390525" cy="383381"/>
        </p:xfrm>
        <a:graphic>
          <a:graphicData uri="http://schemas.openxmlformats.org/presentationml/2006/ole">
            <mc:AlternateContent xmlns:mc="http://schemas.openxmlformats.org/markup-compatibility/2006">
              <mc:Choice xmlns:v="urn:schemas-microsoft-com:vml" Requires="v">
                <p:oleObj spid="_x0000_s2050" name="公式" r:id="rId6" imgW="3962400" imgH="5181600" progId="Equation.KSEE3">
                  <p:embed/>
                </p:oleObj>
              </mc:Choice>
              <mc:Fallback>
                <p:oleObj name="公式" r:id="rId6" imgW="3962400" imgH="5181600" progId="Equation.KSEE3">
                  <p:embed/>
                  <p:pic>
                    <p:nvPicPr>
                      <p:cNvPr id="0" name="图片 2049" descr="image8"/>
                      <p:cNvPicPr>
                        <a:picLocks noChangeAspect="1"/>
                      </p:cNvPicPr>
                      <p:nvPr/>
                    </p:nvPicPr>
                    <p:blipFill>
                      <a:blip r:embed="rId7"/>
                      <a:stretch>
                        <a:fillRect/>
                      </a:stretch>
                    </p:blipFill>
                    <p:spPr>
                      <a:xfrm>
                        <a:off x="7884369" y="2463739"/>
                        <a:ext cx="390525" cy="383381"/>
                      </a:xfrm>
                      <a:prstGeom prst="rect">
                        <a:avLst/>
                      </a:prstGeom>
                      <a:noFill/>
                      <a:ln w="9525">
                        <a:noFill/>
                      </a:ln>
                    </p:spPr>
                  </p:pic>
                </p:oleObj>
              </mc:Fallback>
            </mc:AlternateContent>
          </a:graphicData>
        </a:graphic>
      </p:graphicFrame>
      <p:graphicFrame>
        <p:nvGraphicFramePr>
          <p:cNvPr id="110596" name="Object 4"/>
          <p:cNvGraphicFramePr>
            <a:graphicFrameLocks noChangeAspect="1"/>
          </p:cNvGraphicFramePr>
          <p:nvPr/>
        </p:nvGraphicFramePr>
        <p:xfrm>
          <a:off x="4211960" y="3759882"/>
          <a:ext cx="2252662" cy="698897"/>
        </p:xfrm>
        <a:graphic>
          <a:graphicData uri="http://schemas.openxmlformats.org/presentationml/2006/ole">
            <mc:AlternateContent xmlns:mc="http://schemas.openxmlformats.org/markup-compatibility/2006">
              <mc:Choice xmlns:v="urn:schemas-microsoft-com:vml" Requires="v">
                <p:oleObj spid="_x0000_s2051" name="公式" r:id="rId8" imgW="22860000" imgH="9448800" progId="Equation.KSEE3">
                  <p:embed/>
                </p:oleObj>
              </mc:Choice>
              <mc:Fallback>
                <p:oleObj name="公式" r:id="rId8" imgW="22860000" imgH="9448800" progId="Equation.KSEE3">
                  <p:embed/>
                  <p:pic>
                    <p:nvPicPr>
                      <p:cNvPr id="0" name="图片 2050" descr="image9"/>
                      <p:cNvPicPr>
                        <a:picLocks noChangeAspect="1"/>
                      </p:cNvPicPr>
                      <p:nvPr/>
                    </p:nvPicPr>
                    <p:blipFill>
                      <a:blip r:embed="rId9"/>
                      <a:stretch>
                        <a:fillRect/>
                      </a:stretch>
                    </p:blipFill>
                    <p:spPr>
                      <a:xfrm>
                        <a:off x="4211960" y="3759882"/>
                        <a:ext cx="2252662" cy="698897"/>
                      </a:xfrm>
                      <a:prstGeom prst="rect">
                        <a:avLst/>
                      </a:prstGeom>
                      <a:noFill/>
                      <a:ln w="9525">
                        <a:noFill/>
                      </a:ln>
                    </p:spPr>
                  </p:pic>
                </p:oleObj>
              </mc:Fallback>
            </mc:AlternateContent>
          </a:graphicData>
        </a:graphic>
      </p:graphicFrame>
      <p:graphicFrame>
        <p:nvGraphicFramePr>
          <p:cNvPr id="111622" name="Object 6"/>
          <p:cNvGraphicFramePr>
            <a:graphicFrameLocks noChangeAspect="1"/>
          </p:cNvGraphicFramePr>
          <p:nvPr/>
        </p:nvGraphicFramePr>
        <p:xfrm>
          <a:off x="6948265" y="3759882"/>
          <a:ext cx="1592263" cy="744141"/>
        </p:xfrm>
        <a:graphic>
          <a:graphicData uri="http://schemas.openxmlformats.org/presentationml/2006/ole">
            <mc:AlternateContent xmlns:mc="http://schemas.openxmlformats.org/markup-compatibility/2006">
              <mc:Choice xmlns:v="urn:schemas-microsoft-com:vml" Requires="v">
                <p:oleObj spid="_x0000_s2052" name="公式" r:id="rId10" imgW="16154400" imgH="10058400" progId="Equation.KSEE3">
                  <p:embed/>
                </p:oleObj>
              </mc:Choice>
              <mc:Fallback>
                <p:oleObj name="公式" r:id="rId10" imgW="16154400" imgH="10058400" progId="Equation.KSEE3">
                  <p:embed/>
                  <p:pic>
                    <p:nvPicPr>
                      <p:cNvPr id="0" name="图片 2051" descr="image10"/>
                      <p:cNvPicPr>
                        <a:picLocks noChangeAspect="1"/>
                      </p:cNvPicPr>
                      <p:nvPr/>
                    </p:nvPicPr>
                    <p:blipFill>
                      <a:blip r:embed="rId11"/>
                      <a:stretch>
                        <a:fillRect/>
                      </a:stretch>
                    </p:blipFill>
                    <p:spPr>
                      <a:xfrm>
                        <a:off x="6948265" y="3759882"/>
                        <a:ext cx="1592263" cy="744141"/>
                      </a:xfrm>
                      <a:prstGeom prst="rect">
                        <a:avLst/>
                      </a:prstGeom>
                      <a:noFill/>
                      <a:ln w="9525">
                        <a:noFill/>
                      </a:ln>
                    </p:spPr>
                  </p:pic>
                </p:oleObj>
              </mc:Fallback>
            </mc:AlternateContent>
          </a:graphicData>
        </a:graphic>
      </p:graphicFrame>
      <p:sp>
        <p:nvSpPr>
          <p:cNvPr id="19" name="TextBox 18"/>
          <p:cNvSpPr txBox="1"/>
          <p:nvPr/>
        </p:nvSpPr>
        <p:spPr>
          <a:xfrm>
            <a:off x="179512" y="1977684"/>
            <a:ext cx="2304256" cy="1200329"/>
          </a:xfrm>
          <a:prstGeom prst="rect">
            <a:avLst/>
          </a:prstGeom>
          <a:noFill/>
        </p:spPr>
        <p:txBody>
          <a:bodyPr wrap="square" rtlCol="0">
            <a:spAutoFit/>
          </a:bodyPr>
          <a:lstStyle/>
          <a:p>
            <a:pPr>
              <a:lnSpc>
                <a:spcPct val="150000"/>
              </a:lnSpc>
            </a:pPr>
            <a:r>
              <a:rPr lang="zh-CN" altLang="en-US" sz="2400" b="1" dirty="0" smtClean="0">
                <a:solidFill>
                  <a:srgbClr val="FF0000"/>
                </a:solidFill>
                <a:latin typeface="宋体" panose="02010600030101010101" pitchFamily="2" charset="-122"/>
                <a:ea typeface="宋体" panose="02010600030101010101" pitchFamily="2" charset="-122"/>
              </a:rPr>
              <a:t>定义自由空间的传播损耗</a:t>
            </a:r>
            <a:r>
              <a:rPr lang="en-US" altLang="zh-CN" sz="2400" b="1" dirty="0" smtClean="0">
                <a:solidFill>
                  <a:srgbClr val="FF0000"/>
                </a:solidFill>
                <a:latin typeface="宋体" panose="02010600030101010101" pitchFamily="2" charset="-122"/>
                <a:ea typeface="宋体" panose="02010600030101010101" pitchFamily="2" charset="-122"/>
              </a:rPr>
              <a:t>L</a:t>
            </a:r>
            <a:r>
              <a:rPr lang="zh-CN" altLang="en-US" sz="2400" b="1" dirty="0" smtClean="0">
                <a:solidFill>
                  <a:srgbClr val="FF0000"/>
                </a:solidFill>
                <a:latin typeface="宋体" panose="02010600030101010101" pitchFamily="2" charset="-122"/>
                <a:ea typeface="宋体" panose="02010600030101010101" pitchFamily="2" charset="-122"/>
              </a:rPr>
              <a:t>：</a:t>
            </a:r>
            <a:endParaRPr lang="zh-CN" altLang="en-US" sz="2400" b="1" dirty="0">
              <a:solidFill>
                <a:srgbClr val="FF0000"/>
              </a:solidFill>
              <a:latin typeface="宋体" panose="02010600030101010101" pitchFamily="2" charset="-122"/>
              <a:ea typeface="宋体" panose="02010600030101010101" pitchFamily="2" charset="-122"/>
            </a:endParaRPr>
          </a:p>
        </p:txBody>
      </p:sp>
      <p:graphicFrame>
        <p:nvGraphicFramePr>
          <p:cNvPr id="111623" name="Object 7"/>
          <p:cNvGraphicFramePr>
            <a:graphicFrameLocks noChangeAspect="1"/>
          </p:cNvGraphicFramePr>
          <p:nvPr/>
        </p:nvGraphicFramePr>
        <p:xfrm>
          <a:off x="683569" y="2841780"/>
          <a:ext cx="1350963" cy="676275"/>
        </p:xfrm>
        <a:graphic>
          <a:graphicData uri="http://schemas.openxmlformats.org/presentationml/2006/ole">
            <mc:AlternateContent xmlns:mc="http://schemas.openxmlformats.org/markup-compatibility/2006">
              <mc:Choice xmlns:v="urn:schemas-microsoft-com:vml" Requires="v">
                <p:oleObj spid="_x0000_s2053" name="公式" r:id="rId12" imgW="13716000" imgH="9144000" progId="Equation.KSEE3">
                  <p:embed/>
                </p:oleObj>
              </mc:Choice>
              <mc:Fallback>
                <p:oleObj name="公式" r:id="rId12" imgW="13716000" imgH="9144000" progId="Equation.KSEE3">
                  <p:embed/>
                  <p:pic>
                    <p:nvPicPr>
                      <p:cNvPr id="0" name="图片 2052" descr="image11"/>
                      <p:cNvPicPr>
                        <a:picLocks noChangeAspect="1"/>
                      </p:cNvPicPr>
                      <p:nvPr/>
                    </p:nvPicPr>
                    <p:blipFill>
                      <a:blip r:embed="rId13"/>
                      <a:stretch>
                        <a:fillRect/>
                      </a:stretch>
                    </p:blipFill>
                    <p:spPr>
                      <a:xfrm>
                        <a:off x="683569" y="2841780"/>
                        <a:ext cx="1350963" cy="676275"/>
                      </a:xfrm>
                      <a:prstGeom prst="rect">
                        <a:avLst/>
                      </a:prstGeom>
                      <a:noFill/>
                      <a:ln w="9525">
                        <a:noFill/>
                      </a:ln>
                    </p:spPr>
                  </p:pic>
                </p:oleObj>
              </mc:Fallback>
            </mc:AlternateContent>
          </a:graphicData>
        </a:graphic>
      </p:graphicFrame>
      <p:graphicFrame>
        <p:nvGraphicFramePr>
          <p:cNvPr id="111624" name="Object 8"/>
          <p:cNvGraphicFramePr>
            <a:graphicFrameLocks noChangeAspect="1"/>
          </p:cNvGraphicFramePr>
          <p:nvPr/>
        </p:nvGraphicFramePr>
        <p:xfrm>
          <a:off x="611560" y="3597864"/>
          <a:ext cx="1741488" cy="698897"/>
        </p:xfrm>
        <a:graphic>
          <a:graphicData uri="http://schemas.openxmlformats.org/presentationml/2006/ole">
            <mc:AlternateContent xmlns:mc="http://schemas.openxmlformats.org/markup-compatibility/2006">
              <mc:Choice xmlns:v="urn:schemas-microsoft-com:vml" Requires="v">
                <p:oleObj spid="_x0000_s2055" name="公式" r:id="rId14" imgW="17678400" imgH="9448800" progId="Equation.KSEE3">
                  <p:embed/>
                </p:oleObj>
              </mc:Choice>
              <mc:Fallback>
                <p:oleObj name="公式" r:id="rId14" imgW="17678400" imgH="9448800" progId="Equation.KSEE3">
                  <p:embed/>
                  <p:pic>
                    <p:nvPicPr>
                      <p:cNvPr id="0" name="图片 2054" descr="image12"/>
                      <p:cNvPicPr>
                        <a:picLocks noChangeAspect="1"/>
                      </p:cNvPicPr>
                      <p:nvPr/>
                    </p:nvPicPr>
                    <p:blipFill>
                      <a:blip r:embed="rId15"/>
                      <a:stretch>
                        <a:fillRect/>
                      </a:stretch>
                    </p:blipFill>
                    <p:spPr>
                      <a:xfrm>
                        <a:off x="611560" y="3597864"/>
                        <a:ext cx="1741488" cy="698897"/>
                      </a:xfrm>
                      <a:prstGeom prst="rect">
                        <a:avLst/>
                      </a:prstGeom>
                      <a:noFill/>
                      <a:ln w="9525">
                        <a:noFill/>
                      </a:ln>
                    </p:spPr>
                  </p:pic>
                </p:oleObj>
              </mc:Fallback>
            </mc:AlternateContent>
          </a:graphicData>
        </a:graphic>
      </p:graphicFrame>
      <p:graphicFrame>
        <p:nvGraphicFramePr>
          <p:cNvPr id="111625" name="Object 9"/>
          <p:cNvGraphicFramePr>
            <a:graphicFrameLocks noChangeAspect="1"/>
          </p:cNvGraphicFramePr>
          <p:nvPr/>
        </p:nvGraphicFramePr>
        <p:xfrm>
          <a:off x="611560" y="4353948"/>
          <a:ext cx="1681162" cy="406004"/>
        </p:xfrm>
        <a:graphic>
          <a:graphicData uri="http://schemas.openxmlformats.org/presentationml/2006/ole">
            <mc:AlternateContent xmlns:mc="http://schemas.openxmlformats.org/markup-compatibility/2006">
              <mc:Choice xmlns:v="urn:schemas-microsoft-com:vml" Requires="v">
                <p:oleObj spid="_x0000_s2056" name="公式" r:id="rId16" imgW="17068800" imgH="5486400" progId="Equation.KSEE3">
                  <p:embed/>
                </p:oleObj>
              </mc:Choice>
              <mc:Fallback>
                <p:oleObj name="公式" r:id="rId16" imgW="17068800" imgH="5486400" progId="Equation.KSEE3">
                  <p:embed/>
                  <p:pic>
                    <p:nvPicPr>
                      <p:cNvPr id="0" name="图片 2055" descr="image13"/>
                      <p:cNvPicPr>
                        <a:picLocks noChangeAspect="1"/>
                      </p:cNvPicPr>
                      <p:nvPr/>
                    </p:nvPicPr>
                    <p:blipFill>
                      <a:blip r:embed="rId17"/>
                      <a:stretch>
                        <a:fillRect/>
                      </a:stretch>
                    </p:blipFill>
                    <p:spPr>
                      <a:xfrm>
                        <a:off x="611560" y="4353948"/>
                        <a:ext cx="1681162" cy="406004"/>
                      </a:xfrm>
                      <a:prstGeom prst="rect">
                        <a:avLst/>
                      </a:prstGeom>
                      <a:noFill/>
                      <a:ln w="9525">
                        <a:noFill/>
                      </a:ln>
                    </p:spPr>
                  </p:pic>
                </p:oleObj>
              </mc:Fallback>
            </mc:AlternateContent>
          </a:graphicData>
        </a:graphic>
      </p:graphicFrame>
    </p:spTree>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计算</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sp>
        <p:nvSpPr>
          <p:cNvPr id="19" name="TextBox 18"/>
          <p:cNvSpPr txBox="1"/>
          <p:nvPr/>
        </p:nvSpPr>
        <p:spPr>
          <a:xfrm>
            <a:off x="179512" y="1977684"/>
            <a:ext cx="2304256" cy="1200329"/>
          </a:xfrm>
          <a:prstGeom prst="rect">
            <a:avLst/>
          </a:prstGeom>
          <a:noFill/>
        </p:spPr>
        <p:txBody>
          <a:bodyPr wrap="square" rtlCol="0">
            <a:spAutoFit/>
          </a:bodyPr>
          <a:lstStyle/>
          <a:p>
            <a:pPr>
              <a:lnSpc>
                <a:spcPct val="150000"/>
              </a:lnSpc>
            </a:pPr>
            <a:r>
              <a:rPr lang="zh-CN" altLang="en-US" sz="2400" b="1" dirty="0" smtClean="0">
                <a:solidFill>
                  <a:srgbClr val="FF0000"/>
                </a:solidFill>
                <a:latin typeface="宋体" panose="02010600030101010101" pitchFamily="2" charset="-122"/>
                <a:ea typeface="宋体" panose="02010600030101010101" pitchFamily="2" charset="-122"/>
              </a:rPr>
              <a:t>定义自由空间的传播损耗</a:t>
            </a:r>
            <a:r>
              <a:rPr lang="en-US" altLang="zh-CN" sz="2400" b="1" dirty="0" smtClean="0">
                <a:solidFill>
                  <a:srgbClr val="FF0000"/>
                </a:solidFill>
                <a:latin typeface="宋体" panose="02010600030101010101" pitchFamily="2" charset="-122"/>
                <a:ea typeface="宋体" panose="02010600030101010101" pitchFamily="2" charset="-122"/>
              </a:rPr>
              <a:t>L</a:t>
            </a:r>
            <a:r>
              <a:rPr lang="zh-CN" altLang="en-US" sz="2400" b="1" dirty="0" smtClean="0">
                <a:solidFill>
                  <a:srgbClr val="FF0000"/>
                </a:solidFill>
                <a:latin typeface="宋体" panose="02010600030101010101" pitchFamily="2" charset="-122"/>
                <a:ea typeface="宋体" panose="02010600030101010101" pitchFamily="2" charset="-122"/>
              </a:rPr>
              <a:t>：</a:t>
            </a:r>
            <a:endParaRPr lang="zh-CN" altLang="en-US" sz="2400" b="1" dirty="0">
              <a:solidFill>
                <a:srgbClr val="FF0000"/>
              </a:solidFill>
              <a:latin typeface="宋体" panose="02010600030101010101" pitchFamily="2" charset="-122"/>
              <a:ea typeface="宋体" panose="02010600030101010101" pitchFamily="2" charset="-122"/>
            </a:endParaRPr>
          </a:p>
        </p:txBody>
      </p:sp>
      <p:graphicFrame>
        <p:nvGraphicFramePr>
          <p:cNvPr id="111623" name="Object 7"/>
          <p:cNvGraphicFramePr>
            <a:graphicFrameLocks noChangeAspect="1"/>
          </p:cNvGraphicFramePr>
          <p:nvPr/>
        </p:nvGraphicFramePr>
        <p:xfrm>
          <a:off x="683569" y="2841780"/>
          <a:ext cx="1350963" cy="676275"/>
        </p:xfrm>
        <a:graphic>
          <a:graphicData uri="http://schemas.openxmlformats.org/presentationml/2006/ole">
            <mc:AlternateContent xmlns:mc="http://schemas.openxmlformats.org/markup-compatibility/2006">
              <mc:Choice xmlns:v="urn:schemas-microsoft-com:vml" Requires="v">
                <p:oleObj spid="_x0000_s3073" name="公式" r:id="rId3" imgW="13716000" imgH="9144000" progId="Equation.KSEE3">
                  <p:embed/>
                </p:oleObj>
              </mc:Choice>
              <mc:Fallback>
                <p:oleObj name="公式" r:id="rId3" imgW="13716000" imgH="9144000" progId="Equation.KSEE3">
                  <p:embed/>
                  <p:pic>
                    <p:nvPicPr>
                      <p:cNvPr id="0" name="图片 3072" descr="image11"/>
                      <p:cNvPicPr>
                        <a:picLocks noChangeAspect="1"/>
                      </p:cNvPicPr>
                      <p:nvPr/>
                    </p:nvPicPr>
                    <p:blipFill>
                      <a:blip r:embed="rId4"/>
                      <a:stretch>
                        <a:fillRect/>
                      </a:stretch>
                    </p:blipFill>
                    <p:spPr>
                      <a:xfrm>
                        <a:off x="683569" y="2841780"/>
                        <a:ext cx="1350963" cy="676275"/>
                      </a:xfrm>
                      <a:prstGeom prst="rect">
                        <a:avLst/>
                      </a:prstGeom>
                      <a:noFill/>
                      <a:ln w="9525">
                        <a:noFill/>
                      </a:ln>
                    </p:spPr>
                  </p:pic>
                </p:oleObj>
              </mc:Fallback>
            </mc:AlternateContent>
          </a:graphicData>
        </a:graphic>
      </p:graphicFrame>
      <p:graphicFrame>
        <p:nvGraphicFramePr>
          <p:cNvPr id="111624" name="Object 8"/>
          <p:cNvGraphicFramePr>
            <a:graphicFrameLocks noChangeAspect="1"/>
          </p:cNvGraphicFramePr>
          <p:nvPr/>
        </p:nvGraphicFramePr>
        <p:xfrm>
          <a:off x="611560" y="3597864"/>
          <a:ext cx="1741488" cy="698897"/>
        </p:xfrm>
        <a:graphic>
          <a:graphicData uri="http://schemas.openxmlformats.org/presentationml/2006/ole">
            <mc:AlternateContent xmlns:mc="http://schemas.openxmlformats.org/markup-compatibility/2006">
              <mc:Choice xmlns:v="urn:schemas-microsoft-com:vml" Requires="v">
                <p:oleObj spid="_x0000_s3074" name="公式" r:id="rId5" imgW="17678400" imgH="9448800" progId="Equation.KSEE3">
                  <p:embed/>
                </p:oleObj>
              </mc:Choice>
              <mc:Fallback>
                <p:oleObj name="公式" r:id="rId5" imgW="17678400" imgH="9448800" progId="Equation.KSEE3">
                  <p:embed/>
                  <p:pic>
                    <p:nvPicPr>
                      <p:cNvPr id="0" name="图片 3073" descr="image12"/>
                      <p:cNvPicPr>
                        <a:picLocks noChangeAspect="1"/>
                      </p:cNvPicPr>
                      <p:nvPr/>
                    </p:nvPicPr>
                    <p:blipFill>
                      <a:blip r:embed="rId6"/>
                      <a:stretch>
                        <a:fillRect/>
                      </a:stretch>
                    </p:blipFill>
                    <p:spPr>
                      <a:xfrm>
                        <a:off x="611560" y="3597864"/>
                        <a:ext cx="1741488" cy="698897"/>
                      </a:xfrm>
                      <a:prstGeom prst="rect">
                        <a:avLst/>
                      </a:prstGeom>
                      <a:noFill/>
                      <a:ln w="9525">
                        <a:noFill/>
                      </a:ln>
                    </p:spPr>
                  </p:pic>
                </p:oleObj>
              </mc:Fallback>
            </mc:AlternateContent>
          </a:graphicData>
        </a:graphic>
      </p:graphicFrame>
      <p:graphicFrame>
        <p:nvGraphicFramePr>
          <p:cNvPr id="111625" name="Object 9"/>
          <p:cNvGraphicFramePr>
            <a:graphicFrameLocks noChangeAspect="1"/>
          </p:cNvGraphicFramePr>
          <p:nvPr/>
        </p:nvGraphicFramePr>
        <p:xfrm>
          <a:off x="611560" y="4353948"/>
          <a:ext cx="1681162" cy="406004"/>
        </p:xfrm>
        <a:graphic>
          <a:graphicData uri="http://schemas.openxmlformats.org/presentationml/2006/ole">
            <mc:AlternateContent xmlns:mc="http://schemas.openxmlformats.org/markup-compatibility/2006">
              <mc:Choice xmlns:v="urn:schemas-microsoft-com:vml" Requires="v">
                <p:oleObj spid="_x0000_s3075" name="公式" r:id="rId7" imgW="17068800" imgH="5486400" progId="Equation.KSEE3">
                  <p:embed/>
                </p:oleObj>
              </mc:Choice>
              <mc:Fallback>
                <p:oleObj name="公式" r:id="rId7" imgW="17068800" imgH="5486400" progId="Equation.KSEE3">
                  <p:embed/>
                  <p:pic>
                    <p:nvPicPr>
                      <p:cNvPr id="0" name="图片 3074" descr="image13"/>
                      <p:cNvPicPr>
                        <a:picLocks noChangeAspect="1"/>
                      </p:cNvPicPr>
                      <p:nvPr/>
                    </p:nvPicPr>
                    <p:blipFill>
                      <a:blip r:embed="rId8"/>
                      <a:stretch>
                        <a:fillRect/>
                      </a:stretch>
                    </p:blipFill>
                    <p:spPr>
                      <a:xfrm>
                        <a:off x="611560" y="4353948"/>
                        <a:ext cx="1681162" cy="406004"/>
                      </a:xfrm>
                      <a:prstGeom prst="rect">
                        <a:avLst/>
                      </a:prstGeom>
                      <a:noFill/>
                      <a:ln w="9525">
                        <a:noFill/>
                      </a:ln>
                    </p:spPr>
                  </p:pic>
                </p:oleObj>
              </mc:Fallback>
            </mc:AlternateContent>
          </a:graphicData>
        </a:graphic>
      </p:graphicFrame>
      <p:sp>
        <p:nvSpPr>
          <p:cNvPr id="20" name="右箭头 19"/>
          <p:cNvSpPr/>
          <p:nvPr/>
        </p:nvSpPr>
        <p:spPr>
          <a:xfrm>
            <a:off x="2483768" y="3057804"/>
            <a:ext cx="936104" cy="7560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4644008" y="2085696"/>
            <a:ext cx="3744416" cy="523220"/>
          </a:xfrm>
          <a:prstGeom prst="rect">
            <a:avLst/>
          </a:prstGeom>
          <a:noFill/>
        </p:spPr>
        <p:txBody>
          <a:bodyPr wrap="square" rtlCol="0">
            <a:spAutoFit/>
          </a:bodyPr>
          <a:lstStyle/>
          <a:p>
            <a:r>
              <a:rPr lang="zh-CN" altLang="en-US" sz="2800" dirty="0" smtClean="0">
                <a:solidFill>
                  <a:srgbClr val="FF0000"/>
                </a:solidFill>
              </a:rPr>
              <a:t>若用分贝（</a:t>
            </a:r>
            <a:r>
              <a:rPr lang="en-US" altLang="zh-CN" sz="2800" dirty="0" smtClean="0">
                <a:solidFill>
                  <a:srgbClr val="FF0000"/>
                </a:solidFill>
              </a:rPr>
              <a:t>dB</a:t>
            </a:r>
            <a:r>
              <a:rPr lang="zh-CN" altLang="en-US" sz="2800" dirty="0" smtClean="0">
                <a:solidFill>
                  <a:srgbClr val="FF0000"/>
                </a:solidFill>
              </a:rPr>
              <a:t>）表示：</a:t>
            </a:r>
            <a:endParaRPr lang="zh-CN" altLang="en-US" sz="2800" dirty="0">
              <a:solidFill>
                <a:srgbClr val="FF0000"/>
              </a:solidFill>
            </a:endParaRPr>
          </a:p>
        </p:txBody>
      </p:sp>
      <p:graphicFrame>
        <p:nvGraphicFramePr>
          <p:cNvPr id="112649" name="Object 9"/>
          <p:cNvGraphicFramePr>
            <a:graphicFrameLocks noChangeAspect="1"/>
          </p:cNvGraphicFramePr>
          <p:nvPr/>
        </p:nvGraphicFramePr>
        <p:xfrm>
          <a:off x="3563889" y="2571750"/>
          <a:ext cx="5343525" cy="766763"/>
        </p:xfrm>
        <a:graphic>
          <a:graphicData uri="http://schemas.openxmlformats.org/presentationml/2006/ole">
            <mc:AlternateContent xmlns:mc="http://schemas.openxmlformats.org/markup-compatibility/2006">
              <mc:Choice xmlns:v="urn:schemas-microsoft-com:vml" Requires="v">
                <p:oleObj spid="_x0000_s3076" name="公式" r:id="rId9" imgW="54254400" imgH="10363200" progId="Equation.KSEE3">
                  <p:embed/>
                </p:oleObj>
              </mc:Choice>
              <mc:Fallback>
                <p:oleObj name="公式" r:id="rId9" imgW="54254400" imgH="10363200" progId="Equation.KSEE3">
                  <p:embed/>
                  <p:pic>
                    <p:nvPicPr>
                      <p:cNvPr id="0" name="图片 3075" descr="image14"/>
                      <p:cNvPicPr>
                        <a:picLocks noChangeAspect="1"/>
                      </p:cNvPicPr>
                      <p:nvPr/>
                    </p:nvPicPr>
                    <p:blipFill>
                      <a:blip r:embed="rId10"/>
                      <a:stretch>
                        <a:fillRect/>
                      </a:stretch>
                    </p:blipFill>
                    <p:spPr>
                      <a:xfrm>
                        <a:off x="3563889" y="2571750"/>
                        <a:ext cx="5343525" cy="766763"/>
                      </a:xfrm>
                      <a:prstGeom prst="rect">
                        <a:avLst/>
                      </a:prstGeom>
                      <a:noFill/>
                      <a:ln w="9525">
                        <a:noFill/>
                      </a:ln>
                    </p:spPr>
                  </p:pic>
                </p:oleObj>
              </mc:Fallback>
            </mc:AlternateContent>
          </a:graphicData>
        </a:graphic>
      </p:graphicFrame>
      <p:graphicFrame>
        <p:nvGraphicFramePr>
          <p:cNvPr id="112650" name="Object 10"/>
          <p:cNvGraphicFramePr>
            <a:graphicFrameLocks noChangeAspect="1"/>
          </p:cNvGraphicFramePr>
          <p:nvPr/>
        </p:nvGraphicFramePr>
        <p:xfrm>
          <a:off x="3779913" y="3219822"/>
          <a:ext cx="4264025" cy="1127522"/>
        </p:xfrm>
        <a:graphic>
          <a:graphicData uri="http://schemas.openxmlformats.org/presentationml/2006/ole">
            <mc:AlternateContent xmlns:mc="http://schemas.openxmlformats.org/markup-compatibility/2006">
              <mc:Choice xmlns:v="urn:schemas-microsoft-com:vml" Requires="v">
                <p:oleObj spid="_x0000_s3077" name="公式" r:id="rId11" imgW="43281600" imgH="15240000" progId="Equation.KSEE3">
                  <p:embed/>
                </p:oleObj>
              </mc:Choice>
              <mc:Fallback>
                <p:oleObj name="公式" r:id="rId11" imgW="43281600" imgH="15240000" progId="Equation.KSEE3">
                  <p:embed/>
                  <p:pic>
                    <p:nvPicPr>
                      <p:cNvPr id="0" name="图片 3076" descr="image15"/>
                      <p:cNvPicPr>
                        <a:picLocks noChangeAspect="1"/>
                      </p:cNvPicPr>
                      <p:nvPr/>
                    </p:nvPicPr>
                    <p:blipFill>
                      <a:blip r:embed="rId12"/>
                      <a:stretch>
                        <a:fillRect/>
                      </a:stretch>
                    </p:blipFill>
                    <p:spPr>
                      <a:xfrm>
                        <a:off x="3779913" y="3219822"/>
                        <a:ext cx="4264025" cy="1127522"/>
                      </a:xfrm>
                      <a:prstGeom prst="rect">
                        <a:avLst/>
                      </a:prstGeom>
                      <a:noFill/>
                      <a:ln w="9525">
                        <a:noFill/>
                      </a:ln>
                    </p:spPr>
                  </p:pic>
                </p:oleObj>
              </mc:Fallback>
            </mc:AlternateContent>
          </a:graphicData>
        </a:graphic>
      </p:graphicFrame>
      <p:sp>
        <p:nvSpPr>
          <p:cNvPr id="23" name="TextBox 22"/>
          <p:cNvSpPr txBox="1"/>
          <p:nvPr/>
        </p:nvSpPr>
        <p:spPr>
          <a:xfrm>
            <a:off x="2627784" y="4299942"/>
            <a:ext cx="6408712" cy="830997"/>
          </a:xfrm>
          <a:prstGeom prst="rect">
            <a:avLst/>
          </a:prstGeom>
          <a:noFill/>
        </p:spPr>
        <p:txBody>
          <a:bodyPr wrap="square" rtlCol="0">
            <a:spAutoFit/>
          </a:bodyPr>
          <a:lstStyle/>
          <a:p>
            <a:r>
              <a:rPr lang="zh-CN" altLang="en-US" sz="2400" dirty="0" smtClean="0"/>
              <a:t>其中</a:t>
            </a:r>
            <a:r>
              <a:rPr lang="en-US" altLang="zh-CN" sz="2400" i="1" dirty="0" smtClean="0"/>
              <a:t>f</a:t>
            </a:r>
            <a:r>
              <a:rPr lang="zh-CN" altLang="en-US" sz="2400" dirty="0" smtClean="0"/>
              <a:t>（</a:t>
            </a:r>
            <a:r>
              <a:rPr lang="en-US" altLang="zh-CN" sz="2400" dirty="0" smtClean="0">
                <a:solidFill>
                  <a:srgbClr val="FF0000"/>
                </a:solidFill>
              </a:rPr>
              <a:t>MHz</a:t>
            </a:r>
            <a:r>
              <a:rPr lang="zh-CN" altLang="en-US" sz="2400" dirty="0" smtClean="0"/>
              <a:t>）为工作频率，</a:t>
            </a:r>
            <a:r>
              <a:rPr lang="en-US" altLang="zh-CN" sz="2400" dirty="0" smtClean="0"/>
              <a:t>d</a:t>
            </a:r>
            <a:r>
              <a:rPr lang="zh-CN" altLang="en-US" sz="2400" dirty="0" smtClean="0"/>
              <a:t>（</a:t>
            </a:r>
            <a:r>
              <a:rPr lang="en-US" altLang="zh-CN" sz="2400" dirty="0" smtClean="0">
                <a:solidFill>
                  <a:srgbClr val="FF0000"/>
                </a:solidFill>
              </a:rPr>
              <a:t>km</a:t>
            </a:r>
            <a:r>
              <a:rPr lang="zh-CN" altLang="en-US" sz="2400" dirty="0" smtClean="0"/>
              <a:t>）为收发天线的距离。</a:t>
            </a:r>
            <a:endParaRPr lang="zh-CN" altLang="en-US" sz="2400" dirty="0"/>
          </a:p>
        </p:txBody>
      </p:sp>
    </p:spTree>
  </p:cSld>
  <p:clrMapOvr>
    <a:masterClrMapping/>
  </p:clrMapOvr>
  <p:transition>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例</a:t>
              </a:r>
              <a:r>
                <a:rPr lang="en-US" altLang="zh-CN" sz="2400" b="1" dirty="0" smtClean="0"/>
                <a:t>1</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sp>
        <p:nvSpPr>
          <p:cNvPr id="10" name="TextBox 9"/>
          <p:cNvSpPr txBox="1"/>
          <p:nvPr/>
        </p:nvSpPr>
        <p:spPr>
          <a:xfrm>
            <a:off x="1619672" y="951570"/>
            <a:ext cx="7344816" cy="1754326"/>
          </a:xfrm>
          <a:prstGeom prst="rect">
            <a:avLst/>
          </a:prstGeom>
          <a:noFill/>
        </p:spPr>
        <p:txBody>
          <a:bodyPr wrap="square" rtlCol="0">
            <a:spAutoFit/>
          </a:bodyPr>
          <a:lstStyle/>
          <a:p>
            <a:pPr>
              <a:lnSpc>
                <a:spcPct val="150000"/>
              </a:lnSpc>
            </a:pPr>
            <a:r>
              <a:rPr lang="zh-CN" altLang="en-US" sz="2400" dirty="0" smtClean="0"/>
              <a:t>对于自由空间路径损耗模型，求使接收功率达到</a:t>
            </a:r>
            <a:r>
              <a:rPr lang="en-US" altLang="zh-CN" sz="2400" dirty="0" smtClean="0"/>
              <a:t>1dBm</a:t>
            </a:r>
            <a:r>
              <a:rPr lang="zh-CN" altLang="en-US" sz="2400" dirty="0" smtClean="0"/>
              <a:t>所需的发射功率。假设载波频率</a:t>
            </a:r>
            <a:r>
              <a:rPr lang="en-US" altLang="zh-CN" sz="2400" i="1" dirty="0" smtClean="0"/>
              <a:t>f</a:t>
            </a:r>
            <a:r>
              <a:rPr lang="en-US" altLang="zh-CN" sz="2400" dirty="0" smtClean="0"/>
              <a:t>=5GHz</a:t>
            </a:r>
            <a:r>
              <a:rPr lang="zh-CN" altLang="en-US" sz="2400" dirty="0" smtClean="0"/>
              <a:t>，全向天线（</a:t>
            </a:r>
            <a:r>
              <a:rPr lang="en-US" altLang="zh-CN" sz="2400" dirty="0" smtClean="0"/>
              <a:t>Gt=Gr=1</a:t>
            </a:r>
            <a:r>
              <a:rPr lang="zh-CN" altLang="en-US" sz="2400" dirty="0" smtClean="0"/>
              <a:t>），距离分别为</a:t>
            </a:r>
            <a:r>
              <a:rPr lang="en-US" altLang="zh-CN" sz="2400" dirty="0" smtClean="0"/>
              <a:t>d=10m</a:t>
            </a:r>
            <a:r>
              <a:rPr lang="zh-CN" altLang="en-US" sz="2400" dirty="0" smtClean="0"/>
              <a:t>及</a:t>
            </a:r>
            <a:r>
              <a:rPr lang="en-US" altLang="zh-CN" sz="2400" dirty="0" smtClean="0"/>
              <a:t>d=100m</a:t>
            </a:r>
            <a:r>
              <a:rPr lang="zh-CN" altLang="en-US" sz="2400" dirty="0" smtClean="0"/>
              <a:t>。</a:t>
            </a:r>
            <a:endParaRPr lang="zh-CN" altLang="en-US" sz="2400" dirty="0"/>
          </a:p>
        </p:txBody>
      </p:sp>
      <p:sp>
        <p:nvSpPr>
          <p:cNvPr id="11" name="TextBox 10"/>
          <p:cNvSpPr txBox="1"/>
          <p:nvPr/>
        </p:nvSpPr>
        <p:spPr>
          <a:xfrm>
            <a:off x="1115616" y="2409732"/>
            <a:ext cx="4896544" cy="461665"/>
          </a:xfrm>
          <a:prstGeom prst="rect">
            <a:avLst/>
          </a:prstGeom>
          <a:noFill/>
        </p:spPr>
        <p:txBody>
          <a:bodyPr wrap="square" rtlCol="0">
            <a:spAutoFit/>
          </a:bodyPr>
          <a:lstStyle/>
          <a:p>
            <a:r>
              <a:rPr lang="zh-CN" altLang="en-US" sz="2400" dirty="0" smtClean="0">
                <a:latin typeface="宋体" panose="02010600030101010101" pitchFamily="2" charset="-122"/>
                <a:ea typeface="宋体" panose="02010600030101010101" pitchFamily="2" charset="-122"/>
              </a:rPr>
              <a:t>解：</a:t>
            </a:r>
            <a:endParaRPr lang="zh-CN" altLang="en-US" sz="2400" dirty="0">
              <a:latin typeface="宋体" panose="02010600030101010101" pitchFamily="2" charset="-122"/>
              <a:ea typeface="宋体" panose="02010600030101010101" pitchFamily="2" charset="-122"/>
            </a:endParaRPr>
          </a:p>
        </p:txBody>
      </p:sp>
      <p:pic>
        <p:nvPicPr>
          <p:cNvPr id="139265" name="Picture 1"/>
          <p:cNvPicPr>
            <a:picLocks noChangeAspect="1" noChangeArrowheads="1"/>
          </p:cNvPicPr>
          <p:nvPr/>
        </p:nvPicPr>
        <p:blipFill>
          <a:blip r:embed="rId3" cstate="print"/>
          <a:srcRect/>
          <a:stretch>
            <a:fillRect/>
          </a:stretch>
        </p:blipFill>
        <p:spPr bwMode="auto">
          <a:xfrm>
            <a:off x="2339752" y="2301720"/>
            <a:ext cx="3888432" cy="968355"/>
          </a:xfrm>
          <a:prstGeom prst="rect">
            <a:avLst/>
          </a:prstGeom>
          <a:noFill/>
          <a:ln w="9525">
            <a:noFill/>
            <a:miter lim="800000"/>
            <a:headEnd/>
            <a:tailEnd/>
          </a:ln>
        </p:spPr>
      </p:pic>
      <p:sp>
        <p:nvSpPr>
          <p:cNvPr id="13" name="圆角矩形标注 12"/>
          <p:cNvSpPr/>
          <p:nvPr/>
        </p:nvSpPr>
        <p:spPr>
          <a:xfrm>
            <a:off x="1403648" y="3651870"/>
            <a:ext cx="3960440" cy="1350150"/>
          </a:xfrm>
          <a:prstGeom prst="wedgeRoundRectCallout">
            <a:avLst>
              <a:gd name="adj1" fmla="val -6210"/>
              <a:gd name="adj2" fmla="val -8343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400" dirty="0" smtClean="0">
                <a:solidFill>
                  <a:srgbClr val="002060"/>
                </a:solidFill>
              </a:rPr>
              <a:t>dBm</a:t>
            </a:r>
            <a:r>
              <a:rPr lang="zh-CN" altLang="en-US" sz="2400" dirty="0" smtClean="0">
                <a:solidFill>
                  <a:srgbClr val="002060"/>
                </a:solidFill>
              </a:rPr>
              <a:t>和</a:t>
            </a:r>
            <a:r>
              <a:rPr lang="en-US" altLang="zh-CN" sz="2400" dirty="0" smtClean="0">
                <a:solidFill>
                  <a:srgbClr val="002060"/>
                </a:solidFill>
              </a:rPr>
              <a:t>dBW</a:t>
            </a:r>
            <a:r>
              <a:rPr lang="zh-CN" altLang="en-US" sz="2400" dirty="0" smtClean="0">
                <a:solidFill>
                  <a:srgbClr val="002060"/>
                </a:solidFill>
              </a:rPr>
              <a:t>是功率单位，分别称为分贝毫瓦和分贝瓦。</a:t>
            </a:r>
            <a:endParaRPr lang="zh-CN" altLang="en-US" sz="2400" dirty="0">
              <a:solidFill>
                <a:srgbClr val="002060"/>
              </a:solidFil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1000" fill="hold"/>
                                        <p:tgtEl>
                                          <p:spTgt spid="10"/>
                                        </p:tgtEl>
                                        <p:attrNameLst>
                                          <p:attrName>ppt_x</p:attrName>
                                        </p:attrNameLst>
                                      </p:cBhvr>
                                      <p:tavLst>
                                        <p:tav tm="0">
                                          <p:val>
                                            <p:strVal val="1+#ppt_w/2"/>
                                          </p:val>
                                        </p:tav>
                                        <p:tav tm="100000">
                                          <p:val>
                                            <p:strVal val="#ppt_x"/>
                                          </p:val>
                                        </p:tav>
                                      </p:tavLst>
                                    </p:anim>
                                    <p:anim calcmode="lin" valueType="num">
                                      <p:cBhvr additive="base">
                                        <p:cTn id="16"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4" presetClass="entr" presetSubtype="0" accel="100000" fill="hold" nodeType="clickEffect">
                                  <p:stCondLst>
                                    <p:cond delay="0"/>
                                  </p:stCondLst>
                                  <p:childTnLst>
                                    <p:set>
                                      <p:cBhvr>
                                        <p:cTn id="20" dur="1" fill="hold">
                                          <p:stCondLst>
                                            <p:cond delay="0"/>
                                          </p:stCondLst>
                                        </p:cTn>
                                        <p:tgtEl>
                                          <p:spTgt spid="139265"/>
                                        </p:tgtEl>
                                        <p:attrNameLst>
                                          <p:attrName>style.visibility</p:attrName>
                                        </p:attrNameLst>
                                      </p:cBhvr>
                                      <p:to>
                                        <p:strVal val="visible"/>
                                      </p:to>
                                    </p:set>
                                    <p:anim calcmode="lin" valueType="num">
                                      <p:cBhvr>
                                        <p:cTn id="21" dur="1000" fill="hold"/>
                                        <p:tgtEl>
                                          <p:spTgt spid="139265"/>
                                        </p:tgtEl>
                                        <p:attrNameLst>
                                          <p:attrName>ppt_w</p:attrName>
                                        </p:attrNameLst>
                                      </p:cBhvr>
                                      <p:tavLst>
                                        <p:tav tm="0">
                                          <p:val>
                                            <p:strVal val="#ppt_w*0.05"/>
                                          </p:val>
                                        </p:tav>
                                        <p:tav tm="100000">
                                          <p:val>
                                            <p:strVal val="#ppt_w"/>
                                          </p:val>
                                        </p:tav>
                                      </p:tavLst>
                                    </p:anim>
                                    <p:anim calcmode="lin" valueType="num">
                                      <p:cBhvr>
                                        <p:cTn id="22" dur="1000" fill="hold"/>
                                        <p:tgtEl>
                                          <p:spTgt spid="139265"/>
                                        </p:tgtEl>
                                        <p:attrNameLst>
                                          <p:attrName>ppt_h</p:attrName>
                                        </p:attrNameLst>
                                      </p:cBhvr>
                                      <p:tavLst>
                                        <p:tav tm="0">
                                          <p:val>
                                            <p:strVal val="#ppt_h"/>
                                          </p:val>
                                        </p:tav>
                                        <p:tav tm="100000">
                                          <p:val>
                                            <p:strVal val="#ppt_h"/>
                                          </p:val>
                                        </p:tav>
                                      </p:tavLst>
                                    </p:anim>
                                    <p:anim calcmode="lin" valueType="num">
                                      <p:cBhvr>
                                        <p:cTn id="23" dur="1000" fill="hold"/>
                                        <p:tgtEl>
                                          <p:spTgt spid="139265"/>
                                        </p:tgtEl>
                                        <p:attrNameLst>
                                          <p:attrName>ppt_x</p:attrName>
                                        </p:attrNameLst>
                                      </p:cBhvr>
                                      <p:tavLst>
                                        <p:tav tm="0">
                                          <p:val>
                                            <p:strVal val="#ppt_x-.2"/>
                                          </p:val>
                                        </p:tav>
                                        <p:tav tm="100000">
                                          <p:val>
                                            <p:strVal val="#ppt_x"/>
                                          </p:val>
                                        </p:tav>
                                      </p:tavLst>
                                    </p:anim>
                                    <p:anim calcmode="lin" valueType="num">
                                      <p:cBhvr>
                                        <p:cTn id="24" dur="1000" fill="hold"/>
                                        <p:tgtEl>
                                          <p:spTgt spid="139265"/>
                                        </p:tgtEl>
                                        <p:attrNameLst>
                                          <p:attrName>ppt_y</p:attrName>
                                        </p:attrNameLst>
                                      </p:cBhvr>
                                      <p:tavLst>
                                        <p:tav tm="0">
                                          <p:val>
                                            <p:strVal val="#ppt_y"/>
                                          </p:val>
                                        </p:tav>
                                        <p:tav tm="100000">
                                          <p:val>
                                            <p:strVal val="#ppt_y"/>
                                          </p:val>
                                        </p:tav>
                                      </p:tavLst>
                                    </p:anim>
                                    <p:animEffect transition="in" filter="fade">
                                      <p:cBhvr>
                                        <p:cTn id="25" dur="1000"/>
                                        <p:tgtEl>
                                          <p:spTgt spid="13926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xit" presetSubtype="4" fill="hold" grpId="1" nodeType="clickEffect">
                                  <p:stCondLst>
                                    <p:cond delay="0"/>
                                  </p:stCondLst>
                                  <p:childTnLst>
                                    <p:animEffect transition="out" filter="wipe(down)">
                                      <p:cBhvr>
                                        <p:cTn id="34" dur="500"/>
                                        <p:tgtEl>
                                          <p:spTgt spid="13"/>
                                        </p:tgtEl>
                                      </p:cBhvr>
                                    </p:animEffect>
                                    <p:set>
                                      <p:cBhvr>
                                        <p:cTn id="35" dur="1" fill="hold">
                                          <p:stCondLst>
                                            <p:cond delay="499"/>
                                          </p:stCondLst>
                                        </p:cTn>
                                        <p:tgtEl>
                                          <p:spTgt spid="1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xit" presetSubtype="4" fill="hold" nodeType="clickEffect">
                                  <p:stCondLst>
                                    <p:cond delay="0"/>
                                  </p:stCondLst>
                                  <p:childTnLst>
                                    <p:animEffect transition="out" filter="wipe(down)">
                                      <p:cBhvr>
                                        <p:cTn id="39" dur="500"/>
                                        <p:tgtEl>
                                          <p:spTgt spid="139265"/>
                                        </p:tgtEl>
                                      </p:cBhvr>
                                    </p:animEffect>
                                    <p:set>
                                      <p:cBhvr>
                                        <p:cTn id="40" dur="1" fill="hold">
                                          <p:stCondLst>
                                            <p:cond delay="499"/>
                                          </p:stCondLst>
                                        </p:cTn>
                                        <p:tgtEl>
                                          <p:spTgt spid="1392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P spid="1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例</a:t>
              </a:r>
              <a:r>
                <a:rPr lang="en-US" altLang="zh-CN" sz="2400" b="1" dirty="0" smtClean="0"/>
                <a:t>1</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sp>
        <p:nvSpPr>
          <p:cNvPr id="10" name="TextBox 9"/>
          <p:cNvSpPr txBox="1"/>
          <p:nvPr/>
        </p:nvSpPr>
        <p:spPr>
          <a:xfrm>
            <a:off x="1619672" y="951570"/>
            <a:ext cx="7344816" cy="1754326"/>
          </a:xfrm>
          <a:prstGeom prst="rect">
            <a:avLst/>
          </a:prstGeom>
          <a:noFill/>
        </p:spPr>
        <p:txBody>
          <a:bodyPr wrap="square" rtlCol="0">
            <a:spAutoFit/>
          </a:bodyPr>
          <a:lstStyle/>
          <a:p>
            <a:pPr>
              <a:lnSpc>
                <a:spcPct val="150000"/>
              </a:lnSpc>
            </a:pPr>
            <a:r>
              <a:rPr lang="zh-CN" altLang="en-US" sz="2400" dirty="0" smtClean="0"/>
              <a:t>对于自由空间路径损耗模型，求使接收功率达到</a:t>
            </a:r>
            <a:r>
              <a:rPr lang="en-US" altLang="zh-CN" sz="2400" dirty="0" smtClean="0"/>
              <a:t>1dBm</a:t>
            </a:r>
            <a:r>
              <a:rPr lang="zh-CN" altLang="en-US" sz="2400" dirty="0" smtClean="0"/>
              <a:t>所需的发射功率。假设载波频率</a:t>
            </a:r>
            <a:r>
              <a:rPr lang="en-US" altLang="zh-CN" sz="2400" i="1" dirty="0" smtClean="0"/>
              <a:t>f</a:t>
            </a:r>
            <a:r>
              <a:rPr lang="en-US" altLang="zh-CN" sz="2400" dirty="0" smtClean="0"/>
              <a:t>=5GHz</a:t>
            </a:r>
            <a:r>
              <a:rPr lang="zh-CN" altLang="en-US" sz="2400" dirty="0" smtClean="0"/>
              <a:t>，全向天线（</a:t>
            </a:r>
            <a:r>
              <a:rPr lang="en-US" altLang="zh-CN" sz="2400" dirty="0" smtClean="0"/>
              <a:t>Gt=Gr=1</a:t>
            </a:r>
            <a:r>
              <a:rPr lang="zh-CN" altLang="en-US" sz="2400" dirty="0" smtClean="0"/>
              <a:t>），距离分别为</a:t>
            </a:r>
            <a:r>
              <a:rPr lang="en-US" altLang="zh-CN" sz="2400" dirty="0" smtClean="0"/>
              <a:t>d=10m</a:t>
            </a:r>
            <a:r>
              <a:rPr lang="zh-CN" altLang="en-US" sz="2400" dirty="0" smtClean="0"/>
              <a:t>及</a:t>
            </a:r>
            <a:r>
              <a:rPr lang="en-US" altLang="zh-CN" sz="2400" dirty="0" smtClean="0"/>
              <a:t>d=100m</a:t>
            </a:r>
            <a:r>
              <a:rPr lang="zh-CN" altLang="en-US" sz="2400" dirty="0" smtClean="0"/>
              <a:t>。</a:t>
            </a:r>
            <a:endParaRPr lang="zh-CN" altLang="en-US" sz="2400" dirty="0"/>
          </a:p>
        </p:txBody>
      </p:sp>
      <p:sp>
        <p:nvSpPr>
          <p:cNvPr id="11" name="TextBox 10"/>
          <p:cNvSpPr txBox="1"/>
          <p:nvPr/>
        </p:nvSpPr>
        <p:spPr>
          <a:xfrm>
            <a:off x="1115616" y="2409732"/>
            <a:ext cx="4896544" cy="1938992"/>
          </a:xfrm>
          <a:prstGeom prst="rect">
            <a:avLst/>
          </a:prstGeom>
          <a:noFill/>
        </p:spPr>
        <p:txBody>
          <a:bodyPr wrap="square" rtlCol="0">
            <a:spAutoFit/>
          </a:bodyPr>
          <a:lstStyle/>
          <a:p>
            <a:r>
              <a:rPr lang="zh-CN" altLang="en-US" sz="2400" dirty="0" smtClean="0">
                <a:latin typeface="宋体" panose="02010600030101010101" pitchFamily="2" charset="-122"/>
                <a:ea typeface="宋体" panose="02010600030101010101" pitchFamily="2" charset="-122"/>
              </a:rPr>
              <a:t>解：</a:t>
            </a:r>
            <a:endParaRPr lang="en-US" altLang="zh-CN" sz="2400" dirty="0" smtClean="0">
              <a:latin typeface="宋体" panose="02010600030101010101" pitchFamily="2" charset="-122"/>
              <a:ea typeface="宋体" panose="02010600030101010101" pitchFamily="2" charset="-122"/>
            </a:endParaRPr>
          </a:p>
          <a:p>
            <a:endParaRPr lang="en-US" altLang="zh-CN" sz="2400" dirty="0" smtClean="0">
              <a:latin typeface="宋体" panose="02010600030101010101" pitchFamily="2" charset="-122"/>
              <a:ea typeface="宋体" panose="02010600030101010101" pitchFamily="2" charset="-122"/>
            </a:endParaRPr>
          </a:p>
          <a:p>
            <a:endParaRPr lang="en-US" altLang="zh-CN" sz="2400" dirty="0" smtClean="0">
              <a:latin typeface="宋体" panose="02010600030101010101" pitchFamily="2" charset="-122"/>
              <a:ea typeface="宋体" panose="02010600030101010101" pitchFamily="2" charset="-122"/>
            </a:endParaRPr>
          </a:p>
          <a:p>
            <a:endParaRPr lang="en-US" altLang="zh-CN" sz="2400" dirty="0" smtClean="0">
              <a:latin typeface="宋体" panose="02010600030101010101" pitchFamily="2" charset="-122"/>
              <a:ea typeface="宋体" panose="02010600030101010101" pitchFamily="2" charset="-122"/>
            </a:endParaRPr>
          </a:p>
          <a:p>
            <a:endParaRPr lang="zh-CN" altLang="en-US" sz="2400" dirty="0">
              <a:latin typeface="宋体" panose="02010600030101010101" pitchFamily="2" charset="-122"/>
              <a:ea typeface="宋体" panose="02010600030101010101" pitchFamily="2" charset="-122"/>
            </a:endParaRPr>
          </a:p>
        </p:txBody>
      </p:sp>
      <p:pic>
        <p:nvPicPr>
          <p:cNvPr id="179202" name="Picture 2"/>
          <p:cNvPicPr>
            <a:picLocks noChangeAspect="1" noChangeArrowheads="1"/>
          </p:cNvPicPr>
          <p:nvPr/>
        </p:nvPicPr>
        <p:blipFill>
          <a:blip r:embed="rId3" cstate="print"/>
          <a:srcRect/>
          <a:stretch>
            <a:fillRect/>
          </a:stretch>
        </p:blipFill>
        <p:spPr bwMode="auto">
          <a:xfrm>
            <a:off x="1979712" y="2355726"/>
            <a:ext cx="5897076" cy="864096"/>
          </a:xfrm>
          <a:prstGeom prst="rect">
            <a:avLst/>
          </a:prstGeom>
          <a:noFill/>
          <a:ln w="9525">
            <a:noFill/>
            <a:miter lim="800000"/>
            <a:headEnd/>
            <a:tailEnd/>
          </a:ln>
        </p:spPr>
      </p:pic>
      <p:graphicFrame>
        <p:nvGraphicFramePr>
          <p:cNvPr id="179204" name="Object 4"/>
          <p:cNvGraphicFramePr>
            <a:graphicFrameLocks noChangeAspect="1"/>
          </p:cNvGraphicFramePr>
          <p:nvPr/>
        </p:nvGraphicFramePr>
        <p:xfrm>
          <a:off x="1907705" y="3381840"/>
          <a:ext cx="2251075" cy="1081088"/>
        </p:xfrm>
        <a:graphic>
          <a:graphicData uri="http://schemas.openxmlformats.org/presentationml/2006/ole">
            <mc:AlternateContent xmlns:mc="http://schemas.openxmlformats.org/markup-compatibility/2006">
              <mc:Choice xmlns:v="urn:schemas-microsoft-com:vml" Requires="v">
                <p:oleObj spid="_x0000_s4097" name="公式" r:id="rId4" imgW="22860000" imgH="14630400" progId="Equation.KSEE3">
                  <p:embed/>
                </p:oleObj>
              </mc:Choice>
              <mc:Fallback>
                <p:oleObj name="公式" r:id="rId4" imgW="22860000" imgH="14630400" progId="Equation.KSEE3">
                  <p:embed/>
                  <p:pic>
                    <p:nvPicPr>
                      <p:cNvPr id="0" name="图片 4096" descr="image17"/>
                      <p:cNvPicPr>
                        <a:picLocks noChangeAspect="1"/>
                      </p:cNvPicPr>
                      <p:nvPr/>
                    </p:nvPicPr>
                    <p:blipFill>
                      <a:blip r:embed="rId5"/>
                      <a:stretch>
                        <a:fillRect/>
                      </a:stretch>
                    </p:blipFill>
                    <p:spPr>
                      <a:xfrm>
                        <a:off x="1907705" y="3381840"/>
                        <a:ext cx="2251075" cy="1081088"/>
                      </a:xfrm>
                      <a:prstGeom prst="rect">
                        <a:avLst/>
                      </a:prstGeom>
                      <a:noFill/>
                      <a:ln w="9525">
                        <a:noFill/>
                      </a:ln>
                    </p:spPr>
                  </p:pic>
                </p:oleObj>
              </mc:Fallback>
            </mc:AlternateContent>
          </a:graphicData>
        </a:graphic>
      </p:graphicFrame>
      <p:sp>
        <p:nvSpPr>
          <p:cNvPr id="17" name="圆角矩形标注 16"/>
          <p:cNvSpPr/>
          <p:nvPr/>
        </p:nvSpPr>
        <p:spPr>
          <a:xfrm>
            <a:off x="5004048" y="3435846"/>
            <a:ext cx="3240360" cy="1026114"/>
          </a:xfrm>
          <a:prstGeom prst="wedgeRoundRectCallout">
            <a:avLst>
              <a:gd name="adj1" fmla="val -73688"/>
              <a:gd name="adj2" fmla="val 3549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rgbClr val="002060"/>
                </a:solidFill>
              </a:rPr>
              <a:t>需要注意的是，</a:t>
            </a:r>
            <a:r>
              <a:rPr lang="en-US" altLang="zh-CN" sz="2400" dirty="0" smtClean="0">
                <a:solidFill>
                  <a:srgbClr val="002060"/>
                </a:solidFill>
              </a:rPr>
              <a:t>[Pr]</a:t>
            </a:r>
            <a:r>
              <a:rPr lang="zh-CN" altLang="en-US" sz="2400" dirty="0" smtClean="0">
                <a:solidFill>
                  <a:srgbClr val="002060"/>
                </a:solidFill>
              </a:rPr>
              <a:t>是什么单位，</a:t>
            </a:r>
            <a:r>
              <a:rPr lang="en-US" altLang="zh-CN" sz="2400" dirty="0" smtClean="0">
                <a:solidFill>
                  <a:srgbClr val="002060"/>
                </a:solidFill>
              </a:rPr>
              <a:t>[Pt]</a:t>
            </a:r>
            <a:r>
              <a:rPr lang="zh-CN" altLang="en-US" sz="2400" dirty="0" smtClean="0">
                <a:solidFill>
                  <a:srgbClr val="002060"/>
                </a:solidFill>
              </a:rPr>
              <a:t>就是什么单位。</a:t>
            </a:r>
            <a:endParaRPr lang="zh-CN" altLang="en-US" sz="2400" dirty="0">
              <a:solidFill>
                <a:srgbClr val="002060"/>
              </a:solidFill>
            </a:endParaRPr>
          </a:p>
        </p:txBody>
      </p:sp>
      <p:pic>
        <p:nvPicPr>
          <p:cNvPr id="18" name="Picture 4"/>
          <p:cNvPicPr>
            <a:picLocks noChangeAspect="1" noChangeArrowheads="1"/>
          </p:cNvPicPr>
          <p:nvPr/>
        </p:nvPicPr>
        <p:blipFill>
          <a:blip r:embed="rId6" cstate="print"/>
          <a:srcRect/>
          <a:stretch>
            <a:fillRect/>
          </a:stretch>
        </p:blipFill>
        <p:spPr bwMode="auto">
          <a:xfrm>
            <a:off x="755577" y="2355726"/>
            <a:ext cx="7648817" cy="1350448"/>
          </a:xfrm>
          <a:prstGeom prst="rect">
            <a:avLst/>
          </a:prstGeom>
          <a:noFill/>
          <a:ln w="9525">
            <a:noFill/>
            <a:miter lim="800000"/>
            <a:headEnd/>
            <a:tailEnd/>
          </a:ln>
        </p:spPr>
      </p:pic>
      <p:pic>
        <p:nvPicPr>
          <p:cNvPr id="19" name="Picture 5"/>
          <p:cNvPicPr>
            <a:picLocks noChangeAspect="1" noChangeArrowheads="1"/>
          </p:cNvPicPr>
          <p:nvPr/>
        </p:nvPicPr>
        <p:blipFill>
          <a:blip r:embed="rId7" cstate="print"/>
          <a:srcRect/>
          <a:stretch>
            <a:fillRect/>
          </a:stretch>
        </p:blipFill>
        <p:spPr bwMode="auto">
          <a:xfrm>
            <a:off x="611560" y="3723878"/>
            <a:ext cx="8026852" cy="1357592"/>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2"/>
                                        </p:tgtEl>
                                        <p:attrNameLst>
                                          <p:attrName>style.visibility</p:attrName>
                                        </p:attrNameLst>
                                      </p:cBhvr>
                                      <p:to>
                                        <p:strVal val="visible"/>
                                      </p:to>
                                    </p:set>
                                    <p:anim calcmode="lin" valueType="num">
                                      <p:cBhvr additive="base">
                                        <p:cTn id="7" dur="1000" fill="hold"/>
                                        <p:tgtEl>
                                          <p:spTgt spid="179202"/>
                                        </p:tgtEl>
                                        <p:attrNameLst>
                                          <p:attrName>ppt_x</p:attrName>
                                        </p:attrNameLst>
                                      </p:cBhvr>
                                      <p:tavLst>
                                        <p:tav tm="0">
                                          <p:val>
                                            <p:strVal val="#ppt_x"/>
                                          </p:val>
                                        </p:tav>
                                        <p:tav tm="100000">
                                          <p:val>
                                            <p:strVal val="#ppt_x"/>
                                          </p:val>
                                        </p:tav>
                                      </p:tavLst>
                                    </p:anim>
                                    <p:anim calcmode="lin" valueType="num">
                                      <p:cBhvr additive="base">
                                        <p:cTn id="8" dur="1000" fill="hold"/>
                                        <p:tgtEl>
                                          <p:spTgt spid="1792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9204"/>
                                        </p:tgtEl>
                                        <p:attrNameLst>
                                          <p:attrName>style.visibility</p:attrName>
                                        </p:attrNameLst>
                                      </p:cBhvr>
                                      <p:to>
                                        <p:strVal val="visible"/>
                                      </p:to>
                                    </p:set>
                                    <p:anim calcmode="lin" valueType="num">
                                      <p:cBhvr additive="base">
                                        <p:cTn id="13" dur="500" fill="hold"/>
                                        <p:tgtEl>
                                          <p:spTgt spid="179204"/>
                                        </p:tgtEl>
                                        <p:attrNameLst>
                                          <p:attrName>ppt_x</p:attrName>
                                        </p:attrNameLst>
                                      </p:cBhvr>
                                      <p:tavLst>
                                        <p:tav tm="0">
                                          <p:val>
                                            <p:strVal val="0-#ppt_w/2"/>
                                          </p:val>
                                        </p:tav>
                                        <p:tav tm="100000">
                                          <p:val>
                                            <p:strVal val="#ppt_x"/>
                                          </p:val>
                                        </p:tav>
                                      </p:tavLst>
                                    </p:anim>
                                    <p:anim calcmode="lin" valueType="num">
                                      <p:cBhvr additive="base">
                                        <p:cTn id="14" dur="500" fill="hold"/>
                                        <p:tgtEl>
                                          <p:spTgt spid="1792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1+#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grpId="1" nodeType="clickEffect">
                                  <p:stCondLst>
                                    <p:cond delay="0"/>
                                  </p:stCondLst>
                                  <p:childTnLst>
                                    <p:animEffect transition="out" filter="wipe(down)">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xit" presetSubtype="4" fill="hold" grpId="0" nodeType="clickEffect">
                                  <p:stCondLst>
                                    <p:cond delay="0"/>
                                  </p:stCondLst>
                                  <p:childTnLst>
                                    <p:animEffect transition="out" filter="wipe(down)">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64" presetClass="path" presetSubtype="0" accel="50000" decel="50000" fill="hold" grpId="0" nodeType="clickEffect">
                                  <p:stCondLst>
                                    <p:cond delay="0"/>
                                  </p:stCondLst>
                                  <p:childTnLst>
                                    <p:animMotion origin="layout" path="M 3.05556E-6 2.65896E-6 L 3.05556E-6 -0.36139 " pathEditMode="relative" rAng="0" ptsTypes="AA">
                                      <p:cBhvr>
                                        <p:cTn id="34" dur="2000" fill="hold"/>
                                        <p:tgtEl>
                                          <p:spTgt spid="11"/>
                                        </p:tgtEl>
                                        <p:attrNameLst>
                                          <p:attrName>ppt_x</p:attrName>
                                          <p:attrName>ppt_y</p:attrName>
                                        </p:attrNameLst>
                                      </p:cBhvr>
                                      <p:rCtr x="0" y="-181"/>
                                    </p:animMotion>
                                  </p:childTnLst>
                                </p:cTn>
                              </p:par>
                              <p:par>
                                <p:cTn id="35" presetID="64" presetClass="path" presetSubtype="0" accel="50000" decel="50000" fill="hold" nodeType="withEffect">
                                  <p:stCondLst>
                                    <p:cond delay="0"/>
                                  </p:stCondLst>
                                  <p:childTnLst>
                                    <p:animMotion origin="layout" path="M 1.11111E-6 -1.6763E-6 L 0.00052 -0.35653 " pathEditMode="relative" rAng="0" ptsTypes="AA">
                                      <p:cBhvr>
                                        <p:cTn id="36" dur="2000" fill="hold"/>
                                        <p:tgtEl>
                                          <p:spTgt spid="179202"/>
                                        </p:tgtEl>
                                        <p:attrNameLst>
                                          <p:attrName>ppt_x</p:attrName>
                                          <p:attrName>ppt_y</p:attrName>
                                        </p:attrNameLst>
                                      </p:cBhvr>
                                      <p:rCtr x="0" y="-178"/>
                                    </p:animMotion>
                                  </p:childTnLst>
                                </p:cTn>
                              </p:par>
                            </p:childTnLst>
                          </p:cTn>
                        </p:par>
                      </p:childTnLst>
                    </p:cTn>
                  </p:par>
                  <p:par>
                    <p:cTn id="37" fill="hold">
                      <p:stCondLst>
                        <p:cond delay="indefinite"/>
                      </p:stCondLst>
                      <p:childTnLst>
                        <p:par>
                          <p:cTn id="38" fill="hold">
                            <p:stCondLst>
                              <p:cond delay="0"/>
                            </p:stCondLst>
                            <p:childTnLst>
                              <p:par>
                                <p:cTn id="39" presetID="64" presetClass="path" presetSubtype="0" accel="50000" decel="50000" fill="hold" nodeType="clickEffect">
                                  <p:stCondLst>
                                    <p:cond delay="0"/>
                                  </p:stCondLst>
                                  <p:childTnLst>
                                    <p:animMotion origin="layout" path="M -8.33333E-7 1.50289E-6 L 0.00278 -0.39861 " pathEditMode="relative" rAng="0" ptsTypes="AA">
                                      <p:cBhvr>
                                        <p:cTn id="40" dur="2000" fill="hold"/>
                                        <p:tgtEl>
                                          <p:spTgt spid="179204"/>
                                        </p:tgtEl>
                                        <p:attrNameLst>
                                          <p:attrName>ppt_x</p:attrName>
                                          <p:attrName>ppt_y</p:attrName>
                                        </p:attrNameLst>
                                      </p:cBhvr>
                                      <p:rCtr x="1" y="-199"/>
                                    </p:animMotion>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1000" fill="hold"/>
                                        <p:tgtEl>
                                          <p:spTgt spid="18"/>
                                        </p:tgtEl>
                                        <p:attrNameLst>
                                          <p:attrName>ppt_x</p:attrName>
                                        </p:attrNameLst>
                                      </p:cBhvr>
                                      <p:tavLst>
                                        <p:tav tm="0">
                                          <p:val>
                                            <p:strVal val="#ppt_x"/>
                                          </p:val>
                                        </p:tav>
                                        <p:tav tm="100000">
                                          <p:val>
                                            <p:strVal val="#ppt_x"/>
                                          </p:val>
                                        </p:tav>
                                      </p:tavLst>
                                    </p:anim>
                                    <p:anim calcmode="lin" valueType="num">
                                      <p:cBhvr additive="base">
                                        <p:cTn id="46" dur="10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animBg="1"/>
      <p:bldP spid="1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例</a:t>
              </a:r>
              <a:r>
                <a:rPr lang="en-US" altLang="zh-CN" sz="2400" b="1" dirty="0" smtClean="0"/>
                <a:t>1</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sp>
        <p:nvSpPr>
          <p:cNvPr id="10" name="TextBox 9"/>
          <p:cNvSpPr txBox="1"/>
          <p:nvPr/>
        </p:nvSpPr>
        <p:spPr>
          <a:xfrm>
            <a:off x="1619672" y="951570"/>
            <a:ext cx="7344816" cy="1754326"/>
          </a:xfrm>
          <a:prstGeom prst="rect">
            <a:avLst/>
          </a:prstGeom>
          <a:noFill/>
        </p:spPr>
        <p:txBody>
          <a:bodyPr wrap="square" rtlCol="0">
            <a:spAutoFit/>
          </a:bodyPr>
          <a:lstStyle/>
          <a:p>
            <a:pPr>
              <a:lnSpc>
                <a:spcPct val="150000"/>
              </a:lnSpc>
            </a:pPr>
            <a:r>
              <a:rPr lang="zh-CN" altLang="en-US" sz="2400" dirty="0" smtClean="0"/>
              <a:t>对于自由空间路径损耗模型，求使接收功率达到</a:t>
            </a:r>
            <a:r>
              <a:rPr lang="en-US" altLang="zh-CN" sz="2400" dirty="0" smtClean="0"/>
              <a:t>1dBm</a:t>
            </a:r>
            <a:r>
              <a:rPr lang="zh-CN" altLang="en-US" sz="2400" dirty="0" smtClean="0"/>
              <a:t>所需的发射功率。假设载波频率</a:t>
            </a:r>
            <a:r>
              <a:rPr lang="en-US" altLang="zh-CN" sz="2400" i="1" dirty="0" smtClean="0"/>
              <a:t>f</a:t>
            </a:r>
            <a:r>
              <a:rPr lang="en-US" altLang="zh-CN" sz="2400" dirty="0" smtClean="0"/>
              <a:t>=5GHz</a:t>
            </a:r>
            <a:r>
              <a:rPr lang="zh-CN" altLang="en-US" sz="2400" dirty="0" smtClean="0"/>
              <a:t>，全向天线（</a:t>
            </a:r>
            <a:r>
              <a:rPr lang="en-US" altLang="zh-CN" sz="2400" dirty="0" smtClean="0"/>
              <a:t>Gt=Gr=1</a:t>
            </a:r>
            <a:r>
              <a:rPr lang="zh-CN" altLang="en-US" sz="2400" dirty="0" smtClean="0"/>
              <a:t>），距离分别为</a:t>
            </a:r>
            <a:r>
              <a:rPr lang="en-US" altLang="zh-CN" sz="2400" dirty="0" smtClean="0"/>
              <a:t>d=10m</a:t>
            </a:r>
            <a:r>
              <a:rPr lang="zh-CN" altLang="en-US" sz="2400" dirty="0" smtClean="0"/>
              <a:t>及</a:t>
            </a:r>
            <a:r>
              <a:rPr lang="en-US" altLang="zh-CN" sz="2400" dirty="0" smtClean="0"/>
              <a:t>d=100m</a:t>
            </a:r>
            <a:r>
              <a:rPr lang="zh-CN" altLang="en-US" sz="2400" dirty="0" smtClean="0"/>
              <a:t>。</a:t>
            </a:r>
            <a:endParaRPr lang="zh-CN" altLang="en-US" sz="2400" dirty="0"/>
          </a:p>
        </p:txBody>
      </p:sp>
      <p:sp>
        <p:nvSpPr>
          <p:cNvPr id="11" name="TextBox 10"/>
          <p:cNvSpPr txBox="1"/>
          <p:nvPr/>
        </p:nvSpPr>
        <p:spPr>
          <a:xfrm>
            <a:off x="1115616" y="2409732"/>
            <a:ext cx="4896544" cy="461665"/>
          </a:xfrm>
          <a:prstGeom prst="rect">
            <a:avLst/>
          </a:prstGeom>
          <a:noFill/>
        </p:spPr>
        <p:txBody>
          <a:bodyPr wrap="square" rtlCol="0">
            <a:spAutoFit/>
          </a:bodyPr>
          <a:lstStyle/>
          <a:p>
            <a:r>
              <a:rPr lang="zh-CN" altLang="en-US" sz="2400" dirty="0" smtClean="0">
                <a:latin typeface="宋体" panose="02010600030101010101" pitchFamily="2" charset="-122"/>
                <a:ea typeface="宋体" panose="02010600030101010101" pitchFamily="2" charset="-122"/>
              </a:rPr>
              <a:t>解：</a:t>
            </a:r>
            <a:endParaRPr lang="zh-CN" altLang="en-US" sz="2400" dirty="0">
              <a:latin typeface="宋体" panose="02010600030101010101" pitchFamily="2" charset="-122"/>
              <a:ea typeface="宋体" panose="02010600030101010101" pitchFamily="2" charset="-122"/>
            </a:endParaRPr>
          </a:p>
        </p:txBody>
      </p:sp>
      <p:pic>
        <p:nvPicPr>
          <p:cNvPr id="181250" name="Picture 2"/>
          <p:cNvPicPr>
            <a:picLocks noChangeAspect="1" noChangeArrowheads="1"/>
          </p:cNvPicPr>
          <p:nvPr/>
        </p:nvPicPr>
        <p:blipFill>
          <a:blip r:embed="rId3" cstate="print"/>
          <a:srcRect/>
          <a:stretch>
            <a:fillRect/>
          </a:stretch>
        </p:blipFill>
        <p:spPr bwMode="auto">
          <a:xfrm>
            <a:off x="1691680" y="2355727"/>
            <a:ext cx="5286962" cy="1888796"/>
          </a:xfrm>
          <a:prstGeom prst="rect">
            <a:avLst/>
          </a:prstGeom>
          <a:noFill/>
          <a:ln w="9525">
            <a:noFill/>
            <a:miter lim="800000"/>
            <a:headEnd/>
            <a:tailEnd/>
          </a:ln>
        </p:spPr>
      </p:pic>
      <p:graphicFrame>
        <p:nvGraphicFramePr>
          <p:cNvPr id="181251" name="Object 3"/>
          <p:cNvGraphicFramePr>
            <a:graphicFrameLocks noChangeAspect="1"/>
          </p:cNvGraphicFramePr>
          <p:nvPr/>
        </p:nvGraphicFramePr>
        <p:xfrm>
          <a:off x="1835696" y="2571750"/>
          <a:ext cx="5832648" cy="2094865"/>
        </p:xfrm>
        <a:graphic>
          <a:graphicData uri="http://schemas.openxmlformats.org/presentationml/2006/ole">
            <mc:AlternateContent xmlns:mc="http://schemas.openxmlformats.org/markup-compatibility/2006">
              <mc:Choice xmlns:v="urn:schemas-microsoft-com:vml" Requires="v">
                <p:oleObj spid="_x0000_s5121" name="公式" r:id="rId4" imgW="48463200" imgH="23164800" progId="Equation.KSEE3">
                  <p:embed/>
                </p:oleObj>
              </mc:Choice>
              <mc:Fallback>
                <p:oleObj name="公式" r:id="rId4" imgW="48463200" imgH="23164800" progId="Equation.KSEE3">
                  <p:embed/>
                  <p:pic>
                    <p:nvPicPr>
                      <p:cNvPr id="0" name="图片 5120" descr="image21"/>
                      <p:cNvPicPr>
                        <a:picLocks noChangeAspect="1"/>
                      </p:cNvPicPr>
                      <p:nvPr/>
                    </p:nvPicPr>
                    <p:blipFill>
                      <a:blip r:embed="rId5"/>
                      <a:stretch>
                        <a:fillRect/>
                      </a:stretch>
                    </p:blipFill>
                    <p:spPr>
                      <a:xfrm>
                        <a:off x="1835696" y="2571750"/>
                        <a:ext cx="5832648" cy="2094865"/>
                      </a:xfrm>
                      <a:prstGeom prst="rect">
                        <a:avLst/>
                      </a:prstGeom>
                      <a:solidFill>
                        <a:srgbClr val="00FF00"/>
                      </a:solid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250"/>
                                        </p:tgtEl>
                                        <p:attrNameLst>
                                          <p:attrName>style.visibility</p:attrName>
                                        </p:attrNameLst>
                                      </p:cBhvr>
                                      <p:to>
                                        <p:strVal val="visible"/>
                                      </p:to>
                                    </p:set>
                                    <p:anim calcmode="lin" valueType="num">
                                      <p:cBhvr additive="base">
                                        <p:cTn id="7" dur="500" fill="hold"/>
                                        <p:tgtEl>
                                          <p:spTgt spid="181250"/>
                                        </p:tgtEl>
                                        <p:attrNameLst>
                                          <p:attrName>ppt_x</p:attrName>
                                        </p:attrNameLst>
                                      </p:cBhvr>
                                      <p:tavLst>
                                        <p:tav tm="0">
                                          <p:val>
                                            <p:strVal val="#ppt_x"/>
                                          </p:val>
                                        </p:tav>
                                        <p:tav tm="100000">
                                          <p:val>
                                            <p:strVal val="#ppt_x"/>
                                          </p:val>
                                        </p:tav>
                                      </p:tavLst>
                                    </p:anim>
                                    <p:anim calcmode="lin" valueType="num">
                                      <p:cBhvr additive="base">
                                        <p:cTn id="8" dur="500" fill="hold"/>
                                        <p:tgtEl>
                                          <p:spTgt spid="1812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1251"/>
                                        </p:tgtEl>
                                        <p:attrNameLst>
                                          <p:attrName>style.visibility</p:attrName>
                                        </p:attrNameLst>
                                      </p:cBhvr>
                                      <p:to>
                                        <p:strVal val="visible"/>
                                      </p:to>
                                    </p:set>
                                    <p:anim calcmode="lin" valueType="num">
                                      <p:cBhvr additive="base">
                                        <p:cTn id="13" dur="500" fill="hold"/>
                                        <p:tgtEl>
                                          <p:spTgt spid="181251"/>
                                        </p:tgtEl>
                                        <p:attrNameLst>
                                          <p:attrName>ppt_x</p:attrName>
                                        </p:attrNameLst>
                                      </p:cBhvr>
                                      <p:tavLst>
                                        <p:tav tm="0">
                                          <p:val>
                                            <p:strVal val="#ppt_x"/>
                                          </p:val>
                                        </p:tav>
                                        <p:tav tm="100000">
                                          <p:val>
                                            <p:strVal val="#ppt_x"/>
                                          </p:val>
                                        </p:tav>
                                      </p:tavLst>
                                    </p:anim>
                                    <p:anim calcmode="lin" valueType="num">
                                      <p:cBhvr additive="base">
                                        <p:cTn id="14" dur="500" fill="hold"/>
                                        <p:tgtEl>
                                          <p:spTgt spid="1812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51521"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习题</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pic>
        <p:nvPicPr>
          <p:cNvPr id="182275" name="Picture 3"/>
          <p:cNvPicPr>
            <a:picLocks noChangeAspect="1" noChangeArrowheads="1"/>
          </p:cNvPicPr>
          <p:nvPr/>
        </p:nvPicPr>
        <p:blipFill>
          <a:blip r:embed="rId3" cstate="print"/>
          <a:srcRect/>
          <a:stretch>
            <a:fillRect/>
          </a:stretch>
        </p:blipFill>
        <p:spPr bwMode="auto">
          <a:xfrm>
            <a:off x="323528" y="2139703"/>
            <a:ext cx="8694504" cy="1113848"/>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35497" y="1059582"/>
            <a:ext cx="1222375" cy="925116"/>
            <a:chOff x="1549" y="1208"/>
            <a:chExt cx="770" cy="777"/>
          </a:xfrm>
        </p:grpSpPr>
        <p:pic>
          <p:nvPicPr>
            <p:cNvPr id="135173" name="Picture 5" descr="circuler_1"/>
            <p:cNvPicPr>
              <a:picLocks noChangeAspect="1" noChangeArrowheads="1"/>
            </p:cNvPicPr>
            <p:nvPr/>
          </p:nvPicPr>
          <p:blipFill>
            <a:blip r:embed="rId1" cstate="print"/>
            <a:srcRect/>
            <a:stretch>
              <a:fillRect/>
            </a:stretch>
          </p:blipFill>
          <p:spPr bwMode="gray">
            <a:xfrm>
              <a:off x="1549" y="1210"/>
              <a:ext cx="770" cy="772"/>
            </a:xfrm>
            <a:prstGeom prst="rect">
              <a:avLst/>
            </a:prstGeom>
            <a:noFill/>
            <a:ln w="9525">
              <a:noFill/>
              <a:miter lim="800000"/>
              <a:headEnd/>
              <a:tailEnd/>
            </a:ln>
          </p:spPr>
        </p:pic>
        <p:sp>
          <p:nvSpPr>
            <p:cNvPr id="135174" name="Oval 6"/>
            <p:cNvSpPr>
              <a:spLocks noChangeArrowheads="1"/>
            </p:cNvSpPr>
            <p:nvPr/>
          </p:nvSpPr>
          <p:spPr bwMode="gray">
            <a:xfrm>
              <a:off x="1549" y="1208"/>
              <a:ext cx="765" cy="777"/>
            </a:xfrm>
            <a:prstGeom prst="ellipse">
              <a:avLst/>
            </a:prstGeom>
            <a:solidFill>
              <a:schemeClr val="accent1">
                <a:alpha val="50000"/>
              </a:schemeClr>
            </a:solidFill>
            <a:ln w="9525" algn="ctr">
              <a:noFill/>
              <a:round/>
            </a:ln>
            <a:effectLst/>
          </p:spPr>
          <p:txBody>
            <a:bodyPr wrap="none" anchor="ctr"/>
            <a:lstStyle/>
            <a:p>
              <a:endParaRPr lang="zh-CN" altLang="en-US"/>
            </a:p>
          </p:txBody>
        </p:sp>
        <p:sp>
          <p:nvSpPr>
            <p:cNvPr id="135175" name="Text Box 7"/>
            <p:cNvSpPr txBox="1">
              <a:spLocks noChangeArrowheads="1"/>
            </p:cNvSpPr>
            <p:nvPr/>
          </p:nvSpPr>
          <p:spPr bwMode="auto">
            <a:xfrm>
              <a:off x="1655" y="1480"/>
              <a:ext cx="574" cy="388"/>
            </a:xfrm>
            <a:prstGeom prst="rect">
              <a:avLst/>
            </a:prstGeom>
            <a:noFill/>
            <a:ln w="9525" algn="ctr">
              <a:noFill/>
              <a:miter lim="800000"/>
            </a:ln>
            <a:effectLst/>
          </p:spPr>
          <p:txBody>
            <a:bodyPr wrap="square">
              <a:spAutoFit/>
            </a:bodyPr>
            <a:lstStyle/>
            <a:p>
              <a:pPr algn="ctr">
                <a:spcBef>
                  <a:spcPct val="50000"/>
                </a:spcBef>
              </a:pPr>
              <a:r>
                <a:rPr lang="zh-CN" altLang="en-US" sz="2400" b="1" dirty="0" smtClean="0"/>
                <a:t>习题</a:t>
              </a:r>
              <a:endParaRPr lang="zh-CN" altLang="en-US" sz="2400" b="1" dirty="0"/>
            </a:p>
          </p:txBody>
        </p:sp>
      </p:grpSp>
      <p:sp>
        <p:nvSpPr>
          <p:cNvPr id="135188" name="Rectangle 20"/>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35189" name="Rectangle 21"/>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pic>
        <p:nvPicPr>
          <p:cNvPr id="34" name="图片 33"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35"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chemeClr val="accent5"/>
                </a:solidFill>
                <a:effectLst>
                  <a:outerShdw blurRad="38100" dist="38100" dir="2700000" algn="tl">
                    <a:srgbClr val="C0C0C0"/>
                  </a:outerShdw>
                </a:effectLst>
              </a:rPr>
              <a:t>2.2 </a:t>
            </a:r>
            <a:r>
              <a:rPr lang="zh-CN" altLang="en-US" sz="4000" b="1" dirty="0" smtClean="0">
                <a:solidFill>
                  <a:schemeClr val="accent5"/>
                </a:solidFill>
                <a:effectLst>
                  <a:outerShdw blurRad="38100" dist="38100" dir="2700000" algn="tl">
                    <a:srgbClr val="C0C0C0"/>
                  </a:outerShdw>
                </a:effectLst>
              </a:rPr>
              <a:t>自由空间的电波传播</a:t>
            </a:r>
            <a:endParaRPr kumimoji="0" lang="zh-CN" altLang="en-US" sz="4000" b="1" i="0" u="none" strike="noStrike" kern="1200" cap="none" spc="0" normalizeH="0" baseline="0" noProof="0" dirty="0">
              <a:ln>
                <a:noFill/>
              </a:ln>
              <a:solidFill>
                <a:schemeClr val="accent5"/>
              </a:solidFill>
              <a:effectLst>
                <a:outerShdw blurRad="38100" dist="38100" dir="2700000" algn="tl">
                  <a:srgbClr val="C0C0C0"/>
                </a:outerShdw>
              </a:effectLst>
              <a:uLnTx/>
              <a:uFillTx/>
              <a:latin typeface="+mj-lt"/>
              <a:ea typeface="+mj-ea"/>
              <a:cs typeface="+mj-cs"/>
            </a:endParaRPr>
          </a:p>
        </p:txBody>
      </p:sp>
      <p:pic>
        <p:nvPicPr>
          <p:cNvPr id="182275" name="Picture 3"/>
          <p:cNvPicPr>
            <a:picLocks noChangeAspect="1" noChangeArrowheads="1"/>
          </p:cNvPicPr>
          <p:nvPr/>
        </p:nvPicPr>
        <p:blipFill>
          <a:blip r:embed="rId3" cstate="print"/>
          <a:srcRect/>
          <a:stretch>
            <a:fillRect/>
          </a:stretch>
        </p:blipFill>
        <p:spPr bwMode="auto">
          <a:xfrm>
            <a:off x="1331640" y="1005576"/>
            <a:ext cx="7812360" cy="1000838"/>
          </a:xfrm>
          <a:prstGeom prst="rect">
            <a:avLst/>
          </a:prstGeom>
          <a:noFill/>
          <a:ln w="9525">
            <a:noFill/>
            <a:miter lim="800000"/>
            <a:headEnd/>
            <a:tailEnd/>
          </a:ln>
        </p:spPr>
      </p:pic>
      <p:graphicFrame>
        <p:nvGraphicFramePr>
          <p:cNvPr id="11" name="对象 10"/>
          <p:cNvGraphicFramePr>
            <a:graphicFrameLocks noChangeAspect="1"/>
          </p:cNvGraphicFramePr>
          <p:nvPr/>
        </p:nvGraphicFramePr>
        <p:xfrm>
          <a:off x="1475656" y="2139702"/>
          <a:ext cx="5544616" cy="845789"/>
        </p:xfrm>
        <a:graphic>
          <a:graphicData uri="http://schemas.openxmlformats.org/presentationml/2006/ole">
            <mc:AlternateContent xmlns:mc="http://schemas.openxmlformats.org/markup-compatibility/2006">
              <mc:Choice xmlns:v="urn:schemas-microsoft-com:vml" Requires="v">
                <p:oleObj spid="_x0000_s6145" name="公式" r:id="rId4" imgW="53949600" imgH="10972800" progId="Equation.KSEE3">
                  <p:embed/>
                </p:oleObj>
              </mc:Choice>
              <mc:Fallback>
                <p:oleObj name="公式" r:id="rId4" imgW="53949600" imgH="10972800" progId="Equation.KSEE3">
                  <p:embed/>
                  <p:pic>
                    <p:nvPicPr>
                      <p:cNvPr id="0" name="图片 6144" descr="image24"/>
                      <p:cNvPicPr>
                        <a:picLocks noChangeAspect="1"/>
                      </p:cNvPicPr>
                      <p:nvPr/>
                    </p:nvPicPr>
                    <p:blipFill>
                      <a:blip r:embed="rId5"/>
                      <a:stretch>
                        <a:fillRect/>
                      </a:stretch>
                    </p:blipFill>
                    <p:spPr>
                      <a:xfrm>
                        <a:off x="1475656" y="2139702"/>
                        <a:ext cx="5544616" cy="845789"/>
                      </a:xfrm>
                      <a:prstGeom prst="rect">
                        <a:avLst/>
                      </a:prstGeom>
                      <a:noFill/>
                      <a:ln w="9525">
                        <a:noFill/>
                      </a:ln>
                    </p:spPr>
                  </p:pic>
                </p:oleObj>
              </mc:Fallback>
            </mc:AlternateContent>
          </a:graphicData>
        </a:graphic>
      </p:graphicFrame>
      <p:graphicFrame>
        <p:nvGraphicFramePr>
          <p:cNvPr id="304131" name="Object 3"/>
          <p:cNvGraphicFramePr>
            <a:graphicFrameLocks noChangeAspect="1"/>
          </p:cNvGraphicFramePr>
          <p:nvPr/>
        </p:nvGraphicFramePr>
        <p:xfrm>
          <a:off x="1475657" y="3003798"/>
          <a:ext cx="5857875" cy="1689497"/>
        </p:xfrm>
        <a:graphic>
          <a:graphicData uri="http://schemas.openxmlformats.org/presentationml/2006/ole">
            <mc:AlternateContent xmlns:mc="http://schemas.openxmlformats.org/markup-compatibility/2006">
              <mc:Choice xmlns:v="urn:schemas-microsoft-com:vml" Requires="v">
                <p:oleObj spid="_x0000_s6146" name="公式" r:id="rId6" imgW="56997600" imgH="21945600" progId="Equation.KSEE3">
                  <p:embed/>
                </p:oleObj>
              </mc:Choice>
              <mc:Fallback>
                <p:oleObj name="公式" r:id="rId6" imgW="56997600" imgH="21945600" progId="Equation.KSEE3">
                  <p:embed/>
                  <p:pic>
                    <p:nvPicPr>
                      <p:cNvPr id="0" name="图片 6145" descr="image25"/>
                      <p:cNvPicPr>
                        <a:picLocks noChangeAspect="1"/>
                      </p:cNvPicPr>
                      <p:nvPr/>
                    </p:nvPicPr>
                    <p:blipFill>
                      <a:blip r:embed="rId7"/>
                      <a:stretch>
                        <a:fillRect/>
                      </a:stretch>
                    </p:blipFill>
                    <p:spPr>
                      <a:xfrm>
                        <a:off x="1475657" y="3003798"/>
                        <a:ext cx="5857875" cy="1689497"/>
                      </a:xfrm>
                      <a:prstGeom prst="rect">
                        <a:avLst/>
                      </a:prstGeom>
                      <a:no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4131"/>
                                        </p:tgtEl>
                                        <p:attrNameLst>
                                          <p:attrName>style.visibility</p:attrName>
                                        </p:attrNameLst>
                                      </p:cBhvr>
                                      <p:to>
                                        <p:strVal val="visible"/>
                                      </p:to>
                                    </p:set>
                                    <p:anim calcmode="lin" valueType="num">
                                      <p:cBhvr additive="base">
                                        <p:cTn id="13" dur="500" fill="hold"/>
                                        <p:tgtEl>
                                          <p:spTgt spid="304131"/>
                                        </p:tgtEl>
                                        <p:attrNameLst>
                                          <p:attrName>ppt_x</p:attrName>
                                        </p:attrNameLst>
                                      </p:cBhvr>
                                      <p:tavLst>
                                        <p:tav tm="0">
                                          <p:val>
                                            <p:strVal val="#ppt_x"/>
                                          </p:val>
                                        </p:tav>
                                        <p:tav tm="100000">
                                          <p:val>
                                            <p:strVal val="#ppt_x"/>
                                          </p:val>
                                        </p:tav>
                                      </p:tavLst>
                                    </p:anim>
                                    <p:anim calcmode="lin" valueType="num">
                                      <p:cBhvr additive="base">
                                        <p:cTn id="14" dur="500" fill="hold"/>
                                        <p:tgtEl>
                                          <p:spTgt spid="304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4"/>
          <p:cNvSpPr>
            <a:spLocks noChangeArrowheads="1"/>
          </p:cNvSpPr>
          <p:nvPr/>
        </p:nvSpPr>
        <p:spPr bwMode="black">
          <a:xfrm>
            <a:off x="2411761" y="1005576"/>
            <a:ext cx="6408711" cy="1754326"/>
          </a:xfrm>
          <a:prstGeom prst="rect">
            <a:avLst/>
          </a:prstGeom>
          <a:noFill/>
          <a:ln w="9525" algn="ctr">
            <a:noFill/>
            <a:miter lim="800000"/>
          </a:ln>
          <a:effectLst/>
        </p:spPr>
        <p:txBody>
          <a:bodyPr wrap="square">
            <a:spAutoFit/>
          </a:bodyPr>
          <a:lstStyle/>
          <a:p>
            <a:pPr marL="171450" indent="-171450">
              <a:lnSpc>
                <a:spcPct val="150000"/>
              </a:lnSpc>
              <a:buClr>
                <a:schemeClr val="accent1"/>
              </a:buClr>
            </a:pPr>
            <a:r>
              <a:rPr lang="zh-CN" altLang="en-US" sz="2400" b="1"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发生在地球表面、建筑物和墙壁表面，当电磁波遇到比其波长大得多的物体时就会发生反射。产</a:t>
            </a:r>
            <a:r>
              <a:rPr lang="zh-CN" altLang="en-US" sz="2400" b="1"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生多径衰落的主要因</a:t>
            </a:r>
            <a:r>
              <a:rPr lang="zh-CN" altLang="en-US" sz="2400" b="1"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素。</a:t>
            </a:r>
            <a:r>
              <a:rPr lang="zh-CN" altLang="en-US" sz="2400" b="1" dirty="0" smtClean="0">
                <a:solidFill>
                  <a:srgbClr val="000000"/>
                </a:solidFill>
                <a:latin typeface="宋体" panose="02010600030101010101" pitchFamily="2" charset="-122"/>
                <a:ea typeface="宋体" panose="02010600030101010101" pitchFamily="2" charset="-122"/>
              </a:rPr>
              <a:t> </a:t>
            </a:r>
            <a:endParaRPr lang="zh-CN" altLang="en-US" sz="2400" b="1" dirty="0">
              <a:solidFill>
                <a:srgbClr val="000000"/>
              </a:solidFill>
              <a:latin typeface="宋体" panose="02010600030101010101" pitchFamily="2" charset="-122"/>
              <a:ea typeface="宋体" panose="02010600030101010101" pitchFamily="2" charset="-122"/>
            </a:endParaRPr>
          </a:p>
        </p:txBody>
      </p:sp>
      <p:sp>
        <p:nvSpPr>
          <p:cNvPr id="136197" name="Rectangle 5"/>
          <p:cNvSpPr>
            <a:spLocks noChangeArrowheads="1"/>
          </p:cNvSpPr>
          <p:nvPr/>
        </p:nvSpPr>
        <p:spPr bwMode="black">
          <a:xfrm>
            <a:off x="2483768" y="3651871"/>
            <a:ext cx="6408712" cy="646331"/>
          </a:xfrm>
          <a:prstGeom prst="rect">
            <a:avLst/>
          </a:prstGeom>
          <a:noFill/>
          <a:ln w="9525" algn="ctr">
            <a:noFill/>
            <a:miter lim="800000"/>
          </a:ln>
          <a:effectLst/>
        </p:spPr>
        <p:txBody>
          <a:bodyPr wrap="square">
            <a:spAutoFit/>
          </a:bodyPr>
          <a:lstStyle/>
          <a:p>
            <a:pPr marL="342900" indent="-342900">
              <a:lnSpc>
                <a:spcPct val="150000"/>
              </a:lnSpc>
              <a:buClr>
                <a:schemeClr val="accent1"/>
              </a:buClr>
            </a:pPr>
            <a:r>
              <a:rPr lang="zh-CN" altLang="en-US" sz="2400" b="1"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产生于粗糙表面、小物体或其它不规则物</a:t>
            </a:r>
            <a:r>
              <a:rPr lang="zh-CN" altLang="en-US" sz="2400" b="1"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体。 </a:t>
            </a:r>
            <a:endParaRPr lang="zh-CN" altLang="en-US" sz="2400" b="1"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136198" name="Rectangle 6"/>
          <p:cNvSpPr>
            <a:spLocks noChangeArrowheads="1"/>
          </p:cNvSpPr>
          <p:nvPr/>
        </p:nvSpPr>
        <p:spPr bwMode="black">
          <a:xfrm>
            <a:off x="2339752" y="2409732"/>
            <a:ext cx="6624736" cy="1200329"/>
          </a:xfrm>
          <a:prstGeom prst="rect">
            <a:avLst/>
          </a:prstGeom>
          <a:noFill/>
          <a:ln w="9525" algn="ctr">
            <a:noFill/>
            <a:miter lim="800000"/>
          </a:ln>
          <a:effectLst/>
        </p:spPr>
        <p:txBody>
          <a:bodyPr wrap="square">
            <a:spAutoFit/>
          </a:bodyPr>
          <a:lstStyle/>
          <a:p>
            <a:pPr marL="171450" indent="-171450">
              <a:lnSpc>
                <a:spcPct val="150000"/>
              </a:lnSpc>
              <a:buClr>
                <a:schemeClr val="accent1"/>
              </a:buClr>
            </a:pPr>
            <a:r>
              <a:rPr lang="zh-CN" altLang="en-US" sz="2400" b="1" dirty="0" smtClean="0">
                <a:solidFill>
                  <a:srgbClr val="000000"/>
                </a:solidFill>
                <a:latin typeface="宋体" panose="02010600030101010101" pitchFamily="2" charset="-122"/>
                <a:ea typeface="宋体" panose="02010600030101010101" pitchFamily="2" charset="-122"/>
              </a:rPr>
              <a:t>当接收机和发射机之间的无线路径被尖利的边缘阻挡时会发生绕射。</a:t>
            </a:r>
            <a:endParaRPr lang="zh-CN" altLang="en-US" sz="2400" b="1" dirty="0">
              <a:solidFill>
                <a:srgbClr val="000000"/>
              </a:solidFill>
              <a:latin typeface="宋体" panose="02010600030101010101" pitchFamily="2" charset="-122"/>
              <a:ea typeface="宋体" panose="02010600030101010101" pitchFamily="2" charset="-122"/>
            </a:endParaRPr>
          </a:p>
        </p:txBody>
      </p:sp>
      <p:grpSp>
        <p:nvGrpSpPr>
          <p:cNvPr id="2" name="Group 7"/>
          <p:cNvGrpSpPr/>
          <p:nvPr/>
        </p:nvGrpSpPr>
        <p:grpSpPr bwMode="auto">
          <a:xfrm>
            <a:off x="251520" y="1167593"/>
            <a:ext cx="1919288" cy="476250"/>
            <a:chOff x="2282" y="1049"/>
            <a:chExt cx="1209" cy="400"/>
          </a:xfrm>
        </p:grpSpPr>
        <p:sp>
          <p:nvSpPr>
            <p:cNvPr id="136200" name="AutoShape 8"/>
            <p:cNvSpPr>
              <a:spLocks noChangeArrowheads="1"/>
            </p:cNvSpPr>
            <p:nvPr/>
          </p:nvSpPr>
          <p:spPr bwMode="gray">
            <a:xfrm>
              <a:off x="2282" y="1049"/>
              <a:ext cx="1209" cy="374"/>
            </a:xfrm>
            <a:prstGeom prst="roundRect">
              <a:avLst>
                <a:gd name="adj" fmla="val 50000"/>
              </a:avLst>
            </a:prstGeom>
            <a:gradFill rotWithShape="1">
              <a:gsLst>
                <a:gs pos="0">
                  <a:schemeClr val="accent1"/>
                </a:gs>
                <a:gs pos="100000">
                  <a:schemeClr val="accent1">
                    <a:gamma/>
                    <a:shade val="76471"/>
                    <a:invGamma/>
                  </a:schemeClr>
                </a:gs>
              </a:gsLst>
              <a:lin ang="5400000" scaled="1"/>
            </a:gradFill>
            <a:ln w="57150">
              <a:solidFill>
                <a:schemeClr val="accent1"/>
              </a:solidFill>
              <a:round/>
            </a:ln>
            <a:effectLst>
              <a:outerShdw dist="52363" dir="4557825" algn="ctr" rotWithShape="0">
                <a:srgbClr val="1C1C1C">
                  <a:alpha val="50000"/>
                </a:srgbClr>
              </a:outerShdw>
            </a:effectLst>
          </p:spPr>
          <p:txBody>
            <a:bodyPr wrap="none" anchor="ctr"/>
            <a:lstStyle/>
            <a:p>
              <a:endParaRPr lang="zh-CN" altLang="en-US"/>
            </a:p>
          </p:txBody>
        </p:sp>
        <p:sp>
          <p:nvSpPr>
            <p:cNvPr id="136201" name="Rectangle 9"/>
            <p:cNvSpPr>
              <a:spLocks noChangeArrowheads="1"/>
            </p:cNvSpPr>
            <p:nvPr/>
          </p:nvSpPr>
          <p:spPr bwMode="white">
            <a:xfrm>
              <a:off x="2660" y="1113"/>
              <a:ext cx="439" cy="336"/>
            </a:xfrm>
            <a:prstGeom prst="rect">
              <a:avLst/>
            </a:prstGeom>
            <a:noFill/>
            <a:ln w="9525" algn="ctr">
              <a:noFill/>
              <a:miter lim="800000"/>
            </a:ln>
            <a:effectLst/>
          </p:spPr>
          <p:txBody>
            <a:bodyPr wrap="none">
              <a:spAutoFit/>
            </a:bodyPr>
            <a:lstStyle/>
            <a:p>
              <a:pPr algn="ctr"/>
              <a:r>
                <a:rPr lang="zh-CN" altLang="en-US" sz="2000" b="1" dirty="0">
                  <a:solidFill>
                    <a:srgbClr val="FFFFFF"/>
                  </a:solidFill>
                </a:rPr>
                <a:t>反射</a:t>
              </a:r>
              <a:endParaRPr lang="zh-CN" altLang="en-US" sz="2000" b="1" dirty="0">
                <a:solidFill>
                  <a:srgbClr val="FFFFFF"/>
                </a:solidFill>
              </a:endParaRPr>
            </a:p>
          </p:txBody>
        </p:sp>
      </p:grpSp>
      <p:grpSp>
        <p:nvGrpSpPr>
          <p:cNvPr id="3" name="Group 10"/>
          <p:cNvGrpSpPr/>
          <p:nvPr/>
        </p:nvGrpSpPr>
        <p:grpSpPr bwMode="auto">
          <a:xfrm>
            <a:off x="251521" y="3638624"/>
            <a:ext cx="1919287" cy="479822"/>
            <a:chOff x="3297" y="2996"/>
            <a:chExt cx="1209" cy="403"/>
          </a:xfrm>
        </p:grpSpPr>
        <p:sp>
          <p:nvSpPr>
            <p:cNvPr id="136203" name="AutoShape 11"/>
            <p:cNvSpPr>
              <a:spLocks noChangeArrowheads="1"/>
            </p:cNvSpPr>
            <p:nvPr/>
          </p:nvSpPr>
          <p:spPr bwMode="gray">
            <a:xfrm>
              <a:off x="3297" y="2996"/>
              <a:ext cx="1209" cy="374"/>
            </a:xfrm>
            <a:prstGeom prst="roundRect">
              <a:avLst>
                <a:gd name="adj" fmla="val 50000"/>
              </a:avLst>
            </a:prstGeom>
            <a:gradFill rotWithShape="1">
              <a:gsLst>
                <a:gs pos="0">
                  <a:schemeClr val="accent1"/>
                </a:gs>
                <a:gs pos="100000">
                  <a:schemeClr val="accent1">
                    <a:gamma/>
                    <a:shade val="76471"/>
                    <a:invGamma/>
                  </a:schemeClr>
                </a:gs>
              </a:gsLst>
              <a:lin ang="5400000" scaled="1"/>
            </a:gradFill>
            <a:ln w="57150">
              <a:solidFill>
                <a:schemeClr val="accent1"/>
              </a:solidFill>
              <a:round/>
            </a:ln>
            <a:effectLst>
              <a:outerShdw dist="52363" dir="4557825" algn="ctr" rotWithShape="0">
                <a:srgbClr val="1C1C1C">
                  <a:alpha val="50000"/>
                </a:srgbClr>
              </a:outerShdw>
            </a:effectLst>
          </p:spPr>
          <p:txBody>
            <a:bodyPr wrap="none" anchor="ctr"/>
            <a:lstStyle/>
            <a:p>
              <a:endParaRPr lang="zh-CN" altLang="en-US"/>
            </a:p>
          </p:txBody>
        </p:sp>
        <p:sp>
          <p:nvSpPr>
            <p:cNvPr id="136204" name="Rectangle 12"/>
            <p:cNvSpPr>
              <a:spLocks noChangeArrowheads="1"/>
            </p:cNvSpPr>
            <p:nvPr/>
          </p:nvSpPr>
          <p:spPr bwMode="white">
            <a:xfrm>
              <a:off x="3653" y="3063"/>
              <a:ext cx="439" cy="336"/>
            </a:xfrm>
            <a:prstGeom prst="rect">
              <a:avLst/>
            </a:prstGeom>
            <a:noFill/>
            <a:ln w="9525" algn="ctr">
              <a:noFill/>
              <a:miter lim="800000"/>
            </a:ln>
            <a:effectLst/>
          </p:spPr>
          <p:txBody>
            <a:bodyPr wrap="none">
              <a:spAutoFit/>
            </a:bodyPr>
            <a:lstStyle/>
            <a:p>
              <a:pPr algn="ctr"/>
              <a:r>
                <a:rPr lang="zh-CN" altLang="en-US" sz="2000" b="1" dirty="0">
                  <a:solidFill>
                    <a:srgbClr val="FFFFFF"/>
                  </a:solidFill>
                </a:rPr>
                <a:t>散射</a:t>
              </a:r>
              <a:endParaRPr lang="zh-CN" altLang="en-US" sz="2000" b="1" dirty="0">
                <a:solidFill>
                  <a:srgbClr val="FFFFFF"/>
                </a:solidFill>
              </a:endParaRPr>
            </a:p>
          </p:txBody>
        </p:sp>
      </p:grpSp>
      <p:grpSp>
        <p:nvGrpSpPr>
          <p:cNvPr id="4" name="Group 13"/>
          <p:cNvGrpSpPr/>
          <p:nvPr/>
        </p:nvGrpSpPr>
        <p:grpSpPr bwMode="auto">
          <a:xfrm>
            <a:off x="251520" y="2517744"/>
            <a:ext cx="1919288" cy="445294"/>
            <a:chOff x="1222" y="2988"/>
            <a:chExt cx="1209" cy="374"/>
          </a:xfrm>
        </p:grpSpPr>
        <p:sp>
          <p:nvSpPr>
            <p:cNvPr id="136206" name="AutoShape 14"/>
            <p:cNvSpPr>
              <a:spLocks noChangeArrowheads="1"/>
            </p:cNvSpPr>
            <p:nvPr/>
          </p:nvSpPr>
          <p:spPr bwMode="gray">
            <a:xfrm>
              <a:off x="1222" y="2988"/>
              <a:ext cx="1209" cy="374"/>
            </a:xfrm>
            <a:prstGeom prst="roundRect">
              <a:avLst>
                <a:gd name="adj" fmla="val 50000"/>
              </a:avLst>
            </a:prstGeom>
            <a:gradFill rotWithShape="1">
              <a:gsLst>
                <a:gs pos="0">
                  <a:schemeClr val="accent1"/>
                </a:gs>
                <a:gs pos="100000">
                  <a:schemeClr val="accent1">
                    <a:gamma/>
                    <a:shade val="76471"/>
                    <a:invGamma/>
                  </a:schemeClr>
                </a:gs>
              </a:gsLst>
              <a:lin ang="5400000" scaled="1"/>
            </a:gradFill>
            <a:ln w="57150">
              <a:solidFill>
                <a:schemeClr val="accent1"/>
              </a:solidFill>
              <a:round/>
            </a:ln>
            <a:effectLst>
              <a:outerShdw dist="52363" dir="4557825" algn="ctr" rotWithShape="0">
                <a:srgbClr val="1C1C1C">
                  <a:alpha val="50000"/>
                </a:srgbClr>
              </a:outerShdw>
            </a:effectLst>
          </p:spPr>
          <p:txBody>
            <a:bodyPr wrap="none" anchor="ctr"/>
            <a:lstStyle/>
            <a:p>
              <a:endParaRPr lang="zh-CN" altLang="en-US"/>
            </a:p>
          </p:txBody>
        </p:sp>
        <p:sp>
          <p:nvSpPr>
            <p:cNvPr id="136207" name="Rectangle 15"/>
            <p:cNvSpPr>
              <a:spLocks noChangeArrowheads="1"/>
            </p:cNvSpPr>
            <p:nvPr/>
          </p:nvSpPr>
          <p:spPr bwMode="white">
            <a:xfrm>
              <a:off x="1623" y="3023"/>
              <a:ext cx="439" cy="336"/>
            </a:xfrm>
            <a:prstGeom prst="rect">
              <a:avLst/>
            </a:prstGeom>
            <a:noFill/>
            <a:ln w="9525" algn="ctr">
              <a:noFill/>
              <a:miter lim="800000"/>
            </a:ln>
            <a:effectLst/>
          </p:spPr>
          <p:txBody>
            <a:bodyPr wrap="none">
              <a:spAutoFit/>
            </a:bodyPr>
            <a:lstStyle/>
            <a:p>
              <a:pPr algn="ctr"/>
              <a:r>
                <a:rPr lang="zh-CN" altLang="en-US" sz="2000" b="1" dirty="0">
                  <a:solidFill>
                    <a:srgbClr val="FFFFFF"/>
                  </a:solidFill>
                </a:rPr>
                <a:t>绕射</a:t>
              </a:r>
              <a:endParaRPr lang="zh-CN" altLang="en-US" sz="2000" b="1" dirty="0">
                <a:solidFill>
                  <a:srgbClr val="FFFFFF"/>
                </a:solidFill>
              </a:endParaRPr>
            </a:p>
          </p:txBody>
        </p:sp>
      </p:grpSp>
      <p:pic>
        <p:nvPicPr>
          <p:cNvPr id="17" name="图片 16"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18"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2.3 3</a:t>
            </a:r>
            <a:r>
              <a:rPr lang="zh-CN" altLang="en-US" sz="4000" b="1" dirty="0" smtClean="0">
                <a:solidFill>
                  <a:srgbClr val="C00000"/>
                </a:solidFill>
                <a:effectLst>
                  <a:outerShdw blurRad="38100" dist="38100" dir="2700000" algn="tl">
                    <a:srgbClr val="C0C0C0"/>
                  </a:outerShdw>
                </a:effectLst>
              </a:rPr>
              <a:t>种基本电波传播机制</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grpId="0" nodeType="clickEffect">
                                  <p:stCondLst>
                                    <p:cond delay="0"/>
                                  </p:stCondLst>
                                  <p:iterate type="lt">
                                    <p:tmPct val="50000"/>
                                  </p:iterate>
                                  <p:childTnLst>
                                    <p:set>
                                      <p:cBhvr>
                                        <p:cTn id="12" dur="1" fill="hold">
                                          <p:stCondLst>
                                            <p:cond delay="0"/>
                                          </p:stCondLst>
                                        </p:cTn>
                                        <p:tgtEl>
                                          <p:spTgt spid="136196"/>
                                        </p:tgtEl>
                                        <p:attrNameLst>
                                          <p:attrName>style.visibility</p:attrName>
                                        </p:attrNameLst>
                                      </p:cBhvr>
                                      <p:to>
                                        <p:strVal val="visible"/>
                                      </p:to>
                                    </p:set>
                                    <p:anim calcmode="discrete" valueType="clr">
                                      <p:cBhvr override="childStyle">
                                        <p:cTn id="13" dur="80"/>
                                        <p:tgtEl>
                                          <p:spTgt spid="136196"/>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36196"/>
                                        </p:tgtEl>
                                        <p:attrNameLst>
                                          <p:attrName>fillcolor</p:attrName>
                                        </p:attrNameLst>
                                      </p:cBhvr>
                                      <p:tavLst>
                                        <p:tav tm="0">
                                          <p:val>
                                            <p:clrVal>
                                              <a:schemeClr val="accent2"/>
                                            </p:clrVal>
                                          </p:val>
                                        </p:tav>
                                        <p:tav tm="50000">
                                          <p:val>
                                            <p:clrVal>
                                              <a:schemeClr val="hlink"/>
                                            </p:clrVal>
                                          </p:val>
                                        </p:tav>
                                      </p:tavLst>
                                    </p:anim>
                                    <p:set>
                                      <p:cBhvr>
                                        <p:cTn id="15" dur="80"/>
                                        <p:tgtEl>
                                          <p:spTgt spid="136196"/>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1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0-#ppt_w/2"/>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136198"/>
                                        </p:tgtEl>
                                        <p:attrNameLst>
                                          <p:attrName>style.visibility</p:attrName>
                                        </p:attrNameLst>
                                      </p:cBhvr>
                                      <p:to>
                                        <p:strVal val="visible"/>
                                      </p:to>
                                    </p:set>
                                    <p:anim calcmode="discrete" valueType="clr">
                                      <p:cBhvr override="childStyle">
                                        <p:cTn id="26" dur="80"/>
                                        <p:tgtEl>
                                          <p:spTgt spid="136198"/>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36198"/>
                                        </p:tgtEl>
                                        <p:attrNameLst>
                                          <p:attrName>fillcolor</p:attrName>
                                        </p:attrNameLst>
                                      </p:cBhvr>
                                      <p:tavLst>
                                        <p:tav tm="0">
                                          <p:val>
                                            <p:clrVal>
                                              <a:schemeClr val="accent2"/>
                                            </p:clrVal>
                                          </p:val>
                                        </p:tav>
                                        <p:tav tm="50000">
                                          <p:val>
                                            <p:clrVal>
                                              <a:schemeClr val="hlink"/>
                                            </p:clrVal>
                                          </p:val>
                                        </p:tav>
                                      </p:tavLst>
                                    </p:anim>
                                    <p:set>
                                      <p:cBhvr>
                                        <p:cTn id="28" dur="80"/>
                                        <p:tgtEl>
                                          <p:spTgt spid="136198"/>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6"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1+#ppt_w/2"/>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grpId="0" nodeType="clickEffect">
                                  <p:stCondLst>
                                    <p:cond delay="0"/>
                                  </p:stCondLst>
                                  <p:iterate type="lt">
                                    <p:tmPct val="50000"/>
                                  </p:iterate>
                                  <p:childTnLst>
                                    <p:set>
                                      <p:cBhvr>
                                        <p:cTn id="38" dur="1" fill="hold">
                                          <p:stCondLst>
                                            <p:cond delay="0"/>
                                          </p:stCondLst>
                                        </p:cTn>
                                        <p:tgtEl>
                                          <p:spTgt spid="136197"/>
                                        </p:tgtEl>
                                        <p:attrNameLst>
                                          <p:attrName>style.visibility</p:attrName>
                                        </p:attrNameLst>
                                      </p:cBhvr>
                                      <p:to>
                                        <p:strVal val="visible"/>
                                      </p:to>
                                    </p:set>
                                    <p:anim calcmode="discrete" valueType="clr">
                                      <p:cBhvr override="childStyle">
                                        <p:cTn id="39" dur="80"/>
                                        <p:tgtEl>
                                          <p:spTgt spid="136197"/>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136197"/>
                                        </p:tgtEl>
                                        <p:attrNameLst>
                                          <p:attrName>fillcolor</p:attrName>
                                        </p:attrNameLst>
                                      </p:cBhvr>
                                      <p:tavLst>
                                        <p:tav tm="0">
                                          <p:val>
                                            <p:clrVal>
                                              <a:schemeClr val="accent2"/>
                                            </p:clrVal>
                                          </p:val>
                                        </p:tav>
                                        <p:tav tm="50000">
                                          <p:val>
                                            <p:clrVal>
                                              <a:schemeClr val="hlink"/>
                                            </p:clrVal>
                                          </p:val>
                                        </p:tav>
                                      </p:tavLst>
                                    </p:anim>
                                    <p:set>
                                      <p:cBhvr>
                                        <p:cTn id="41" dur="80"/>
                                        <p:tgtEl>
                                          <p:spTgt spid="13619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p:bldP spid="136197" grpId="0"/>
      <p:bldP spid="13619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3"/>
          <p:cNvSpPr>
            <a:spLocks noGrp="1" noRot="1" noChangeArrowheads="1"/>
          </p:cNvSpPr>
          <p:nvPr>
            <p:ph type="body" sz="half" idx="1"/>
          </p:nvPr>
        </p:nvSpPr>
        <p:spPr>
          <a:xfrm>
            <a:off x="467545" y="1059582"/>
            <a:ext cx="8676456" cy="3834426"/>
          </a:xfrm>
        </p:spPr>
        <p:txBody>
          <a:bodyPr>
            <a:noAutofit/>
          </a:bodyPr>
          <a:lstStyle/>
          <a:p>
            <a:pPr marL="0">
              <a:lnSpc>
                <a:spcPct val="150000"/>
              </a:lnSpc>
              <a:spcBef>
                <a:spcPts val="0"/>
              </a:spcBef>
              <a:buNone/>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为了简化，考虑反射表面是平滑的，即理想介质表面。如</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果电磁波传输到理想介质表面，则能量都将反射回</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来。</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反射系数（</a:t>
            </a:r>
            <a:r>
              <a:rPr lang="en-US" altLang="zh-CN" sz="2400" dirty="0">
                <a:effectLst>
                  <a:outerShdw blurRad="38100" dist="38100" dir="2700000" algn="tl">
                    <a:srgbClr val="C0C0C0"/>
                  </a:outerShdw>
                </a:effectLst>
                <a:latin typeface="宋体" panose="02010600030101010101" pitchFamily="2" charset="-122"/>
                <a:ea typeface="宋体" panose="02010600030101010101" pitchFamily="2" charset="-122"/>
              </a:rPr>
              <a:t>R</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）定义为入</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射波与反射波的比值  </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b="1" dirty="0" smtClean="0">
                <a:latin typeface="宋体" panose="02010600030101010101" pitchFamily="2" charset="-122"/>
                <a:ea typeface="宋体" panose="02010600030101010101" pitchFamily="2" charset="-122"/>
              </a:rPr>
              <a:t>                                                 </a:t>
            </a:r>
            <a:r>
              <a:rPr lang="en-US" altLang="zh-CN" sz="2400" dirty="0">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垂直极化）</a:t>
            </a:r>
            <a:r>
              <a:rPr lang="zh-CN" altLang="en-US" sz="2400" b="1" dirty="0">
                <a:latin typeface="宋体" panose="02010600030101010101" pitchFamily="2" charset="-122"/>
                <a:ea typeface="宋体" panose="02010600030101010101" pitchFamily="2" charset="-122"/>
              </a:rPr>
              <a:t> </a:t>
            </a:r>
            <a:r>
              <a:rPr lang="zh-CN" altLang="en-US" sz="2400" b="1" dirty="0" smtClean="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a:p>
            <a:pPr marL="0">
              <a:lnSpc>
                <a:spcPct val="150000"/>
              </a:lnSpc>
              <a:spcBef>
                <a:spcPts val="0"/>
              </a:spcBef>
              <a:buNone/>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（水</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平极化）</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graphicFrame>
        <p:nvGraphicFramePr>
          <p:cNvPr id="138244" name="Object 4"/>
          <p:cNvGraphicFramePr>
            <a:graphicFrameLocks noChangeAspect="1"/>
          </p:cNvGraphicFramePr>
          <p:nvPr>
            <p:ph sz="quarter" idx="2"/>
          </p:nvPr>
        </p:nvGraphicFramePr>
        <p:xfrm>
          <a:off x="1547664" y="3697123"/>
          <a:ext cx="2376264" cy="710831"/>
        </p:xfrm>
        <a:graphic>
          <a:graphicData uri="http://schemas.openxmlformats.org/presentationml/2006/ole">
            <mc:AlternateContent xmlns:mc="http://schemas.openxmlformats.org/markup-compatibility/2006">
              <mc:Choice xmlns:v="urn:schemas-microsoft-com:vml" Requires="v">
                <p:oleObj spid="_x0000_s7169" name="公式" r:id="rId1" imgW="25298400" imgH="11887200" progId="">
                  <p:embed/>
                </p:oleObj>
              </mc:Choice>
              <mc:Fallback>
                <p:oleObj name="公式" r:id="rId1" imgW="25298400" imgH="11887200" progId="">
                  <p:embed/>
                  <p:pic>
                    <p:nvPicPr>
                      <p:cNvPr id="0" name="图片 7168" descr="image26"/>
                      <p:cNvPicPr>
                        <a:picLocks noChangeAspect="1"/>
                      </p:cNvPicPr>
                      <p:nvPr/>
                    </p:nvPicPr>
                    <p:blipFill>
                      <a:blip r:embed="rId2"/>
                      <a:stretch>
                        <a:fillRect/>
                      </a:stretch>
                    </p:blipFill>
                    <p:spPr>
                      <a:xfrm>
                        <a:off x="1547664" y="3697123"/>
                        <a:ext cx="2376264" cy="710831"/>
                      </a:xfrm>
                      <a:prstGeom prst="rect">
                        <a:avLst/>
                      </a:prstGeom>
                      <a:solidFill>
                        <a:srgbClr val="FFFFFF"/>
                      </a:solidFill>
                      <a:ln w="9525">
                        <a:noFill/>
                      </a:ln>
                    </p:spPr>
                  </p:pic>
                </p:oleObj>
              </mc:Fallback>
            </mc:AlternateContent>
          </a:graphicData>
        </a:graphic>
      </p:graphicFrame>
      <p:sp>
        <p:nvSpPr>
          <p:cNvPr id="138246" name="Rectangle 6"/>
          <p:cNvSpPr>
            <a:spLocks noChangeArrowheads="1"/>
          </p:cNvSpPr>
          <p:nvPr/>
        </p:nvSpPr>
        <p:spPr bwMode="auto">
          <a:xfrm>
            <a:off x="5021263" y="1946672"/>
            <a:ext cx="495300" cy="265509"/>
          </a:xfrm>
          <a:prstGeom prst="rect">
            <a:avLst/>
          </a:prstGeom>
          <a:noFill/>
          <a:ln w="9525">
            <a:noFill/>
            <a:miter lim="800000"/>
          </a:ln>
        </p:spPr>
        <p:txBody>
          <a:bodyPr lIns="0" tIns="0" rIns="0" bIns="0"/>
          <a:lstStyle/>
          <a:p>
            <a:pPr algn="just"/>
            <a:r>
              <a:rPr lang="en-US" altLang="zh-CN" sz="900">
                <a:solidFill>
                  <a:srgbClr val="000000"/>
                </a:solidFill>
                <a:latin typeface="Times New Roman" panose="02020603050405020304" pitchFamily="18" charset="0"/>
              </a:rPr>
              <a:t> </a:t>
            </a:r>
            <a:endParaRPr lang="en-US" altLang="zh-CN" sz="1900">
              <a:solidFill>
                <a:srgbClr val="080808"/>
              </a:solidFill>
              <a:latin typeface="Times New Roman" panose="02020603050405020304" pitchFamily="18" charset="0"/>
            </a:endParaRPr>
          </a:p>
        </p:txBody>
      </p:sp>
      <p:grpSp>
        <p:nvGrpSpPr>
          <p:cNvPr id="2" name="Group 7"/>
          <p:cNvGrpSpPr/>
          <p:nvPr/>
        </p:nvGrpSpPr>
        <p:grpSpPr bwMode="auto">
          <a:xfrm>
            <a:off x="5508625" y="2085975"/>
            <a:ext cx="685800" cy="372666"/>
            <a:chOff x="4052" y="10764"/>
            <a:chExt cx="711" cy="437"/>
          </a:xfrm>
        </p:grpSpPr>
        <p:sp>
          <p:nvSpPr>
            <p:cNvPr id="138248" name="Rectangle 8"/>
            <p:cNvSpPr>
              <a:spLocks noChangeArrowheads="1"/>
            </p:cNvSpPr>
            <p:nvPr/>
          </p:nvSpPr>
          <p:spPr bwMode="auto">
            <a:xfrm>
              <a:off x="4157" y="10890"/>
              <a:ext cx="606" cy="311"/>
            </a:xfrm>
            <a:prstGeom prst="rect">
              <a:avLst/>
            </a:prstGeom>
            <a:noFill/>
            <a:ln w="9525">
              <a:noFill/>
              <a:miter lim="800000"/>
            </a:ln>
          </p:spPr>
          <p:txBody>
            <a:bodyPr lIns="0" tIns="0" rIns="0" bIns="0"/>
            <a:lstStyle/>
            <a:p>
              <a:pPr algn="ctr"/>
              <a:endParaRPr lang="zh-CN" altLang="zh-CN" sz="1900">
                <a:solidFill>
                  <a:srgbClr val="080808"/>
                </a:solidFill>
                <a:latin typeface="Times New Roman" panose="02020603050405020304" pitchFamily="18" charset="0"/>
              </a:endParaRPr>
            </a:p>
          </p:txBody>
        </p:sp>
        <p:sp>
          <p:nvSpPr>
            <p:cNvPr id="138249" name="Rectangle 9"/>
            <p:cNvSpPr>
              <a:spLocks noChangeArrowheads="1"/>
            </p:cNvSpPr>
            <p:nvPr/>
          </p:nvSpPr>
          <p:spPr bwMode="auto">
            <a:xfrm>
              <a:off x="4052" y="10764"/>
              <a:ext cx="606" cy="311"/>
            </a:xfrm>
            <a:prstGeom prst="rect">
              <a:avLst/>
            </a:prstGeom>
            <a:noFill/>
            <a:ln w="9525">
              <a:noFill/>
              <a:miter lim="800000"/>
            </a:ln>
          </p:spPr>
          <p:txBody>
            <a:bodyPr lIns="0" tIns="0" rIns="0" bIns="0"/>
            <a:lstStyle/>
            <a:p>
              <a:pPr algn="ctr"/>
              <a:endParaRPr lang="zh-CN" altLang="zh-CN" sz="1900">
                <a:solidFill>
                  <a:srgbClr val="080808"/>
                </a:solidFill>
                <a:latin typeface="Times New Roman" panose="02020603050405020304" pitchFamily="18" charset="0"/>
              </a:endParaRPr>
            </a:p>
          </p:txBody>
        </p:sp>
      </p:grpSp>
      <p:graphicFrame>
        <p:nvGraphicFramePr>
          <p:cNvPr id="138250" name="Object 10"/>
          <p:cNvGraphicFramePr>
            <a:graphicFrameLocks noChangeAspect="1"/>
          </p:cNvGraphicFramePr>
          <p:nvPr/>
        </p:nvGraphicFramePr>
        <p:xfrm>
          <a:off x="1547664" y="2859782"/>
          <a:ext cx="1657350" cy="579834"/>
        </p:xfrm>
        <a:graphic>
          <a:graphicData uri="http://schemas.openxmlformats.org/presentationml/2006/ole">
            <mc:AlternateContent xmlns:mc="http://schemas.openxmlformats.org/markup-compatibility/2006">
              <mc:Choice xmlns:v="urn:schemas-microsoft-com:vml" Requires="v">
                <p:oleObj spid="_x0000_s7170" name="公式" r:id="rId3" imgW="17068800" imgH="7924800" progId="">
                  <p:embed/>
                </p:oleObj>
              </mc:Choice>
              <mc:Fallback>
                <p:oleObj name="公式" r:id="rId3" imgW="17068800" imgH="7924800" progId="">
                  <p:embed/>
                  <p:pic>
                    <p:nvPicPr>
                      <p:cNvPr id="0" name="图片 7169" descr="image27"/>
                      <p:cNvPicPr>
                        <a:picLocks noChangeAspect="1"/>
                      </p:cNvPicPr>
                      <p:nvPr/>
                    </p:nvPicPr>
                    <p:blipFill>
                      <a:blip r:embed="rId4"/>
                      <a:stretch>
                        <a:fillRect/>
                      </a:stretch>
                    </p:blipFill>
                    <p:spPr>
                      <a:xfrm>
                        <a:off x="1547664" y="2859782"/>
                        <a:ext cx="1657350" cy="579834"/>
                      </a:xfrm>
                      <a:prstGeom prst="rect">
                        <a:avLst/>
                      </a:prstGeom>
                      <a:solidFill>
                        <a:srgbClr val="FFFFFF"/>
                      </a:solidFill>
                      <a:ln w="9525">
                        <a:noFill/>
                      </a:ln>
                    </p:spPr>
                  </p:pic>
                </p:oleObj>
              </mc:Fallback>
            </mc:AlternateContent>
          </a:graphicData>
        </a:graphic>
      </p:graphicFrame>
      <p:graphicFrame>
        <p:nvGraphicFramePr>
          <p:cNvPr id="138251" name="Object 11"/>
          <p:cNvGraphicFramePr>
            <a:graphicFrameLocks noChangeAspect="1"/>
          </p:cNvGraphicFramePr>
          <p:nvPr>
            <p:ph sz="quarter" idx="3"/>
          </p:nvPr>
        </p:nvGraphicFramePr>
        <p:xfrm>
          <a:off x="3059832" y="4455509"/>
          <a:ext cx="3528392" cy="466040"/>
        </p:xfrm>
        <a:graphic>
          <a:graphicData uri="http://schemas.openxmlformats.org/presentationml/2006/ole">
            <mc:AlternateContent xmlns:mc="http://schemas.openxmlformats.org/markup-compatibility/2006">
              <mc:Choice xmlns:v="urn:schemas-microsoft-com:vml" Requires="v">
                <p:oleObj spid="_x0000_s7171" name="公式" r:id="rId5" imgW="21640800" imgH="6400800" progId="">
                  <p:embed/>
                </p:oleObj>
              </mc:Choice>
              <mc:Fallback>
                <p:oleObj name="公式" r:id="rId5" imgW="21640800" imgH="6400800" progId="">
                  <p:embed/>
                  <p:pic>
                    <p:nvPicPr>
                      <p:cNvPr id="0" name="图片 7170" descr="image28"/>
                      <p:cNvPicPr>
                        <a:picLocks noChangeAspect="1"/>
                      </p:cNvPicPr>
                      <p:nvPr/>
                    </p:nvPicPr>
                    <p:blipFill>
                      <a:blip r:embed="rId6"/>
                      <a:stretch>
                        <a:fillRect/>
                      </a:stretch>
                    </p:blipFill>
                    <p:spPr>
                      <a:xfrm>
                        <a:off x="3059832" y="4455509"/>
                        <a:ext cx="3528392" cy="466040"/>
                      </a:xfrm>
                      <a:prstGeom prst="rect">
                        <a:avLst/>
                      </a:prstGeom>
                      <a:solidFill>
                        <a:srgbClr val="FFFFFF"/>
                      </a:solidFill>
                      <a:ln w="9525">
                        <a:noFill/>
                      </a:ln>
                    </p:spPr>
                  </p:pic>
                </p:oleObj>
              </mc:Fallback>
            </mc:AlternateContent>
          </a:graphicData>
        </a:graphic>
      </p:graphicFrame>
      <p:pic>
        <p:nvPicPr>
          <p:cNvPr id="138252" name="Picture 12"/>
          <p:cNvPicPr>
            <a:picLocks noChangeAspect="1" noChangeArrowheads="1"/>
          </p:cNvPicPr>
          <p:nvPr/>
        </p:nvPicPr>
        <p:blipFill>
          <a:blip r:embed="rId7" cstate="print"/>
          <a:srcRect l="20660" t="30351" r="38531" b="44801"/>
          <a:stretch>
            <a:fillRect/>
          </a:stretch>
        </p:blipFill>
        <p:spPr bwMode="auto">
          <a:xfrm>
            <a:off x="4499992" y="2787774"/>
            <a:ext cx="4299212" cy="1480468"/>
          </a:xfrm>
          <a:prstGeom prst="rect">
            <a:avLst/>
          </a:prstGeom>
          <a:noFill/>
          <a:ln w="9525">
            <a:noFill/>
            <a:miter lim="800000"/>
            <a:headEnd/>
            <a:tailEnd/>
          </a:ln>
        </p:spPr>
      </p:pic>
      <p:pic>
        <p:nvPicPr>
          <p:cNvPr id="13" name="图片 12" descr="5bc6fc52-b49d-4298-b410-192e1f0ef3a5.gif"/>
          <p:cNvPicPr>
            <a:picLocks noChangeAspect="1"/>
          </p:cNvPicPr>
          <p:nvPr/>
        </p:nvPicPr>
        <p:blipFill>
          <a:blip r:embed="rId8" cstate="print"/>
          <a:srcRect l="14589" t="33821" r="11138" b="38327"/>
          <a:stretch>
            <a:fillRect/>
          </a:stretch>
        </p:blipFill>
        <p:spPr>
          <a:xfrm>
            <a:off x="0" y="0"/>
            <a:ext cx="2592288" cy="486054"/>
          </a:xfrm>
          <a:prstGeom prst="rect">
            <a:avLst/>
          </a:prstGeom>
        </p:spPr>
      </p:pic>
      <p:sp>
        <p:nvSpPr>
          <p:cNvPr id="14"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2.3.1  </a:t>
            </a:r>
            <a:r>
              <a:rPr lang="zh-CN" altLang="en-US" sz="4000" b="1" dirty="0" smtClean="0">
                <a:solidFill>
                  <a:srgbClr val="C00000"/>
                </a:solidFill>
                <a:effectLst>
                  <a:outerShdw blurRad="38100" dist="38100" dir="2700000" algn="tl">
                    <a:srgbClr val="C0C0C0"/>
                  </a:outerShdw>
                </a:effectLst>
              </a:rPr>
              <a:t>反射，（一）概念</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38243">
                                            <p:txEl>
                                              <p:pRg st="0" end="0"/>
                                            </p:txEl>
                                          </p:spTgt>
                                        </p:tgtEl>
                                        <p:attrNameLst>
                                          <p:attrName>style.visibility</p:attrName>
                                        </p:attrNameLst>
                                      </p:cBhvr>
                                      <p:to>
                                        <p:strVal val="visible"/>
                                      </p:to>
                                    </p:set>
                                    <p:anim calcmode="discrete" valueType="clr">
                                      <p:cBhvr override="childStyle">
                                        <p:cTn id="7" dur="80"/>
                                        <p:tgtEl>
                                          <p:spTgt spid="13824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824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3824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38243">
                                            <p:txEl>
                                              <p:pRg st="1" end="1"/>
                                            </p:txEl>
                                          </p:spTgt>
                                        </p:tgtEl>
                                        <p:attrNameLst>
                                          <p:attrName>style.visibility</p:attrName>
                                        </p:attrNameLst>
                                      </p:cBhvr>
                                      <p:to>
                                        <p:strVal val="visible"/>
                                      </p:to>
                                    </p:set>
                                    <p:anim calcmode="discrete" valueType="clr">
                                      <p:cBhvr override="childStyle">
                                        <p:cTn id="14" dur="80"/>
                                        <p:tgtEl>
                                          <p:spTgt spid="13824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38243">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38243">
                                            <p:txEl>
                                              <p:pRg st="1" end="1"/>
                                            </p:txEl>
                                          </p:spTgt>
                                        </p:tgtEl>
                                        <p:attrNameLst>
                                          <p:attrName>fill.type</p:attrName>
                                        </p:attrNameLst>
                                      </p:cBhvr>
                                      <p:to>
                                        <p:strVal val="solid"/>
                                      </p:to>
                                    </p:set>
                                  </p:childTnLst>
                                </p:cTn>
                              </p:par>
                            </p:childTnLst>
                          </p:cTn>
                        </p:par>
                        <p:par>
                          <p:cTn id="17" fill="hold">
                            <p:stCondLst>
                              <p:cond delay="919"/>
                            </p:stCondLst>
                            <p:childTnLst>
                              <p:par>
                                <p:cTn id="18" presetID="55" presetClass="entr" presetSubtype="0" fill="hold" nodeType="afterEffect">
                                  <p:stCondLst>
                                    <p:cond delay="0"/>
                                  </p:stCondLst>
                                  <p:childTnLst>
                                    <p:set>
                                      <p:cBhvr>
                                        <p:cTn id="19" dur="1" fill="hold">
                                          <p:stCondLst>
                                            <p:cond delay="0"/>
                                          </p:stCondLst>
                                        </p:cTn>
                                        <p:tgtEl>
                                          <p:spTgt spid="138252"/>
                                        </p:tgtEl>
                                        <p:attrNameLst>
                                          <p:attrName>style.visibility</p:attrName>
                                        </p:attrNameLst>
                                      </p:cBhvr>
                                      <p:to>
                                        <p:strVal val="visible"/>
                                      </p:to>
                                    </p:set>
                                    <p:anim calcmode="lin" valueType="num">
                                      <p:cBhvr>
                                        <p:cTn id="20" dur="1000" fill="hold"/>
                                        <p:tgtEl>
                                          <p:spTgt spid="138252"/>
                                        </p:tgtEl>
                                        <p:attrNameLst>
                                          <p:attrName>ppt_w</p:attrName>
                                        </p:attrNameLst>
                                      </p:cBhvr>
                                      <p:tavLst>
                                        <p:tav tm="0">
                                          <p:val>
                                            <p:strVal val="#ppt_w*0.70"/>
                                          </p:val>
                                        </p:tav>
                                        <p:tav tm="100000">
                                          <p:val>
                                            <p:strVal val="#ppt_w"/>
                                          </p:val>
                                        </p:tav>
                                      </p:tavLst>
                                    </p:anim>
                                    <p:anim calcmode="lin" valueType="num">
                                      <p:cBhvr>
                                        <p:cTn id="21" dur="1000" fill="hold"/>
                                        <p:tgtEl>
                                          <p:spTgt spid="138252"/>
                                        </p:tgtEl>
                                        <p:attrNameLst>
                                          <p:attrName>ppt_h</p:attrName>
                                        </p:attrNameLst>
                                      </p:cBhvr>
                                      <p:tavLst>
                                        <p:tav tm="0">
                                          <p:val>
                                            <p:strVal val="#ppt_h"/>
                                          </p:val>
                                        </p:tav>
                                        <p:tav tm="100000">
                                          <p:val>
                                            <p:strVal val="#ppt_h"/>
                                          </p:val>
                                        </p:tav>
                                      </p:tavLst>
                                    </p:anim>
                                    <p:animEffect transition="in" filter="fade">
                                      <p:cBhvr>
                                        <p:cTn id="22" dur="1000"/>
                                        <p:tgtEl>
                                          <p:spTgt spid="138252"/>
                                        </p:tgtEl>
                                      </p:cBhvr>
                                    </p:animEffect>
                                  </p:childTnLst>
                                </p:cTn>
                              </p:par>
                            </p:childTnLst>
                          </p:cTn>
                        </p:par>
                        <p:par>
                          <p:cTn id="23" fill="hold">
                            <p:stCondLst>
                              <p:cond delay="1919"/>
                            </p:stCondLst>
                            <p:childTnLst>
                              <p:par>
                                <p:cTn id="24" presetID="55" presetClass="entr" presetSubtype="0" fill="hold" nodeType="afterEffect">
                                  <p:stCondLst>
                                    <p:cond delay="0"/>
                                  </p:stCondLst>
                                  <p:childTnLst>
                                    <p:set>
                                      <p:cBhvr>
                                        <p:cTn id="25" dur="1" fill="hold">
                                          <p:stCondLst>
                                            <p:cond delay="0"/>
                                          </p:stCondLst>
                                        </p:cTn>
                                        <p:tgtEl>
                                          <p:spTgt spid="138250"/>
                                        </p:tgtEl>
                                        <p:attrNameLst>
                                          <p:attrName>style.visibility</p:attrName>
                                        </p:attrNameLst>
                                      </p:cBhvr>
                                      <p:to>
                                        <p:strVal val="visible"/>
                                      </p:to>
                                    </p:set>
                                    <p:anim calcmode="lin" valueType="num">
                                      <p:cBhvr>
                                        <p:cTn id="26" dur="1000" fill="hold"/>
                                        <p:tgtEl>
                                          <p:spTgt spid="138250"/>
                                        </p:tgtEl>
                                        <p:attrNameLst>
                                          <p:attrName>ppt_w</p:attrName>
                                        </p:attrNameLst>
                                      </p:cBhvr>
                                      <p:tavLst>
                                        <p:tav tm="0">
                                          <p:val>
                                            <p:strVal val="#ppt_w*0.70"/>
                                          </p:val>
                                        </p:tav>
                                        <p:tav tm="100000">
                                          <p:val>
                                            <p:strVal val="#ppt_w"/>
                                          </p:val>
                                        </p:tav>
                                      </p:tavLst>
                                    </p:anim>
                                    <p:anim calcmode="lin" valueType="num">
                                      <p:cBhvr>
                                        <p:cTn id="27" dur="1000" fill="hold"/>
                                        <p:tgtEl>
                                          <p:spTgt spid="138250"/>
                                        </p:tgtEl>
                                        <p:attrNameLst>
                                          <p:attrName>ppt_h</p:attrName>
                                        </p:attrNameLst>
                                      </p:cBhvr>
                                      <p:tavLst>
                                        <p:tav tm="0">
                                          <p:val>
                                            <p:strVal val="#ppt_h"/>
                                          </p:val>
                                        </p:tav>
                                        <p:tav tm="100000">
                                          <p:val>
                                            <p:strVal val="#ppt_h"/>
                                          </p:val>
                                        </p:tav>
                                      </p:tavLst>
                                    </p:anim>
                                    <p:animEffect transition="in" filter="fade">
                                      <p:cBhvr>
                                        <p:cTn id="28" dur="1000"/>
                                        <p:tgtEl>
                                          <p:spTgt spid="138250"/>
                                        </p:tgtEl>
                                      </p:cBhvr>
                                    </p:animEffect>
                                  </p:childTnLst>
                                </p:cTn>
                              </p:par>
                            </p:childTnLst>
                          </p:cTn>
                        </p:par>
                        <p:par>
                          <p:cTn id="29" fill="hold">
                            <p:stCondLst>
                              <p:cond delay="2919"/>
                            </p:stCondLst>
                            <p:childTnLst>
                              <p:par>
                                <p:cTn id="30" presetID="55" presetClass="entr" presetSubtype="0" fill="hold" nodeType="afterEffect">
                                  <p:stCondLst>
                                    <p:cond delay="0"/>
                                  </p:stCondLst>
                                  <p:childTnLst>
                                    <p:set>
                                      <p:cBhvr>
                                        <p:cTn id="31" dur="1" fill="hold">
                                          <p:stCondLst>
                                            <p:cond delay="0"/>
                                          </p:stCondLst>
                                        </p:cTn>
                                        <p:tgtEl>
                                          <p:spTgt spid="138244"/>
                                        </p:tgtEl>
                                        <p:attrNameLst>
                                          <p:attrName>style.visibility</p:attrName>
                                        </p:attrNameLst>
                                      </p:cBhvr>
                                      <p:to>
                                        <p:strVal val="visible"/>
                                      </p:to>
                                    </p:set>
                                    <p:anim calcmode="lin" valueType="num">
                                      <p:cBhvr>
                                        <p:cTn id="32" dur="1000" fill="hold"/>
                                        <p:tgtEl>
                                          <p:spTgt spid="138244"/>
                                        </p:tgtEl>
                                        <p:attrNameLst>
                                          <p:attrName>ppt_w</p:attrName>
                                        </p:attrNameLst>
                                      </p:cBhvr>
                                      <p:tavLst>
                                        <p:tav tm="0">
                                          <p:val>
                                            <p:strVal val="#ppt_w*0.70"/>
                                          </p:val>
                                        </p:tav>
                                        <p:tav tm="100000">
                                          <p:val>
                                            <p:strVal val="#ppt_w"/>
                                          </p:val>
                                        </p:tav>
                                      </p:tavLst>
                                    </p:anim>
                                    <p:anim calcmode="lin" valueType="num">
                                      <p:cBhvr>
                                        <p:cTn id="33" dur="1000" fill="hold"/>
                                        <p:tgtEl>
                                          <p:spTgt spid="138244"/>
                                        </p:tgtEl>
                                        <p:attrNameLst>
                                          <p:attrName>ppt_h</p:attrName>
                                        </p:attrNameLst>
                                      </p:cBhvr>
                                      <p:tavLst>
                                        <p:tav tm="0">
                                          <p:val>
                                            <p:strVal val="#ppt_h"/>
                                          </p:val>
                                        </p:tav>
                                        <p:tav tm="100000">
                                          <p:val>
                                            <p:strVal val="#ppt_h"/>
                                          </p:val>
                                        </p:tav>
                                      </p:tavLst>
                                    </p:anim>
                                    <p:animEffect transition="in" filter="fade">
                                      <p:cBhvr>
                                        <p:cTn id="34" dur="1000"/>
                                        <p:tgtEl>
                                          <p:spTgt spid="138244"/>
                                        </p:tgtEl>
                                      </p:cBhvr>
                                    </p:animEffect>
                                  </p:childTnLst>
                                </p:cTn>
                              </p:par>
                            </p:childTnLst>
                          </p:cTn>
                        </p:par>
                        <p:par>
                          <p:cTn id="35" fill="hold">
                            <p:stCondLst>
                              <p:cond delay="3919"/>
                            </p:stCondLst>
                            <p:childTnLst>
                              <p:par>
                                <p:cTn id="36" presetID="55" presetClass="entr" presetSubtype="0" fill="hold" nodeType="afterEffect">
                                  <p:stCondLst>
                                    <p:cond delay="0"/>
                                  </p:stCondLst>
                                  <p:childTnLst>
                                    <p:set>
                                      <p:cBhvr>
                                        <p:cTn id="37" dur="1" fill="hold">
                                          <p:stCondLst>
                                            <p:cond delay="0"/>
                                          </p:stCondLst>
                                        </p:cTn>
                                        <p:tgtEl>
                                          <p:spTgt spid="138243">
                                            <p:txEl>
                                              <p:pRg st="3" end="3"/>
                                            </p:txEl>
                                          </p:spTgt>
                                        </p:tgtEl>
                                        <p:attrNameLst>
                                          <p:attrName>style.visibility</p:attrName>
                                        </p:attrNameLst>
                                      </p:cBhvr>
                                      <p:to>
                                        <p:strVal val="visible"/>
                                      </p:to>
                                    </p:set>
                                    <p:anim calcmode="lin" valueType="num">
                                      <p:cBhvr>
                                        <p:cTn id="38" dur="1000" fill="hold"/>
                                        <p:tgtEl>
                                          <p:spTgt spid="138243">
                                            <p:txEl>
                                              <p:pRg st="3" end="3"/>
                                            </p:txEl>
                                          </p:spTgt>
                                        </p:tgtEl>
                                        <p:attrNameLst>
                                          <p:attrName>ppt_w</p:attrName>
                                        </p:attrNameLst>
                                      </p:cBhvr>
                                      <p:tavLst>
                                        <p:tav tm="0">
                                          <p:val>
                                            <p:strVal val="#ppt_w*0.70"/>
                                          </p:val>
                                        </p:tav>
                                        <p:tav tm="100000">
                                          <p:val>
                                            <p:strVal val="#ppt_w"/>
                                          </p:val>
                                        </p:tav>
                                      </p:tavLst>
                                    </p:anim>
                                    <p:anim calcmode="lin" valueType="num">
                                      <p:cBhvr>
                                        <p:cTn id="39" dur="1000" fill="hold"/>
                                        <p:tgtEl>
                                          <p:spTgt spid="138243">
                                            <p:txEl>
                                              <p:pRg st="3" end="3"/>
                                            </p:txEl>
                                          </p:spTgt>
                                        </p:tgtEl>
                                        <p:attrNameLst>
                                          <p:attrName>ppt_h</p:attrName>
                                        </p:attrNameLst>
                                      </p:cBhvr>
                                      <p:tavLst>
                                        <p:tav tm="0">
                                          <p:val>
                                            <p:strVal val="#ppt_h"/>
                                          </p:val>
                                        </p:tav>
                                        <p:tav tm="100000">
                                          <p:val>
                                            <p:strVal val="#ppt_h"/>
                                          </p:val>
                                        </p:tav>
                                      </p:tavLst>
                                    </p:anim>
                                    <p:animEffect transition="in" filter="fade">
                                      <p:cBhvr>
                                        <p:cTn id="40" dur="1000"/>
                                        <p:tgtEl>
                                          <p:spTgt spid="138243">
                                            <p:txEl>
                                              <p:pRg st="3" end="3"/>
                                            </p:txEl>
                                          </p:spTgt>
                                        </p:tgtEl>
                                      </p:cBhvr>
                                    </p:animEffect>
                                  </p:childTnLst>
                                </p:cTn>
                              </p:par>
                            </p:childTnLst>
                          </p:cTn>
                        </p:par>
                        <p:par>
                          <p:cTn id="41" fill="hold">
                            <p:stCondLst>
                              <p:cond delay="4919"/>
                            </p:stCondLst>
                            <p:childTnLst>
                              <p:par>
                                <p:cTn id="42" presetID="55" presetClass="entr" presetSubtype="0" fill="hold" nodeType="afterEffect">
                                  <p:stCondLst>
                                    <p:cond delay="0"/>
                                  </p:stCondLst>
                                  <p:childTnLst>
                                    <p:set>
                                      <p:cBhvr>
                                        <p:cTn id="43" dur="1" fill="hold">
                                          <p:stCondLst>
                                            <p:cond delay="0"/>
                                          </p:stCondLst>
                                        </p:cTn>
                                        <p:tgtEl>
                                          <p:spTgt spid="138251"/>
                                        </p:tgtEl>
                                        <p:attrNameLst>
                                          <p:attrName>style.visibility</p:attrName>
                                        </p:attrNameLst>
                                      </p:cBhvr>
                                      <p:to>
                                        <p:strVal val="visible"/>
                                      </p:to>
                                    </p:set>
                                    <p:anim calcmode="lin" valueType="num">
                                      <p:cBhvr>
                                        <p:cTn id="44" dur="1000" fill="hold"/>
                                        <p:tgtEl>
                                          <p:spTgt spid="138251"/>
                                        </p:tgtEl>
                                        <p:attrNameLst>
                                          <p:attrName>ppt_w</p:attrName>
                                        </p:attrNameLst>
                                      </p:cBhvr>
                                      <p:tavLst>
                                        <p:tav tm="0">
                                          <p:val>
                                            <p:strVal val="#ppt_w*0.70"/>
                                          </p:val>
                                        </p:tav>
                                        <p:tav tm="100000">
                                          <p:val>
                                            <p:strVal val="#ppt_w"/>
                                          </p:val>
                                        </p:tav>
                                      </p:tavLst>
                                    </p:anim>
                                    <p:anim calcmode="lin" valueType="num">
                                      <p:cBhvr>
                                        <p:cTn id="45" dur="1000" fill="hold"/>
                                        <p:tgtEl>
                                          <p:spTgt spid="138251"/>
                                        </p:tgtEl>
                                        <p:attrNameLst>
                                          <p:attrName>ppt_h</p:attrName>
                                        </p:attrNameLst>
                                      </p:cBhvr>
                                      <p:tavLst>
                                        <p:tav tm="0">
                                          <p:val>
                                            <p:strVal val="#ppt_h"/>
                                          </p:val>
                                        </p:tav>
                                        <p:tav tm="100000">
                                          <p:val>
                                            <p:strVal val="#ppt_h"/>
                                          </p:val>
                                        </p:tav>
                                      </p:tavLst>
                                    </p:anim>
                                    <p:animEffect transition="in" filter="fade">
                                      <p:cBhvr>
                                        <p:cTn id="46" dur="1000"/>
                                        <p:tgtEl>
                                          <p:spTgt spid="138251"/>
                                        </p:tgtEl>
                                      </p:cBhvr>
                                    </p:animEffect>
                                  </p:childTnLst>
                                </p:cTn>
                              </p:par>
                            </p:childTnLst>
                          </p:cTn>
                        </p:par>
                        <p:par>
                          <p:cTn id="47" fill="hold">
                            <p:stCondLst>
                              <p:cond delay="5919"/>
                            </p:stCondLst>
                            <p:childTnLst>
                              <p:par>
                                <p:cTn id="48" presetID="55" presetClass="entr" presetSubtype="0" fill="hold" nodeType="afterEffect">
                                  <p:stCondLst>
                                    <p:cond delay="0"/>
                                  </p:stCondLst>
                                  <p:childTnLst>
                                    <p:set>
                                      <p:cBhvr>
                                        <p:cTn id="49" dur="1" fill="hold">
                                          <p:stCondLst>
                                            <p:cond delay="0"/>
                                          </p:stCondLst>
                                        </p:cTn>
                                        <p:tgtEl>
                                          <p:spTgt spid="138243">
                                            <p:txEl>
                                              <p:pRg st="4" end="4"/>
                                            </p:txEl>
                                          </p:spTgt>
                                        </p:tgtEl>
                                        <p:attrNameLst>
                                          <p:attrName>style.visibility</p:attrName>
                                        </p:attrNameLst>
                                      </p:cBhvr>
                                      <p:to>
                                        <p:strVal val="visible"/>
                                      </p:to>
                                    </p:set>
                                    <p:anim calcmode="lin" valueType="num">
                                      <p:cBhvr>
                                        <p:cTn id="50" dur="1000" fill="hold"/>
                                        <p:tgtEl>
                                          <p:spTgt spid="138243">
                                            <p:txEl>
                                              <p:pRg st="4" end="4"/>
                                            </p:txEl>
                                          </p:spTgt>
                                        </p:tgtEl>
                                        <p:attrNameLst>
                                          <p:attrName>ppt_w</p:attrName>
                                        </p:attrNameLst>
                                      </p:cBhvr>
                                      <p:tavLst>
                                        <p:tav tm="0">
                                          <p:val>
                                            <p:strVal val="#ppt_w*0.70"/>
                                          </p:val>
                                        </p:tav>
                                        <p:tav tm="100000">
                                          <p:val>
                                            <p:strVal val="#ppt_w"/>
                                          </p:val>
                                        </p:tav>
                                      </p:tavLst>
                                    </p:anim>
                                    <p:anim calcmode="lin" valueType="num">
                                      <p:cBhvr>
                                        <p:cTn id="51" dur="1000" fill="hold"/>
                                        <p:tgtEl>
                                          <p:spTgt spid="138243">
                                            <p:txEl>
                                              <p:pRg st="4" end="4"/>
                                            </p:txEl>
                                          </p:spTgt>
                                        </p:tgtEl>
                                        <p:attrNameLst>
                                          <p:attrName>ppt_h</p:attrName>
                                        </p:attrNameLst>
                                      </p:cBhvr>
                                      <p:tavLst>
                                        <p:tav tm="0">
                                          <p:val>
                                            <p:strVal val="#ppt_h"/>
                                          </p:val>
                                        </p:tav>
                                        <p:tav tm="100000">
                                          <p:val>
                                            <p:strVal val="#ppt_h"/>
                                          </p:val>
                                        </p:tav>
                                      </p:tavLst>
                                    </p:anim>
                                    <p:animEffect transition="in" filter="fade">
                                      <p:cBhvr>
                                        <p:cTn id="52" dur="1000"/>
                                        <p:tgtEl>
                                          <p:spTgt spid="138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p:cNvSpPr>
            <a:spLocks noGrp="1" noRot="1" noChangeArrowheads="1"/>
          </p:cNvSpPr>
          <p:nvPr>
            <p:ph type="body" idx="1"/>
          </p:nvPr>
        </p:nvSpPr>
        <p:spPr>
          <a:xfrm>
            <a:off x="603250" y="1059656"/>
            <a:ext cx="8540750" cy="2914650"/>
          </a:xfrm>
        </p:spPr>
        <p:txBody>
          <a:bodyPr>
            <a:noAutofit/>
          </a:bodyPr>
          <a:lstStyle/>
          <a:p>
            <a:pPr marL="0">
              <a:lnSpc>
                <a:spcPct val="150000"/>
              </a:lnSpc>
              <a:spcBef>
                <a:spcPts val="0"/>
              </a:spcBef>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电</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磁波在传播过程中，其电场矢量的方向和幅度随时间变化的状态</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电磁波的极化形</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式：线</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极化、圆极化和椭圆极化</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线极化的两种特殊情况</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lvl="1">
              <a:lnSpc>
                <a:spcPct val="150000"/>
              </a:lnSpc>
              <a:spcBef>
                <a:spcPts val="0"/>
              </a:spcBef>
            </a:pP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水平极化（电场方向平行于地面）</a:t>
            </a:r>
            <a:endPar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lvl="1">
              <a:lnSpc>
                <a:spcPct val="150000"/>
              </a:lnSpc>
              <a:spcBef>
                <a:spcPts val="0"/>
              </a:spcBef>
            </a:pPr>
            <a:endPar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lvl="1">
              <a:lnSpc>
                <a:spcPct val="150000"/>
              </a:lnSpc>
              <a:spcBef>
                <a:spcPts val="0"/>
              </a:spcBef>
            </a:pP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垂直极化（电场方向垂直于地面）</a:t>
            </a:r>
            <a:endPar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139268" name="Picture 4"/>
          <p:cNvPicPr>
            <a:picLocks noChangeAspect="1" noChangeArrowheads="1"/>
          </p:cNvPicPr>
          <p:nvPr/>
        </p:nvPicPr>
        <p:blipFill>
          <a:blip r:embed="rId1" cstate="print"/>
          <a:srcRect r="65315"/>
          <a:stretch>
            <a:fillRect/>
          </a:stretch>
        </p:blipFill>
        <p:spPr bwMode="auto">
          <a:xfrm>
            <a:off x="6228184" y="3973664"/>
            <a:ext cx="1656184" cy="1169837"/>
          </a:xfrm>
          <a:prstGeom prst="rect">
            <a:avLst/>
          </a:prstGeom>
          <a:noFill/>
          <a:ln w="9525">
            <a:noFill/>
            <a:miter lim="800000"/>
            <a:headEnd/>
            <a:tailEnd/>
          </a:ln>
          <a:effectLst/>
        </p:spPr>
      </p:pic>
      <p:pic>
        <p:nvPicPr>
          <p:cNvPr id="139269" name="Picture 5"/>
          <p:cNvPicPr>
            <a:picLocks noChangeAspect="1" noChangeArrowheads="1"/>
          </p:cNvPicPr>
          <p:nvPr/>
        </p:nvPicPr>
        <p:blipFill>
          <a:blip r:embed="rId1" cstate="print">
            <a:lum contrast="6000"/>
          </a:blip>
          <a:srcRect l="66306" t="537"/>
          <a:stretch>
            <a:fillRect/>
          </a:stretch>
        </p:blipFill>
        <p:spPr bwMode="auto">
          <a:xfrm>
            <a:off x="6012160" y="2733769"/>
            <a:ext cx="1663564" cy="1198289"/>
          </a:xfrm>
          <a:prstGeom prst="rect">
            <a:avLst/>
          </a:prstGeom>
          <a:solidFill>
            <a:srgbClr val="FFFF00">
              <a:alpha val="53999"/>
            </a:srgbClr>
          </a:solidFill>
          <a:ln w="9525">
            <a:noFill/>
            <a:miter lim="800000"/>
            <a:headEnd/>
            <a:tailEnd/>
          </a:ln>
          <a:effectLst/>
        </p:spPr>
      </p:pic>
      <p:pic>
        <p:nvPicPr>
          <p:cNvPr id="6" name="图片 5" descr="5bc6fc52-b49d-4298-b410-192e1f0ef3a5.gif"/>
          <p:cNvPicPr>
            <a:picLocks noChangeAspect="1"/>
          </p:cNvPicPr>
          <p:nvPr/>
        </p:nvPicPr>
        <p:blipFill>
          <a:blip r:embed="rId2" cstate="print"/>
          <a:srcRect l="14589" t="33821" r="11138" b="38327"/>
          <a:stretch>
            <a:fillRect/>
          </a:stretch>
        </p:blipFill>
        <p:spPr>
          <a:xfrm>
            <a:off x="0" y="0"/>
            <a:ext cx="2592288" cy="486054"/>
          </a:xfrm>
          <a:prstGeom prst="rect">
            <a:avLst/>
          </a:prstGeom>
        </p:spPr>
      </p:pic>
      <p:sp>
        <p:nvSpPr>
          <p:cNvPr id="10"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2.3.1  </a:t>
            </a:r>
            <a:r>
              <a:rPr lang="zh-CN" altLang="en-US" sz="4000" b="1" dirty="0" smtClean="0">
                <a:solidFill>
                  <a:srgbClr val="C00000"/>
                </a:solidFill>
                <a:effectLst>
                  <a:outerShdw blurRad="38100" dist="38100" dir="2700000" algn="tl">
                    <a:srgbClr val="C0C0C0"/>
                  </a:outerShdw>
                </a:effectLst>
              </a:rPr>
              <a:t>反射，（二）极化</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139267">
                                            <p:txEl>
                                              <p:pRg st="0" end="0"/>
                                            </p:txEl>
                                          </p:spTgt>
                                        </p:tgtEl>
                                        <p:attrNameLst>
                                          <p:attrName>style.visibility</p:attrName>
                                        </p:attrNameLst>
                                      </p:cBhvr>
                                      <p:to>
                                        <p:strVal val="visible"/>
                                      </p:to>
                                    </p:set>
                                    <p:anim calcmode="discrete" valueType="clr">
                                      <p:cBhvr override="childStyle">
                                        <p:cTn id="7" dur="80"/>
                                        <p:tgtEl>
                                          <p:spTgt spid="1392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926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3926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39267">
                                            <p:txEl>
                                              <p:pRg st="1" end="1"/>
                                            </p:txEl>
                                          </p:spTgt>
                                        </p:tgtEl>
                                        <p:attrNameLst>
                                          <p:attrName>style.visibility</p:attrName>
                                        </p:attrNameLst>
                                      </p:cBhvr>
                                      <p:to>
                                        <p:strVal val="visible"/>
                                      </p:to>
                                    </p:set>
                                    <p:anim calcmode="lin" valueType="num">
                                      <p:cBhvr>
                                        <p:cTn id="14" dur="1000" fill="hold"/>
                                        <p:tgtEl>
                                          <p:spTgt spid="13926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3926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3926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39267">
                                            <p:txEl>
                                              <p:pRg st="2" end="2"/>
                                            </p:txEl>
                                          </p:spTgt>
                                        </p:tgtEl>
                                        <p:attrNameLst>
                                          <p:attrName>style.visibility</p:attrName>
                                        </p:attrNameLst>
                                      </p:cBhvr>
                                      <p:to>
                                        <p:strVal val="visible"/>
                                      </p:to>
                                    </p:set>
                                    <p:anim calcmode="lin" valueType="num">
                                      <p:cBhvr>
                                        <p:cTn id="21" dur="1000" fill="hold"/>
                                        <p:tgtEl>
                                          <p:spTgt spid="139267">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39267">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3926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39267">
                                            <p:txEl>
                                              <p:pRg st="3" end="3"/>
                                            </p:txEl>
                                          </p:spTgt>
                                        </p:tgtEl>
                                        <p:attrNameLst>
                                          <p:attrName>style.visibility</p:attrName>
                                        </p:attrNameLst>
                                      </p:cBhvr>
                                      <p:to>
                                        <p:strVal val="visible"/>
                                      </p:to>
                                    </p:set>
                                    <p:anim calcmode="discrete" valueType="clr">
                                      <p:cBhvr override="childStyle">
                                        <p:cTn id="28" dur="80"/>
                                        <p:tgtEl>
                                          <p:spTgt spid="13926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39267">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139267">
                                            <p:txEl>
                                              <p:pRg st="3" end="3"/>
                                            </p:txEl>
                                          </p:spTgt>
                                        </p:tgtEl>
                                        <p:attrNameLst>
                                          <p:attrName>fill.type</p:attrName>
                                        </p:attrNameLst>
                                      </p:cBhvr>
                                      <p:to>
                                        <p:strVal val="solid"/>
                                      </p:to>
                                    </p:set>
                                  </p:childTnLst>
                                </p:cTn>
                              </p:par>
                            </p:childTnLst>
                          </p:cTn>
                        </p:par>
                        <p:par>
                          <p:cTn id="31" fill="hold">
                            <p:stCondLst>
                              <p:cond delay="639"/>
                            </p:stCondLst>
                            <p:childTnLst>
                              <p:par>
                                <p:cTn id="32" presetID="49" presetClass="entr" presetSubtype="0" decel="100000" fill="hold" nodeType="afterEffect">
                                  <p:stCondLst>
                                    <p:cond delay="0"/>
                                  </p:stCondLst>
                                  <p:childTnLst>
                                    <p:set>
                                      <p:cBhvr>
                                        <p:cTn id="33" dur="1" fill="hold">
                                          <p:stCondLst>
                                            <p:cond delay="0"/>
                                          </p:stCondLst>
                                        </p:cTn>
                                        <p:tgtEl>
                                          <p:spTgt spid="139269"/>
                                        </p:tgtEl>
                                        <p:attrNameLst>
                                          <p:attrName>style.visibility</p:attrName>
                                        </p:attrNameLst>
                                      </p:cBhvr>
                                      <p:to>
                                        <p:strVal val="visible"/>
                                      </p:to>
                                    </p:set>
                                    <p:anim calcmode="lin" valueType="num">
                                      <p:cBhvr>
                                        <p:cTn id="34" dur="500" fill="hold"/>
                                        <p:tgtEl>
                                          <p:spTgt spid="139269"/>
                                        </p:tgtEl>
                                        <p:attrNameLst>
                                          <p:attrName>ppt_w</p:attrName>
                                        </p:attrNameLst>
                                      </p:cBhvr>
                                      <p:tavLst>
                                        <p:tav tm="0">
                                          <p:val>
                                            <p:fltVal val="0"/>
                                          </p:val>
                                        </p:tav>
                                        <p:tav tm="100000">
                                          <p:val>
                                            <p:strVal val="#ppt_w"/>
                                          </p:val>
                                        </p:tav>
                                      </p:tavLst>
                                    </p:anim>
                                    <p:anim calcmode="lin" valueType="num">
                                      <p:cBhvr>
                                        <p:cTn id="35" dur="500" fill="hold"/>
                                        <p:tgtEl>
                                          <p:spTgt spid="139269"/>
                                        </p:tgtEl>
                                        <p:attrNameLst>
                                          <p:attrName>ppt_h</p:attrName>
                                        </p:attrNameLst>
                                      </p:cBhvr>
                                      <p:tavLst>
                                        <p:tav tm="0">
                                          <p:val>
                                            <p:fltVal val="0"/>
                                          </p:val>
                                        </p:tav>
                                        <p:tav tm="100000">
                                          <p:val>
                                            <p:strVal val="#ppt_h"/>
                                          </p:val>
                                        </p:tav>
                                      </p:tavLst>
                                    </p:anim>
                                    <p:anim calcmode="lin" valueType="num">
                                      <p:cBhvr>
                                        <p:cTn id="36" dur="500" fill="hold"/>
                                        <p:tgtEl>
                                          <p:spTgt spid="139269"/>
                                        </p:tgtEl>
                                        <p:attrNameLst>
                                          <p:attrName>style.rotation</p:attrName>
                                        </p:attrNameLst>
                                      </p:cBhvr>
                                      <p:tavLst>
                                        <p:tav tm="0">
                                          <p:val>
                                            <p:fltVal val="360"/>
                                          </p:val>
                                        </p:tav>
                                        <p:tav tm="100000">
                                          <p:val>
                                            <p:fltVal val="0"/>
                                          </p:val>
                                        </p:tav>
                                      </p:tavLst>
                                    </p:anim>
                                    <p:animEffect transition="in" filter="fade">
                                      <p:cBhvr>
                                        <p:cTn id="37" dur="500"/>
                                        <p:tgtEl>
                                          <p:spTgt spid="139269"/>
                                        </p:tgtEl>
                                      </p:cBhvr>
                                    </p:animEffect>
                                  </p:childTnLst>
                                </p:cTn>
                              </p:par>
                            </p:childTnLst>
                          </p:cTn>
                        </p:par>
                        <p:par>
                          <p:cTn id="38" fill="hold">
                            <p:stCondLst>
                              <p:cond delay="1139"/>
                            </p:stCondLst>
                            <p:childTnLst>
                              <p:par>
                                <p:cTn id="39" presetID="32" presetClass="emph" presetSubtype="0" repeatCount="indefinite" fill="hold" nodeType="afterEffect">
                                  <p:stCondLst>
                                    <p:cond delay="0"/>
                                  </p:stCondLst>
                                  <p:childTnLst>
                                    <p:animClr clrSpc="rgb" dir="cw">
                                      <p:cBhvr override="childStyle">
                                        <p:cTn id="40" dur="100" fill="hold"/>
                                        <p:tgtEl>
                                          <p:spTgt spid="139269"/>
                                        </p:tgtEl>
                                        <p:attrNameLst>
                                          <p:attrName>style.color</p:attrName>
                                        </p:attrNameLst>
                                      </p:cBhvr>
                                      <p:to>
                                        <a:schemeClr val="accent2"/>
                                      </p:to>
                                    </p:animClr>
                                    <p:animClr clrSpc="rgb" dir="cw">
                                      <p:cBhvr>
                                        <p:cTn id="41" dur="100" fill="hold"/>
                                        <p:tgtEl>
                                          <p:spTgt spid="139269"/>
                                        </p:tgtEl>
                                        <p:attrNameLst>
                                          <p:attrName>fillcolor</p:attrName>
                                        </p:attrNameLst>
                                      </p:cBhvr>
                                      <p:to>
                                        <a:schemeClr val="accent2"/>
                                      </p:to>
                                    </p:animClr>
                                    <p:set>
                                      <p:cBhvr>
                                        <p:cTn id="42" dur="100" fill="hold"/>
                                        <p:tgtEl>
                                          <p:spTgt spid="139269"/>
                                        </p:tgtEl>
                                        <p:attrNameLst>
                                          <p:attrName>fill.type</p:attrName>
                                        </p:attrNameLst>
                                      </p:cBhvr>
                                      <p:to>
                                        <p:strVal val="solid"/>
                                      </p:to>
                                    </p:set>
                                    <p:set>
                                      <p:cBhvr>
                                        <p:cTn id="43" dur="100" fill="hold"/>
                                        <p:tgtEl>
                                          <p:spTgt spid="139269"/>
                                        </p:tgtEl>
                                        <p:attrNameLst>
                                          <p:attrName>fill.on</p:attrName>
                                        </p:attrNameLst>
                                      </p:cBhvr>
                                      <p:to>
                                        <p:strVal val="true"/>
                                      </p:to>
                                    </p:set>
                                    <p:animRot by="120000">
                                      <p:cBhvr>
                                        <p:cTn id="44" dur="100" fill="hold">
                                          <p:stCondLst>
                                            <p:cond delay="0"/>
                                          </p:stCondLst>
                                        </p:cTn>
                                        <p:tgtEl>
                                          <p:spTgt spid="139269"/>
                                        </p:tgtEl>
                                        <p:attrNameLst>
                                          <p:attrName>r</p:attrName>
                                        </p:attrNameLst>
                                      </p:cBhvr>
                                    </p:animRot>
                                    <p:animRot by="-240000">
                                      <p:cBhvr>
                                        <p:cTn id="45" dur="200" fill="hold">
                                          <p:stCondLst>
                                            <p:cond delay="200"/>
                                          </p:stCondLst>
                                        </p:cTn>
                                        <p:tgtEl>
                                          <p:spTgt spid="139269"/>
                                        </p:tgtEl>
                                        <p:attrNameLst>
                                          <p:attrName>r</p:attrName>
                                        </p:attrNameLst>
                                      </p:cBhvr>
                                    </p:animRot>
                                    <p:animRot by="240000">
                                      <p:cBhvr>
                                        <p:cTn id="46" dur="200" fill="hold">
                                          <p:stCondLst>
                                            <p:cond delay="400"/>
                                          </p:stCondLst>
                                        </p:cTn>
                                        <p:tgtEl>
                                          <p:spTgt spid="139269"/>
                                        </p:tgtEl>
                                        <p:attrNameLst>
                                          <p:attrName>r</p:attrName>
                                        </p:attrNameLst>
                                      </p:cBhvr>
                                    </p:animRot>
                                    <p:animRot by="-240000">
                                      <p:cBhvr>
                                        <p:cTn id="47" dur="200" fill="hold">
                                          <p:stCondLst>
                                            <p:cond delay="600"/>
                                          </p:stCondLst>
                                        </p:cTn>
                                        <p:tgtEl>
                                          <p:spTgt spid="139269"/>
                                        </p:tgtEl>
                                        <p:attrNameLst>
                                          <p:attrName>r</p:attrName>
                                        </p:attrNameLst>
                                      </p:cBhvr>
                                    </p:animRot>
                                    <p:animRot by="120000">
                                      <p:cBhvr>
                                        <p:cTn id="48" dur="200" fill="hold">
                                          <p:stCondLst>
                                            <p:cond delay="800"/>
                                          </p:stCondLst>
                                        </p:cTn>
                                        <p:tgtEl>
                                          <p:spTgt spid="139269"/>
                                        </p:tgtEl>
                                        <p:attrNameLst>
                                          <p:attrName>r</p:attrName>
                                        </p:attrNameLst>
                                      </p:cBhvr>
                                    </p:animRot>
                                  </p:childTnLst>
                                </p:cTn>
                              </p:par>
                            </p:childTnLst>
                          </p:cTn>
                        </p:par>
                      </p:childTnLst>
                    </p:cTn>
                  </p:par>
                  <p:par>
                    <p:cTn id="49" fill="hold">
                      <p:stCondLst>
                        <p:cond delay="indefinite"/>
                      </p:stCondLst>
                      <p:childTnLst>
                        <p:par>
                          <p:cTn id="50" fill="hold">
                            <p:stCondLst>
                              <p:cond delay="0"/>
                            </p:stCondLst>
                            <p:childTnLst>
                              <p:par>
                                <p:cTn id="51" presetID="27" presetClass="entr" presetSubtype="0" fill="hold" nodeType="clickEffect">
                                  <p:stCondLst>
                                    <p:cond delay="0"/>
                                  </p:stCondLst>
                                  <p:iterate type="lt">
                                    <p:tmPct val="50000"/>
                                  </p:iterate>
                                  <p:childTnLst>
                                    <p:set>
                                      <p:cBhvr>
                                        <p:cTn id="52" dur="1" fill="hold">
                                          <p:stCondLst>
                                            <p:cond delay="0"/>
                                          </p:stCondLst>
                                        </p:cTn>
                                        <p:tgtEl>
                                          <p:spTgt spid="139267">
                                            <p:txEl>
                                              <p:pRg st="5" end="5"/>
                                            </p:txEl>
                                          </p:spTgt>
                                        </p:tgtEl>
                                        <p:attrNameLst>
                                          <p:attrName>style.visibility</p:attrName>
                                        </p:attrNameLst>
                                      </p:cBhvr>
                                      <p:to>
                                        <p:strVal val="visible"/>
                                      </p:to>
                                    </p:set>
                                    <p:anim calcmode="discrete" valueType="clr">
                                      <p:cBhvr override="childStyle">
                                        <p:cTn id="53" dur="80"/>
                                        <p:tgtEl>
                                          <p:spTgt spid="13926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4" dur="80"/>
                                        <p:tgtEl>
                                          <p:spTgt spid="139267">
                                            <p:txEl>
                                              <p:pRg st="5" end="5"/>
                                            </p:txEl>
                                          </p:spTgt>
                                        </p:tgtEl>
                                        <p:attrNameLst>
                                          <p:attrName>fillcolor</p:attrName>
                                        </p:attrNameLst>
                                      </p:cBhvr>
                                      <p:tavLst>
                                        <p:tav tm="0">
                                          <p:val>
                                            <p:clrVal>
                                              <a:schemeClr val="accent2"/>
                                            </p:clrVal>
                                          </p:val>
                                        </p:tav>
                                        <p:tav tm="50000">
                                          <p:val>
                                            <p:clrVal>
                                              <a:schemeClr val="hlink"/>
                                            </p:clrVal>
                                          </p:val>
                                        </p:tav>
                                      </p:tavLst>
                                    </p:anim>
                                    <p:set>
                                      <p:cBhvr>
                                        <p:cTn id="55" dur="80"/>
                                        <p:tgtEl>
                                          <p:spTgt spid="139267">
                                            <p:txEl>
                                              <p:pRg st="5" end="5"/>
                                            </p:txEl>
                                          </p:spTgt>
                                        </p:tgtEl>
                                        <p:attrNameLst>
                                          <p:attrName>fill.type</p:attrName>
                                        </p:attrNameLst>
                                      </p:cBhvr>
                                      <p:to>
                                        <p:strVal val="solid"/>
                                      </p:to>
                                    </p:set>
                                  </p:childTnLst>
                                </p:cTn>
                              </p:par>
                            </p:childTnLst>
                          </p:cTn>
                        </p:par>
                        <p:par>
                          <p:cTn id="56" fill="hold">
                            <p:stCondLst>
                              <p:cond delay="639"/>
                            </p:stCondLst>
                            <p:childTnLst>
                              <p:par>
                                <p:cTn id="57" presetID="49" presetClass="entr" presetSubtype="0" decel="100000" fill="hold" nodeType="afterEffect">
                                  <p:stCondLst>
                                    <p:cond delay="0"/>
                                  </p:stCondLst>
                                  <p:childTnLst>
                                    <p:set>
                                      <p:cBhvr>
                                        <p:cTn id="58" dur="1" fill="hold">
                                          <p:stCondLst>
                                            <p:cond delay="0"/>
                                          </p:stCondLst>
                                        </p:cTn>
                                        <p:tgtEl>
                                          <p:spTgt spid="139268"/>
                                        </p:tgtEl>
                                        <p:attrNameLst>
                                          <p:attrName>style.visibility</p:attrName>
                                        </p:attrNameLst>
                                      </p:cBhvr>
                                      <p:to>
                                        <p:strVal val="visible"/>
                                      </p:to>
                                    </p:set>
                                    <p:anim calcmode="lin" valueType="num">
                                      <p:cBhvr>
                                        <p:cTn id="59" dur="500" fill="hold"/>
                                        <p:tgtEl>
                                          <p:spTgt spid="139268"/>
                                        </p:tgtEl>
                                        <p:attrNameLst>
                                          <p:attrName>ppt_w</p:attrName>
                                        </p:attrNameLst>
                                      </p:cBhvr>
                                      <p:tavLst>
                                        <p:tav tm="0">
                                          <p:val>
                                            <p:fltVal val="0"/>
                                          </p:val>
                                        </p:tav>
                                        <p:tav tm="100000">
                                          <p:val>
                                            <p:strVal val="#ppt_w"/>
                                          </p:val>
                                        </p:tav>
                                      </p:tavLst>
                                    </p:anim>
                                    <p:anim calcmode="lin" valueType="num">
                                      <p:cBhvr>
                                        <p:cTn id="60" dur="500" fill="hold"/>
                                        <p:tgtEl>
                                          <p:spTgt spid="139268"/>
                                        </p:tgtEl>
                                        <p:attrNameLst>
                                          <p:attrName>ppt_h</p:attrName>
                                        </p:attrNameLst>
                                      </p:cBhvr>
                                      <p:tavLst>
                                        <p:tav tm="0">
                                          <p:val>
                                            <p:fltVal val="0"/>
                                          </p:val>
                                        </p:tav>
                                        <p:tav tm="100000">
                                          <p:val>
                                            <p:strVal val="#ppt_h"/>
                                          </p:val>
                                        </p:tav>
                                      </p:tavLst>
                                    </p:anim>
                                    <p:anim calcmode="lin" valueType="num">
                                      <p:cBhvr>
                                        <p:cTn id="61" dur="500" fill="hold"/>
                                        <p:tgtEl>
                                          <p:spTgt spid="139268"/>
                                        </p:tgtEl>
                                        <p:attrNameLst>
                                          <p:attrName>style.rotation</p:attrName>
                                        </p:attrNameLst>
                                      </p:cBhvr>
                                      <p:tavLst>
                                        <p:tav tm="0">
                                          <p:val>
                                            <p:fltVal val="360"/>
                                          </p:val>
                                        </p:tav>
                                        <p:tav tm="100000">
                                          <p:val>
                                            <p:fltVal val="0"/>
                                          </p:val>
                                        </p:tav>
                                      </p:tavLst>
                                    </p:anim>
                                    <p:animEffect transition="in" filter="fade">
                                      <p:cBhvr>
                                        <p:cTn id="62" dur="500"/>
                                        <p:tgtEl>
                                          <p:spTgt spid="139268"/>
                                        </p:tgtEl>
                                      </p:cBhvr>
                                    </p:animEffect>
                                  </p:childTnLst>
                                </p:cTn>
                              </p:par>
                            </p:childTnLst>
                          </p:cTn>
                        </p:par>
                        <p:par>
                          <p:cTn id="63" fill="hold">
                            <p:stCondLst>
                              <p:cond delay="1139"/>
                            </p:stCondLst>
                            <p:childTnLst>
                              <p:par>
                                <p:cTn id="64" presetID="32" presetClass="emph" presetSubtype="0" repeatCount="indefinite" fill="hold" nodeType="afterEffect">
                                  <p:stCondLst>
                                    <p:cond delay="0"/>
                                  </p:stCondLst>
                                  <p:childTnLst>
                                    <p:animClr clrSpc="rgb" dir="cw">
                                      <p:cBhvr override="childStyle">
                                        <p:cTn id="65" dur="100" fill="hold"/>
                                        <p:tgtEl>
                                          <p:spTgt spid="139268"/>
                                        </p:tgtEl>
                                        <p:attrNameLst>
                                          <p:attrName>style.color</p:attrName>
                                        </p:attrNameLst>
                                      </p:cBhvr>
                                      <p:to>
                                        <a:schemeClr val="accent2"/>
                                      </p:to>
                                    </p:animClr>
                                    <p:animClr clrSpc="rgb" dir="cw">
                                      <p:cBhvr>
                                        <p:cTn id="66" dur="100" fill="hold"/>
                                        <p:tgtEl>
                                          <p:spTgt spid="139268"/>
                                        </p:tgtEl>
                                        <p:attrNameLst>
                                          <p:attrName>fillcolor</p:attrName>
                                        </p:attrNameLst>
                                      </p:cBhvr>
                                      <p:to>
                                        <a:schemeClr val="accent2"/>
                                      </p:to>
                                    </p:animClr>
                                    <p:set>
                                      <p:cBhvr>
                                        <p:cTn id="67" dur="100" fill="hold"/>
                                        <p:tgtEl>
                                          <p:spTgt spid="139268"/>
                                        </p:tgtEl>
                                        <p:attrNameLst>
                                          <p:attrName>fill.type</p:attrName>
                                        </p:attrNameLst>
                                      </p:cBhvr>
                                      <p:to>
                                        <p:strVal val="solid"/>
                                      </p:to>
                                    </p:set>
                                    <p:set>
                                      <p:cBhvr>
                                        <p:cTn id="68" dur="100" fill="hold"/>
                                        <p:tgtEl>
                                          <p:spTgt spid="139268"/>
                                        </p:tgtEl>
                                        <p:attrNameLst>
                                          <p:attrName>fill.on</p:attrName>
                                        </p:attrNameLst>
                                      </p:cBhvr>
                                      <p:to>
                                        <p:strVal val="true"/>
                                      </p:to>
                                    </p:set>
                                    <p:animRot by="120000">
                                      <p:cBhvr>
                                        <p:cTn id="69" dur="100" fill="hold">
                                          <p:stCondLst>
                                            <p:cond delay="0"/>
                                          </p:stCondLst>
                                        </p:cTn>
                                        <p:tgtEl>
                                          <p:spTgt spid="139268"/>
                                        </p:tgtEl>
                                        <p:attrNameLst>
                                          <p:attrName>r</p:attrName>
                                        </p:attrNameLst>
                                      </p:cBhvr>
                                    </p:animRot>
                                    <p:animRot by="-240000">
                                      <p:cBhvr>
                                        <p:cTn id="70" dur="200" fill="hold">
                                          <p:stCondLst>
                                            <p:cond delay="200"/>
                                          </p:stCondLst>
                                        </p:cTn>
                                        <p:tgtEl>
                                          <p:spTgt spid="139268"/>
                                        </p:tgtEl>
                                        <p:attrNameLst>
                                          <p:attrName>r</p:attrName>
                                        </p:attrNameLst>
                                      </p:cBhvr>
                                    </p:animRot>
                                    <p:animRot by="240000">
                                      <p:cBhvr>
                                        <p:cTn id="71" dur="200" fill="hold">
                                          <p:stCondLst>
                                            <p:cond delay="400"/>
                                          </p:stCondLst>
                                        </p:cTn>
                                        <p:tgtEl>
                                          <p:spTgt spid="139268"/>
                                        </p:tgtEl>
                                        <p:attrNameLst>
                                          <p:attrName>r</p:attrName>
                                        </p:attrNameLst>
                                      </p:cBhvr>
                                    </p:animRot>
                                    <p:animRot by="-240000">
                                      <p:cBhvr>
                                        <p:cTn id="72" dur="200" fill="hold">
                                          <p:stCondLst>
                                            <p:cond delay="600"/>
                                          </p:stCondLst>
                                        </p:cTn>
                                        <p:tgtEl>
                                          <p:spTgt spid="139268"/>
                                        </p:tgtEl>
                                        <p:attrNameLst>
                                          <p:attrName>r</p:attrName>
                                        </p:attrNameLst>
                                      </p:cBhvr>
                                    </p:animRot>
                                    <p:animRot by="120000">
                                      <p:cBhvr>
                                        <p:cTn id="73" dur="200" fill="hold">
                                          <p:stCondLst>
                                            <p:cond delay="800"/>
                                          </p:stCondLst>
                                        </p:cTn>
                                        <p:tgtEl>
                                          <p:spTgt spid="13926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Rot="1" noChangeArrowheads="1"/>
          </p:cNvSpPr>
          <p:nvPr>
            <p:ph type="body" sz="half" idx="1"/>
          </p:nvPr>
        </p:nvSpPr>
        <p:spPr>
          <a:xfrm>
            <a:off x="395536" y="1005576"/>
            <a:ext cx="8291512" cy="4000500"/>
          </a:xfrm>
        </p:spPr>
        <p:txBody>
          <a:bodyPr>
            <a:noAutofit/>
          </a:bodyPr>
          <a:lstStyle/>
          <a:p>
            <a:pPr marL="0">
              <a:lnSpc>
                <a:spcPct val="150000"/>
              </a:lnSpc>
              <a:spcBef>
                <a:spcPts val="0"/>
              </a:spcBef>
            </a:pPr>
            <a:r>
              <a:rPr lang="zh-CN" altLang="en-US" sz="2400" b="1" dirty="0" smtClean="0">
                <a:solidFill>
                  <a:srgbClr val="0070C0"/>
                </a:solidFill>
                <a:latin typeface="宋体" panose="02010600030101010101" pitchFamily="2" charset="-122"/>
                <a:ea typeface="宋体" panose="02010600030101010101" pitchFamily="2" charset="-122"/>
              </a:rPr>
              <a:t>移动传播环境是复杂的，实际上存在众多反射波，为了使问题简化，首先考虑两</a:t>
            </a:r>
            <a:r>
              <a:rPr lang="zh-CN" altLang="en-US" sz="2400" b="1" dirty="0">
                <a:solidFill>
                  <a:srgbClr val="0070C0"/>
                </a:solidFill>
                <a:latin typeface="宋体" panose="02010600030101010101" pitchFamily="2" charset="-122"/>
                <a:ea typeface="宋体" panose="02010600030101010101" pitchFamily="2" charset="-122"/>
              </a:rPr>
              <a:t>径传播模型</a:t>
            </a:r>
            <a:endParaRPr lang="zh-CN" altLang="en-US" sz="2400" b="1" dirty="0">
              <a:solidFill>
                <a:srgbClr val="0070C0"/>
              </a:solidFill>
              <a:latin typeface="宋体" panose="02010600030101010101" pitchFamily="2" charset="-122"/>
              <a:ea typeface="宋体" panose="02010600030101010101" pitchFamily="2" charset="-122"/>
            </a:endParaRPr>
          </a:p>
          <a:p>
            <a:pPr marL="0">
              <a:lnSpc>
                <a:spcPct val="150000"/>
              </a:lnSpc>
              <a:spcBef>
                <a:spcPts val="0"/>
              </a:spcBef>
            </a:pPr>
            <a:r>
              <a:rPr lang="zh-CN" altLang="en-US" sz="2400" b="1" dirty="0">
                <a:solidFill>
                  <a:srgbClr val="0070C0"/>
                </a:solidFill>
                <a:latin typeface="宋体" panose="02010600030101010101" pitchFamily="2" charset="-122"/>
                <a:ea typeface="宋体" panose="02010600030101010101" pitchFamily="2" charset="-122"/>
              </a:rPr>
              <a:t>	接收信号功率</a:t>
            </a:r>
            <a:endParaRPr lang="zh-CN" altLang="en-US" sz="2400" b="1" dirty="0">
              <a:solidFill>
                <a:srgbClr val="0070C0"/>
              </a:solidFill>
              <a:latin typeface="宋体" panose="02010600030101010101" pitchFamily="2" charset="-122"/>
              <a:ea typeface="宋体" panose="02010600030101010101" pitchFamily="2" charset="-122"/>
            </a:endParaRPr>
          </a:p>
          <a:p>
            <a:pPr marL="0">
              <a:lnSpc>
                <a:spcPct val="150000"/>
              </a:lnSpc>
              <a:spcBef>
                <a:spcPts val="0"/>
              </a:spcBef>
            </a:pP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简</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化</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后</a:t>
            </a:r>
            <a:endPar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rPr>
              <a:t>                </a:t>
            </a:r>
            <a:endPar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相位差：</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endParaRPr lang="zh-CN" altLang="en-US" sz="2400" b="1" dirty="0">
              <a:latin typeface="宋体" panose="02010600030101010101" pitchFamily="2" charset="-122"/>
              <a:ea typeface="宋体" panose="02010600030101010101" pitchFamily="2" charset="-122"/>
            </a:endParaRPr>
          </a:p>
        </p:txBody>
      </p:sp>
      <p:graphicFrame>
        <p:nvGraphicFramePr>
          <p:cNvPr id="140292" name="Object 4"/>
          <p:cNvGraphicFramePr>
            <a:graphicFrameLocks noChangeAspect="1"/>
          </p:cNvGraphicFramePr>
          <p:nvPr>
            <p:ph sz="quarter" idx="2"/>
          </p:nvPr>
        </p:nvGraphicFramePr>
        <p:xfrm>
          <a:off x="611560" y="1923679"/>
          <a:ext cx="8302048" cy="532730"/>
        </p:xfrm>
        <a:graphic>
          <a:graphicData uri="http://schemas.openxmlformats.org/presentationml/2006/ole">
            <mc:AlternateContent xmlns:mc="http://schemas.openxmlformats.org/markup-compatibility/2006">
              <mc:Choice xmlns:v="urn:schemas-microsoft-com:vml" Requires="v">
                <p:oleObj spid="_x0000_s8193" name="Equation" r:id="rId1" imgW="78638400" imgH="11277600" progId="">
                  <p:embed/>
                </p:oleObj>
              </mc:Choice>
              <mc:Fallback>
                <p:oleObj name="Equation" r:id="rId1" imgW="78638400" imgH="11277600" progId="">
                  <p:embed/>
                  <p:pic>
                    <p:nvPicPr>
                      <p:cNvPr id="0" name="图片 8192" descr="image31"/>
                      <p:cNvPicPr>
                        <a:picLocks noChangeAspect="1"/>
                      </p:cNvPicPr>
                      <p:nvPr/>
                    </p:nvPicPr>
                    <p:blipFill>
                      <a:blip r:embed="rId2"/>
                      <a:stretch>
                        <a:fillRect/>
                      </a:stretch>
                    </p:blipFill>
                    <p:spPr>
                      <a:xfrm>
                        <a:off x="611560" y="1923679"/>
                        <a:ext cx="8302048" cy="532730"/>
                      </a:xfrm>
                      <a:prstGeom prst="rect">
                        <a:avLst/>
                      </a:prstGeom>
                      <a:solidFill>
                        <a:srgbClr val="FFFFFF"/>
                      </a:solidFill>
                      <a:ln w="9525">
                        <a:noFill/>
                      </a:ln>
                    </p:spPr>
                  </p:pic>
                </p:oleObj>
              </mc:Fallback>
            </mc:AlternateContent>
          </a:graphicData>
        </a:graphic>
      </p:graphicFrame>
      <p:graphicFrame>
        <p:nvGraphicFramePr>
          <p:cNvPr id="140293" name="Object 5"/>
          <p:cNvGraphicFramePr>
            <a:graphicFrameLocks noChangeAspect="1"/>
          </p:cNvGraphicFramePr>
          <p:nvPr>
            <p:ph sz="quarter" idx="3"/>
          </p:nvPr>
        </p:nvGraphicFramePr>
        <p:xfrm>
          <a:off x="2699792" y="2625756"/>
          <a:ext cx="5760850" cy="598643"/>
        </p:xfrm>
        <a:graphic>
          <a:graphicData uri="http://schemas.openxmlformats.org/presentationml/2006/ole">
            <mc:AlternateContent xmlns:mc="http://schemas.openxmlformats.org/markup-compatibility/2006">
              <mc:Choice xmlns:v="urn:schemas-microsoft-com:vml" Requires="v">
                <p:oleObj spid="_x0000_s8194" name="Equation" r:id="rId3" imgW="48768000" imgH="11277600" progId="">
                  <p:embed/>
                </p:oleObj>
              </mc:Choice>
              <mc:Fallback>
                <p:oleObj name="Equation" r:id="rId3" imgW="48768000" imgH="11277600" progId="">
                  <p:embed/>
                  <p:pic>
                    <p:nvPicPr>
                      <p:cNvPr id="0" name="图片 8193" descr="image32"/>
                      <p:cNvPicPr>
                        <a:picLocks noChangeAspect="1"/>
                      </p:cNvPicPr>
                      <p:nvPr/>
                    </p:nvPicPr>
                    <p:blipFill>
                      <a:blip r:embed="rId4"/>
                      <a:stretch>
                        <a:fillRect/>
                      </a:stretch>
                    </p:blipFill>
                    <p:spPr>
                      <a:xfrm>
                        <a:off x="2699792" y="2625756"/>
                        <a:ext cx="5760850" cy="598643"/>
                      </a:xfrm>
                      <a:prstGeom prst="rect">
                        <a:avLst/>
                      </a:prstGeom>
                      <a:solidFill>
                        <a:srgbClr val="FFFFFF"/>
                      </a:solidFill>
                      <a:ln w="9525">
                        <a:noFill/>
                      </a:ln>
                    </p:spPr>
                  </p:pic>
                </p:oleObj>
              </mc:Fallback>
            </mc:AlternateContent>
          </a:graphicData>
        </a:graphic>
      </p:graphicFrame>
      <p:pic>
        <p:nvPicPr>
          <p:cNvPr id="140294" name="Picture 6"/>
          <p:cNvPicPr>
            <a:picLocks noChangeAspect="1" noChangeArrowheads="1"/>
          </p:cNvPicPr>
          <p:nvPr/>
        </p:nvPicPr>
        <p:blipFill>
          <a:blip r:embed="rId5" cstate="print"/>
          <a:srcRect/>
          <a:stretch>
            <a:fillRect/>
          </a:stretch>
        </p:blipFill>
        <p:spPr bwMode="auto">
          <a:xfrm>
            <a:off x="971600" y="3381840"/>
            <a:ext cx="4916548" cy="1761660"/>
          </a:xfrm>
          <a:prstGeom prst="rect">
            <a:avLst/>
          </a:prstGeom>
          <a:solidFill>
            <a:srgbClr val="FFFF99"/>
          </a:solidFill>
          <a:ln w="9525">
            <a:noFill/>
            <a:miter lim="800000"/>
            <a:headEnd/>
            <a:tailEnd/>
          </a:ln>
        </p:spPr>
      </p:pic>
      <p:pic>
        <p:nvPicPr>
          <p:cNvPr id="10" name="图片 9" descr="5bc6fc52-b49d-4298-b410-192e1f0ef3a5.gif"/>
          <p:cNvPicPr>
            <a:picLocks noChangeAspect="1"/>
          </p:cNvPicPr>
          <p:nvPr/>
        </p:nvPicPr>
        <p:blipFill>
          <a:blip r:embed="rId6" cstate="print"/>
          <a:srcRect l="14589" t="33821" r="11138" b="38327"/>
          <a:stretch>
            <a:fillRect/>
          </a:stretch>
        </p:blipFill>
        <p:spPr>
          <a:xfrm>
            <a:off x="0" y="0"/>
            <a:ext cx="2592288" cy="486054"/>
          </a:xfrm>
          <a:prstGeom prst="rect">
            <a:avLst/>
          </a:prstGeom>
        </p:spPr>
      </p:pic>
      <p:sp>
        <p:nvSpPr>
          <p:cNvPr id="11"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2.3.1  </a:t>
            </a:r>
            <a:r>
              <a:rPr lang="zh-CN" altLang="en-US" sz="4000" b="1" dirty="0" smtClean="0">
                <a:solidFill>
                  <a:srgbClr val="C00000"/>
                </a:solidFill>
                <a:effectLst>
                  <a:outerShdw blurRad="38100" dist="38100" dir="2700000" algn="tl">
                    <a:srgbClr val="C0C0C0"/>
                  </a:outerShdw>
                </a:effectLst>
              </a:rPr>
              <a:t>反射，（三）两径模型</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graphicFrame>
        <p:nvGraphicFramePr>
          <p:cNvPr id="4100" name="Object 4"/>
          <p:cNvGraphicFramePr>
            <a:graphicFrameLocks noChangeAspect="1"/>
          </p:cNvGraphicFramePr>
          <p:nvPr/>
        </p:nvGraphicFramePr>
        <p:xfrm>
          <a:off x="7164288" y="3381841"/>
          <a:ext cx="1512168" cy="590690"/>
        </p:xfrm>
        <a:graphic>
          <a:graphicData uri="http://schemas.openxmlformats.org/presentationml/2006/ole">
            <mc:AlternateContent xmlns:mc="http://schemas.openxmlformats.org/markup-compatibility/2006">
              <mc:Choice xmlns:v="urn:schemas-microsoft-com:vml" Requires="v">
                <p:oleObj spid="_x0000_s8195" name="Equation" r:id="rId7" imgW="18897600" imgH="9753600" progId="">
                  <p:embed/>
                </p:oleObj>
              </mc:Choice>
              <mc:Fallback>
                <p:oleObj name="Equation" r:id="rId7" imgW="18897600" imgH="9753600" progId="">
                  <p:embed/>
                  <p:pic>
                    <p:nvPicPr>
                      <p:cNvPr id="0" name="图片 8194" descr="image33"/>
                      <p:cNvPicPr>
                        <a:picLocks noChangeAspect="1"/>
                      </p:cNvPicPr>
                      <p:nvPr/>
                    </p:nvPicPr>
                    <p:blipFill>
                      <a:blip r:embed="rId8"/>
                      <a:stretch>
                        <a:fillRect/>
                      </a:stretch>
                    </p:blipFill>
                    <p:spPr>
                      <a:xfrm>
                        <a:off x="7164288" y="3381841"/>
                        <a:ext cx="1512168" cy="590690"/>
                      </a:xfrm>
                      <a:prstGeom prst="rect">
                        <a:avLst/>
                      </a:prstGeom>
                      <a:solidFill>
                        <a:srgbClr val="FFFFFF"/>
                      </a:solidFill>
                      <a:ln w="9525">
                        <a:noFill/>
                      </a:ln>
                    </p:spPr>
                  </p:pic>
                </p:oleObj>
              </mc:Fallback>
            </mc:AlternateContent>
          </a:graphicData>
        </a:graphic>
      </p:graphicFrame>
      <p:graphicFrame>
        <p:nvGraphicFramePr>
          <p:cNvPr id="4101" name="Object 5"/>
          <p:cNvGraphicFramePr>
            <a:graphicFrameLocks noChangeAspect="1"/>
          </p:cNvGraphicFramePr>
          <p:nvPr/>
        </p:nvGraphicFramePr>
        <p:xfrm>
          <a:off x="5734050" y="4245937"/>
          <a:ext cx="3409950" cy="382190"/>
        </p:xfrm>
        <a:graphic>
          <a:graphicData uri="http://schemas.openxmlformats.org/presentationml/2006/ole">
            <mc:AlternateContent xmlns:mc="http://schemas.openxmlformats.org/markup-compatibility/2006">
              <mc:Choice xmlns:v="urn:schemas-microsoft-com:vml" Requires="v">
                <p:oleObj spid="_x0000_s8196" name="" r:id="rId9" imgW="32004000" imgH="4876800" progId="">
                  <p:embed/>
                </p:oleObj>
              </mc:Choice>
              <mc:Fallback>
                <p:oleObj name="" r:id="rId9" imgW="32004000" imgH="4876800" progId="">
                  <p:embed/>
                  <p:pic>
                    <p:nvPicPr>
                      <p:cNvPr id="0" name="图片 8195" descr="image34"/>
                      <p:cNvPicPr>
                        <a:picLocks noChangeAspect="1"/>
                      </p:cNvPicPr>
                      <p:nvPr/>
                    </p:nvPicPr>
                    <p:blipFill>
                      <a:blip r:embed="rId10"/>
                      <a:stretch>
                        <a:fillRect/>
                      </a:stretch>
                    </p:blipFill>
                    <p:spPr>
                      <a:xfrm>
                        <a:off x="5734050" y="4245937"/>
                        <a:ext cx="3409950" cy="382190"/>
                      </a:xfrm>
                      <a:prstGeom prst="rect">
                        <a:avLst/>
                      </a:prstGeom>
                      <a:solidFill>
                        <a:srgbClr val="FFFFFF"/>
                      </a:solid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 calcmode="lin" valueType="num">
                                      <p:cBhvr>
                                        <p:cTn id="7" dur="1000" fill="hold"/>
                                        <p:tgtEl>
                                          <p:spTgt spid="14029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4029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4029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3" presetClass="entr" presetSubtype="0" fill="hold" nodeType="clickEffect">
                                  <p:stCondLst>
                                    <p:cond delay="0"/>
                                  </p:stCondLst>
                                  <p:childTnLst>
                                    <p:set>
                                      <p:cBhvr>
                                        <p:cTn id="13" dur="1" fill="hold">
                                          <p:stCondLst>
                                            <p:cond delay="0"/>
                                          </p:stCondLst>
                                        </p:cTn>
                                        <p:tgtEl>
                                          <p:spTgt spid="140294"/>
                                        </p:tgtEl>
                                        <p:attrNameLst>
                                          <p:attrName>style.visibility</p:attrName>
                                        </p:attrNameLst>
                                      </p:cBhvr>
                                      <p:to>
                                        <p:strVal val="visible"/>
                                      </p:to>
                                    </p:set>
                                    <p:animEffect transition="in" filter="fade">
                                      <p:cBhvr>
                                        <p:cTn id="14" dur="100"/>
                                        <p:tgtEl>
                                          <p:spTgt spid="140294"/>
                                        </p:tgtEl>
                                      </p:cBhvr>
                                    </p:animEffect>
                                    <p:anim calcmode="lin" valueType="num">
                                      <p:cBhvr>
                                        <p:cTn id="15" dur="400" fill="hold"/>
                                        <p:tgtEl>
                                          <p:spTgt spid="140294"/>
                                        </p:tgtEl>
                                        <p:attrNameLst>
                                          <p:attrName>ppt_x</p:attrName>
                                        </p:attrNameLst>
                                      </p:cBhvr>
                                      <p:tavLst>
                                        <p:tav tm="0">
                                          <p:val>
                                            <p:strVal val="#ppt_x"/>
                                          </p:val>
                                        </p:tav>
                                        <p:tav tm="100000">
                                          <p:val>
                                            <p:strVal val="#ppt_x"/>
                                          </p:val>
                                        </p:tav>
                                      </p:tavLst>
                                    </p:anim>
                                    <p:anim calcmode="lin" valueType="num">
                                      <p:cBhvr>
                                        <p:cTn id="16" dur="400" fill="hold"/>
                                        <p:tgtEl>
                                          <p:spTgt spid="140294"/>
                                        </p:tgtEl>
                                        <p:attrNameLst>
                                          <p:attrName>ppt_y</p:attrName>
                                        </p:attrNameLst>
                                      </p:cBhvr>
                                      <p:tavLst>
                                        <p:tav tm="0">
                                          <p:val>
                                            <p:strVal val="#ppt_y+0.31"/>
                                          </p:val>
                                        </p:tav>
                                        <p:tav tm="100000">
                                          <p:val>
                                            <p:strVal val="#ppt_y+0.31"/>
                                          </p:val>
                                        </p:tav>
                                      </p:tavLst>
                                    </p:anim>
                                    <p:anim calcmode="lin" valueType="num">
                                      <p:cBhvr>
                                        <p:cTn id="17" dur="600" decel="50000" fill="hold">
                                          <p:stCondLst>
                                            <p:cond delay="400"/>
                                          </p:stCondLst>
                                        </p:cTn>
                                        <p:tgtEl>
                                          <p:spTgt spid="14029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8" dur="600" decel="50000" fill="hold">
                                          <p:stCondLst>
                                            <p:cond delay="400"/>
                                          </p:stCondLst>
                                        </p:cTn>
                                        <p:tgtEl>
                                          <p:spTgt spid="14029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7" presetClass="entr" presetSubtype="0" fill="hold" nodeType="clickEffect">
                                  <p:stCondLst>
                                    <p:cond delay="0"/>
                                  </p:stCondLst>
                                  <p:iterate type="lt">
                                    <p:tmPct val="50000"/>
                                  </p:iterate>
                                  <p:childTnLst>
                                    <p:set>
                                      <p:cBhvr>
                                        <p:cTn id="22" dur="1" fill="hold">
                                          <p:stCondLst>
                                            <p:cond delay="0"/>
                                          </p:stCondLst>
                                        </p:cTn>
                                        <p:tgtEl>
                                          <p:spTgt spid="140291">
                                            <p:txEl>
                                              <p:pRg st="1" end="1"/>
                                            </p:txEl>
                                          </p:spTgt>
                                        </p:tgtEl>
                                        <p:attrNameLst>
                                          <p:attrName>style.visibility</p:attrName>
                                        </p:attrNameLst>
                                      </p:cBhvr>
                                      <p:to>
                                        <p:strVal val="visible"/>
                                      </p:to>
                                    </p:set>
                                    <p:anim calcmode="discrete" valueType="clr">
                                      <p:cBhvr override="childStyle">
                                        <p:cTn id="23" dur="80"/>
                                        <p:tgtEl>
                                          <p:spTgt spid="14029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40291">
                                            <p:txEl>
                                              <p:pRg st="1" end="1"/>
                                            </p:txEl>
                                          </p:spTgt>
                                        </p:tgtEl>
                                        <p:attrNameLst>
                                          <p:attrName>fillcolor</p:attrName>
                                        </p:attrNameLst>
                                      </p:cBhvr>
                                      <p:tavLst>
                                        <p:tav tm="0">
                                          <p:val>
                                            <p:clrVal>
                                              <a:schemeClr val="accent2"/>
                                            </p:clrVal>
                                          </p:val>
                                        </p:tav>
                                        <p:tav tm="50000">
                                          <p:val>
                                            <p:clrVal>
                                              <a:schemeClr val="hlink"/>
                                            </p:clrVal>
                                          </p:val>
                                        </p:tav>
                                      </p:tavLst>
                                    </p:anim>
                                    <p:set>
                                      <p:cBhvr>
                                        <p:cTn id="25" dur="80"/>
                                        <p:tgtEl>
                                          <p:spTgt spid="140291">
                                            <p:txEl>
                                              <p:pRg st="1" end="1"/>
                                            </p:txEl>
                                          </p:spTgt>
                                        </p:tgtEl>
                                        <p:attrNameLst>
                                          <p:attrName>fill.type</p:attrName>
                                        </p:attrNameLst>
                                      </p:cBhvr>
                                      <p:to>
                                        <p:strVal val="solid"/>
                                      </p:to>
                                    </p:set>
                                  </p:childTnLst>
                                </p:cTn>
                              </p:par>
                            </p:childTnLst>
                          </p:cTn>
                        </p:par>
                        <p:par>
                          <p:cTn id="26" fill="hold">
                            <p:stCondLst>
                              <p:cond delay="319"/>
                            </p:stCondLst>
                            <p:childTnLst>
                              <p:par>
                                <p:cTn id="27" presetID="55" presetClass="entr" presetSubtype="0" fill="hold" nodeType="afterEffect">
                                  <p:stCondLst>
                                    <p:cond delay="0"/>
                                  </p:stCondLst>
                                  <p:childTnLst>
                                    <p:set>
                                      <p:cBhvr>
                                        <p:cTn id="28" dur="1" fill="hold">
                                          <p:stCondLst>
                                            <p:cond delay="0"/>
                                          </p:stCondLst>
                                        </p:cTn>
                                        <p:tgtEl>
                                          <p:spTgt spid="140292"/>
                                        </p:tgtEl>
                                        <p:attrNameLst>
                                          <p:attrName>style.visibility</p:attrName>
                                        </p:attrNameLst>
                                      </p:cBhvr>
                                      <p:to>
                                        <p:strVal val="visible"/>
                                      </p:to>
                                    </p:set>
                                    <p:anim calcmode="lin" valueType="num">
                                      <p:cBhvr>
                                        <p:cTn id="29" dur="1000" fill="hold"/>
                                        <p:tgtEl>
                                          <p:spTgt spid="140292"/>
                                        </p:tgtEl>
                                        <p:attrNameLst>
                                          <p:attrName>ppt_w</p:attrName>
                                        </p:attrNameLst>
                                      </p:cBhvr>
                                      <p:tavLst>
                                        <p:tav tm="0">
                                          <p:val>
                                            <p:strVal val="#ppt_w*0.70"/>
                                          </p:val>
                                        </p:tav>
                                        <p:tav tm="100000">
                                          <p:val>
                                            <p:strVal val="#ppt_w"/>
                                          </p:val>
                                        </p:tav>
                                      </p:tavLst>
                                    </p:anim>
                                    <p:anim calcmode="lin" valueType="num">
                                      <p:cBhvr>
                                        <p:cTn id="30" dur="1000" fill="hold"/>
                                        <p:tgtEl>
                                          <p:spTgt spid="140292"/>
                                        </p:tgtEl>
                                        <p:attrNameLst>
                                          <p:attrName>ppt_h</p:attrName>
                                        </p:attrNameLst>
                                      </p:cBhvr>
                                      <p:tavLst>
                                        <p:tav tm="0">
                                          <p:val>
                                            <p:strVal val="#ppt_h"/>
                                          </p:val>
                                        </p:tav>
                                        <p:tav tm="100000">
                                          <p:val>
                                            <p:strVal val="#ppt_h"/>
                                          </p:val>
                                        </p:tav>
                                      </p:tavLst>
                                    </p:anim>
                                    <p:animEffect transition="in" filter="fade">
                                      <p:cBhvr>
                                        <p:cTn id="31" dur="1000"/>
                                        <p:tgtEl>
                                          <p:spTgt spid="140292"/>
                                        </p:tgtEl>
                                      </p:cBhvr>
                                    </p:animEffec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nodeType="clickEffect">
                                  <p:stCondLst>
                                    <p:cond delay="0"/>
                                  </p:stCondLst>
                                  <p:iterate type="lt">
                                    <p:tmPct val="50000"/>
                                  </p:iterate>
                                  <p:childTnLst>
                                    <p:set>
                                      <p:cBhvr>
                                        <p:cTn id="35" dur="1" fill="hold">
                                          <p:stCondLst>
                                            <p:cond delay="0"/>
                                          </p:stCondLst>
                                        </p:cTn>
                                        <p:tgtEl>
                                          <p:spTgt spid="140291">
                                            <p:txEl>
                                              <p:pRg st="3" end="3"/>
                                            </p:txEl>
                                          </p:spTgt>
                                        </p:tgtEl>
                                        <p:attrNameLst>
                                          <p:attrName>style.visibility</p:attrName>
                                        </p:attrNameLst>
                                      </p:cBhvr>
                                      <p:to>
                                        <p:strVal val="visible"/>
                                      </p:to>
                                    </p:set>
                                    <p:anim calcmode="discrete" valueType="clr">
                                      <p:cBhvr override="childStyle">
                                        <p:cTn id="36" dur="80"/>
                                        <p:tgtEl>
                                          <p:spTgt spid="14029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140291">
                                            <p:txEl>
                                              <p:pRg st="3" end="3"/>
                                            </p:txEl>
                                          </p:spTgt>
                                        </p:tgtEl>
                                        <p:attrNameLst>
                                          <p:attrName>fillcolor</p:attrName>
                                        </p:attrNameLst>
                                      </p:cBhvr>
                                      <p:tavLst>
                                        <p:tav tm="0">
                                          <p:val>
                                            <p:clrVal>
                                              <a:schemeClr val="accent2"/>
                                            </p:clrVal>
                                          </p:val>
                                        </p:tav>
                                        <p:tav tm="50000">
                                          <p:val>
                                            <p:clrVal>
                                              <a:schemeClr val="hlink"/>
                                            </p:clrVal>
                                          </p:val>
                                        </p:tav>
                                      </p:tavLst>
                                    </p:anim>
                                    <p:set>
                                      <p:cBhvr>
                                        <p:cTn id="38" dur="80"/>
                                        <p:tgtEl>
                                          <p:spTgt spid="140291">
                                            <p:txEl>
                                              <p:pRg st="3" end="3"/>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50000"/>
                                  </p:iterate>
                                  <p:childTnLst>
                                    <p:set>
                                      <p:cBhvr>
                                        <p:cTn id="42" dur="1" fill="hold">
                                          <p:stCondLst>
                                            <p:cond delay="0"/>
                                          </p:stCondLst>
                                        </p:cTn>
                                        <p:tgtEl>
                                          <p:spTgt spid="140291">
                                            <p:txEl>
                                              <p:pRg st="4" end="4"/>
                                            </p:txEl>
                                          </p:spTgt>
                                        </p:tgtEl>
                                        <p:attrNameLst>
                                          <p:attrName>style.visibility</p:attrName>
                                        </p:attrNameLst>
                                      </p:cBhvr>
                                      <p:to>
                                        <p:strVal val="visible"/>
                                      </p:to>
                                    </p:set>
                                    <p:anim calcmode="discrete" valueType="clr">
                                      <p:cBhvr override="childStyle">
                                        <p:cTn id="43" dur="80"/>
                                        <p:tgtEl>
                                          <p:spTgt spid="14029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140291">
                                            <p:txEl>
                                              <p:pRg st="4" end="4"/>
                                            </p:txEl>
                                          </p:spTgt>
                                        </p:tgtEl>
                                        <p:attrNameLst>
                                          <p:attrName>fillcolor</p:attrName>
                                        </p:attrNameLst>
                                      </p:cBhvr>
                                      <p:tavLst>
                                        <p:tav tm="0">
                                          <p:val>
                                            <p:clrVal>
                                              <a:schemeClr val="accent2"/>
                                            </p:clrVal>
                                          </p:val>
                                        </p:tav>
                                        <p:tav tm="50000">
                                          <p:val>
                                            <p:clrVal>
                                              <a:schemeClr val="hlink"/>
                                            </p:clrVal>
                                          </p:val>
                                        </p:tav>
                                      </p:tavLst>
                                    </p:anim>
                                    <p:set>
                                      <p:cBhvr>
                                        <p:cTn id="45" dur="80"/>
                                        <p:tgtEl>
                                          <p:spTgt spid="140291">
                                            <p:txEl>
                                              <p:pRg st="4" end="4"/>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27" presetClass="entr" presetSubtype="0" fill="hold" nodeType="clickEffect">
                                  <p:stCondLst>
                                    <p:cond delay="0"/>
                                  </p:stCondLst>
                                  <p:iterate type="lt">
                                    <p:tmPct val="50000"/>
                                  </p:iterate>
                                  <p:childTnLst>
                                    <p:set>
                                      <p:cBhvr>
                                        <p:cTn id="49" dur="1" fill="hold">
                                          <p:stCondLst>
                                            <p:cond delay="0"/>
                                          </p:stCondLst>
                                        </p:cTn>
                                        <p:tgtEl>
                                          <p:spTgt spid="140291">
                                            <p:txEl>
                                              <p:pRg st="5" end="5"/>
                                            </p:txEl>
                                          </p:spTgt>
                                        </p:tgtEl>
                                        <p:attrNameLst>
                                          <p:attrName>style.visibility</p:attrName>
                                        </p:attrNameLst>
                                      </p:cBhvr>
                                      <p:to>
                                        <p:strVal val="visible"/>
                                      </p:to>
                                    </p:set>
                                    <p:anim calcmode="discrete" valueType="clr">
                                      <p:cBhvr override="childStyle">
                                        <p:cTn id="50" dur="80"/>
                                        <p:tgtEl>
                                          <p:spTgt spid="14029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140291">
                                            <p:txEl>
                                              <p:pRg st="5" end="5"/>
                                            </p:txEl>
                                          </p:spTgt>
                                        </p:tgtEl>
                                        <p:attrNameLst>
                                          <p:attrName>fillcolor</p:attrName>
                                        </p:attrNameLst>
                                      </p:cBhvr>
                                      <p:tavLst>
                                        <p:tav tm="0">
                                          <p:val>
                                            <p:clrVal>
                                              <a:schemeClr val="accent2"/>
                                            </p:clrVal>
                                          </p:val>
                                        </p:tav>
                                        <p:tav tm="50000">
                                          <p:val>
                                            <p:clrVal>
                                              <a:schemeClr val="hlink"/>
                                            </p:clrVal>
                                          </p:val>
                                        </p:tav>
                                      </p:tavLst>
                                    </p:anim>
                                    <p:set>
                                      <p:cBhvr>
                                        <p:cTn id="52" dur="80"/>
                                        <p:tgtEl>
                                          <p:spTgt spid="140291">
                                            <p:txEl>
                                              <p:pRg st="5" end="5"/>
                                            </p:txEl>
                                          </p:spTgt>
                                        </p:tgtEl>
                                        <p:attrNameLst>
                                          <p:attrName>fill.type</p:attrName>
                                        </p:attrNameLst>
                                      </p:cBhvr>
                                      <p:to>
                                        <p:strVal val="solid"/>
                                      </p:to>
                                    </p:set>
                                  </p:childTnLst>
                                </p:cTn>
                              </p:par>
                            </p:childTnLst>
                          </p:cTn>
                        </p:par>
                        <p:par>
                          <p:cTn id="53" fill="hold">
                            <p:stCondLst>
                              <p:cond delay="1559"/>
                            </p:stCondLst>
                            <p:childTnLst>
                              <p:par>
                                <p:cTn id="54" presetID="55" presetClass="entr" presetSubtype="0" fill="hold" nodeType="afterEffect">
                                  <p:stCondLst>
                                    <p:cond delay="0"/>
                                  </p:stCondLst>
                                  <p:childTnLst>
                                    <p:set>
                                      <p:cBhvr>
                                        <p:cTn id="55" dur="1" fill="hold">
                                          <p:stCondLst>
                                            <p:cond delay="0"/>
                                          </p:stCondLst>
                                        </p:cTn>
                                        <p:tgtEl>
                                          <p:spTgt spid="140293"/>
                                        </p:tgtEl>
                                        <p:attrNameLst>
                                          <p:attrName>style.visibility</p:attrName>
                                        </p:attrNameLst>
                                      </p:cBhvr>
                                      <p:to>
                                        <p:strVal val="visible"/>
                                      </p:to>
                                    </p:set>
                                    <p:anim calcmode="lin" valueType="num">
                                      <p:cBhvr>
                                        <p:cTn id="56" dur="1000" fill="hold"/>
                                        <p:tgtEl>
                                          <p:spTgt spid="140293"/>
                                        </p:tgtEl>
                                        <p:attrNameLst>
                                          <p:attrName>ppt_w</p:attrName>
                                        </p:attrNameLst>
                                      </p:cBhvr>
                                      <p:tavLst>
                                        <p:tav tm="0">
                                          <p:val>
                                            <p:strVal val="#ppt_w*0.70"/>
                                          </p:val>
                                        </p:tav>
                                        <p:tav tm="100000">
                                          <p:val>
                                            <p:strVal val="#ppt_w"/>
                                          </p:val>
                                        </p:tav>
                                      </p:tavLst>
                                    </p:anim>
                                    <p:anim calcmode="lin" valueType="num">
                                      <p:cBhvr>
                                        <p:cTn id="57" dur="1000" fill="hold"/>
                                        <p:tgtEl>
                                          <p:spTgt spid="140293"/>
                                        </p:tgtEl>
                                        <p:attrNameLst>
                                          <p:attrName>ppt_h</p:attrName>
                                        </p:attrNameLst>
                                      </p:cBhvr>
                                      <p:tavLst>
                                        <p:tav tm="0">
                                          <p:val>
                                            <p:strVal val="#ppt_h"/>
                                          </p:val>
                                        </p:tav>
                                        <p:tav tm="100000">
                                          <p:val>
                                            <p:strVal val="#ppt_h"/>
                                          </p:val>
                                        </p:tav>
                                      </p:tavLst>
                                    </p:anim>
                                    <p:animEffect transition="in" filter="fade">
                                      <p:cBhvr>
                                        <p:cTn id="58" dur="1000"/>
                                        <p:tgtEl>
                                          <p:spTgt spid="140293"/>
                                        </p:tgtEl>
                                      </p:cBhvr>
                                    </p:animEffect>
                                  </p:childTnLst>
                                </p:cTn>
                              </p:par>
                            </p:childTnLst>
                          </p:cTn>
                        </p:par>
                        <p:par>
                          <p:cTn id="59" fill="hold">
                            <p:stCondLst>
                              <p:cond delay="2559"/>
                            </p:stCondLst>
                            <p:childTnLst>
                              <p:par>
                                <p:cTn id="60" presetID="55" presetClass="entr" presetSubtype="0" fill="hold" nodeType="afterEffect">
                                  <p:stCondLst>
                                    <p:cond delay="0"/>
                                  </p:stCondLst>
                                  <p:childTnLst>
                                    <p:set>
                                      <p:cBhvr>
                                        <p:cTn id="61" dur="1" fill="hold">
                                          <p:stCondLst>
                                            <p:cond delay="0"/>
                                          </p:stCondLst>
                                        </p:cTn>
                                        <p:tgtEl>
                                          <p:spTgt spid="4100"/>
                                        </p:tgtEl>
                                        <p:attrNameLst>
                                          <p:attrName>style.visibility</p:attrName>
                                        </p:attrNameLst>
                                      </p:cBhvr>
                                      <p:to>
                                        <p:strVal val="visible"/>
                                      </p:to>
                                    </p:set>
                                    <p:anim calcmode="lin" valueType="num">
                                      <p:cBhvr>
                                        <p:cTn id="62" dur="1000" fill="hold"/>
                                        <p:tgtEl>
                                          <p:spTgt spid="4100"/>
                                        </p:tgtEl>
                                        <p:attrNameLst>
                                          <p:attrName>ppt_w</p:attrName>
                                        </p:attrNameLst>
                                      </p:cBhvr>
                                      <p:tavLst>
                                        <p:tav tm="0">
                                          <p:val>
                                            <p:strVal val="#ppt_w*0.70"/>
                                          </p:val>
                                        </p:tav>
                                        <p:tav tm="100000">
                                          <p:val>
                                            <p:strVal val="#ppt_w"/>
                                          </p:val>
                                        </p:tav>
                                      </p:tavLst>
                                    </p:anim>
                                    <p:anim calcmode="lin" valueType="num">
                                      <p:cBhvr>
                                        <p:cTn id="63" dur="1000" fill="hold"/>
                                        <p:tgtEl>
                                          <p:spTgt spid="4100"/>
                                        </p:tgtEl>
                                        <p:attrNameLst>
                                          <p:attrName>ppt_h</p:attrName>
                                        </p:attrNameLst>
                                      </p:cBhvr>
                                      <p:tavLst>
                                        <p:tav tm="0">
                                          <p:val>
                                            <p:strVal val="#ppt_h"/>
                                          </p:val>
                                        </p:tav>
                                        <p:tav tm="100000">
                                          <p:val>
                                            <p:strVal val="#ppt_h"/>
                                          </p:val>
                                        </p:tav>
                                      </p:tavLst>
                                    </p:anim>
                                    <p:animEffect transition="in" filter="fade">
                                      <p:cBhvr>
                                        <p:cTn id="64" dur="1000"/>
                                        <p:tgtEl>
                                          <p:spTgt spid="4100"/>
                                        </p:tgtEl>
                                      </p:cBhvr>
                                    </p:animEffect>
                                  </p:childTnLst>
                                </p:cTn>
                              </p:par>
                            </p:childTnLst>
                          </p:cTn>
                        </p:par>
                        <p:par>
                          <p:cTn id="65" fill="hold">
                            <p:stCondLst>
                              <p:cond delay="3559"/>
                            </p:stCondLst>
                            <p:childTnLst>
                              <p:par>
                                <p:cTn id="66" presetID="55" presetClass="entr" presetSubtype="0" fill="hold" nodeType="afterEffect">
                                  <p:stCondLst>
                                    <p:cond delay="0"/>
                                  </p:stCondLst>
                                  <p:childTnLst>
                                    <p:set>
                                      <p:cBhvr>
                                        <p:cTn id="67" dur="1" fill="hold">
                                          <p:stCondLst>
                                            <p:cond delay="0"/>
                                          </p:stCondLst>
                                        </p:cTn>
                                        <p:tgtEl>
                                          <p:spTgt spid="4101"/>
                                        </p:tgtEl>
                                        <p:attrNameLst>
                                          <p:attrName>style.visibility</p:attrName>
                                        </p:attrNameLst>
                                      </p:cBhvr>
                                      <p:to>
                                        <p:strVal val="visible"/>
                                      </p:to>
                                    </p:set>
                                    <p:anim calcmode="lin" valueType="num">
                                      <p:cBhvr>
                                        <p:cTn id="68" dur="1000" fill="hold"/>
                                        <p:tgtEl>
                                          <p:spTgt spid="4101"/>
                                        </p:tgtEl>
                                        <p:attrNameLst>
                                          <p:attrName>ppt_w</p:attrName>
                                        </p:attrNameLst>
                                      </p:cBhvr>
                                      <p:tavLst>
                                        <p:tav tm="0">
                                          <p:val>
                                            <p:strVal val="#ppt_w*0.70"/>
                                          </p:val>
                                        </p:tav>
                                        <p:tav tm="100000">
                                          <p:val>
                                            <p:strVal val="#ppt_w"/>
                                          </p:val>
                                        </p:tav>
                                      </p:tavLst>
                                    </p:anim>
                                    <p:anim calcmode="lin" valueType="num">
                                      <p:cBhvr>
                                        <p:cTn id="69" dur="1000" fill="hold"/>
                                        <p:tgtEl>
                                          <p:spTgt spid="4101"/>
                                        </p:tgtEl>
                                        <p:attrNameLst>
                                          <p:attrName>ppt_h</p:attrName>
                                        </p:attrNameLst>
                                      </p:cBhvr>
                                      <p:tavLst>
                                        <p:tav tm="0">
                                          <p:val>
                                            <p:strVal val="#ppt_h"/>
                                          </p:val>
                                        </p:tav>
                                        <p:tav tm="100000">
                                          <p:val>
                                            <p:strVal val="#ppt_h"/>
                                          </p:val>
                                        </p:tav>
                                      </p:tavLst>
                                    </p:anim>
                                    <p:animEffect transition="in" filter="fade">
                                      <p:cBhvr>
                                        <p:cTn id="70" dur="10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
          <p:cNvGrpSpPr/>
          <p:nvPr/>
        </p:nvGrpSpPr>
        <p:grpSpPr bwMode="auto">
          <a:xfrm>
            <a:off x="-6251" y="1077348"/>
            <a:ext cx="1857375" cy="1133475"/>
            <a:chOff x="624" y="1687"/>
            <a:chExt cx="1170" cy="952"/>
          </a:xfrm>
        </p:grpSpPr>
        <p:sp>
          <p:nvSpPr>
            <p:cNvPr id="141318" name="Oval 6"/>
            <p:cNvSpPr>
              <a:spLocks noChangeArrowheads="1"/>
            </p:cNvSpPr>
            <p:nvPr/>
          </p:nvSpPr>
          <p:spPr bwMode="gray">
            <a:xfrm>
              <a:off x="624" y="1946"/>
              <a:ext cx="164" cy="436"/>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41319" name="Oval 7"/>
            <p:cNvSpPr>
              <a:spLocks noChangeArrowheads="1"/>
            </p:cNvSpPr>
            <p:nvPr/>
          </p:nvSpPr>
          <p:spPr bwMode="gray">
            <a:xfrm>
              <a:off x="706" y="1946"/>
              <a:ext cx="1087" cy="436"/>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41320" name="Oval 8"/>
            <p:cNvSpPr>
              <a:spLocks noChangeArrowheads="1"/>
            </p:cNvSpPr>
            <p:nvPr/>
          </p:nvSpPr>
          <p:spPr bwMode="gray">
            <a:xfrm>
              <a:off x="707" y="1948"/>
              <a:ext cx="1087" cy="436"/>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endParaRPr lang="zh-CN" altLang="en-US"/>
            </a:p>
          </p:txBody>
        </p:sp>
        <p:sp>
          <p:nvSpPr>
            <p:cNvPr id="141321" name="Oval 9"/>
            <p:cNvSpPr>
              <a:spLocks noChangeArrowheads="1"/>
            </p:cNvSpPr>
            <p:nvPr/>
          </p:nvSpPr>
          <p:spPr bwMode="gray">
            <a:xfrm>
              <a:off x="760" y="1946"/>
              <a:ext cx="979" cy="436"/>
            </a:xfrm>
            <a:prstGeom prst="ellipse">
              <a:avLst/>
            </a:prstGeom>
            <a:solidFill>
              <a:srgbClr val="333333"/>
            </a:solidFill>
            <a:ln w="38100" algn="ctr">
              <a:noFill/>
              <a:round/>
            </a:ln>
            <a:effectLst/>
          </p:spPr>
          <p:txBody>
            <a:bodyPr anchor="ctr">
              <a:spAutoFit/>
            </a:bodyPr>
            <a:lstStyle/>
            <a:p>
              <a:endParaRPr lang="zh-CN" altLang="en-US"/>
            </a:p>
          </p:txBody>
        </p:sp>
        <p:grpSp>
          <p:nvGrpSpPr>
            <p:cNvPr id="3" name="Group 10"/>
            <p:cNvGrpSpPr/>
            <p:nvPr/>
          </p:nvGrpSpPr>
          <p:grpSpPr bwMode="auto">
            <a:xfrm>
              <a:off x="624" y="1687"/>
              <a:ext cx="1132" cy="952"/>
              <a:chOff x="624" y="1687"/>
              <a:chExt cx="1132" cy="952"/>
            </a:xfrm>
          </p:grpSpPr>
          <p:sp>
            <p:nvSpPr>
              <p:cNvPr id="141323" name="Oval 11"/>
              <p:cNvSpPr>
                <a:spLocks noChangeArrowheads="1"/>
              </p:cNvSpPr>
              <p:nvPr/>
            </p:nvSpPr>
            <p:spPr bwMode="gray">
              <a:xfrm>
                <a:off x="624" y="1946"/>
                <a:ext cx="164" cy="436"/>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endParaRPr lang="zh-CN" altLang="en-US"/>
              </a:p>
            </p:txBody>
          </p:sp>
          <p:grpSp>
            <p:nvGrpSpPr>
              <p:cNvPr id="4" name="Group 12"/>
              <p:cNvGrpSpPr/>
              <p:nvPr/>
            </p:nvGrpSpPr>
            <p:grpSpPr bwMode="auto">
              <a:xfrm>
                <a:off x="776" y="1687"/>
                <a:ext cx="947" cy="952"/>
                <a:chOff x="4166" y="1706"/>
                <a:chExt cx="1252" cy="1252"/>
              </a:xfrm>
            </p:grpSpPr>
            <p:sp>
              <p:nvSpPr>
                <p:cNvPr id="141325" name="Oval 13"/>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41326" name="Oval 14"/>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41327" name="Oval 15"/>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41328" name="Oval 16"/>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141329" name="Text Box 17"/>
              <p:cNvSpPr txBox="1">
                <a:spLocks noChangeArrowheads="1"/>
              </p:cNvSpPr>
              <p:nvPr/>
            </p:nvSpPr>
            <p:spPr bwMode="gray">
              <a:xfrm>
                <a:off x="670" y="1930"/>
                <a:ext cx="1086" cy="698"/>
              </a:xfrm>
              <a:prstGeom prst="rect">
                <a:avLst/>
              </a:prstGeom>
              <a:noFill/>
              <a:ln w="9525" algn="ctr">
                <a:noFill/>
                <a:miter lim="800000"/>
              </a:ln>
              <a:effectLst/>
            </p:spPr>
            <p:txBody>
              <a:bodyPr wrap="none">
                <a:spAutoFit/>
              </a:bodyPr>
              <a:lstStyle/>
              <a:p>
                <a:pPr algn="ctr"/>
                <a:r>
                  <a:rPr lang="zh-CN" altLang="en-US" sz="2400" b="1" dirty="0">
                    <a:solidFill>
                      <a:srgbClr val="0070C0"/>
                    </a:solidFill>
                  </a:rPr>
                  <a:t>惠更斯</a:t>
                </a:r>
                <a:r>
                  <a:rPr lang="zh-CN" altLang="en-US" sz="2400" b="1" dirty="0" smtClean="0">
                    <a:solidFill>
                      <a:srgbClr val="0070C0"/>
                    </a:solidFill>
                  </a:rPr>
                  <a:t>－</a:t>
                </a:r>
                <a:endParaRPr lang="en-US" altLang="zh-CN" sz="2400" b="1" dirty="0" smtClean="0">
                  <a:solidFill>
                    <a:srgbClr val="0070C0"/>
                  </a:solidFill>
                </a:endParaRPr>
              </a:p>
              <a:p>
                <a:pPr algn="ctr"/>
                <a:r>
                  <a:rPr lang="zh-CN" altLang="en-US" sz="2400" b="1" dirty="0" smtClean="0">
                    <a:solidFill>
                      <a:srgbClr val="0070C0"/>
                    </a:solidFill>
                  </a:rPr>
                  <a:t>菲</a:t>
                </a:r>
                <a:r>
                  <a:rPr lang="zh-CN" altLang="en-US" sz="2400" b="1" dirty="0">
                    <a:solidFill>
                      <a:srgbClr val="0070C0"/>
                    </a:solidFill>
                  </a:rPr>
                  <a:t>涅</a:t>
                </a:r>
                <a:r>
                  <a:rPr lang="zh-CN" altLang="en-US" sz="2400" b="1" dirty="0" smtClean="0">
                    <a:solidFill>
                      <a:srgbClr val="0070C0"/>
                    </a:solidFill>
                  </a:rPr>
                  <a:t>尔原</a:t>
                </a:r>
                <a:r>
                  <a:rPr lang="zh-CN" altLang="en-US" sz="2400" b="1" dirty="0">
                    <a:solidFill>
                      <a:srgbClr val="0070C0"/>
                    </a:solidFill>
                  </a:rPr>
                  <a:t>理</a:t>
                </a:r>
                <a:endParaRPr lang="zh-CN" altLang="en-US" sz="2400" b="1" dirty="0">
                  <a:solidFill>
                    <a:srgbClr val="0070C0"/>
                  </a:solidFill>
                </a:endParaRPr>
              </a:p>
            </p:txBody>
          </p:sp>
        </p:grpSp>
      </p:grpSp>
      <p:pic>
        <p:nvPicPr>
          <p:cNvPr id="43" name="图片 42"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46"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2.3.2  </a:t>
            </a:r>
            <a:r>
              <a:rPr lang="zh-CN" altLang="en-US" sz="4000" b="1" dirty="0" smtClean="0">
                <a:solidFill>
                  <a:srgbClr val="C00000"/>
                </a:solidFill>
                <a:effectLst>
                  <a:outerShdw blurRad="38100" dist="38100" dir="2700000" algn="tl">
                    <a:srgbClr val="C0C0C0"/>
                  </a:outerShdw>
                </a:effectLst>
              </a:rPr>
              <a:t>绕射</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
        <p:nvSpPr>
          <p:cNvPr id="47" name="Rectangle 3"/>
          <p:cNvSpPr txBox="1">
            <a:spLocks noRot="1" noChangeArrowheads="1"/>
          </p:cNvSpPr>
          <p:nvPr/>
        </p:nvSpPr>
        <p:spPr>
          <a:xfrm>
            <a:off x="2195736" y="897564"/>
            <a:ext cx="6624414" cy="3838742"/>
          </a:xfrm>
          <a:prstGeom prst="rect">
            <a:avLst/>
          </a:prstGeom>
        </p:spPr>
        <p:txBody>
          <a:bodyPr>
            <a:normAutofit/>
          </a:bodyPr>
          <a:lstStyle/>
          <a:p>
            <a:pPr marL="36195" marR="0" lvl="1" indent="-237490" algn="l" defTabSz="914400" rtl="0" eaLnBrk="1" fontAlgn="auto" latinLnBrk="0" hangingPunct="1">
              <a:lnSpc>
                <a:spcPct val="150000"/>
              </a:lnSpc>
              <a:spcAft>
                <a:spcPts val="0"/>
              </a:spcAft>
              <a:buClr>
                <a:schemeClr val="accent1"/>
              </a:buClr>
              <a:buSzTx/>
              <a:defRPr/>
            </a:pP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波前（面）上每点产生的次级波组合形成传播方向上新的波前（面）；绕射由次级波的传播进入阴影区而形成；场强为围绕阻挡物所有次级波的矢量和。</a:t>
            </a:r>
            <a:endParaRPr kumimoji="0" lang="zh-CN" altLang="en-US" sz="2400" b="1" i="0" u="none" strike="noStrike" kern="1200" cap="none" spc="0" normalizeH="0" baseline="0" noProof="0" dirty="0" smtClean="0">
              <a:ln>
                <a:noFill/>
              </a:ln>
              <a:solidFill>
                <a:srgbClr val="004400"/>
              </a:solidFill>
              <a:effectLst>
                <a:outerShdw blurRad="38100" dist="38100" dir="2700000" algn="tl">
                  <a:srgbClr val="C0C0C0"/>
                </a:outerShdw>
              </a:effectLst>
              <a:uLnTx/>
              <a:uFillTx/>
              <a:latin typeface="宋体" panose="02010600030101010101" pitchFamily="2" charset="-122"/>
              <a:ea typeface="宋体" panose="02010600030101010101" pitchFamily="2" charset="-122"/>
            </a:endParaRPr>
          </a:p>
        </p:txBody>
      </p:sp>
      <p:graphicFrame>
        <p:nvGraphicFramePr>
          <p:cNvPr id="226306" name="Object 2"/>
          <p:cNvGraphicFramePr>
            <a:graphicFrameLocks noChangeAspect="1"/>
          </p:cNvGraphicFramePr>
          <p:nvPr/>
        </p:nvGraphicFramePr>
        <p:xfrm>
          <a:off x="3326758" y="2625756"/>
          <a:ext cx="5709738" cy="2430270"/>
        </p:xfrm>
        <a:graphic>
          <a:graphicData uri="http://schemas.openxmlformats.org/presentationml/2006/ole">
            <mc:AlternateContent xmlns:mc="http://schemas.openxmlformats.org/markup-compatibility/2006">
              <mc:Choice xmlns:v="urn:schemas-microsoft-com:vml" Requires="v">
                <p:oleObj spid="_x0000_s9217" name="Visio" r:id="rId2" imgW="5838825" imgH="3876675" progId="">
                  <p:embed/>
                </p:oleObj>
              </mc:Choice>
              <mc:Fallback>
                <p:oleObj name="Visio" r:id="rId2" imgW="5838825" imgH="3876675" progId="">
                  <p:embed/>
                  <p:pic>
                    <p:nvPicPr>
                      <p:cNvPr id="0" name="图片 9216" descr="image36"/>
                      <p:cNvPicPr>
                        <a:picLocks noChangeAspect="1"/>
                      </p:cNvPicPr>
                      <p:nvPr/>
                    </p:nvPicPr>
                    <p:blipFill>
                      <a:blip r:embed="rId3"/>
                      <a:stretch>
                        <a:fillRect/>
                      </a:stretch>
                    </p:blipFill>
                    <p:spPr>
                      <a:xfrm>
                        <a:off x="3326758" y="2625756"/>
                        <a:ext cx="5709738" cy="2430270"/>
                      </a:xfrm>
                      <a:prstGeom prst="rect">
                        <a:avLst/>
                      </a:prstGeom>
                      <a:solidFill>
                        <a:srgbClr val="FFFFFF"/>
                      </a:solid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47">
                                            <p:txEl>
                                              <p:pRg st="0" end="0"/>
                                            </p:txEl>
                                          </p:spTgt>
                                        </p:tgtEl>
                                        <p:attrNameLst>
                                          <p:attrName>style.visibility</p:attrName>
                                        </p:attrNameLst>
                                      </p:cBhvr>
                                      <p:to>
                                        <p:strVal val="visible"/>
                                      </p:to>
                                    </p:set>
                                    <p:anim calcmode="lin" valueType="num">
                                      <p:cBhvr>
                                        <p:cTn id="12" dur="500" fill="hold"/>
                                        <p:tgtEl>
                                          <p:spTgt spid="4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4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47">
                                            <p:txEl>
                                              <p:pRg st="0" end="0"/>
                                            </p:txEl>
                                          </p:spTgt>
                                        </p:tgtEl>
                                      </p:cBhvr>
                                    </p:animEffect>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226306"/>
                                        </p:tgtEl>
                                        <p:attrNameLst>
                                          <p:attrName>style.visibility</p:attrName>
                                        </p:attrNameLst>
                                      </p:cBhvr>
                                      <p:to>
                                        <p:strVal val="visible"/>
                                      </p:to>
                                    </p:set>
                                    <p:anim calcmode="lin" valueType="num">
                                      <p:cBhvr>
                                        <p:cTn id="18" dur="500" fill="hold"/>
                                        <p:tgtEl>
                                          <p:spTgt spid="226306"/>
                                        </p:tgtEl>
                                        <p:attrNameLst>
                                          <p:attrName>ppt_w</p:attrName>
                                        </p:attrNameLst>
                                      </p:cBhvr>
                                      <p:tavLst>
                                        <p:tav tm="0">
                                          <p:val>
                                            <p:fltVal val="0"/>
                                          </p:val>
                                        </p:tav>
                                        <p:tav tm="100000">
                                          <p:val>
                                            <p:strVal val="#ppt_w"/>
                                          </p:val>
                                        </p:tav>
                                      </p:tavLst>
                                    </p:anim>
                                    <p:anim calcmode="lin" valueType="num">
                                      <p:cBhvr>
                                        <p:cTn id="19" dur="500" fill="hold"/>
                                        <p:tgtEl>
                                          <p:spTgt spid="226306"/>
                                        </p:tgtEl>
                                        <p:attrNameLst>
                                          <p:attrName>ppt_h</p:attrName>
                                        </p:attrNameLst>
                                      </p:cBhvr>
                                      <p:tavLst>
                                        <p:tav tm="0">
                                          <p:val>
                                            <p:fltVal val="0"/>
                                          </p:val>
                                        </p:tav>
                                        <p:tav tm="100000">
                                          <p:val>
                                            <p:strVal val="#ppt_h"/>
                                          </p:val>
                                        </p:tav>
                                      </p:tavLst>
                                    </p:anim>
                                    <p:anim calcmode="lin" valueType="num">
                                      <p:cBhvr>
                                        <p:cTn id="20" dur="500" fill="hold"/>
                                        <p:tgtEl>
                                          <p:spTgt spid="226306"/>
                                        </p:tgtEl>
                                        <p:attrNameLst>
                                          <p:attrName>style.rotation</p:attrName>
                                        </p:attrNameLst>
                                      </p:cBhvr>
                                      <p:tavLst>
                                        <p:tav tm="0">
                                          <p:val>
                                            <p:fltVal val="360"/>
                                          </p:val>
                                        </p:tav>
                                        <p:tav tm="100000">
                                          <p:val>
                                            <p:fltVal val="0"/>
                                          </p:val>
                                        </p:tav>
                                      </p:tavLst>
                                    </p:anim>
                                    <p:animEffect transition="in" filter="fade">
                                      <p:cBhvr>
                                        <p:cTn id="21" dur="500"/>
                                        <p:tgtEl>
                                          <p:spTgt spid="22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3" name="图片 42"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46"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2.3.2  </a:t>
            </a:r>
            <a:r>
              <a:rPr lang="zh-CN" altLang="en-US" sz="4000" b="1" dirty="0" smtClean="0">
                <a:solidFill>
                  <a:srgbClr val="C00000"/>
                </a:solidFill>
                <a:effectLst>
                  <a:outerShdw blurRad="38100" dist="38100" dir="2700000" algn="tl">
                    <a:srgbClr val="C0C0C0"/>
                  </a:outerShdw>
                </a:effectLst>
              </a:rPr>
              <a:t>绕射</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
        <p:nvSpPr>
          <p:cNvPr id="47" name="Rectangle 3"/>
          <p:cNvSpPr txBox="1">
            <a:spLocks noRot="1" noChangeArrowheads="1"/>
          </p:cNvSpPr>
          <p:nvPr/>
        </p:nvSpPr>
        <p:spPr>
          <a:xfrm>
            <a:off x="2051720" y="897564"/>
            <a:ext cx="6768430" cy="3838742"/>
          </a:xfrm>
          <a:prstGeom prst="rect">
            <a:avLst/>
          </a:prstGeom>
        </p:spPr>
        <p:txBody>
          <a:bodyPr>
            <a:normAutofit/>
          </a:bodyPr>
          <a:lstStyle/>
          <a:p>
            <a:pPr marL="36195" lvl="0" indent="-283210">
              <a:lnSpc>
                <a:spcPct val="150000"/>
              </a:lnSpc>
              <a:buClr>
                <a:schemeClr val="accent1"/>
              </a:buClr>
              <a:buSzPct val="80000"/>
            </a:pPr>
            <a:r>
              <a:rPr kumimoji="0" lang="zh-CN" altLang="en-US" sz="2800" b="0" i="0" u="none" strike="noStrike" kern="1200" cap="none" spc="0" normalizeH="0" baseline="0" noProof="0" dirty="0" smtClean="0">
                <a:ln>
                  <a:noFill/>
                </a:ln>
                <a:solidFill>
                  <a:schemeClr val="hlink"/>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说明：</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若经由</a:t>
            </a:r>
            <a:r>
              <a:rPr kumimoji="0" lang="en-US" altLang="zh-CN" sz="2400" b="1" i="1"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P’</a:t>
            </a: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点的间接路径比经由</a:t>
            </a:r>
            <a:r>
              <a:rPr kumimoji="0" lang="en-US" altLang="zh-CN" sz="2400" b="1" i="1"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P</a:t>
            </a: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点的直接路径</a:t>
            </a:r>
            <a:r>
              <a:rPr kumimoji="0" lang="en-US" altLang="zh-CN" sz="2400" b="1" i="1"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d</a:t>
            </a: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长</a:t>
            </a: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λ/2</a:t>
            </a: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，则这两条信号到达</a:t>
            </a: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R</a:t>
            </a:r>
            <a:r>
              <a:rPr kumimoji="0" lang="zh-CN" altLang="en-US"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点后，由于相位差</a:t>
            </a: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180</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度而相互抵消。如果间接路径长度再增加</a:t>
            </a:r>
            <a:r>
              <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λ/2</a:t>
            </a:r>
            <a:r>
              <a:rPr lang="zh-CN" altLang="en-US" sz="2400" b="1" dirty="0" smtClean="0">
                <a:effectLst>
                  <a:outerShdw blurRad="38100" dist="38100" dir="2700000" algn="tl">
                    <a:srgbClr val="C0C0C0"/>
                  </a:outerShdw>
                </a:effectLst>
                <a:latin typeface="宋体" panose="02010600030101010101" pitchFamily="2" charset="-122"/>
                <a:ea typeface="宋体" panose="02010600030101010101" pitchFamily="2" charset="-122"/>
              </a:rPr>
              <a:t>波长，则两径信号同相叠加。</a:t>
            </a:r>
            <a:endParaRPr lang="en-US" altLang="zh-CN" sz="2400" b="1"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p:txBody>
      </p:sp>
      <p:graphicFrame>
        <p:nvGraphicFramePr>
          <p:cNvPr id="264195" name="Object 3"/>
          <p:cNvGraphicFramePr>
            <a:graphicFrameLocks noChangeAspect="1"/>
          </p:cNvGraphicFramePr>
          <p:nvPr/>
        </p:nvGraphicFramePr>
        <p:xfrm>
          <a:off x="1979713" y="2604232"/>
          <a:ext cx="5962265" cy="2539268"/>
        </p:xfrm>
        <a:graphic>
          <a:graphicData uri="http://schemas.openxmlformats.org/presentationml/2006/ole">
            <mc:AlternateContent xmlns:mc="http://schemas.openxmlformats.org/markup-compatibility/2006">
              <mc:Choice xmlns:v="urn:schemas-microsoft-com:vml" Requires="v">
                <p:oleObj spid="_x0000_s10241" name="Visio" r:id="rId2" imgW="5838825" imgH="3876675" progId="">
                  <p:embed/>
                </p:oleObj>
              </mc:Choice>
              <mc:Fallback>
                <p:oleObj name="Visio" r:id="rId2" imgW="5838825" imgH="3876675" progId="">
                  <p:embed/>
                  <p:pic>
                    <p:nvPicPr>
                      <p:cNvPr id="0" name="图片 10240" descr="image36"/>
                      <p:cNvPicPr>
                        <a:picLocks noChangeAspect="1"/>
                      </p:cNvPicPr>
                      <p:nvPr/>
                    </p:nvPicPr>
                    <p:blipFill>
                      <a:blip r:embed="rId3"/>
                      <a:stretch>
                        <a:fillRect/>
                      </a:stretch>
                    </p:blipFill>
                    <p:spPr>
                      <a:xfrm>
                        <a:off x="1979713" y="2604232"/>
                        <a:ext cx="5962265" cy="2539268"/>
                      </a:xfrm>
                      <a:prstGeom prst="rect">
                        <a:avLst/>
                      </a:prstGeom>
                      <a:solidFill>
                        <a:srgbClr val="FFFFFF"/>
                      </a:solidFill>
                      <a:ln w="9525">
                        <a:noFill/>
                      </a:ln>
                    </p:spPr>
                  </p:pic>
                </p:oleObj>
              </mc:Fallback>
            </mc:AlternateContent>
          </a:graphicData>
        </a:graphic>
      </p:graphicFrame>
      <p:grpSp>
        <p:nvGrpSpPr>
          <p:cNvPr id="20" name="Group 5"/>
          <p:cNvGrpSpPr/>
          <p:nvPr/>
        </p:nvGrpSpPr>
        <p:grpSpPr bwMode="auto">
          <a:xfrm>
            <a:off x="-6251" y="1077348"/>
            <a:ext cx="1857375" cy="1133475"/>
            <a:chOff x="624" y="1687"/>
            <a:chExt cx="1170" cy="952"/>
          </a:xfrm>
        </p:grpSpPr>
        <p:sp>
          <p:nvSpPr>
            <p:cNvPr id="21" name="Oval 6"/>
            <p:cNvSpPr>
              <a:spLocks noChangeArrowheads="1"/>
            </p:cNvSpPr>
            <p:nvPr/>
          </p:nvSpPr>
          <p:spPr bwMode="gray">
            <a:xfrm>
              <a:off x="624" y="1946"/>
              <a:ext cx="164" cy="436"/>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22" name="Oval 7"/>
            <p:cNvSpPr>
              <a:spLocks noChangeArrowheads="1"/>
            </p:cNvSpPr>
            <p:nvPr/>
          </p:nvSpPr>
          <p:spPr bwMode="gray">
            <a:xfrm>
              <a:off x="706" y="1946"/>
              <a:ext cx="1087" cy="436"/>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endParaRPr lang="zh-CN" altLang="en-US"/>
            </a:p>
          </p:txBody>
        </p:sp>
        <p:sp>
          <p:nvSpPr>
            <p:cNvPr id="23" name="Oval 8"/>
            <p:cNvSpPr>
              <a:spLocks noChangeArrowheads="1"/>
            </p:cNvSpPr>
            <p:nvPr/>
          </p:nvSpPr>
          <p:spPr bwMode="gray">
            <a:xfrm>
              <a:off x="707" y="1948"/>
              <a:ext cx="1087" cy="436"/>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endParaRPr lang="zh-CN" altLang="en-US"/>
            </a:p>
          </p:txBody>
        </p:sp>
        <p:sp>
          <p:nvSpPr>
            <p:cNvPr id="24" name="Oval 9"/>
            <p:cNvSpPr>
              <a:spLocks noChangeArrowheads="1"/>
            </p:cNvSpPr>
            <p:nvPr/>
          </p:nvSpPr>
          <p:spPr bwMode="gray">
            <a:xfrm>
              <a:off x="760" y="1946"/>
              <a:ext cx="979" cy="436"/>
            </a:xfrm>
            <a:prstGeom prst="ellipse">
              <a:avLst/>
            </a:prstGeom>
            <a:solidFill>
              <a:srgbClr val="333333"/>
            </a:solidFill>
            <a:ln w="38100" algn="ctr">
              <a:noFill/>
              <a:round/>
            </a:ln>
            <a:effectLst/>
          </p:spPr>
          <p:txBody>
            <a:bodyPr anchor="ctr">
              <a:spAutoFit/>
            </a:bodyPr>
            <a:lstStyle/>
            <a:p>
              <a:endParaRPr lang="zh-CN" altLang="en-US"/>
            </a:p>
          </p:txBody>
        </p:sp>
        <p:grpSp>
          <p:nvGrpSpPr>
            <p:cNvPr id="25" name="Group 10"/>
            <p:cNvGrpSpPr/>
            <p:nvPr/>
          </p:nvGrpSpPr>
          <p:grpSpPr bwMode="auto">
            <a:xfrm>
              <a:off x="624" y="1687"/>
              <a:ext cx="1132" cy="952"/>
              <a:chOff x="624" y="1687"/>
              <a:chExt cx="1132" cy="952"/>
            </a:xfrm>
          </p:grpSpPr>
          <p:sp>
            <p:nvSpPr>
              <p:cNvPr id="26" name="Oval 11"/>
              <p:cNvSpPr>
                <a:spLocks noChangeArrowheads="1"/>
              </p:cNvSpPr>
              <p:nvPr/>
            </p:nvSpPr>
            <p:spPr bwMode="gray">
              <a:xfrm>
                <a:off x="624" y="1946"/>
                <a:ext cx="164" cy="436"/>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endParaRPr lang="zh-CN" altLang="en-US"/>
              </a:p>
            </p:txBody>
          </p:sp>
          <p:grpSp>
            <p:nvGrpSpPr>
              <p:cNvPr id="27" name="Group 12"/>
              <p:cNvGrpSpPr/>
              <p:nvPr/>
            </p:nvGrpSpPr>
            <p:grpSpPr bwMode="auto">
              <a:xfrm>
                <a:off x="776" y="1687"/>
                <a:ext cx="947" cy="952"/>
                <a:chOff x="4166" y="1706"/>
                <a:chExt cx="1252" cy="1252"/>
              </a:xfrm>
            </p:grpSpPr>
            <p:sp>
              <p:nvSpPr>
                <p:cNvPr id="29" name="Oval 13"/>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30" name="Oval 14"/>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31" name="Oval 15"/>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32" name="Oval 16"/>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28" name="Text Box 17"/>
              <p:cNvSpPr txBox="1">
                <a:spLocks noChangeArrowheads="1"/>
              </p:cNvSpPr>
              <p:nvPr/>
            </p:nvSpPr>
            <p:spPr bwMode="gray">
              <a:xfrm>
                <a:off x="670" y="1930"/>
                <a:ext cx="1086" cy="698"/>
              </a:xfrm>
              <a:prstGeom prst="rect">
                <a:avLst/>
              </a:prstGeom>
              <a:noFill/>
              <a:ln w="9525" algn="ctr">
                <a:noFill/>
                <a:miter lim="800000"/>
              </a:ln>
              <a:effectLst/>
            </p:spPr>
            <p:txBody>
              <a:bodyPr wrap="none">
                <a:spAutoFit/>
              </a:bodyPr>
              <a:lstStyle/>
              <a:p>
                <a:pPr algn="ctr"/>
                <a:r>
                  <a:rPr lang="zh-CN" altLang="en-US" sz="2400" b="1" dirty="0">
                    <a:solidFill>
                      <a:srgbClr val="0070C0"/>
                    </a:solidFill>
                  </a:rPr>
                  <a:t>惠更斯</a:t>
                </a:r>
                <a:r>
                  <a:rPr lang="zh-CN" altLang="en-US" sz="2400" b="1" dirty="0" smtClean="0">
                    <a:solidFill>
                      <a:srgbClr val="0070C0"/>
                    </a:solidFill>
                  </a:rPr>
                  <a:t>－</a:t>
                </a:r>
                <a:endParaRPr lang="en-US" altLang="zh-CN" sz="2400" b="1" dirty="0" smtClean="0">
                  <a:solidFill>
                    <a:srgbClr val="0070C0"/>
                  </a:solidFill>
                </a:endParaRPr>
              </a:p>
              <a:p>
                <a:pPr algn="ctr"/>
                <a:r>
                  <a:rPr lang="zh-CN" altLang="en-US" sz="2400" b="1" dirty="0" smtClean="0">
                    <a:solidFill>
                      <a:srgbClr val="0070C0"/>
                    </a:solidFill>
                  </a:rPr>
                  <a:t>菲</a:t>
                </a:r>
                <a:r>
                  <a:rPr lang="zh-CN" altLang="en-US" sz="2400" b="1" dirty="0">
                    <a:solidFill>
                      <a:srgbClr val="0070C0"/>
                    </a:solidFill>
                  </a:rPr>
                  <a:t>涅</a:t>
                </a:r>
                <a:r>
                  <a:rPr lang="zh-CN" altLang="en-US" sz="2400" b="1" dirty="0" smtClean="0">
                    <a:solidFill>
                      <a:srgbClr val="0070C0"/>
                    </a:solidFill>
                  </a:rPr>
                  <a:t>尔原</a:t>
                </a:r>
                <a:r>
                  <a:rPr lang="zh-CN" altLang="en-US" sz="2400" b="1" dirty="0">
                    <a:solidFill>
                      <a:srgbClr val="0070C0"/>
                    </a:solidFill>
                  </a:rPr>
                  <a:t>理</a:t>
                </a:r>
                <a:endParaRPr lang="zh-CN" altLang="en-US" sz="2400" b="1" dirty="0">
                  <a:solidFill>
                    <a:srgbClr val="0070C0"/>
                  </a:solidFill>
                </a:endParaRPr>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 calcmode="lin" valueType="num">
                                      <p:cBhvr>
                                        <p:cTn id="7" dur="500" fill="hold"/>
                                        <p:tgtEl>
                                          <p:spTgt spid="4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7">
                                            <p:txEl>
                                              <p:pRg st="0" end="0"/>
                                            </p:txEl>
                                          </p:spTgt>
                                        </p:tgtEl>
                                      </p:cBhvr>
                                    </p:animEffect>
                                  </p:childTnLst>
                                </p:cTn>
                              </p:par>
                            </p:childTnLst>
                          </p:cTn>
                        </p:par>
                        <p:par>
                          <p:cTn id="10" fill="hold">
                            <p:stCondLst>
                              <p:cond delay="500"/>
                            </p:stCondLst>
                            <p:childTnLst>
                              <p:par>
                                <p:cTn id="11" presetID="49" presetClass="entr" presetSubtype="0" decel="100000" fill="hold" nodeType="afterEffect">
                                  <p:stCondLst>
                                    <p:cond delay="0"/>
                                  </p:stCondLst>
                                  <p:childTnLst>
                                    <p:set>
                                      <p:cBhvr>
                                        <p:cTn id="12" dur="1" fill="hold">
                                          <p:stCondLst>
                                            <p:cond delay="0"/>
                                          </p:stCondLst>
                                        </p:cTn>
                                        <p:tgtEl>
                                          <p:spTgt spid="264195"/>
                                        </p:tgtEl>
                                        <p:attrNameLst>
                                          <p:attrName>style.visibility</p:attrName>
                                        </p:attrNameLst>
                                      </p:cBhvr>
                                      <p:to>
                                        <p:strVal val="visible"/>
                                      </p:to>
                                    </p:set>
                                    <p:anim calcmode="lin" valueType="num">
                                      <p:cBhvr>
                                        <p:cTn id="13" dur="500" fill="hold"/>
                                        <p:tgtEl>
                                          <p:spTgt spid="264195"/>
                                        </p:tgtEl>
                                        <p:attrNameLst>
                                          <p:attrName>ppt_w</p:attrName>
                                        </p:attrNameLst>
                                      </p:cBhvr>
                                      <p:tavLst>
                                        <p:tav tm="0">
                                          <p:val>
                                            <p:fltVal val="0"/>
                                          </p:val>
                                        </p:tav>
                                        <p:tav tm="100000">
                                          <p:val>
                                            <p:strVal val="#ppt_w"/>
                                          </p:val>
                                        </p:tav>
                                      </p:tavLst>
                                    </p:anim>
                                    <p:anim calcmode="lin" valueType="num">
                                      <p:cBhvr>
                                        <p:cTn id="14" dur="500" fill="hold"/>
                                        <p:tgtEl>
                                          <p:spTgt spid="264195"/>
                                        </p:tgtEl>
                                        <p:attrNameLst>
                                          <p:attrName>ppt_h</p:attrName>
                                        </p:attrNameLst>
                                      </p:cBhvr>
                                      <p:tavLst>
                                        <p:tav tm="0">
                                          <p:val>
                                            <p:fltVal val="0"/>
                                          </p:val>
                                        </p:tav>
                                        <p:tav tm="100000">
                                          <p:val>
                                            <p:strVal val="#ppt_h"/>
                                          </p:val>
                                        </p:tav>
                                      </p:tavLst>
                                    </p:anim>
                                    <p:anim calcmode="lin" valueType="num">
                                      <p:cBhvr>
                                        <p:cTn id="15" dur="500" fill="hold"/>
                                        <p:tgtEl>
                                          <p:spTgt spid="264195"/>
                                        </p:tgtEl>
                                        <p:attrNameLst>
                                          <p:attrName>style.rotation</p:attrName>
                                        </p:attrNameLst>
                                      </p:cBhvr>
                                      <p:tavLst>
                                        <p:tav tm="0">
                                          <p:val>
                                            <p:fltVal val="360"/>
                                          </p:val>
                                        </p:tav>
                                        <p:tav tm="100000">
                                          <p:val>
                                            <p:fltVal val="0"/>
                                          </p:val>
                                        </p:tav>
                                      </p:tavLst>
                                    </p:anim>
                                    <p:animEffect transition="in" filter="fade">
                                      <p:cBhvr>
                                        <p:cTn id="16" dur="500"/>
                                        <p:tgtEl>
                                          <p:spTgt spid="264195"/>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1000" fill="hold"/>
                                        <p:tgtEl>
                                          <p:spTgt spid="20"/>
                                        </p:tgtEl>
                                        <p:attrNameLst>
                                          <p:attrName>ppt_x</p:attrName>
                                        </p:attrNameLst>
                                      </p:cBhvr>
                                      <p:tavLst>
                                        <p:tav tm="0">
                                          <p:val>
                                            <p:strVal val="#ppt_x-.2"/>
                                          </p:val>
                                        </p:tav>
                                        <p:tav tm="100000">
                                          <p:val>
                                            <p:strVal val="#ppt_x"/>
                                          </p:val>
                                        </p:tav>
                                      </p:tavLst>
                                    </p:anim>
                                    <p:anim calcmode="lin" valueType="num">
                                      <p:cBhvr>
                                        <p:cTn id="22" dur="10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23"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Rot="1" noChangeArrowheads="1"/>
          </p:cNvSpPr>
          <p:nvPr>
            <p:ph type="body" sz="half" idx="1"/>
          </p:nvPr>
        </p:nvSpPr>
        <p:spPr>
          <a:xfrm>
            <a:off x="2051720" y="951570"/>
            <a:ext cx="6696993" cy="3784736"/>
          </a:xfrm>
        </p:spPr>
        <p:txBody>
          <a:bodyPr>
            <a:normAutofit/>
          </a:bodyPr>
          <a:lstStyle/>
          <a:p>
            <a:pPr marL="36195">
              <a:lnSpc>
                <a:spcPct val="150000"/>
              </a:lnSpc>
              <a:spcBef>
                <a:spcPts val="0"/>
              </a:spcBef>
              <a:buNone/>
            </a:pPr>
            <a:r>
              <a:rPr lang="zh-CN" altLang="en-US" sz="2400" dirty="0" smtClean="0">
                <a:solidFill>
                  <a:srgbClr val="000000"/>
                </a:solidFill>
                <a:effectLst>
                  <a:outerShdw blurRad="38100" dist="38100" dir="2700000" algn="tl">
                    <a:srgbClr val="C0C0C0"/>
                  </a:outerShdw>
                </a:effectLst>
              </a:rPr>
              <a:t>从</a:t>
            </a:r>
            <a:r>
              <a:rPr lang="zh-CN" altLang="en-US" sz="2400" dirty="0">
                <a:solidFill>
                  <a:srgbClr val="000000"/>
                </a:solidFill>
                <a:effectLst>
                  <a:outerShdw blurRad="38100" dist="38100" dir="2700000" algn="tl">
                    <a:srgbClr val="C0C0C0"/>
                  </a:outerShdw>
                </a:effectLst>
              </a:rPr>
              <a:t>发射点到接收点次级波路径长度直接路径长度大的连续区域</a:t>
            </a:r>
            <a:endParaRPr lang="zh-CN" altLang="en-US" sz="2400" dirty="0">
              <a:solidFill>
                <a:srgbClr val="000000"/>
              </a:solidFill>
              <a:effectLst>
                <a:outerShdw blurRad="38100" dist="38100" dir="2700000" algn="tl">
                  <a:srgbClr val="C0C0C0"/>
                </a:outerShdw>
              </a:effectLst>
            </a:endParaRPr>
          </a:p>
          <a:p>
            <a:pPr marL="36195" lvl="1" indent="-283210">
              <a:lnSpc>
                <a:spcPct val="150000"/>
              </a:lnSpc>
              <a:spcBef>
                <a:spcPts val="0"/>
              </a:spcBef>
              <a:buSzPct val="80000"/>
              <a:buFont typeface="Wingdings 2"/>
              <a:buChar char=""/>
            </a:pPr>
            <a:r>
              <a:rPr lang="zh-CN" altLang="en-US" sz="2400" b="1" dirty="0" smtClean="0">
                <a:solidFill>
                  <a:srgbClr val="000000"/>
                </a:solidFill>
                <a:effectLst>
                  <a:outerShdw blurRad="38100" dist="38100" dir="2700000" algn="tl">
                    <a:srgbClr val="C0C0C0"/>
                  </a:outerShdw>
                </a:effectLst>
              </a:rPr>
              <a:t>菲涅尔区同心半径</a:t>
            </a:r>
            <a:endParaRPr lang="zh-CN" altLang="en-US" sz="2400" b="1" dirty="0" smtClean="0">
              <a:solidFill>
                <a:srgbClr val="000000"/>
              </a:solidFill>
              <a:effectLst>
                <a:outerShdw blurRad="38100" dist="38100" dir="2700000" algn="tl">
                  <a:srgbClr val="C0C0C0"/>
                </a:outerShdw>
              </a:effectLst>
            </a:endParaRPr>
          </a:p>
          <a:p>
            <a:pPr marL="36195">
              <a:lnSpc>
                <a:spcPct val="150000"/>
              </a:lnSpc>
              <a:spcBef>
                <a:spcPts val="0"/>
              </a:spcBef>
            </a:pPr>
            <a:endParaRPr lang="zh-CN" altLang="en-US" sz="2400" dirty="0">
              <a:solidFill>
                <a:srgbClr val="000000"/>
              </a:solidFill>
              <a:effectLst>
                <a:outerShdw blurRad="38100" dist="38100" dir="2700000" algn="tl">
                  <a:srgbClr val="C0C0C0"/>
                </a:outerShdw>
              </a:effectLst>
            </a:endParaRPr>
          </a:p>
        </p:txBody>
      </p:sp>
      <p:graphicFrame>
        <p:nvGraphicFramePr>
          <p:cNvPr id="143364" name="Object 4"/>
          <p:cNvGraphicFramePr>
            <a:graphicFrameLocks noChangeAspect="1"/>
          </p:cNvGraphicFramePr>
          <p:nvPr>
            <p:ph sz="quarter" idx="2"/>
          </p:nvPr>
        </p:nvGraphicFramePr>
        <p:xfrm>
          <a:off x="5508105" y="1923678"/>
          <a:ext cx="3146145" cy="774428"/>
        </p:xfrm>
        <a:graphic>
          <a:graphicData uri="http://schemas.openxmlformats.org/presentationml/2006/ole">
            <mc:AlternateContent xmlns:mc="http://schemas.openxmlformats.org/markup-compatibility/2006">
              <mc:Choice xmlns:v="urn:schemas-microsoft-com:vml" Requires="v">
                <p:oleObj spid="_x0000_s11265" name="" r:id="rId1" imgW="21031200" imgH="11582400" progId="">
                  <p:embed/>
                </p:oleObj>
              </mc:Choice>
              <mc:Fallback>
                <p:oleObj name="" r:id="rId1" imgW="21031200" imgH="11582400" progId="">
                  <p:embed/>
                  <p:pic>
                    <p:nvPicPr>
                      <p:cNvPr id="0" name="图片 11264" descr="image37"/>
                      <p:cNvPicPr>
                        <a:picLocks noChangeAspect="1"/>
                      </p:cNvPicPr>
                      <p:nvPr/>
                    </p:nvPicPr>
                    <p:blipFill>
                      <a:blip r:embed="rId2"/>
                      <a:stretch>
                        <a:fillRect/>
                      </a:stretch>
                    </p:blipFill>
                    <p:spPr>
                      <a:xfrm>
                        <a:off x="5508105" y="1923678"/>
                        <a:ext cx="3146145" cy="774428"/>
                      </a:xfrm>
                      <a:prstGeom prst="rect">
                        <a:avLst/>
                      </a:prstGeom>
                      <a:solidFill>
                        <a:srgbClr val="FFFFFF"/>
                      </a:solidFill>
                      <a:ln w="9525">
                        <a:noFill/>
                      </a:ln>
                    </p:spPr>
                  </p:pic>
                </p:oleObj>
              </mc:Fallback>
            </mc:AlternateContent>
          </a:graphicData>
        </a:graphic>
      </p:graphicFrame>
      <p:sp>
        <p:nvSpPr>
          <p:cNvPr id="143366" name="Rectangle 6"/>
          <p:cNvSpPr>
            <a:spLocks noChangeArrowheads="1"/>
          </p:cNvSpPr>
          <p:nvPr/>
        </p:nvSpPr>
        <p:spPr bwMode="gray">
          <a:xfrm>
            <a:off x="1" y="1498283"/>
            <a:ext cx="184731" cy="369332"/>
          </a:xfrm>
          <a:prstGeom prst="rect">
            <a:avLst/>
          </a:prstGeom>
          <a:noFill/>
          <a:ln w="12700" algn="ctr">
            <a:noFill/>
            <a:miter lim="800000"/>
          </a:ln>
          <a:effectLst/>
        </p:spPr>
        <p:txBody>
          <a:bodyPr wrap="none" anchor="ctr">
            <a:spAutoFit/>
          </a:bodyPr>
          <a:lstStyle/>
          <a:p>
            <a:endParaRPr lang="zh-CN" altLang="en-US"/>
          </a:p>
        </p:txBody>
      </p:sp>
      <p:graphicFrame>
        <p:nvGraphicFramePr>
          <p:cNvPr id="143367" name="Object 7"/>
          <p:cNvGraphicFramePr>
            <a:graphicFrameLocks noChangeAspect="1"/>
          </p:cNvGraphicFramePr>
          <p:nvPr/>
        </p:nvGraphicFramePr>
        <p:xfrm>
          <a:off x="3612288" y="2862318"/>
          <a:ext cx="5496216" cy="2247714"/>
        </p:xfrm>
        <a:graphic>
          <a:graphicData uri="http://schemas.openxmlformats.org/presentationml/2006/ole">
            <mc:AlternateContent xmlns:mc="http://schemas.openxmlformats.org/markup-compatibility/2006">
              <mc:Choice xmlns:v="urn:schemas-microsoft-com:vml" Requires="v">
                <p:oleObj spid="_x0000_s11266" name="Visio" r:id="rId3" imgW="5819775" imgH="3838575" progId="">
                  <p:embed/>
                </p:oleObj>
              </mc:Choice>
              <mc:Fallback>
                <p:oleObj name="Visio" r:id="rId3" imgW="5819775" imgH="3838575" progId="">
                  <p:embed/>
                  <p:pic>
                    <p:nvPicPr>
                      <p:cNvPr id="0" name="图片 11265" descr="image38"/>
                      <p:cNvPicPr>
                        <a:picLocks noChangeAspect="1"/>
                      </p:cNvPicPr>
                      <p:nvPr/>
                    </p:nvPicPr>
                    <p:blipFill>
                      <a:blip r:embed="rId4"/>
                      <a:stretch>
                        <a:fillRect/>
                      </a:stretch>
                    </p:blipFill>
                    <p:spPr>
                      <a:xfrm>
                        <a:off x="3612288" y="2862318"/>
                        <a:ext cx="5496216" cy="2247714"/>
                      </a:xfrm>
                      <a:prstGeom prst="rect">
                        <a:avLst/>
                      </a:prstGeom>
                      <a:solidFill>
                        <a:srgbClr val="FFFF99"/>
                      </a:solidFill>
                      <a:ln w="9525">
                        <a:noFill/>
                      </a:ln>
                    </p:spPr>
                  </p:pic>
                </p:oleObj>
              </mc:Fallback>
            </mc:AlternateContent>
          </a:graphicData>
        </a:graphic>
      </p:graphicFrame>
      <p:sp>
        <p:nvSpPr>
          <p:cNvPr id="143368" name="Rectangle 8"/>
          <p:cNvSpPr>
            <a:spLocks noChangeArrowheads="1"/>
          </p:cNvSpPr>
          <p:nvPr/>
        </p:nvSpPr>
        <p:spPr bwMode="gray">
          <a:xfrm>
            <a:off x="1" y="2198371"/>
            <a:ext cx="184731" cy="369332"/>
          </a:xfrm>
          <a:prstGeom prst="rect">
            <a:avLst/>
          </a:prstGeom>
          <a:noFill/>
          <a:ln w="12700" algn="ctr">
            <a:noFill/>
            <a:miter lim="800000"/>
          </a:ln>
          <a:effectLst/>
        </p:spPr>
        <p:txBody>
          <a:bodyPr wrap="none" anchor="ctr">
            <a:spAutoFit/>
          </a:bodyPr>
          <a:lstStyle/>
          <a:p>
            <a:endParaRPr lang="zh-CN" altLang="en-US"/>
          </a:p>
        </p:txBody>
      </p:sp>
      <p:grpSp>
        <p:nvGrpSpPr>
          <p:cNvPr id="10" name="Group 18"/>
          <p:cNvGrpSpPr/>
          <p:nvPr/>
        </p:nvGrpSpPr>
        <p:grpSpPr bwMode="auto">
          <a:xfrm>
            <a:off x="35497" y="1072589"/>
            <a:ext cx="1857375" cy="1133476"/>
            <a:chOff x="2209" y="1687"/>
            <a:chExt cx="1170" cy="952"/>
          </a:xfrm>
        </p:grpSpPr>
        <p:sp>
          <p:nvSpPr>
            <p:cNvPr id="11" name="Oval 19"/>
            <p:cNvSpPr>
              <a:spLocks noChangeArrowheads="1"/>
            </p:cNvSpPr>
            <p:nvPr/>
          </p:nvSpPr>
          <p:spPr bwMode="gray">
            <a:xfrm>
              <a:off x="2209" y="1950"/>
              <a:ext cx="164" cy="43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endParaRPr lang="zh-CN" altLang="en-US"/>
            </a:p>
          </p:txBody>
        </p:sp>
        <p:sp>
          <p:nvSpPr>
            <p:cNvPr id="12" name="Oval 20"/>
            <p:cNvSpPr>
              <a:spLocks noChangeArrowheads="1"/>
            </p:cNvSpPr>
            <p:nvPr/>
          </p:nvSpPr>
          <p:spPr bwMode="gray">
            <a:xfrm>
              <a:off x="2209" y="1950"/>
              <a:ext cx="164" cy="436"/>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13" name="Oval 21"/>
            <p:cNvSpPr>
              <a:spLocks noChangeArrowheads="1"/>
            </p:cNvSpPr>
            <p:nvPr/>
          </p:nvSpPr>
          <p:spPr bwMode="gray">
            <a:xfrm>
              <a:off x="2291" y="1950"/>
              <a:ext cx="1087" cy="436"/>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endParaRPr lang="zh-CN" altLang="en-US"/>
            </a:p>
          </p:txBody>
        </p:sp>
        <p:sp>
          <p:nvSpPr>
            <p:cNvPr id="14" name="Oval 22"/>
            <p:cNvSpPr>
              <a:spLocks noChangeArrowheads="1"/>
            </p:cNvSpPr>
            <p:nvPr/>
          </p:nvSpPr>
          <p:spPr bwMode="gray">
            <a:xfrm>
              <a:off x="2292" y="1952"/>
              <a:ext cx="1087" cy="436"/>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endParaRPr lang="zh-CN" altLang="en-US"/>
            </a:p>
          </p:txBody>
        </p:sp>
        <p:sp>
          <p:nvSpPr>
            <p:cNvPr id="15" name="Oval 23"/>
            <p:cNvSpPr>
              <a:spLocks noChangeArrowheads="1"/>
            </p:cNvSpPr>
            <p:nvPr/>
          </p:nvSpPr>
          <p:spPr bwMode="gray">
            <a:xfrm>
              <a:off x="2345" y="1949"/>
              <a:ext cx="979" cy="436"/>
            </a:xfrm>
            <a:prstGeom prst="ellipse">
              <a:avLst/>
            </a:prstGeom>
            <a:solidFill>
              <a:srgbClr val="333333"/>
            </a:solidFill>
            <a:ln w="38100" algn="ctr">
              <a:noFill/>
              <a:round/>
            </a:ln>
            <a:effectLst/>
          </p:spPr>
          <p:txBody>
            <a:bodyPr anchor="ctr">
              <a:spAutoFit/>
            </a:bodyPr>
            <a:lstStyle/>
            <a:p>
              <a:endParaRPr lang="zh-CN" altLang="en-US"/>
            </a:p>
          </p:txBody>
        </p:sp>
        <p:grpSp>
          <p:nvGrpSpPr>
            <p:cNvPr id="16" name="Group 24"/>
            <p:cNvGrpSpPr/>
            <p:nvPr/>
          </p:nvGrpSpPr>
          <p:grpSpPr bwMode="auto">
            <a:xfrm>
              <a:off x="2361" y="1687"/>
              <a:ext cx="947" cy="952"/>
              <a:chOff x="4166" y="1706"/>
              <a:chExt cx="1252" cy="1252"/>
            </a:xfrm>
          </p:grpSpPr>
          <p:sp>
            <p:nvSpPr>
              <p:cNvPr id="18" name="Oval 25"/>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9" name="Oval 26"/>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20" name="Oval 27"/>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21" name="Oval 28"/>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17" name="Text Box 29"/>
            <p:cNvSpPr txBox="1">
              <a:spLocks noChangeArrowheads="1"/>
            </p:cNvSpPr>
            <p:nvPr/>
          </p:nvSpPr>
          <p:spPr bwMode="gray">
            <a:xfrm>
              <a:off x="2395" y="2020"/>
              <a:ext cx="892" cy="388"/>
            </a:xfrm>
            <a:prstGeom prst="rect">
              <a:avLst/>
            </a:prstGeom>
            <a:noFill/>
            <a:ln w="9525" algn="ctr">
              <a:noFill/>
              <a:miter lim="800000"/>
            </a:ln>
            <a:effectLst/>
          </p:spPr>
          <p:txBody>
            <a:bodyPr wrap="none">
              <a:spAutoFit/>
            </a:bodyPr>
            <a:lstStyle/>
            <a:p>
              <a:pPr algn="ctr" eaLnBrk="0" hangingPunct="0"/>
              <a:r>
                <a:rPr lang="zh-CN" altLang="en-US" sz="2400" b="1" dirty="0"/>
                <a:t>菲涅尔区</a:t>
              </a:r>
              <a:endParaRPr lang="zh-CN" altLang="en-US" sz="2400" b="1" dirty="0"/>
            </a:p>
          </p:txBody>
        </p:sp>
      </p:grpSp>
      <p:pic>
        <p:nvPicPr>
          <p:cNvPr id="23" name="图片 22" descr="5bc6fc52-b49d-4298-b410-192e1f0ef3a5.gif"/>
          <p:cNvPicPr>
            <a:picLocks noChangeAspect="1"/>
          </p:cNvPicPr>
          <p:nvPr/>
        </p:nvPicPr>
        <p:blipFill>
          <a:blip r:embed="rId5" cstate="print"/>
          <a:srcRect l="14589" t="33821" r="11138" b="38327"/>
          <a:stretch>
            <a:fillRect/>
          </a:stretch>
        </p:blipFill>
        <p:spPr>
          <a:xfrm>
            <a:off x="0" y="0"/>
            <a:ext cx="2592288" cy="486054"/>
          </a:xfrm>
          <a:prstGeom prst="rect">
            <a:avLst/>
          </a:prstGeom>
        </p:spPr>
      </p:pic>
      <p:sp>
        <p:nvSpPr>
          <p:cNvPr id="24"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2.3.2  </a:t>
            </a:r>
            <a:r>
              <a:rPr lang="zh-CN" altLang="en-US" sz="4000" b="1" dirty="0" smtClean="0">
                <a:solidFill>
                  <a:srgbClr val="C00000"/>
                </a:solidFill>
                <a:effectLst>
                  <a:outerShdw blurRad="38100" dist="38100" dir="2700000" algn="tl">
                    <a:srgbClr val="C0C0C0"/>
                  </a:outerShdw>
                </a:effectLst>
              </a:rPr>
              <a:t>绕射</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
        <p:nvSpPr>
          <p:cNvPr id="39" name="TextBox 38"/>
          <p:cNvSpPr txBox="1"/>
          <p:nvPr/>
        </p:nvSpPr>
        <p:spPr>
          <a:xfrm>
            <a:off x="179512" y="2949792"/>
            <a:ext cx="3672408" cy="1754326"/>
          </a:xfrm>
          <a:prstGeom prst="rect">
            <a:avLst/>
          </a:prstGeom>
          <a:noFill/>
        </p:spPr>
        <p:txBody>
          <a:bodyPr wrap="square" rtlCol="0">
            <a:spAutoFit/>
          </a:bodyPr>
          <a:lstStyle/>
          <a:p>
            <a:pPr marL="36195" lvl="1">
              <a:lnSpc>
                <a:spcPct val="150000"/>
              </a:lnSpc>
              <a:spcBef>
                <a:spcPts val="0"/>
              </a:spcBef>
            </a:pPr>
            <a:r>
              <a:rPr lang="zh-CN" altLang="en-US" sz="2400" b="1" dirty="0" smtClean="0">
                <a:solidFill>
                  <a:srgbClr val="000000"/>
                </a:solidFill>
                <a:effectLst>
                  <a:outerShdw blurRad="38100" dist="38100" dir="2700000" algn="tl">
                    <a:srgbClr val="C0C0C0"/>
                  </a:outerShdw>
                </a:effectLst>
              </a:rPr>
              <a:t>接收点信号的合成</a:t>
            </a:r>
            <a:endParaRPr lang="zh-CN" altLang="en-US" sz="2400" b="1" dirty="0" smtClean="0">
              <a:solidFill>
                <a:srgbClr val="000000"/>
              </a:solidFill>
              <a:effectLst>
                <a:outerShdw blurRad="38100" dist="38100" dir="2700000" algn="tl">
                  <a:srgbClr val="C0C0C0"/>
                </a:outerShdw>
              </a:effectLst>
            </a:endParaRPr>
          </a:p>
          <a:p>
            <a:pPr marL="36195" lvl="2">
              <a:lnSpc>
                <a:spcPct val="150000"/>
              </a:lnSpc>
              <a:spcBef>
                <a:spcPts val="0"/>
              </a:spcBef>
            </a:pPr>
            <a:r>
              <a:rPr lang="en-US" altLang="zh-CN" sz="2400" b="1" dirty="0" smtClean="0">
                <a:solidFill>
                  <a:srgbClr val="000000"/>
                </a:solidFill>
                <a:effectLst>
                  <a:outerShdw blurRad="38100" dist="38100" dir="2700000" algn="tl">
                    <a:srgbClr val="C0C0C0"/>
                  </a:outerShdw>
                </a:effectLst>
              </a:rPr>
              <a:t>n</a:t>
            </a:r>
            <a:r>
              <a:rPr lang="zh-CN" altLang="en-US" sz="2400" b="1" dirty="0" smtClean="0">
                <a:solidFill>
                  <a:srgbClr val="000000"/>
                </a:solidFill>
                <a:effectLst>
                  <a:outerShdw blurRad="38100" dist="38100" dir="2700000" algn="tl">
                    <a:srgbClr val="C0C0C0"/>
                  </a:outerShdw>
                </a:effectLst>
              </a:rPr>
              <a:t>为奇数时，两信号抵消</a:t>
            </a:r>
            <a:endParaRPr lang="zh-CN" altLang="en-US" sz="2400" b="1" dirty="0" smtClean="0">
              <a:solidFill>
                <a:srgbClr val="000000"/>
              </a:solidFill>
              <a:effectLst>
                <a:outerShdw blurRad="38100" dist="38100" dir="2700000" algn="tl">
                  <a:srgbClr val="C0C0C0"/>
                </a:outerShdw>
              </a:effectLst>
            </a:endParaRPr>
          </a:p>
          <a:p>
            <a:pPr marL="36195" lvl="2">
              <a:lnSpc>
                <a:spcPct val="150000"/>
              </a:lnSpc>
              <a:spcBef>
                <a:spcPts val="0"/>
              </a:spcBef>
            </a:pPr>
            <a:r>
              <a:rPr lang="en-US" altLang="zh-CN" sz="2400" b="1" dirty="0" smtClean="0">
                <a:solidFill>
                  <a:srgbClr val="000000"/>
                </a:solidFill>
                <a:effectLst>
                  <a:outerShdw blurRad="38100" dist="38100" dir="2700000" algn="tl">
                    <a:srgbClr val="C0C0C0"/>
                  </a:outerShdw>
                </a:effectLst>
              </a:rPr>
              <a:t>n</a:t>
            </a:r>
            <a:r>
              <a:rPr lang="zh-CN" altLang="en-US" sz="2400" b="1" dirty="0" smtClean="0">
                <a:solidFill>
                  <a:srgbClr val="000000"/>
                </a:solidFill>
                <a:effectLst>
                  <a:outerShdw blurRad="38100" dist="38100" dir="2700000" algn="tl">
                    <a:srgbClr val="C0C0C0"/>
                  </a:outerShdw>
                </a:effectLst>
              </a:rPr>
              <a:t>为偶数时，两信号叠加</a:t>
            </a:r>
            <a:endParaRPr lang="zh-CN" altLang="en-US" sz="2400" b="1" dirty="0" smtClean="0">
              <a:solidFill>
                <a:srgbClr val="000000"/>
              </a:solidFill>
              <a:effectLst>
                <a:outerShdw blurRad="38100" dist="38100" dir="2700000" algn="tl">
                  <a:srgbClr val="C0C0C0"/>
                </a:outerShdw>
              </a:effectLst>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p:cTn id="7" dur="1000" fill="hold"/>
                                        <p:tgtEl>
                                          <p:spTgt spid="14336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4336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43363">
                                            <p:txEl>
                                              <p:pRg st="0" end="0"/>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143363">
                                            <p:txEl>
                                              <p:pRg st="1" end="1"/>
                                            </p:txEl>
                                          </p:spTgt>
                                        </p:tgtEl>
                                        <p:attrNameLst>
                                          <p:attrName>style.visibility</p:attrName>
                                        </p:attrNameLst>
                                      </p:cBhvr>
                                      <p:to>
                                        <p:strVal val="visible"/>
                                      </p:to>
                                    </p:set>
                                    <p:anim calcmode="lin" valueType="num">
                                      <p:cBhvr>
                                        <p:cTn id="12" dur="1000" fill="hold"/>
                                        <p:tgtEl>
                                          <p:spTgt spid="14336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4336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43363">
                                            <p:txEl>
                                              <p:pRg st="1" end="1"/>
                                            </p:txEl>
                                          </p:spTgt>
                                        </p:tgtEl>
                                      </p:cBhvr>
                                    </p:animEffect>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143367"/>
                                        </p:tgtEl>
                                        <p:attrNameLst>
                                          <p:attrName>style.visibility</p:attrName>
                                        </p:attrNameLst>
                                      </p:cBhvr>
                                      <p:to>
                                        <p:strVal val="visible"/>
                                      </p:to>
                                    </p:set>
                                    <p:anim calcmode="lin" valueType="num">
                                      <p:cBhvr>
                                        <p:cTn id="18" dur="500" fill="hold"/>
                                        <p:tgtEl>
                                          <p:spTgt spid="143367"/>
                                        </p:tgtEl>
                                        <p:attrNameLst>
                                          <p:attrName>ppt_w</p:attrName>
                                        </p:attrNameLst>
                                      </p:cBhvr>
                                      <p:tavLst>
                                        <p:tav tm="0">
                                          <p:val>
                                            <p:fltVal val="0"/>
                                          </p:val>
                                        </p:tav>
                                        <p:tav tm="100000">
                                          <p:val>
                                            <p:strVal val="#ppt_w"/>
                                          </p:val>
                                        </p:tav>
                                      </p:tavLst>
                                    </p:anim>
                                    <p:anim calcmode="lin" valueType="num">
                                      <p:cBhvr>
                                        <p:cTn id="19" dur="500" fill="hold"/>
                                        <p:tgtEl>
                                          <p:spTgt spid="143367"/>
                                        </p:tgtEl>
                                        <p:attrNameLst>
                                          <p:attrName>ppt_h</p:attrName>
                                        </p:attrNameLst>
                                      </p:cBhvr>
                                      <p:tavLst>
                                        <p:tav tm="0">
                                          <p:val>
                                            <p:fltVal val="0"/>
                                          </p:val>
                                        </p:tav>
                                        <p:tav tm="100000">
                                          <p:val>
                                            <p:strVal val="#ppt_h"/>
                                          </p:val>
                                        </p:tav>
                                      </p:tavLst>
                                    </p:anim>
                                    <p:anim calcmode="lin" valueType="num">
                                      <p:cBhvr>
                                        <p:cTn id="20" dur="500" fill="hold"/>
                                        <p:tgtEl>
                                          <p:spTgt spid="143367"/>
                                        </p:tgtEl>
                                        <p:attrNameLst>
                                          <p:attrName>style.rotation</p:attrName>
                                        </p:attrNameLst>
                                      </p:cBhvr>
                                      <p:tavLst>
                                        <p:tav tm="0">
                                          <p:val>
                                            <p:fltVal val="360"/>
                                          </p:val>
                                        </p:tav>
                                        <p:tav tm="100000">
                                          <p:val>
                                            <p:fltVal val="0"/>
                                          </p:val>
                                        </p:tav>
                                      </p:tavLst>
                                    </p:anim>
                                    <p:animEffect transition="in" filter="fade">
                                      <p:cBhvr>
                                        <p:cTn id="21" dur="500"/>
                                        <p:tgtEl>
                                          <p:spTgt spid="143367"/>
                                        </p:tgtEl>
                                      </p:cBhvr>
                                    </p:animEffect>
                                  </p:childTnLst>
                                </p:cTn>
                              </p:par>
                            </p:childTnLst>
                          </p:cTn>
                        </p:par>
                        <p:par>
                          <p:cTn id="22" fill="hold">
                            <p:stCondLst>
                              <p:cond delay="1500"/>
                            </p:stCondLst>
                            <p:childTnLst>
                              <p:par>
                                <p:cTn id="23" presetID="55" presetClass="entr" presetSubtype="0" fill="hold" nodeType="afterEffect">
                                  <p:stCondLst>
                                    <p:cond delay="0"/>
                                  </p:stCondLst>
                                  <p:childTnLst>
                                    <p:set>
                                      <p:cBhvr>
                                        <p:cTn id="24" dur="1" fill="hold">
                                          <p:stCondLst>
                                            <p:cond delay="0"/>
                                          </p:stCondLst>
                                        </p:cTn>
                                        <p:tgtEl>
                                          <p:spTgt spid="143364"/>
                                        </p:tgtEl>
                                        <p:attrNameLst>
                                          <p:attrName>style.visibility</p:attrName>
                                        </p:attrNameLst>
                                      </p:cBhvr>
                                      <p:to>
                                        <p:strVal val="visible"/>
                                      </p:to>
                                    </p:set>
                                    <p:anim calcmode="lin" valueType="num">
                                      <p:cBhvr>
                                        <p:cTn id="25" dur="1000" fill="hold"/>
                                        <p:tgtEl>
                                          <p:spTgt spid="143364"/>
                                        </p:tgtEl>
                                        <p:attrNameLst>
                                          <p:attrName>ppt_w</p:attrName>
                                        </p:attrNameLst>
                                      </p:cBhvr>
                                      <p:tavLst>
                                        <p:tav tm="0">
                                          <p:val>
                                            <p:strVal val="#ppt_w*0.70"/>
                                          </p:val>
                                        </p:tav>
                                        <p:tav tm="100000">
                                          <p:val>
                                            <p:strVal val="#ppt_w"/>
                                          </p:val>
                                        </p:tav>
                                      </p:tavLst>
                                    </p:anim>
                                    <p:anim calcmode="lin" valueType="num">
                                      <p:cBhvr>
                                        <p:cTn id="26" dur="1000" fill="hold"/>
                                        <p:tgtEl>
                                          <p:spTgt spid="143364"/>
                                        </p:tgtEl>
                                        <p:attrNameLst>
                                          <p:attrName>ppt_h</p:attrName>
                                        </p:attrNameLst>
                                      </p:cBhvr>
                                      <p:tavLst>
                                        <p:tav tm="0">
                                          <p:val>
                                            <p:strVal val="#ppt_h"/>
                                          </p:val>
                                        </p:tav>
                                        <p:tav tm="100000">
                                          <p:val>
                                            <p:strVal val="#ppt_h"/>
                                          </p:val>
                                        </p:tav>
                                      </p:tavLst>
                                    </p:anim>
                                    <p:animEffect transition="in" filter="fade">
                                      <p:cBhvr>
                                        <p:cTn id="27" dur="1000"/>
                                        <p:tgtEl>
                                          <p:spTgt spid="143364"/>
                                        </p:tgtEl>
                                      </p:cBhvr>
                                    </p:animEffect>
                                  </p:childTnLst>
                                </p:cTn>
                              </p:par>
                            </p:childTnLst>
                          </p:cTn>
                        </p:par>
                        <p:par>
                          <p:cTn id="28" fill="hold">
                            <p:stCondLst>
                              <p:cond delay="2500"/>
                            </p:stCondLst>
                            <p:childTnLst>
                              <p:par>
                                <p:cTn id="29" presetID="29"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ppt_x</p:attrName>
                                        </p:attrNameLst>
                                      </p:cBhvr>
                                      <p:tavLst>
                                        <p:tav tm="0">
                                          <p:val>
                                            <p:strVal val="#ppt_x-.2"/>
                                          </p:val>
                                        </p:tav>
                                        <p:tav tm="100000">
                                          <p:val>
                                            <p:strVal val="#ppt_x"/>
                                          </p:val>
                                        </p:tav>
                                      </p:tavLst>
                                    </p:anim>
                                    <p:anim calcmode="lin" valueType="num">
                                      <p:cBhvr>
                                        <p:cTn id="32"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3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Rot="1" noChangeArrowheads="1"/>
          </p:cNvSpPr>
          <p:nvPr>
            <p:ph type="body" sz="half" idx="1"/>
          </p:nvPr>
        </p:nvSpPr>
        <p:spPr>
          <a:xfrm>
            <a:off x="1619672" y="1005576"/>
            <a:ext cx="7272807" cy="3888432"/>
          </a:xfrm>
        </p:spPr>
        <p:txBody>
          <a:bodyPr>
            <a:noAutofit/>
          </a:bodyPr>
          <a:lstStyle/>
          <a:p>
            <a:pPr marL="36195" lvl="1">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第一</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菲涅尔区半径（</a:t>
            </a:r>
            <a:r>
              <a:rPr lang="en-US" altLang="zh-CN"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n=1</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）特</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点：在</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接收点处第一菲涅尔区的场强是全部场强的一</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半；发</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射机和接收机的距离略大于第一菲涅尔区，则大部分能量可以达到接收机。 </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400" b="1"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基尔霍夫公式</a:t>
            </a:r>
            <a:endParaRPr lang="zh-CN" altLang="en-US" sz="2400" b="1"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从</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波前点到空间任何一点的场</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强，式</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中，</a:t>
            </a:r>
            <a:r>
              <a:rPr lang="en-US" altLang="zh-CN"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E</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是波面场强，    是与波面正交的场强导数。</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graphicFrame>
        <p:nvGraphicFramePr>
          <p:cNvPr id="143365" name="Object 5"/>
          <p:cNvGraphicFramePr>
            <a:graphicFrameLocks noChangeAspect="1"/>
          </p:cNvGraphicFramePr>
          <p:nvPr>
            <p:ph sz="quarter" idx="3"/>
          </p:nvPr>
        </p:nvGraphicFramePr>
        <p:xfrm>
          <a:off x="2267744" y="4371950"/>
          <a:ext cx="720080" cy="538361"/>
        </p:xfrm>
        <a:graphic>
          <a:graphicData uri="http://schemas.openxmlformats.org/presentationml/2006/ole">
            <mc:AlternateContent xmlns:mc="http://schemas.openxmlformats.org/markup-compatibility/2006">
              <mc:Choice xmlns:v="urn:schemas-microsoft-com:vml" Requires="v">
                <p:oleObj spid="_x0000_s12289" name="" r:id="rId1" imgW="7010400" imgH="9448800" progId="">
                  <p:embed/>
                </p:oleObj>
              </mc:Choice>
              <mc:Fallback>
                <p:oleObj name="" r:id="rId1" imgW="7010400" imgH="9448800" progId="">
                  <p:embed/>
                  <p:pic>
                    <p:nvPicPr>
                      <p:cNvPr id="0" name="图片 12288" descr="image39"/>
                      <p:cNvPicPr>
                        <a:picLocks noChangeAspect="1"/>
                      </p:cNvPicPr>
                      <p:nvPr/>
                    </p:nvPicPr>
                    <p:blipFill>
                      <a:blip r:embed="rId2"/>
                      <a:stretch>
                        <a:fillRect/>
                      </a:stretch>
                    </p:blipFill>
                    <p:spPr>
                      <a:xfrm>
                        <a:off x="2267744" y="4371950"/>
                        <a:ext cx="720080" cy="538361"/>
                      </a:xfrm>
                      <a:prstGeom prst="rect">
                        <a:avLst/>
                      </a:prstGeom>
                      <a:solidFill>
                        <a:srgbClr val="FFFFFF"/>
                      </a:solidFill>
                      <a:ln w="9525">
                        <a:noFill/>
                      </a:ln>
                    </p:spPr>
                  </p:pic>
                </p:oleObj>
              </mc:Fallback>
            </mc:AlternateContent>
          </a:graphicData>
        </a:graphic>
      </p:graphicFrame>
      <p:sp>
        <p:nvSpPr>
          <p:cNvPr id="143366" name="Rectangle 6"/>
          <p:cNvSpPr>
            <a:spLocks noChangeArrowheads="1"/>
          </p:cNvSpPr>
          <p:nvPr/>
        </p:nvSpPr>
        <p:spPr bwMode="gray">
          <a:xfrm>
            <a:off x="1" y="1498283"/>
            <a:ext cx="184731" cy="369332"/>
          </a:xfrm>
          <a:prstGeom prst="rect">
            <a:avLst/>
          </a:prstGeom>
          <a:noFill/>
          <a:ln w="12700" algn="ctr">
            <a:noFill/>
            <a:miter lim="800000"/>
          </a:ln>
          <a:effectLst/>
        </p:spPr>
        <p:txBody>
          <a:bodyPr wrap="none" anchor="ctr">
            <a:spAutoFit/>
          </a:bodyPr>
          <a:lstStyle/>
          <a:p>
            <a:endParaRPr lang="zh-CN" altLang="en-US"/>
          </a:p>
        </p:txBody>
      </p:sp>
      <p:sp>
        <p:nvSpPr>
          <p:cNvPr id="143368" name="Rectangle 8"/>
          <p:cNvSpPr>
            <a:spLocks noChangeArrowheads="1"/>
          </p:cNvSpPr>
          <p:nvPr/>
        </p:nvSpPr>
        <p:spPr bwMode="gray">
          <a:xfrm>
            <a:off x="1" y="2198371"/>
            <a:ext cx="184731" cy="369332"/>
          </a:xfrm>
          <a:prstGeom prst="rect">
            <a:avLst/>
          </a:prstGeom>
          <a:noFill/>
          <a:ln w="12700" algn="ctr">
            <a:noFill/>
            <a:miter lim="800000"/>
          </a:ln>
          <a:effectLst/>
        </p:spPr>
        <p:txBody>
          <a:bodyPr wrap="none" anchor="ctr">
            <a:spAutoFit/>
          </a:bodyPr>
          <a:lstStyle/>
          <a:p>
            <a:endParaRPr lang="zh-CN" altLang="en-US"/>
          </a:p>
        </p:txBody>
      </p:sp>
      <p:graphicFrame>
        <p:nvGraphicFramePr>
          <p:cNvPr id="143369" name="Object 9"/>
          <p:cNvGraphicFramePr>
            <a:graphicFrameLocks noChangeAspect="1"/>
          </p:cNvGraphicFramePr>
          <p:nvPr/>
        </p:nvGraphicFramePr>
        <p:xfrm>
          <a:off x="4283968" y="3219822"/>
          <a:ext cx="4489327" cy="695846"/>
        </p:xfrm>
        <a:graphic>
          <a:graphicData uri="http://schemas.openxmlformats.org/presentationml/2006/ole">
            <mc:AlternateContent xmlns:mc="http://schemas.openxmlformats.org/markup-compatibility/2006">
              <mc:Choice xmlns:v="urn:schemas-microsoft-com:vml" Requires="v">
                <p:oleObj spid="_x0000_s12290" name="Equation" r:id="rId3" imgW="58521600" imgH="12192000" progId="">
                  <p:embed/>
                </p:oleObj>
              </mc:Choice>
              <mc:Fallback>
                <p:oleObj name="Equation" r:id="rId3" imgW="58521600" imgH="12192000" progId="">
                  <p:embed/>
                  <p:pic>
                    <p:nvPicPr>
                      <p:cNvPr id="0" name="图片 12289" descr="image40"/>
                      <p:cNvPicPr>
                        <a:picLocks noChangeAspect="1"/>
                      </p:cNvPicPr>
                      <p:nvPr/>
                    </p:nvPicPr>
                    <p:blipFill>
                      <a:blip r:embed="rId4"/>
                      <a:stretch>
                        <a:fillRect/>
                      </a:stretch>
                    </p:blipFill>
                    <p:spPr>
                      <a:xfrm>
                        <a:off x="4283968" y="3219822"/>
                        <a:ext cx="4489327" cy="695846"/>
                      </a:xfrm>
                      <a:prstGeom prst="rect">
                        <a:avLst/>
                      </a:prstGeom>
                      <a:solidFill>
                        <a:srgbClr val="FFFFFF"/>
                      </a:solidFill>
                      <a:ln w="9525">
                        <a:noFill/>
                      </a:ln>
                    </p:spPr>
                  </p:pic>
                </p:oleObj>
              </mc:Fallback>
            </mc:AlternateContent>
          </a:graphicData>
        </a:graphic>
      </p:graphicFrame>
      <p:pic>
        <p:nvPicPr>
          <p:cNvPr id="23" name="图片 22" descr="5bc6fc52-b49d-4298-b410-192e1f0ef3a5.gif"/>
          <p:cNvPicPr>
            <a:picLocks noChangeAspect="1"/>
          </p:cNvPicPr>
          <p:nvPr/>
        </p:nvPicPr>
        <p:blipFill>
          <a:blip r:embed="rId5" cstate="print"/>
          <a:srcRect l="14589" t="33821" r="11138" b="38327"/>
          <a:stretch>
            <a:fillRect/>
          </a:stretch>
        </p:blipFill>
        <p:spPr>
          <a:xfrm>
            <a:off x="0" y="0"/>
            <a:ext cx="2592288" cy="486054"/>
          </a:xfrm>
          <a:prstGeom prst="rect">
            <a:avLst/>
          </a:prstGeom>
        </p:spPr>
      </p:pic>
      <p:sp>
        <p:nvSpPr>
          <p:cNvPr id="24"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2.3.2  </a:t>
            </a:r>
            <a:r>
              <a:rPr lang="zh-CN" altLang="en-US" sz="4000" b="1" dirty="0" smtClean="0">
                <a:solidFill>
                  <a:srgbClr val="C00000"/>
                </a:solidFill>
                <a:effectLst>
                  <a:outerShdw blurRad="38100" dist="38100" dir="2700000" algn="tl">
                    <a:srgbClr val="C0C0C0"/>
                  </a:outerShdw>
                </a:effectLst>
              </a:rPr>
              <a:t>绕射</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grpSp>
        <p:nvGrpSpPr>
          <p:cNvPr id="26" name="Group 30"/>
          <p:cNvGrpSpPr/>
          <p:nvPr/>
        </p:nvGrpSpPr>
        <p:grpSpPr bwMode="auto">
          <a:xfrm>
            <a:off x="-12601" y="1072586"/>
            <a:ext cx="2031999" cy="1133475"/>
            <a:chOff x="3789" y="1687"/>
            <a:chExt cx="1280" cy="952"/>
          </a:xfrm>
        </p:grpSpPr>
        <p:sp>
          <p:nvSpPr>
            <p:cNvPr id="27" name="Oval 31"/>
            <p:cNvSpPr>
              <a:spLocks noChangeArrowheads="1"/>
            </p:cNvSpPr>
            <p:nvPr/>
          </p:nvSpPr>
          <p:spPr bwMode="gray">
            <a:xfrm>
              <a:off x="3793" y="1950"/>
              <a:ext cx="164" cy="43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28" name="Oval 32"/>
            <p:cNvSpPr>
              <a:spLocks noChangeArrowheads="1"/>
            </p:cNvSpPr>
            <p:nvPr/>
          </p:nvSpPr>
          <p:spPr bwMode="gray">
            <a:xfrm>
              <a:off x="3875" y="1950"/>
              <a:ext cx="1087" cy="436"/>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29" name="Oval 33"/>
            <p:cNvSpPr>
              <a:spLocks noChangeArrowheads="1"/>
            </p:cNvSpPr>
            <p:nvPr/>
          </p:nvSpPr>
          <p:spPr bwMode="gray">
            <a:xfrm>
              <a:off x="3893" y="1956"/>
              <a:ext cx="1088" cy="436"/>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30" name="Oval 34"/>
            <p:cNvSpPr>
              <a:spLocks noChangeArrowheads="1"/>
            </p:cNvSpPr>
            <p:nvPr/>
          </p:nvSpPr>
          <p:spPr bwMode="gray">
            <a:xfrm>
              <a:off x="3933" y="1949"/>
              <a:ext cx="980" cy="436"/>
            </a:xfrm>
            <a:prstGeom prst="ellipse">
              <a:avLst/>
            </a:prstGeom>
            <a:solidFill>
              <a:srgbClr val="333333"/>
            </a:solidFill>
            <a:ln w="38100" algn="ctr">
              <a:noFill/>
              <a:round/>
            </a:ln>
            <a:effectLst/>
          </p:spPr>
          <p:txBody>
            <a:bodyPr anchor="ctr">
              <a:spAutoFit/>
            </a:bodyPr>
            <a:lstStyle/>
            <a:p>
              <a:endParaRPr lang="zh-CN" altLang="en-US"/>
            </a:p>
          </p:txBody>
        </p:sp>
        <p:grpSp>
          <p:nvGrpSpPr>
            <p:cNvPr id="31" name="Group 35"/>
            <p:cNvGrpSpPr/>
            <p:nvPr/>
          </p:nvGrpSpPr>
          <p:grpSpPr bwMode="auto">
            <a:xfrm>
              <a:off x="3789" y="1687"/>
              <a:ext cx="1280" cy="952"/>
              <a:chOff x="3789" y="1687"/>
              <a:chExt cx="1280" cy="952"/>
            </a:xfrm>
          </p:grpSpPr>
          <p:sp>
            <p:nvSpPr>
              <p:cNvPr id="32" name="Oval 36"/>
              <p:cNvSpPr>
                <a:spLocks noChangeArrowheads="1"/>
              </p:cNvSpPr>
              <p:nvPr/>
            </p:nvSpPr>
            <p:spPr bwMode="gray">
              <a:xfrm>
                <a:off x="3793" y="1950"/>
                <a:ext cx="164" cy="43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ln>
              <a:effectLst/>
            </p:spPr>
            <p:txBody>
              <a:bodyPr wrap="none" anchor="ctr">
                <a:spAutoFit/>
              </a:bodyPr>
              <a:lstStyle/>
              <a:p>
                <a:endParaRPr lang="zh-CN" altLang="en-US"/>
              </a:p>
            </p:txBody>
          </p:sp>
          <p:grpSp>
            <p:nvGrpSpPr>
              <p:cNvPr id="33" name="Group 37"/>
              <p:cNvGrpSpPr/>
              <p:nvPr/>
            </p:nvGrpSpPr>
            <p:grpSpPr bwMode="auto">
              <a:xfrm>
                <a:off x="3951" y="1687"/>
                <a:ext cx="948" cy="952"/>
                <a:chOff x="4166" y="1706"/>
                <a:chExt cx="1252" cy="1252"/>
              </a:xfrm>
            </p:grpSpPr>
            <p:sp>
              <p:nvSpPr>
                <p:cNvPr id="35" name="Oval 38"/>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36" name="Oval 39"/>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37" name="Oval 40"/>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38" name="Oval 41"/>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sp>
            <p:nvSpPr>
              <p:cNvPr id="34" name="Text Box 42"/>
              <p:cNvSpPr txBox="1">
                <a:spLocks noChangeArrowheads="1"/>
              </p:cNvSpPr>
              <p:nvPr/>
            </p:nvSpPr>
            <p:spPr bwMode="gray">
              <a:xfrm>
                <a:off x="3789" y="2076"/>
                <a:ext cx="1280" cy="388"/>
              </a:xfrm>
              <a:prstGeom prst="rect">
                <a:avLst/>
              </a:prstGeom>
              <a:noFill/>
              <a:ln w="9525" algn="ctr">
                <a:noFill/>
                <a:miter lim="800000"/>
              </a:ln>
              <a:effectLst/>
            </p:spPr>
            <p:txBody>
              <a:bodyPr wrap="none">
                <a:spAutoFit/>
              </a:bodyPr>
              <a:lstStyle/>
              <a:p>
                <a:pPr algn="ctr" eaLnBrk="0" hangingPunct="0"/>
                <a:r>
                  <a:rPr lang="zh-CN" altLang="en-US" sz="2400" b="1" dirty="0"/>
                  <a:t>基尔霍夫公式</a:t>
                </a:r>
                <a:endParaRPr lang="zh-CN" altLang="en-US" sz="2400" b="1" dirty="0"/>
              </a:p>
            </p:txBody>
          </p:sp>
        </p:gr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dissolve">
                                      <p:cBhvr>
                                        <p:cTn id="7" dur="500"/>
                                        <p:tgtEl>
                                          <p:spTgt spid="143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43363">
                                            <p:txEl>
                                              <p:pRg st="1" end="1"/>
                                            </p:txEl>
                                          </p:spTgt>
                                        </p:tgtEl>
                                        <p:attrNameLst>
                                          <p:attrName>style.visibility</p:attrName>
                                        </p:attrNameLst>
                                      </p:cBhvr>
                                      <p:to>
                                        <p:strVal val="visible"/>
                                      </p:to>
                                    </p:set>
                                    <p:anim calcmode="lin" valueType="num">
                                      <p:cBhvr>
                                        <p:cTn id="12" dur="1000" fill="hold"/>
                                        <p:tgtEl>
                                          <p:spTgt spid="14336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4336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4336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p:cTn id="19" dur="1000" fill="hold"/>
                                        <p:tgtEl>
                                          <p:spTgt spid="143363">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4336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43363">
                                            <p:txEl>
                                              <p:pRg st="2" end="2"/>
                                            </p:txEl>
                                          </p:spTgt>
                                        </p:tgtEl>
                                      </p:cBhvr>
                                    </p:animEffect>
                                  </p:childTnLst>
                                </p:cTn>
                              </p:par>
                              <p:par>
                                <p:cTn id="22" presetID="55" presetClass="entr" presetSubtype="0" fill="hold" nodeType="withEffect">
                                  <p:stCondLst>
                                    <p:cond delay="0"/>
                                  </p:stCondLst>
                                  <p:childTnLst>
                                    <p:set>
                                      <p:cBhvr>
                                        <p:cTn id="23" dur="1" fill="hold">
                                          <p:stCondLst>
                                            <p:cond delay="0"/>
                                          </p:stCondLst>
                                        </p:cTn>
                                        <p:tgtEl>
                                          <p:spTgt spid="143369"/>
                                        </p:tgtEl>
                                        <p:attrNameLst>
                                          <p:attrName>style.visibility</p:attrName>
                                        </p:attrNameLst>
                                      </p:cBhvr>
                                      <p:to>
                                        <p:strVal val="visible"/>
                                      </p:to>
                                    </p:set>
                                    <p:anim calcmode="lin" valueType="num">
                                      <p:cBhvr>
                                        <p:cTn id="24" dur="1000" fill="hold"/>
                                        <p:tgtEl>
                                          <p:spTgt spid="143369"/>
                                        </p:tgtEl>
                                        <p:attrNameLst>
                                          <p:attrName>ppt_w</p:attrName>
                                        </p:attrNameLst>
                                      </p:cBhvr>
                                      <p:tavLst>
                                        <p:tav tm="0">
                                          <p:val>
                                            <p:strVal val="#ppt_w*0.70"/>
                                          </p:val>
                                        </p:tav>
                                        <p:tav tm="100000">
                                          <p:val>
                                            <p:strVal val="#ppt_w"/>
                                          </p:val>
                                        </p:tav>
                                      </p:tavLst>
                                    </p:anim>
                                    <p:anim calcmode="lin" valueType="num">
                                      <p:cBhvr>
                                        <p:cTn id="25" dur="1000" fill="hold"/>
                                        <p:tgtEl>
                                          <p:spTgt spid="143369"/>
                                        </p:tgtEl>
                                        <p:attrNameLst>
                                          <p:attrName>ppt_h</p:attrName>
                                        </p:attrNameLst>
                                      </p:cBhvr>
                                      <p:tavLst>
                                        <p:tav tm="0">
                                          <p:val>
                                            <p:strVal val="#ppt_h"/>
                                          </p:val>
                                        </p:tav>
                                        <p:tav tm="100000">
                                          <p:val>
                                            <p:strVal val="#ppt_h"/>
                                          </p:val>
                                        </p:tav>
                                      </p:tavLst>
                                    </p:anim>
                                    <p:animEffect transition="in" filter="fade">
                                      <p:cBhvr>
                                        <p:cTn id="26" dur="1000"/>
                                        <p:tgtEl>
                                          <p:spTgt spid="143369"/>
                                        </p:tgtEl>
                                      </p:cBhvr>
                                    </p:animEffect>
                                  </p:childTnLst>
                                </p:cTn>
                              </p:par>
                              <p:par>
                                <p:cTn id="27" presetID="55" presetClass="entr" presetSubtype="0" fill="hold" nodeType="withEffect">
                                  <p:stCondLst>
                                    <p:cond delay="0"/>
                                  </p:stCondLst>
                                  <p:childTnLst>
                                    <p:set>
                                      <p:cBhvr>
                                        <p:cTn id="28" dur="1" fill="hold">
                                          <p:stCondLst>
                                            <p:cond delay="0"/>
                                          </p:stCondLst>
                                        </p:cTn>
                                        <p:tgtEl>
                                          <p:spTgt spid="143365"/>
                                        </p:tgtEl>
                                        <p:attrNameLst>
                                          <p:attrName>style.visibility</p:attrName>
                                        </p:attrNameLst>
                                      </p:cBhvr>
                                      <p:to>
                                        <p:strVal val="visible"/>
                                      </p:to>
                                    </p:set>
                                    <p:anim calcmode="lin" valueType="num">
                                      <p:cBhvr>
                                        <p:cTn id="29" dur="1000" fill="hold"/>
                                        <p:tgtEl>
                                          <p:spTgt spid="143365"/>
                                        </p:tgtEl>
                                        <p:attrNameLst>
                                          <p:attrName>ppt_w</p:attrName>
                                        </p:attrNameLst>
                                      </p:cBhvr>
                                      <p:tavLst>
                                        <p:tav tm="0">
                                          <p:val>
                                            <p:strVal val="#ppt_w*0.70"/>
                                          </p:val>
                                        </p:tav>
                                        <p:tav tm="100000">
                                          <p:val>
                                            <p:strVal val="#ppt_w"/>
                                          </p:val>
                                        </p:tav>
                                      </p:tavLst>
                                    </p:anim>
                                    <p:anim calcmode="lin" valueType="num">
                                      <p:cBhvr>
                                        <p:cTn id="30" dur="1000" fill="hold"/>
                                        <p:tgtEl>
                                          <p:spTgt spid="143365"/>
                                        </p:tgtEl>
                                        <p:attrNameLst>
                                          <p:attrName>ppt_h</p:attrName>
                                        </p:attrNameLst>
                                      </p:cBhvr>
                                      <p:tavLst>
                                        <p:tav tm="0">
                                          <p:val>
                                            <p:strVal val="#ppt_h"/>
                                          </p:val>
                                        </p:tav>
                                        <p:tav tm="100000">
                                          <p:val>
                                            <p:strVal val="#ppt_h"/>
                                          </p:val>
                                        </p:tav>
                                      </p:tavLst>
                                    </p:anim>
                                    <p:animEffect transition="in" filter="fade">
                                      <p:cBhvr>
                                        <p:cTn id="31" dur="1000"/>
                                        <p:tgtEl>
                                          <p:spTgt spid="143365"/>
                                        </p:tgtEl>
                                      </p:cBhvr>
                                    </p:animEffect>
                                  </p:childTnLst>
                                </p:cTn>
                              </p:par>
                            </p:childTnLst>
                          </p:cTn>
                        </p:par>
                        <p:par>
                          <p:cTn id="32" fill="hold">
                            <p:stCondLst>
                              <p:cond delay="1000"/>
                            </p:stCondLst>
                            <p:childTnLst>
                              <p:par>
                                <p:cTn id="33" presetID="29" presetClass="entr" presetSubtype="0" fill="hold" nodeType="after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1000" fill="hold"/>
                                        <p:tgtEl>
                                          <p:spTgt spid="26"/>
                                        </p:tgtEl>
                                        <p:attrNameLst>
                                          <p:attrName>ppt_x</p:attrName>
                                        </p:attrNameLst>
                                      </p:cBhvr>
                                      <p:tavLst>
                                        <p:tav tm="0">
                                          <p:val>
                                            <p:strVal val="#ppt_x-.2"/>
                                          </p:val>
                                        </p:tav>
                                        <p:tav tm="100000">
                                          <p:val>
                                            <p:strVal val="#ppt_x"/>
                                          </p:val>
                                        </p:tav>
                                      </p:tavLst>
                                    </p:anim>
                                    <p:anim calcmode="lin" valueType="num">
                                      <p:cBhvr>
                                        <p:cTn id="36" dur="1000" fill="hold"/>
                                        <p:tgtEl>
                                          <p:spTgt spid="26"/>
                                        </p:tgtEl>
                                        <p:attrNameLst>
                                          <p:attrName>ppt_y</p:attrName>
                                        </p:attrNameLst>
                                      </p:cBhvr>
                                      <p:tavLst>
                                        <p:tav tm="0">
                                          <p:val>
                                            <p:strVal val="#ppt_y"/>
                                          </p:val>
                                        </p:tav>
                                        <p:tav tm="100000">
                                          <p:val>
                                            <p:strVal val="#ppt_y"/>
                                          </p:val>
                                        </p:tav>
                                      </p:tavLst>
                                    </p:anim>
                                    <p:animEffect transition="in" filter="wipe(right)" prLst="gradientSize: 0.1">
                                      <p:cBhvr>
                                        <p:cTn id="3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35496" y="2139702"/>
            <a:ext cx="1809949" cy="1357462"/>
            <a:chOff x="720" y="1248"/>
            <a:chExt cx="2415" cy="2415"/>
          </a:xfrm>
        </p:grpSpPr>
        <p:grpSp>
          <p:nvGrpSpPr>
            <p:cNvPr id="3" name="Group 3"/>
            <p:cNvGrpSpPr/>
            <p:nvPr/>
          </p:nvGrpSpPr>
          <p:grpSpPr bwMode="auto">
            <a:xfrm>
              <a:off x="720" y="1248"/>
              <a:ext cx="2415" cy="2415"/>
              <a:chOff x="720" y="1248"/>
              <a:chExt cx="2415" cy="2415"/>
            </a:xfrm>
          </p:grpSpPr>
          <p:sp>
            <p:nvSpPr>
              <p:cNvPr id="144388" name="AutoShape 4"/>
              <p:cNvSpPr>
                <a:spLocks noChangeArrowheads="1"/>
              </p:cNvSpPr>
              <p:nvPr/>
            </p:nvSpPr>
            <p:spPr bwMode="gray">
              <a:xfrm>
                <a:off x="720" y="1248"/>
                <a:ext cx="2415" cy="241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gradFill rotWithShape="1">
                <a:gsLst>
                  <a:gs pos="0">
                    <a:schemeClr val="accent1">
                      <a:gamma/>
                      <a:shade val="66667"/>
                      <a:invGamma/>
                      <a:alpha val="12000"/>
                    </a:schemeClr>
                  </a:gs>
                  <a:gs pos="50000">
                    <a:schemeClr val="accent1"/>
                  </a:gs>
                  <a:gs pos="100000">
                    <a:schemeClr val="accent1">
                      <a:gamma/>
                      <a:shade val="66667"/>
                      <a:invGamma/>
                      <a:alpha val="12000"/>
                    </a:schemeClr>
                  </a:gs>
                </a:gsLst>
                <a:lin ang="0" scaled="1"/>
              </a:gradFill>
              <a:ln w="9525">
                <a:noFill/>
                <a:round/>
              </a:ln>
              <a:effectLst/>
            </p:spPr>
            <p:txBody>
              <a:bodyPr wrap="none" anchor="ctr"/>
              <a:lstStyle/>
              <a:p>
                <a:endParaRPr lang="zh-CN" altLang="en-US"/>
              </a:p>
            </p:txBody>
          </p:sp>
          <p:sp>
            <p:nvSpPr>
              <p:cNvPr id="144389" name="Oval 5"/>
              <p:cNvSpPr>
                <a:spLocks noChangeArrowheads="1"/>
              </p:cNvSpPr>
              <p:nvPr/>
            </p:nvSpPr>
            <p:spPr bwMode="gray">
              <a:xfrm>
                <a:off x="912" y="1440"/>
                <a:ext cx="2016" cy="2016"/>
              </a:xfrm>
              <a:prstGeom prst="ellipse">
                <a:avLst/>
              </a:prstGeom>
              <a:gradFill rotWithShape="1">
                <a:gsLst>
                  <a:gs pos="0">
                    <a:schemeClr val="accent2"/>
                  </a:gs>
                  <a:gs pos="100000">
                    <a:schemeClr val="accent2">
                      <a:gamma/>
                      <a:shade val="63529"/>
                      <a:invGamma/>
                    </a:schemeClr>
                  </a:gs>
                </a:gsLst>
                <a:path path="shape">
                  <a:fillToRect l="50000" t="50000" r="50000" b="50000"/>
                </a:path>
              </a:gradFill>
              <a:ln w="28575" algn="ctr">
                <a:solidFill>
                  <a:srgbClr val="FFFFFF"/>
                </a:solidFill>
                <a:round/>
              </a:ln>
              <a:effectLst/>
            </p:spPr>
            <p:txBody>
              <a:bodyPr wrap="none" anchor="ctr"/>
              <a:lstStyle/>
              <a:p>
                <a:endParaRPr lang="zh-CN" altLang="en-US"/>
              </a:p>
            </p:txBody>
          </p:sp>
        </p:grpSp>
        <p:sp>
          <p:nvSpPr>
            <p:cNvPr id="144390" name="WordArt 6"/>
            <p:cNvSpPr>
              <a:spLocks noChangeArrowheads="1" noChangeShapeType="1" noTextEdit="1"/>
            </p:cNvSpPr>
            <p:nvPr/>
          </p:nvSpPr>
          <p:spPr bwMode="gray">
            <a:xfrm>
              <a:off x="1338" y="2069"/>
              <a:ext cx="1088" cy="726"/>
            </a:xfrm>
            <a:prstGeom prst="rect">
              <a:avLst/>
            </a:prstGeom>
          </p:spPr>
          <p:txBody>
            <a:bodyPr wrap="none" fromWordArt="1">
              <a:prstTxWarp prst="textPlain">
                <a:avLst>
                  <a:gd name="adj" fmla="val 50000"/>
                </a:avLst>
              </a:prstTxWarp>
            </a:bodyPr>
            <a:lstStyle/>
            <a:p>
              <a:pPr algn="ctr"/>
              <a:r>
                <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rPr>
                <a:t>散射</a:t>
              </a:r>
              <a:endPar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endParaRPr>
            </a:p>
          </p:txBody>
        </p:sp>
      </p:grpSp>
      <p:pic>
        <p:nvPicPr>
          <p:cNvPr id="11" name="图片 10"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13" name="Rectangle 2"/>
          <p:cNvSpPr txBox="1">
            <a:spLocks noRot="1" noChangeArrowheads="1"/>
          </p:cNvSpPr>
          <p:nvPr/>
        </p:nvSpPr>
        <p:spPr>
          <a:xfrm>
            <a:off x="1435608" y="357504"/>
            <a:ext cx="7498080" cy="705725"/>
          </a:xfrm>
          <a:prstGeom prst="rect">
            <a:avLst/>
          </a:prstGeom>
        </p:spPr>
        <p:txBody>
          <a:bodyPr anchor="ctr">
            <a:normAutofit/>
          </a:bodyPr>
          <a:lstStyle/>
          <a:p>
            <a:pPr lvl="0">
              <a:spcBef>
                <a:spcPct val="0"/>
              </a:spcBef>
            </a:pPr>
            <a:r>
              <a:rPr lang="en-US" altLang="zh-CN" sz="4000" b="1" dirty="0" smtClean="0">
                <a:solidFill>
                  <a:srgbClr val="C00000"/>
                </a:solidFill>
                <a:effectLst>
                  <a:outerShdw blurRad="38100" dist="38100" dir="2700000" algn="tl">
                    <a:srgbClr val="C0C0C0"/>
                  </a:outerShdw>
                </a:effectLst>
              </a:rPr>
              <a:t>2.3.3  </a:t>
            </a:r>
            <a:r>
              <a:rPr lang="zh-CN" altLang="en-US" sz="4000" b="1" dirty="0" smtClean="0">
                <a:solidFill>
                  <a:srgbClr val="C00000"/>
                </a:solidFill>
                <a:effectLst>
                  <a:outerShdw blurRad="38100" dist="38100" dir="2700000" algn="tl">
                    <a:srgbClr val="C0C0C0"/>
                  </a:outerShdw>
                </a:effectLst>
              </a:rPr>
              <a:t>散射</a:t>
            </a:r>
            <a:endParaRPr kumimoji="0" lang="zh-CN" altLang="en-US" sz="4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mj-lt"/>
              <a:ea typeface="+mj-ea"/>
              <a:cs typeface="+mj-cs"/>
            </a:endParaRPr>
          </a:p>
        </p:txBody>
      </p:sp>
      <p:sp>
        <p:nvSpPr>
          <p:cNvPr id="12" name="TextBox 11"/>
          <p:cNvSpPr txBox="1"/>
          <p:nvPr/>
        </p:nvSpPr>
        <p:spPr>
          <a:xfrm>
            <a:off x="1907704" y="897564"/>
            <a:ext cx="6984776" cy="4199676"/>
          </a:xfrm>
          <a:prstGeom prst="rect">
            <a:avLst/>
          </a:prstGeom>
          <a:noFill/>
        </p:spPr>
        <p:txBody>
          <a:bodyPr wrap="square" rtlCol="0">
            <a:spAutoFit/>
          </a:bodyPr>
          <a:lstStyle/>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1</a:t>
            </a:r>
            <a:r>
              <a:rPr lang="zh-CN" altLang="en-US" sz="2600" dirty="0" smtClean="0">
                <a:latin typeface="宋体" panose="02010600030101010101" pitchFamily="2" charset="-122"/>
                <a:ea typeface="宋体" panose="02010600030101010101" pitchFamily="2" charset="-122"/>
              </a:rPr>
              <a:t>）散射发在粗糙表面；</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2</a:t>
            </a:r>
            <a:r>
              <a:rPr lang="zh-CN" altLang="en-US" sz="2600" dirty="0" smtClean="0">
                <a:latin typeface="宋体" panose="02010600030101010101" pitchFamily="2" charset="-122"/>
                <a:ea typeface="宋体" panose="02010600030101010101" pitchFamily="2" charset="-122"/>
              </a:rPr>
              <a:t>）粗糙表面定义：</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表面平整度的参考调度为：</a:t>
            </a:r>
            <a:endParaRPr lang="en-US" altLang="zh-CN" sz="2600" dirty="0" smtClean="0">
              <a:latin typeface="宋体" panose="02010600030101010101" pitchFamily="2" charset="-122"/>
              <a:ea typeface="宋体" panose="02010600030101010101" pitchFamily="2" charset="-122"/>
            </a:endParaRPr>
          </a:p>
          <a:p>
            <a:pPr>
              <a:lnSpc>
                <a:spcPct val="150000"/>
              </a:lnSpc>
            </a:pPr>
            <a:r>
              <a:rPr lang="en-US" altLang="zh-CN" sz="2600" dirty="0" smtClean="0">
                <a:latin typeface="宋体" panose="02010600030101010101" pitchFamily="2" charset="-122"/>
                <a:ea typeface="宋体" panose="02010600030101010101" pitchFamily="2" charset="-122"/>
              </a:rPr>
              <a:t>   </a:t>
            </a:r>
            <a:r>
              <a:rPr lang="zh-CN" altLang="en-US" sz="2600" dirty="0" smtClean="0">
                <a:latin typeface="宋体" panose="02010600030101010101" pitchFamily="2" charset="-122"/>
                <a:ea typeface="宋体" panose="02010600030101010101" pitchFamily="2" charset="-122"/>
              </a:rPr>
              <a:t>为给定入射角，</a:t>
            </a:r>
            <a:r>
              <a:rPr lang="en-US" altLang="zh-CN" sz="2600" dirty="0" smtClean="0">
                <a:latin typeface="宋体" panose="02010600030101010101" pitchFamily="2" charset="-122"/>
                <a:ea typeface="宋体" panose="02010600030101010101" pitchFamily="2" charset="-122"/>
              </a:rPr>
              <a:t>λ</a:t>
            </a:r>
            <a:r>
              <a:rPr lang="zh-CN" altLang="en-US" sz="2600" dirty="0" smtClean="0">
                <a:latin typeface="宋体" panose="02010600030101010101" pitchFamily="2" charset="-122"/>
                <a:ea typeface="宋体" panose="02010600030101010101" pitchFamily="2" charset="-122"/>
              </a:rPr>
              <a:t>为入射波长；</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若平面上最大的突起调度</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则可认为该表面是光滑的，反之，认为该表面的粗糙的。</a:t>
            </a:r>
            <a:endParaRPr lang="en-US" altLang="zh-CN" sz="2600" dirty="0" smtClean="0">
              <a:latin typeface="宋体" panose="02010600030101010101" pitchFamily="2" charset="-122"/>
              <a:ea typeface="宋体" panose="02010600030101010101" pitchFamily="2" charset="-122"/>
            </a:endParaRPr>
          </a:p>
        </p:txBody>
      </p:sp>
      <p:graphicFrame>
        <p:nvGraphicFramePr>
          <p:cNvPr id="14" name="对象 13"/>
          <p:cNvGraphicFramePr>
            <a:graphicFrameLocks noChangeAspect="1"/>
          </p:cNvGraphicFramePr>
          <p:nvPr/>
        </p:nvGraphicFramePr>
        <p:xfrm>
          <a:off x="5652120" y="1491630"/>
          <a:ext cx="1873895" cy="809904"/>
        </p:xfrm>
        <a:graphic>
          <a:graphicData uri="http://schemas.openxmlformats.org/presentationml/2006/ole">
            <mc:AlternateContent xmlns:mc="http://schemas.openxmlformats.org/markup-compatibility/2006">
              <mc:Choice xmlns:v="urn:schemas-microsoft-com:vml" Requires="v">
                <p:oleObj spid="_x0000_s13313" name="公式" r:id="rId2" imgW="17983200" imgH="10363200" progId="Equation.KSEE3">
                  <p:embed/>
                </p:oleObj>
              </mc:Choice>
              <mc:Fallback>
                <p:oleObj name="公式" r:id="rId2" imgW="17983200" imgH="10363200" progId="Equation.KSEE3">
                  <p:embed/>
                  <p:pic>
                    <p:nvPicPr>
                      <p:cNvPr id="0" name="图片 13312" descr="image41"/>
                      <p:cNvPicPr>
                        <a:picLocks noChangeAspect="1"/>
                      </p:cNvPicPr>
                      <p:nvPr/>
                    </p:nvPicPr>
                    <p:blipFill>
                      <a:blip r:embed="rId3"/>
                      <a:stretch>
                        <a:fillRect/>
                      </a:stretch>
                    </p:blipFill>
                    <p:spPr>
                      <a:xfrm>
                        <a:off x="5652120" y="1491630"/>
                        <a:ext cx="1873895" cy="809904"/>
                      </a:xfrm>
                      <a:prstGeom prst="rect">
                        <a:avLst/>
                      </a:prstGeom>
                      <a:noFill/>
                      <a:ln w="9525">
                        <a:noFill/>
                      </a:ln>
                    </p:spPr>
                  </p:pic>
                </p:oleObj>
              </mc:Fallback>
            </mc:AlternateContent>
          </a:graphicData>
        </a:graphic>
      </p:graphicFrame>
      <p:graphicFrame>
        <p:nvGraphicFramePr>
          <p:cNvPr id="266242" name="Object 2"/>
          <p:cNvGraphicFramePr>
            <a:graphicFrameLocks noChangeAspect="1"/>
          </p:cNvGraphicFramePr>
          <p:nvPr/>
        </p:nvGraphicFramePr>
        <p:xfrm>
          <a:off x="2123728" y="2859782"/>
          <a:ext cx="381000" cy="428625"/>
        </p:xfrm>
        <a:graphic>
          <a:graphicData uri="http://schemas.openxmlformats.org/presentationml/2006/ole">
            <mc:AlternateContent xmlns:mc="http://schemas.openxmlformats.org/markup-compatibility/2006">
              <mc:Choice xmlns:v="urn:schemas-microsoft-com:vml" Requires="v">
                <p:oleObj spid="_x0000_s13314" name="公式" r:id="rId4" imgW="3657600" imgH="5486400" progId="Equation.KSEE3">
                  <p:embed/>
                </p:oleObj>
              </mc:Choice>
              <mc:Fallback>
                <p:oleObj name="公式" r:id="rId4" imgW="3657600" imgH="5486400" progId="Equation.KSEE3">
                  <p:embed/>
                  <p:pic>
                    <p:nvPicPr>
                      <p:cNvPr id="0" name="图片 13313" descr="image42"/>
                      <p:cNvPicPr>
                        <a:picLocks noChangeAspect="1"/>
                      </p:cNvPicPr>
                      <p:nvPr/>
                    </p:nvPicPr>
                    <p:blipFill>
                      <a:blip r:embed="rId5"/>
                      <a:stretch>
                        <a:fillRect/>
                      </a:stretch>
                    </p:blipFill>
                    <p:spPr>
                      <a:xfrm>
                        <a:off x="2123728" y="2859782"/>
                        <a:ext cx="381000" cy="428625"/>
                      </a:xfrm>
                      <a:prstGeom prst="rect">
                        <a:avLst/>
                      </a:prstGeom>
                      <a:noFill/>
                      <a:ln w="9525">
                        <a:noFill/>
                      </a:ln>
                    </p:spPr>
                  </p:pic>
                </p:oleObj>
              </mc:Fallback>
            </mc:AlternateContent>
          </a:graphicData>
        </a:graphic>
      </p:graphicFrame>
      <p:graphicFrame>
        <p:nvGraphicFramePr>
          <p:cNvPr id="266243" name="Object 3"/>
          <p:cNvGraphicFramePr>
            <a:graphicFrameLocks noChangeAspect="1"/>
          </p:cNvGraphicFramePr>
          <p:nvPr/>
        </p:nvGraphicFramePr>
        <p:xfrm>
          <a:off x="6155924" y="2339495"/>
          <a:ext cx="1100121" cy="479085"/>
        </p:xfrm>
        <a:graphic>
          <a:graphicData uri="http://schemas.openxmlformats.org/presentationml/2006/ole">
            <mc:AlternateContent xmlns:mc="http://schemas.openxmlformats.org/markup-compatibility/2006">
              <mc:Choice xmlns:v="urn:schemas-microsoft-com:vml" Requires="v">
                <p:oleObj spid="_x0000_s13315" name="公式" r:id="rId6" imgW="9448800" imgH="5486400" progId="Equation.KSEE3">
                  <p:embed/>
                </p:oleObj>
              </mc:Choice>
              <mc:Fallback>
                <p:oleObj name="公式" r:id="rId6" imgW="9448800" imgH="5486400" progId="Equation.KSEE3">
                  <p:embed/>
                  <p:pic>
                    <p:nvPicPr>
                      <p:cNvPr id="0" name="图片 13314" descr="image43"/>
                      <p:cNvPicPr>
                        <a:picLocks noChangeAspect="1"/>
                      </p:cNvPicPr>
                      <p:nvPr/>
                    </p:nvPicPr>
                    <p:blipFill>
                      <a:blip r:embed="rId7"/>
                      <a:stretch>
                        <a:fillRect/>
                      </a:stretch>
                    </p:blipFill>
                    <p:spPr>
                      <a:xfrm>
                        <a:off x="6155924" y="2339495"/>
                        <a:ext cx="1100121" cy="479085"/>
                      </a:xfrm>
                      <a:prstGeom prst="rect">
                        <a:avLst/>
                      </a:prstGeom>
                      <a:no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p:nvPr>
        </p:nvSpPr>
        <p:spPr>
          <a:xfrm>
            <a:off x="1435608" y="256338"/>
            <a:ext cx="7498080" cy="857250"/>
          </a:xfrm>
        </p:spPr>
        <p:txBody>
          <a:bodyPr>
            <a:normAutofit/>
          </a:bodyPr>
          <a:lstStyle/>
          <a:p>
            <a:r>
              <a:rPr lang="en-US" altLang="zh-CN" sz="4000" b="1" dirty="0">
                <a:effectLst>
                  <a:outerShdw blurRad="38100" dist="38100" dir="2700000" algn="tl">
                    <a:srgbClr val="C0C0C0"/>
                  </a:outerShdw>
                </a:effectLst>
              </a:rPr>
              <a:t>2.4 </a:t>
            </a:r>
            <a:r>
              <a:rPr lang="zh-CN" altLang="en-US" sz="4000" b="1" dirty="0" smtClean="0">
                <a:effectLst>
                  <a:outerShdw blurRad="38100" dist="38100" dir="2700000" algn="tl">
                    <a:srgbClr val="C0C0C0"/>
                  </a:outerShdw>
                </a:effectLst>
              </a:rPr>
              <a:t>对数距离路径损耗模型</a:t>
            </a:r>
            <a:endParaRPr lang="zh-CN" altLang="en-US" sz="4000" b="1" dirty="0">
              <a:effectLst>
                <a:outerShdw blurRad="38100" dist="38100" dir="2700000" algn="tl">
                  <a:srgbClr val="C0C0C0"/>
                </a:outerShdw>
              </a:effectLst>
            </a:endParaRPr>
          </a:p>
        </p:txBody>
      </p:sp>
      <p:sp>
        <p:nvSpPr>
          <p:cNvPr id="145411" name="Rectangle 3"/>
          <p:cNvSpPr>
            <a:spLocks noGrp="1" noRot="1" noChangeArrowheads="1"/>
          </p:cNvSpPr>
          <p:nvPr>
            <p:ph type="body" idx="1"/>
          </p:nvPr>
        </p:nvSpPr>
        <p:spPr>
          <a:xfrm>
            <a:off x="395288" y="1005576"/>
            <a:ext cx="8540750" cy="3024336"/>
          </a:xfrm>
        </p:spPr>
        <p:txBody>
          <a:bodyPr>
            <a:noAutofit/>
          </a:bodyPr>
          <a:lstStyle/>
          <a:p>
            <a:pPr marL="0">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对数距离路径损耗模型是一个能够反映电波传播主要特性的简单模型：</a:t>
            </a:r>
            <a:endPar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                                  </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buNone/>
            </a:pPr>
            <a:endParaRPr lang="en-US" altLang="zh-CN"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其中，</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d0</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是一个参考距离，在参考距离或接近参考距离的位置，路径损耗具有自由空间损耗的特点；</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d</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是发射天线到接收天线的距离；</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n</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是路径损耗指数。</a:t>
            </a:r>
            <a:endParaRPr lang="en-US" altLang="zh-CN"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145413" name="Rectangle 5"/>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45415" name="Rectangle 7"/>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pic>
        <p:nvPicPr>
          <p:cNvPr id="9" name="图片 8"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graphicFrame>
        <p:nvGraphicFramePr>
          <p:cNvPr id="10" name="对象 9"/>
          <p:cNvGraphicFramePr>
            <a:graphicFrameLocks noChangeAspect="1"/>
          </p:cNvGraphicFramePr>
          <p:nvPr/>
        </p:nvGraphicFramePr>
        <p:xfrm>
          <a:off x="2051720" y="1995686"/>
          <a:ext cx="3924038" cy="918009"/>
        </p:xfrm>
        <a:graphic>
          <a:graphicData uri="http://schemas.openxmlformats.org/presentationml/2006/ole">
            <mc:AlternateContent xmlns:mc="http://schemas.openxmlformats.org/markup-compatibility/2006">
              <mc:Choice xmlns:v="urn:schemas-microsoft-com:vml" Requires="v">
                <p:oleObj spid="_x0000_s14337" name="公式" r:id="rId2" imgW="33223200" imgH="10363200" progId="Equation.KSEE3">
                  <p:embed/>
                </p:oleObj>
              </mc:Choice>
              <mc:Fallback>
                <p:oleObj name="公式" r:id="rId2" imgW="33223200" imgH="10363200" progId="Equation.KSEE3">
                  <p:embed/>
                  <p:pic>
                    <p:nvPicPr>
                      <p:cNvPr id="0" name="图片 14336" descr="image44"/>
                      <p:cNvPicPr>
                        <a:picLocks noChangeAspect="1"/>
                      </p:cNvPicPr>
                      <p:nvPr/>
                    </p:nvPicPr>
                    <p:blipFill>
                      <a:blip r:embed="rId3"/>
                      <a:stretch>
                        <a:fillRect/>
                      </a:stretch>
                    </p:blipFill>
                    <p:spPr>
                      <a:xfrm>
                        <a:off x="2051720" y="1995686"/>
                        <a:ext cx="3924038" cy="918009"/>
                      </a:xfrm>
                      <a:prstGeom prst="rect">
                        <a:avLst/>
                      </a:prstGeom>
                      <a:no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p:cTn id="7" dur="1000" fill="hold"/>
                                        <p:tgtEl>
                                          <p:spTgt spid="14541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4541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45411">
                                            <p:txEl>
                                              <p:pRg st="0" end="0"/>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 calcmode="lin" valueType="num">
                                      <p:cBhvr>
                                        <p:cTn id="12" dur="1000" fill="hold"/>
                                        <p:tgtEl>
                                          <p:spTgt spid="145411">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45411">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45411">
                                            <p:txEl>
                                              <p:pRg st="1" end="1"/>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145411">
                                            <p:txEl>
                                              <p:pRg st="3" end="3"/>
                                            </p:txEl>
                                          </p:spTgt>
                                        </p:tgtEl>
                                        <p:attrNameLst>
                                          <p:attrName>style.visibility</p:attrName>
                                        </p:attrNameLst>
                                      </p:cBhvr>
                                      <p:to>
                                        <p:strVal val="visible"/>
                                      </p:to>
                                    </p:set>
                                    <p:anim calcmode="lin" valueType="num">
                                      <p:cBhvr>
                                        <p:cTn id="17" dur="1000" fill="hold"/>
                                        <p:tgtEl>
                                          <p:spTgt spid="145411">
                                            <p:txEl>
                                              <p:pRg st="3" end="3"/>
                                            </p:txEl>
                                          </p:spTgt>
                                        </p:tgtEl>
                                        <p:attrNameLst>
                                          <p:attrName>ppt_w</p:attrName>
                                        </p:attrNameLst>
                                      </p:cBhvr>
                                      <p:tavLst>
                                        <p:tav tm="0">
                                          <p:val>
                                            <p:strVal val="#ppt_w*0.70"/>
                                          </p:val>
                                        </p:tav>
                                        <p:tav tm="100000">
                                          <p:val>
                                            <p:strVal val="#ppt_w"/>
                                          </p:val>
                                        </p:tav>
                                      </p:tavLst>
                                    </p:anim>
                                    <p:anim calcmode="lin" valueType="num">
                                      <p:cBhvr>
                                        <p:cTn id="18" dur="1000" fill="hold"/>
                                        <p:tgtEl>
                                          <p:spTgt spid="145411">
                                            <p:txEl>
                                              <p:pRg st="3" end="3"/>
                                            </p:txEl>
                                          </p:spTgt>
                                        </p:tgtEl>
                                        <p:attrNameLst>
                                          <p:attrName>ppt_h</p:attrName>
                                        </p:attrNameLst>
                                      </p:cBhvr>
                                      <p:tavLst>
                                        <p:tav tm="0">
                                          <p:val>
                                            <p:strVal val="#ppt_h"/>
                                          </p:val>
                                        </p:tav>
                                        <p:tav tm="100000">
                                          <p:val>
                                            <p:strVal val="#ppt_h"/>
                                          </p:val>
                                        </p:tav>
                                      </p:tavLst>
                                    </p:anim>
                                    <p:animEffect transition="in" filter="fade">
                                      <p:cBhvr>
                                        <p:cTn id="19" dur="1000"/>
                                        <p:tgtEl>
                                          <p:spTgt spid="1454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p:nvPr>
        </p:nvSpPr>
        <p:spPr>
          <a:xfrm>
            <a:off x="1435608" y="256338"/>
            <a:ext cx="7498080" cy="857250"/>
          </a:xfrm>
        </p:spPr>
        <p:txBody>
          <a:bodyPr>
            <a:normAutofit/>
          </a:bodyPr>
          <a:lstStyle/>
          <a:p>
            <a:r>
              <a:rPr lang="en-US" altLang="zh-CN" sz="4000" b="1" dirty="0">
                <a:effectLst>
                  <a:outerShdw blurRad="38100" dist="38100" dir="2700000" algn="tl">
                    <a:srgbClr val="C0C0C0"/>
                  </a:outerShdw>
                </a:effectLst>
              </a:rPr>
              <a:t>2.4 </a:t>
            </a:r>
            <a:r>
              <a:rPr lang="zh-CN" altLang="en-US" sz="4000" b="1" dirty="0" smtClean="0">
                <a:effectLst>
                  <a:outerShdw blurRad="38100" dist="38100" dir="2700000" algn="tl">
                    <a:srgbClr val="C0C0C0"/>
                  </a:outerShdw>
                </a:effectLst>
              </a:rPr>
              <a:t>对数距离路径损耗模型</a:t>
            </a:r>
            <a:endParaRPr lang="zh-CN" altLang="en-US" sz="4000" b="1" dirty="0">
              <a:effectLst>
                <a:outerShdw blurRad="38100" dist="38100" dir="2700000" algn="tl">
                  <a:srgbClr val="C0C0C0"/>
                </a:outerShdw>
              </a:effectLst>
            </a:endParaRPr>
          </a:p>
        </p:txBody>
      </p:sp>
      <p:sp>
        <p:nvSpPr>
          <p:cNvPr id="145413" name="Rectangle 5"/>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45415" name="Rectangle 7"/>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pic>
        <p:nvPicPr>
          <p:cNvPr id="9" name="图片 8"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graphicFrame>
        <p:nvGraphicFramePr>
          <p:cNvPr id="10" name="对象 9"/>
          <p:cNvGraphicFramePr>
            <a:graphicFrameLocks noChangeAspect="1"/>
          </p:cNvGraphicFramePr>
          <p:nvPr/>
        </p:nvGraphicFramePr>
        <p:xfrm>
          <a:off x="5004048" y="2283718"/>
          <a:ext cx="3924038" cy="918009"/>
        </p:xfrm>
        <a:graphic>
          <a:graphicData uri="http://schemas.openxmlformats.org/presentationml/2006/ole">
            <mc:AlternateContent xmlns:mc="http://schemas.openxmlformats.org/markup-compatibility/2006">
              <mc:Choice xmlns:v="urn:schemas-microsoft-com:vml" Requires="v">
                <p:oleObj spid="_x0000_s15361" name="公式" r:id="rId2" imgW="33223200" imgH="10363200" progId="Equation.KSEE3">
                  <p:embed/>
                </p:oleObj>
              </mc:Choice>
              <mc:Fallback>
                <p:oleObj name="公式" r:id="rId2" imgW="33223200" imgH="10363200" progId="Equation.KSEE3">
                  <p:embed/>
                  <p:pic>
                    <p:nvPicPr>
                      <p:cNvPr id="0" name="图片 15360" descr="image44"/>
                      <p:cNvPicPr>
                        <a:picLocks noChangeAspect="1"/>
                      </p:cNvPicPr>
                      <p:nvPr/>
                    </p:nvPicPr>
                    <p:blipFill>
                      <a:blip r:embed="rId3"/>
                      <a:stretch>
                        <a:fillRect/>
                      </a:stretch>
                    </p:blipFill>
                    <p:spPr>
                      <a:xfrm>
                        <a:off x="5004048" y="2283718"/>
                        <a:ext cx="3924038" cy="918009"/>
                      </a:xfrm>
                      <a:prstGeom prst="rect">
                        <a:avLst/>
                      </a:prstGeom>
                      <a:noFill/>
                      <a:ln w="9525">
                        <a:noFill/>
                      </a:ln>
                    </p:spPr>
                  </p:pic>
                </p:oleObj>
              </mc:Fallback>
            </mc:AlternateContent>
          </a:graphicData>
        </a:graphic>
      </p:graphicFrame>
      <p:pic>
        <p:nvPicPr>
          <p:cNvPr id="315395" name="Picture 3"/>
          <p:cNvPicPr>
            <a:picLocks noChangeAspect="1" noChangeArrowheads="1"/>
          </p:cNvPicPr>
          <p:nvPr/>
        </p:nvPicPr>
        <p:blipFill>
          <a:blip r:embed="rId4" cstate="print"/>
          <a:srcRect/>
          <a:stretch>
            <a:fillRect/>
          </a:stretch>
        </p:blipFill>
        <p:spPr bwMode="auto">
          <a:xfrm>
            <a:off x="251520" y="1131590"/>
            <a:ext cx="4757548" cy="3753701"/>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15395"/>
                                        </p:tgtEl>
                                        <p:attrNameLst>
                                          <p:attrName>style.visibility</p:attrName>
                                        </p:attrNameLst>
                                      </p:cBhvr>
                                      <p:to>
                                        <p:strVal val="visible"/>
                                      </p:to>
                                    </p:set>
                                    <p:animEffect transition="in" filter="strips(downLeft)">
                                      <p:cBhvr>
                                        <p:cTn id="7" dur="500"/>
                                        <p:tgtEl>
                                          <p:spTgt spid="315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p:nvPr>
        </p:nvSpPr>
        <p:spPr>
          <a:xfrm>
            <a:off x="1435608" y="256338"/>
            <a:ext cx="7498080" cy="857250"/>
          </a:xfrm>
        </p:spPr>
        <p:txBody>
          <a:bodyPr>
            <a:normAutofit/>
          </a:bodyPr>
          <a:lstStyle/>
          <a:p>
            <a:r>
              <a:rPr lang="en-US" altLang="zh-CN" sz="4000" b="1" dirty="0" smtClean="0">
                <a:effectLst>
                  <a:outerShdw blurRad="38100" dist="38100" dir="2700000" algn="tl">
                    <a:srgbClr val="C0C0C0"/>
                  </a:outerShdw>
                </a:effectLst>
              </a:rPr>
              <a:t>2.5 </a:t>
            </a:r>
            <a:r>
              <a:rPr lang="zh-CN" altLang="en-US" sz="4000" b="1" dirty="0">
                <a:effectLst>
                  <a:outerShdw blurRad="38100" dist="38100" dir="2700000" algn="tl">
                    <a:srgbClr val="C0C0C0"/>
                  </a:outerShdw>
                </a:effectLst>
              </a:rPr>
              <a:t>阴影衰落的基本特性</a:t>
            </a:r>
            <a:endParaRPr lang="zh-CN" altLang="en-US" sz="4000" b="1" dirty="0">
              <a:effectLst>
                <a:outerShdw blurRad="38100" dist="38100" dir="2700000" algn="tl">
                  <a:srgbClr val="C0C0C0"/>
                </a:outerShdw>
              </a:effectLst>
            </a:endParaRPr>
          </a:p>
        </p:txBody>
      </p:sp>
      <p:sp>
        <p:nvSpPr>
          <p:cNvPr id="145411" name="Rectangle 3"/>
          <p:cNvSpPr>
            <a:spLocks noGrp="1" noRot="1" noChangeArrowheads="1"/>
          </p:cNvSpPr>
          <p:nvPr>
            <p:ph type="body" idx="1"/>
          </p:nvPr>
        </p:nvSpPr>
        <p:spPr>
          <a:xfrm>
            <a:off x="395288" y="1005576"/>
            <a:ext cx="8540750" cy="3024336"/>
          </a:xfrm>
        </p:spPr>
        <p:txBody>
          <a:bodyPr>
            <a:noAutofit/>
          </a:bodyPr>
          <a:lstStyle/>
          <a:p>
            <a:pPr marL="0">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1</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）阴</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影衰</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落</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由于地</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形起伏、建筑物及其它障碍物对电波传播路径的阻挡而形成</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2</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）特点：与</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传播地形和地物分布、高度有关</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buNone/>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3</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）表</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达</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式，传</a:t>
            </a: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播路径损耗和阴影衰</a:t>
            </a: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落可以表示为：</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     </a:t>
            </a:r>
            <a:endParaRPr lang="en-US" altLang="zh-CN"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smtClean="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                                    </a:t>
            </a:r>
            <a:endPar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pPr marL="0">
              <a:lnSpc>
                <a:spcPct val="150000"/>
              </a:lnSpc>
              <a:spcBef>
                <a:spcPts val="0"/>
              </a:spcBef>
            </a:pPr>
            <a:r>
              <a:rPr lang="zh-CN" altLang="en-US"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      </a:t>
            </a:r>
            <a:endParaRPr lang="en-US" altLang="zh-CN" sz="2400"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145412"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323529" y="3237824"/>
            <a:ext cx="5453687" cy="1782198"/>
          </a:xfrm>
          <a:prstGeom prst="rect">
            <a:avLst/>
          </a:prstGeom>
          <a:noFill/>
          <a:ln w="9525">
            <a:noFill/>
            <a:miter lim="800000"/>
            <a:headEnd/>
            <a:tailEnd/>
          </a:ln>
        </p:spPr>
      </p:pic>
      <p:sp>
        <p:nvSpPr>
          <p:cNvPr id="145413" name="Rectangle 5"/>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graphicFrame>
        <p:nvGraphicFramePr>
          <p:cNvPr id="145414" name="Object 6"/>
          <p:cNvGraphicFramePr>
            <a:graphicFrameLocks noChangeAspect="1"/>
          </p:cNvGraphicFramePr>
          <p:nvPr/>
        </p:nvGraphicFramePr>
        <p:xfrm>
          <a:off x="6084168" y="2715766"/>
          <a:ext cx="2439513" cy="556115"/>
        </p:xfrm>
        <a:graphic>
          <a:graphicData uri="http://schemas.openxmlformats.org/presentationml/2006/ole">
            <mc:AlternateContent xmlns:mc="http://schemas.openxmlformats.org/markup-compatibility/2006">
              <mc:Choice xmlns:v="urn:schemas-microsoft-com:vml" Requires="v">
                <p:oleObj spid="_x0000_s16385" name="Equation" r:id="rId2" imgW="26212800" imgH="7924800" progId="">
                  <p:embed/>
                </p:oleObj>
              </mc:Choice>
              <mc:Fallback>
                <p:oleObj name="Equation" r:id="rId2" imgW="26212800" imgH="7924800" progId="">
                  <p:embed/>
                  <p:pic>
                    <p:nvPicPr>
                      <p:cNvPr id="0" name="图片 16384" descr="image46"/>
                      <p:cNvPicPr>
                        <a:picLocks noChangeAspect="1"/>
                      </p:cNvPicPr>
                      <p:nvPr/>
                    </p:nvPicPr>
                    <p:blipFill>
                      <a:blip r:embed="rId3"/>
                      <a:stretch>
                        <a:fillRect/>
                      </a:stretch>
                    </p:blipFill>
                    <p:spPr>
                      <a:xfrm>
                        <a:off x="6084168" y="2715766"/>
                        <a:ext cx="2439513" cy="556115"/>
                      </a:xfrm>
                      <a:prstGeom prst="rect">
                        <a:avLst/>
                      </a:prstGeom>
                      <a:solidFill>
                        <a:srgbClr val="FFFFFF"/>
                      </a:solidFill>
                      <a:ln w="9525">
                        <a:noFill/>
                      </a:ln>
                    </p:spPr>
                  </p:pic>
                </p:oleObj>
              </mc:Fallback>
            </mc:AlternateContent>
          </a:graphicData>
        </a:graphic>
      </p:graphicFrame>
      <p:sp>
        <p:nvSpPr>
          <p:cNvPr id="145415" name="Rectangle 7"/>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pic>
        <p:nvPicPr>
          <p:cNvPr id="9" name="图片 8" descr="5bc6fc52-b49d-4298-b410-192e1f0ef3a5.gif"/>
          <p:cNvPicPr>
            <a:picLocks noChangeAspect="1"/>
          </p:cNvPicPr>
          <p:nvPr/>
        </p:nvPicPr>
        <p:blipFill>
          <a:blip r:embed="rId4"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p:cTn id="7" dur="1000" fill="hold"/>
                                        <p:tgtEl>
                                          <p:spTgt spid="14541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4541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45411">
                                            <p:txEl>
                                              <p:pRg st="0" end="0"/>
                                            </p:txEl>
                                          </p:spTgt>
                                        </p:tgtEl>
                                      </p:cBhvr>
                                    </p:animEffect>
                                  </p:childTnLst>
                                </p:cTn>
                              </p:par>
                            </p:childTnLst>
                          </p:cTn>
                        </p:par>
                        <p:par>
                          <p:cTn id="10" fill="hold">
                            <p:stCondLst>
                              <p:cond delay="1000"/>
                            </p:stCondLst>
                            <p:childTnLst>
                              <p:par>
                                <p:cTn id="11" presetID="43" presetClass="entr" presetSubtype="0" fill="hold" nodeType="afterEffect">
                                  <p:stCondLst>
                                    <p:cond delay="0"/>
                                  </p:stCondLst>
                                  <p:childTnLst>
                                    <p:set>
                                      <p:cBhvr>
                                        <p:cTn id="12" dur="1" fill="hold">
                                          <p:stCondLst>
                                            <p:cond delay="0"/>
                                          </p:stCondLst>
                                        </p:cTn>
                                        <p:tgtEl>
                                          <p:spTgt spid="145412"/>
                                        </p:tgtEl>
                                        <p:attrNameLst>
                                          <p:attrName>style.visibility</p:attrName>
                                        </p:attrNameLst>
                                      </p:cBhvr>
                                      <p:to>
                                        <p:strVal val="visible"/>
                                      </p:to>
                                    </p:set>
                                    <p:animEffect transition="in" filter="fade">
                                      <p:cBhvr>
                                        <p:cTn id="13" dur="100"/>
                                        <p:tgtEl>
                                          <p:spTgt spid="145412"/>
                                        </p:tgtEl>
                                      </p:cBhvr>
                                    </p:animEffect>
                                    <p:anim calcmode="lin" valueType="num">
                                      <p:cBhvr>
                                        <p:cTn id="14" dur="400" fill="hold"/>
                                        <p:tgtEl>
                                          <p:spTgt spid="145412"/>
                                        </p:tgtEl>
                                        <p:attrNameLst>
                                          <p:attrName>ppt_x</p:attrName>
                                        </p:attrNameLst>
                                      </p:cBhvr>
                                      <p:tavLst>
                                        <p:tav tm="0">
                                          <p:val>
                                            <p:strVal val="#ppt_x"/>
                                          </p:val>
                                        </p:tav>
                                        <p:tav tm="100000">
                                          <p:val>
                                            <p:strVal val="#ppt_x"/>
                                          </p:val>
                                        </p:tav>
                                      </p:tavLst>
                                    </p:anim>
                                    <p:anim calcmode="lin" valueType="num">
                                      <p:cBhvr>
                                        <p:cTn id="15" dur="400" fill="hold"/>
                                        <p:tgtEl>
                                          <p:spTgt spid="145412"/>
                                        </p:tgtEl>
                                        <p:attrNameLst>
                                          <p:attrName>ppt_y</p:attrName>
                                        </p:attrNameLst>
                                      </p:cBhvr>
                                      <p:tavLst>
                                        <p:tav tm="0">
                                          <p:val>
                                            <p:strVal val="#ppt_y+0.31"/>
                                          </p:val>
                                        </p:tav>
                                        <p:tav tm="100000">
                                          <p:val>
                                            <p:strVal val="#ppt_y+0.31"/>
                                          </p:val>
                                        </p:tav>
                                      </p:tavLst>
                                    </p:anim>
                                    <p:anim calcmode="lin" valueType="num">
                                      <p:cBhvr>
                                        <p:cTn id="16" dur="600" decel="50000" fill="hold">
                                          <p:stCondLst>
                                            <p:cond delay="400"/>
                                          </p:stCondLst>
                                        </p:cTn>
                                        <p:tgtEl>
                                          <p:spTgt spid="14541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7" dur="600" decel="50000" fill="hold">
                                          <p:stCondLst>
                                            <p:cond delay="400"/>
                                          </p:stCondLst>
                                        </p:cTn>
                                        <p:tgtEl>
                                          <p:spTgt spid="14541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1000" tmFilter="0, 0; .2, .5; .8, .5; 1, 0"/>
                                        <p:tgtEl>
                                          <p:spTgt spid="145412"/>
                                        </p:tgtEl>
                                      </p:cBhvr>
                                    </p:animEffect>
                                    <p:animScale>
                                      <p:cBhvr>
                                        <p:cTn id="21" dur="500" autoRev="1" fill="hold"/>
                                        <p:tgtEl>
                                          <p:spTgt spid="145412"/>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45411">
                                            <p:txEl>
                                              <p:pRg st="1" end="1"/>
                                            </p:txEl>
                                          </p:spTgt>
                                        </p:tgtEl>
                                        <p:attrNameLst>
                                          <p:attrName>style.visibility</p:attrName>
                                        </p:attrNameLst>
                                      </p:cBhvr>
                                      <p:to>
                                        <p:strVal val="visible"/>
                                      </p:to>
                                    </p:set>
                                    <p:anim calcmode="lin" valueType="num">
                                      <p:cBhvr>
                                        <p:cTn id="26" dur="1000" fill="hold"/>
                                        <p:tgtEl>
                                          <p:spTgt spid="145411">
                                            <p:txEl>
                                              <p:pRg st="1" end="1"/>
                                            </p:txEl>
                                          </p:spTgt>
                                        </p:tgtEl>
                                        <p:attrNameLst>
                                          <p:attrName>ppt_w</p:attrName>
                                        </p:attrNameLst>
                                      </p:cBhvr>
                                      <p:tavLst>
                                        <p:tav tm="0">
                                          <p:val>
                                            <p:strVal val="#ppt_w*0.70"/>
                                          </p:val>
                                        </p:tav>
                                        <p:tav tm="100000">
                                          <p:val>
                                            <p:strVal val="#ppt_w"/>
                                          </p:val>
                                        </p:tav>
                                      </p:tavLst>
                                    </p:anim>
                                    <p:anim calcmode="lin" valueType="num">
                                      <p:cBhvr>
                                        <p:cTn id="27" dur="1000" fill="hold"/>
                                        <p:tgtEl>
                                          <p:spTgt spid="145411">
                                            <p:txEl>
                                              <p:pRg st="1" end="1"/>
                                            </p:txEl>
                                          </p:spTgt>
                                        </p:tgtEl>
                                        <p:attrNameLst>
                                          <p:attrName>ppt_h</p:attrName>
                                        </p:attrNameLst>
                                      </p:cBhvr>
                                      <p:tavLst>
                                        <p:tav tm="0">
                                          <p:val>
                                            <p:strVal val="#ppt_h"/>
                                          </p:val>
                                        </p:tav>
                                        <p:tav tm="100000">
                                          <p:val>
                                            <p:strVal val="#ppt_h"/>
                                          </p:val>
                                        </p:tav>
                                      </p:tavLst>
                                    </p:anim>
                                    <p:animEffect transition="in" filter="fade">
                                      <p:cBhvr>
                                        <p:cTn id="28" dur="1000"/>
                                        <p:tgtEl>
                                          <p:spTgt spid="145411">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45411">
                                            <p:txEl>
                                              <p:pRg st="2" end="2"/>
                                            </p:txEl>
                                          </p:spTgt>
                                        </p:tgtEl>
                                        <p:attrNameLst>
                                          <p:attrName>style.visibility</p:attrName>
                                        </p:attrNameLst>
                                      </p:cBhvr>
                                      <p:to>
                                        <p:strVal val="visible"/>
                                      </p:to>
                                    </p:set>
                                    <p:anim calcmode="lin" valueType="num">
                                      <p:cBhvr>
                                        <p:cTn id="33" dur="1000" fill="hold"/>
                                        <p:tgtEl>
                                          <p:spTgt spid="145411">
                                            <p:txEl>
                                              <p:pRg st="2" end="2"/>
                                            </p:txEl>
                                          </p:spTgt>
                                        </p:tgtEl>
                                        <p:attrNameLst>
                                          <p:attrName>ppt_w</p:attrName>
                                        </p:attrNameLst>
                                      </p:cBhvr>
                                      <p:tavLst>
                                        <p:tav tm="0">
                                          <p:val>
                                            <p:strVal val="#ppt_w*0.70"/>
                                          </p:val>
                                        </p:tav>
                                        <p:tav tm="100000">
                                          <p:val>
                                            <p:strVal val="#ppt_w"/>
                                          </p:val>
                                        </p:tav>
                                      </p:tavLst>
                                    </p:anim>
                                    <p:anim calcmode="lin" valueType="num">
                                      <p:cBhvr>
                                        <p:cTn id="34" dur="1000" fill="hold"/>
                                        <p:tgtEl>
                                          <p:spTgt spid="145411">
                                            <p:txEl>
                                              <p:pRg st="2" end="2"/>
                                            </p:txEl>
                                          </p:spTgt>
                                        </p:tgtEl>
                                        <p:attrNameLst>
                                          <p:attrName>ppt_h</p:attrName>
                                        </p:attrNameLst>
                                      </p:cBhvr>
                                      <p:tavLst>
                                        <p:tav tm="0">
                                          <p:val>
                                            <p:strVal val="#ppt_h"/>
                                          </p:val>
                                        </p:tav>
                                        <p:tav tm="100000">
                                          <p:val>
                                            <p:strVal val="#ppt_h"/>
                                          </p:val>
                                        </p:tav>
                                      </p:tavLst>
                                    </p:anim>
                                    <p:animEffect transition="in" filter="fade">
                                      <p:cBhvr>
                                        <p:cTn id="35" dur="1000"/>
                                        <p:tgtEl>
                                          <p:spTgt spid="145411">
                                            <p:txEl>
                                              <p:pRg st="2" end="2"/>
                                            </p:txEl>
                                          </p:spTgt>
                                        </p:tgtEl>
                                      </p:cBhvr>
                                    </p:animEffect>
                                  </p:childTnLst>
                                </p:cTn>
                              </p:par>
                              <p:par>
                                <p:cTn id="36" presetID="55" presetClass="entr" presetSubtype="0" fill="hold" nodeType="withEffect">
                                  <p:stCondLst>
                                    <p:cond delay="0"/>
                                  </p:stCondLst>
                                  <p:childTnLst>
                                    <p:set>
                                      <p:cBhvr>
                                        <p:cTn id="37" dur="1" fill="hold">
                                          <p:stCondLst>
                                            <p:cond delay="0"/>
                                          </p:stCondLst>
                                        </p:cTn>
                                        <p:tgtEl>
                                          <p:spTgt spid="145411">
                                            <p:txEl>
                                              <p:pRg st="3" end="3"/>
                                            </p:txEl>
                                          </p:spTgt>
                                        </p:tgtEl>
                                        <p:attrNameLst>
                                          <p:attrName>style.visibility</p:attrName>
                                        </p:attrNameLst>
                                      </p:cBhvr>
                                      <p:to>
                                        <p:strVal val="visible"/>
                                      </p:to>
                                    </p:set>
                                    <p:anim calcmode="lin" valueType="num">
                                      <p:cBhvr>
                                        <p:cTn id="38" dur="1000" fill="hold"/>
                                        <p:tgtEl>
                                          <p:spTgt spid="145411">
                                            <p:txEl>
                                              <p:pRg st="3" end="3"/>
                                            </p:txEl>
                                          </p:spTgt>
                                        </p:tgtEl>
                                        <p:attrNameLst>
                                          <p:attrName>ppt_w</p:attrName>
                                        </p:attrNameLst>
                                      </p:cBhvr>
                                      <p:tavLst>
                                        <p:tav tm="0">
                                          <p:val>
                                            <p:strVal val="#ppt_w*0.70"/>
                                          </p:val>
                                        </p:tav>
                                        <p:tav tm="100000">
                                          <p:val>
                                            <p:strVal val="#ppt_w"/>
                                          </p:val>
                                        </p:tav>
                                      </p:tavLst>
                                    </p:anim>
                                    <p:anim calcmode="lin" valueType="num">
                                      <p:cBhvr>
                                        <p:cTn id="39" dur="1000" fill="hold"/>
                                        <p:tgtEl>
                                          <p:spTgt spid="145411">
                                            <p:txEl>
                                              <p:pRg st="3" end="3"/>
                                            </p:txEl>
                                          </p:spTgt>
                                        </p:tgtEl>
                                        <p:attrNameLst>
                                          <p:attrName>ppt_h</p:attrName>
                                        </p:attrNameLst>
                                      </p:cBhvr>
                                      <p:tavLst>
                                        <p:tav tm="0">
                                          <p:val>
                                            <p:strVal val="#ppt_h"/>
                                          </p:val>
                                        </p:tav>
                                        <p:tav tm="100000">
                                          <p:val>
                                            <p:strVal val="#ppt_h"/>
                                          </p:val>
                                        </p:tav>
                                      </p:tavLst>
                                    </p:anim>
                                    <p:animEffect transition="in" filter="fade">
                                      <p:cBhvr>
                                        <p:cTn id="40" dur="1000"/>
                                        <p:tgtEl>
                                          <p:spTgt spid="145411">
                                            <p:txEl>
                                              <p:pRg st="3" end="3"/>
                                            </p:txEl>
                                          </p:spTgt>
                                        </p:tgtEl>
                                      </p:cBhvr>
                                    </p:animEffect>
                                  </p:childTnLst>
                                </p:cTn>
                              </p:par>
                              <p:par>
                                <p:cTn id="41" presetID="55" presetClass="entr" presetSubtype="0" fill="hold" nodeType="withEffect">
                                  <p:stCondLst>
                                    <p:cond delay="0"/>
                                  </p:stCondLst>
                                  <p:childTnLst>
                                    <p:set>
                                      <p:cBhvr>
                                        <p:cTn id="42" dur="1" fill="hold">
                                          <p:stCondLst>
                                            <p:cond delay="0"/>
                                          </p:stCondLst>
                                        </p:cTn>
                                        <p:tgtEl>
                                          <p:spTgt spid="145411">
                                            <p:txEl>
                                              <p:pRg st="4" end="4"/>
                                            </p:txEl>
                                          </p:spTgt>
                                        </p:tgtEl>
                                        <p:attrNameLst>
                                          <p:attrName>style.visibility</p:attrName>
                                        </p:attrNameLst>
                                      </p:cBhvr>
                                      <p:to>
                                        <p:strVal val="visible"/>
                                      </p:to>
                                    </p:set>
                                    <p:anim calcmode="lin" valueType="num">
                                      <p:cBhvr>
                                        <p:cTn id="43" dur="1000" fill="hold"/>
                                        <p:tgtEl>
                                          <p:spTgt spid="145411">
                                            <p:txEl>
                                              <p:pRg st="4" end="4"/>
                                            </p:txEl>
                                          </p:spTgt>
                                        </p:tgtEl>
                                        <p:attrNameLst>
                                          <p:attrName>ppt_w</p:attrName>
                                        </p:attrNameLst>
                                      </p:cBhvr>
                                      <p:tavLst>
                                        <p:tav tm="0">
                                          <p:val>
                                            <p:strVal val="#ppt_w*0.70"/>
                                          </p:val>
                                        </p:tav>
                                        <p:tav tm="100000">
                                          <p:val>
                                            <p:strVal val="#ppt_w"/>
                                          </p:val>
                                        </p:tav>
                                      </p:tavLst>
                                    </p:anim>
                                    <p:anim calcmode="lin" valueType="num">
                                      <p:cBhvr>
                                        <p:cTn id="44" dur="1000" fill="hold"/>
                                        <p:tgtEl>
                                          <p:spTgt spid="145411">
                                            <p:txEl>
                                              <p:pRg st="4" end="4"/>
                                            </p:txEl>
                                          </p:spTgt>
                                        </p:tgtEl>
                                        <p:attrNameLst>
                                          <p:attrName>ppt_h</p:attrName>
                                        </p:attrNameLst>
                                      </p:cBhvr>
                                      <p:tavLst>
                                        <p:tav tm="0">
                                          <p:val>
                                            <p:strVal val="#ppt_h"/>
                                          </p:val>
                                        </p:tav>
                                        <p:tav tm="100000">
                                          <p:val>
                                            <p:strVal val="#ppt_h"/>
                                          </p:val>
                                        </p:tav>
                                      </p:tavLst>
                                    </p:anim>
                                    <p:animEffect transition="in" filter="fade">
                                      <p:cBhvr>
                                        <p:cTn id="45" dur="1000"/>
                                        <p:tgtEl>
                                          <p:spTgt spid="145411">
                                            <p:txEl>
                                              <p:pRg st="4" end="4"/>
                                            </p:txEl>
                                          </p:spTgt>
                                        </p:tgtEl>
                                      </p:cBhvr>
                                    </p:animEffect>
                                  </p:childTnLst>
                                </p:cTn>
                              </p:par>
                              <p:par>
                                <p:cTn id="46" presetID="55" presetClass="entr" presetSubtype="0" fill="hold" nodeType="withEffect">
                                  <p:stCondLst>
                                    <p:cond delay="0"/>
                                  </p:stCondLst>
                                  <p:childTnLst>
                                    <p:set>
                                      <p:cBhvr>
                                        <p:cTn id="47" dur="1" fill="hold">
                                          <p:stCondLst>
                                            <p:cond delay="0"/>
                                          </p:stCondLst>
                                        </p:cTn>
                                        <p:tgtEl>
                                          <p:spTgt spid="145411">
                                            <p:txEl>
                                              <p:pRg st="5" end="5"/>
                                            </p:txEl>
                                          </p:spTgt>
                                        </p:tgtEl>
                                        <p:attrNameLst>
                                          <p:attrName>style.visibility</p:attrName>
                                        </p:attrNameLst>
                                      </p:cBhvr>
                                      <p:to>
                                        <p:strVal val="visible"/>
                                      </p:to>
                                    </p:set>
                                    <p:anim calcmode="lin" valueType="num">
                                      <p:cBhvr>
                                        <p:cTn id="48" dur="1000" fill="hold"/>
                                        <p:tgtEl>
                                          <p:spTgt spid="145411">
                                            <p:txEl>
                                              <p:pRg st="5" end="5"/>
                                            </p:txEl>
                                          </p:spTgt>
                                        </p:tgtEl>
                                        <p:attrNameLst>
                                          <p:attrName>ppt_w</p:attrName>
                                        </p:attrNameLst>
                                      </p:cBhvr>
                                      <p:tavLst>
                                        <p:tav tm="0">
                                          <p:val>
                                            <p:strVal val="#ppt_w*0.70"/>
                                          </p:val>
                                        </p:tav>
                                        <p:tav tm="100000">
                                          <p:val>
                                            <p:strVal val="#ppt_w"/>
                                          </p:val>
                                        </p:tav>
                                      </p:tavLst>
                                    </p:anim>
                                    <p:anim calcmode="lin" valueType="num">
                                      <p:cBhvr>
                                        <p:cTn id="49" dur="1000" fill="hold"/>
                                        <p:tgtEl>
                                          <p:spTgt spid="145411">
                                            <p:txEl>
                                              <p:pRg st="5" end="5"/>
                                            </p:txEl>
                                          </p:spTgt>
                                        </p:tgtEl>
                                        <p:attrNameLst>
                                          <p:attrName>ppt_h</p:attrName>
                                        </p:attrNameLst>
                                      </p:cBhvr>
                                      <p:tavLst>
                                        <p:tav tm="0">
                                          <p:val>
                                            <p:strVal val="#ppt_h"/>
                                          </p:val>
                                        </p:tav>
                                        <p:tav tm="100000">
                                          <p:val>
                                            <p:strVal val="#ppt_h"/>
                                          </p:val>
                                        </p:tav>
                                      </p:tavLst>
                                    </p:anim>
                                    <p:animEffect transition="in" filter="fade">
                                      <p:cBhvr>
                                        <p:cTn id="50" dur="1000"/>
                                        <p:tgtEl>
                                          <p:spTgt spid="145411">
                                            <p:txEl>
                                              <p:pRg st="5" end="5"/>
                                            </p:txEl>
                                          </p:spTgt>
                                        </p:tgtEl>
                                      </p:cBhvr>
                                    </p:animEffect>
                                  </p:childTnLst>
                                </p:cTn>
                              </p:par>
                              <p:par>
                                <p:cTn id="51" presetID="55" presetClass="entr" presetSubtype="0" fill="hold" nodeType="withEffect">
                                  <p:stCondLst>
                                    <p:cond delay="0"/>
                                  </p:stCondLst>
                                  <p:childTnLst>
                                    <p:set>
                                      <p:cBhvr>
                                        <p:cTn id="52" dur="1" fill="hold">
                                          <p:stCondLst>
                                            <p:cond delay="0"/>
                                          </p:stCondLst>
                                        </p:cTn>
                                        <p:tgtEl>
                                          <p:spTgt spid="145414"/>
                                        </p:tgtEl>
                                        <p:attrNameLst>
                                          <p:attrName>style.visibility</p:attrName>
                                        </p:attrNameLst>
                                      </p:cBhvr>
                                      <p:to>
                                        <p:strVal val="visible"/>
                                      </p:to>
                                    </p:set>
                                    <p:anim calcmode="lin" valueType="num">
                                      <p:cBhvr>
                                        <p:cTn id="53" dur="1000" fill="hold"/>
                                        <p:tgtEl>
                                          <p:spTgt spid="145414"/>
                                        </p:tgtEl>
                                        <p:attrNameLst>
                                          <p:attrName>ppt_w</p:attrName>
                                        </p:attrNameLst>
                                      </p:cBhvr>
                                      <p:tavLst>
                                        <p:tav tm="0">
                                          <p:val>
                                            <p:strVal val="#ppt_w*0.70"/>
                                          </p:val>
                                        </p:tav>
                                        <p:tav tm="100000">
                                          <p:val>
                                            <p:strVal val="#ppt_w"/>
                                          </p:val>
                                        </p:tav>
                                      </p:tavLst>
                                    </p:anim>
                                    <p:anim calcmode="lin" valueType="num">
                                      <p:cBhvr>
                                        <p:cTn id="54" dur="1000" fill="hold"/>
                                        <p:tgtEl>
                                          <p:spTgt spid="145414"/>
                                        </p:tgtEl>
                                        <p:attrNameLst>
                                          <p:attrName>ppt_h</p:attrName>
                                        </p:attrNameLst>
                                      </p:cBhvr>
                                      <p:tavLst>
                                        <p:tav tm="0">
                                          <p:val>
                                            <p:strVal val="#ppt_h"/>
                                          </p:val>
                                        </p:tav>
                                        <p:tav tm="100000">
                                          <p:val>
                                            <p:strVal val="#ppt_h"/>
                                          </p:val>
                                        </p:tav>
                                      </p:tavLst>
                                    </p:anim>
                                    <p:animEffect transition="in" filter="fade">
                                      <p:cBhvr>
                                        <p:cTn id="55" dur="1000"/>
                                        <p:tgtEl>
                                          <p:spTgt spid="145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rrowheads="1"/>
          </p:cNvSpPr>
          <p:nvPr>
            <p:ph type="title"/>
          </p:nvPr>
        </p:nvSpPr>
        <p:spPr>
          <a:xfrm>
            <a:off x="251520" y="411510"/>
            <a:ext cx="8682168" cy="648072"/>
          </a:xfrm>
        </p:spPr>
        <p:txBody>
          <a:bodyPr>
            <a:normAutofit/>
          </a:bodyPr>
          <a:lstStyle/>
          <a:p>
            <a:r>
              <a:rPr lang="en-US" altLang="zh-CN" sz="3600" b="1" dirty="0" smtClean="0">
                <a:effectLst>
                  <a:outerShdw blurRad="38100" dist="38100" dir="2700000" algn="tl">
                    <a:srgbClr val="C0C0C0"/>
                  </a:outerShdw>
                </a:effectLst>
              </a:rPr>
              <a:t>2.6</a:t>
            </a:r>
            <a:r>
              <a:rPr lang="zh-CN" altLang="en-US" sz="3600" b="1" dirty="0" smtClean="0">
                <a:effectLst>
                  <a:outerShdw blurRad="38100" dist="38100" dir="2700000" algn="tl">
                    <a:srgbClr val="C0C0C0"/>
                  </a:outerShdw>
                </a:effectLst>
              </a:rPr>
              <a:t>移动无线信道及特性参数</a:t>
            </a:r>
            <a:endParaRPr lang="zh-CN" altLang="en-US" sz="3600" b="1" dirty="0">
              <a:effectLst>
                <a:outerShdw blurRad="38100" dist="38100" dir="2700000" algn="tl">
                  <a:srgbClr val="C0C0C0"/>
                </a:outerShdw>
              </a:effectLst>
            </a:endParaRPr>
          </a:p>
        </p:txBody>
      </p:sp>
      <p:pic>
        <p:nvPicPr>
          <p:cNvPr id="17" name="图片 16"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20" name="矩形 19"/>
          <p:cNvSpPr/>
          <p:nvPr/>
        </p:nvSpPr>
        <p:spPr>
          <a:xfrm>
            <a:off x="323528" y="1668198"/>
            <a:ext cx="8496944" cy="2999347"/>
          </a:xfrm>
          <a:prstGeom prst="rect">
            <a:avLst/>
          </a:prstGeom>
        </p:spPr>
        <p:txBody>
          <a:bodyPr wrap="square">
            <a:spAutoFit/>
          </a:bodyPr>
          <a:lstStyle/>
          <a:p>
            <a:pPr marL="0" lvl="1">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1</a:t>
            </a:r>
            <a:r>
              <a:rPr lang="zh-CN" altLang="en-US" sz="2600" dirty="0" smtClean="0">
                <a:latin typeface="宋体" panose="02010600030101010101" pitchFamily="2" charset="-122"/>
                <a:ea typeface="宋体" panose="02010600030101010101" pitchFamily="2" charset="-122"/>
              </a:rPr>
              <a:t>）幅度衰落：幅度随移动台移动距离的变动而衰落；</a:t>
            </a:r>
            <a:endParaRPr lang="en-US" altLang="zh-CN" sz="2600" dirty="0" smtClean="0">
              <a:latin typeface="宋体" panose="02010600030101010101" pitchFamily="2" charset="-122"/>
              <a:ea typeface="宋体" panose="02010600030101010101" pitchFamily="2" charset="-122"/>
            </a:endParaRPr>
          </a:p>
          <a:p>
            <a:pPr>
              <a:lnSpc>
                <a:spcPct val="150000"/>
              </a:lnSpc>
            </a:pPr>
            <a:r>
              <a:rPr lang="zh-CN" altLang="en-US" sz="2600" dirty="0" smtClean="0">
                <a:latin typeface="宋体" panose="02010600030101010101" pitchFamily="2" charset="-122"/>
                <a:ea typeface="宋体" panose="02010600030101010101" pitchFamily="2" charset="-122"/>
              </a:rPr>
              <a:t>（</a:t>
            </a:r>
            <a:r>
              <a:rPr lang="en-US" altLang="zh-CN" sz="2600" dirty="0" smtClean="0">
                <a:latin typeface="宋体" panose="02010600030101010101" pitchFamily="2" charset="-122"/>
                <a:ea typeface="宋体" panose="02010600030101010101" pitchFamily="2" charset="-122"/>
              </a:rPr>
              <a:t>2</a:t>
            </a:r>
            <a:r>
              <a:rPr lang="zh-CN" altLang="en-US" sz="2600" dirty="0" smtClean="0">
                <a:latin typeface="宋体" panose="02010600030101010101" pitchFamily="2" charset="-122"/>
                <a:ea typeface="宋体" panose="02010600030101010101" pitchFamily="2" charset="-122"/>
              </a:rPr>
              <a:t>）时延扩展：接收信号中脉冲宽度扩展；原因是信号传播路径不同，到达接收端的时间也就不同，导致接收信号包含发送脉冲及其各个延时信号。</a:t>
            </a:r>
            <a:endParaRPr lang="zh-CN" altLang="en-US" sz="2600" dirty="0" smtClean="0">
              <a:latin typeface="宋体" panose="02010600030101010101" pitchFamily="2" charset="-122"/>
              <a:ea typeface="宋体" panose="02010600030101010101" pitchFamily="2" charset="-122"/>
            </a:endParaRPr>
          </a:p>
          <a:p>
            <a:pPr marL="0" lvl="1">
              <a:lnSpc>
                <a:spcPct val="150000"/>
              </a:lnSpc>
            </a:pPr>
            <a:endParaRPr lang="zh-CN" altLang="en-US" sz="2600" dirty="0">
              <a:latin typeface="宋体" panose="02010600030101010101" pitchFamily="2" charset="-122"/>
              <a:ea typeface="宋体" panose="02010600030101010101" pitchFamily="2" charset="-122"/>
            </a:endParaRPr>
          </a:p>
        </p:txBody>
      </p:sp>
      <p:pic>
        <p:nvPicPr>
          <p:cNvPr id="21" name="Picture 2"/>
          <p:cNvPicPr>
            <a:picLocks noChangeAspect="1" noChangeArrowheads="1"/>
          </p:cNvPicPr>
          <p:nvPr/>
        </p:nvPicPr>
        <p:blipFill>
          <a:blip r:embed="rId2" cstate="print"/>
          <a:srcRect/>
          <a:stretch>
            <a:fillRect/>
          </a:stretch>
        </p:blipFill>
        <p:spPr bwMode="auto">
          <a:xfrm>
            <a:off x="4067944" y="1923678"/>
            <a:ext cx="4536504" cy="2701237"/>
          </a:xfrm>
          <a:prstGeom prst="rect">
            <a:avLst/>
          </a:prstGeom>
          <a:solidFill>
            <a:schemeClr val="accent4">
              <a:lumMod val="20000"/>
              <a:lumOff val="80000"/>
            </a:schemeClr>
          </a:solidFill>
          <a:ln w="9525" cmpd="sng">
            <a:noFill/>
            <a:miter lim="800000"/>
            <a:headEnd/>
            <a:tailEnd/>
          </a:ln>
        </p:spPr>
      </p:pic>
      <p:sp>
        <p:nvSpPr>
          <p:cNvPr id="6" name="矩形 5"/>
          <p:cNvSpPr/>
          <p:nvPr/>
        </p:nvSpPr>
        <p:spPr>
          <a:xfrm>
            <a:off x="251520" y="1059582"/>
            <a:ext cx="4089581" cy="492443"/>
          </a:xfrm>
          <a:prstGeom prst="rect">
            <a:avLst/>
          </a:prstGeom>
        </p:spPr>
        <p:txBody>
          <a:bodyPr wrap="none">
            <a:spAutoFit/>
          </a:bodyPr>
          <a:lstStyle/>
          <a:p>
            <a:r>
              <a:rPr lang="en-US" altLang="zh-CN" sz="2600" b="1" dirty="0" smtClean="0">
                <a:effectLst>
                  <a:outerShdw blurRad="38100" dist="38100" dir="2700000" algn="tl">
                    <a:srgbClr val="C0C0C0"/>
                  </a:outerShdw>
                </a:effectLst>
              </a:rPr>
              <a:t>2.6.1 </a:t>
            </a:r>
            <a:r>
              <a:rPr lang="zh-CN" altLang="en-US" sz="2600" b="1" dirty="0" smtClean="0">
                <a:effectLst>
                  <a:outerShdw blurRad="38100" dist="38100" dir="2700000" algn="tl">
                    <a:srgbClr val="C0C0C0"/>
                  </a:outerShdw>
                </a:effectLst>
              </a:rPr>
              <a:t>多径衰落的基本特性</a:t>
            </a:r>
            <a:endParaRPr lang="zh-CN" altLang="en-US" sz="26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ox(i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nodeType="clickEffect">
                                  <p:stCondLst>
                                    <p:cond delay="0"/>
                                  </p:stCondLst>
                                  <p:childTnLst>
                                    <p:animEffect transition="out" filter="wipe(down)">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p:cNvSpPr>
            <a:spLocks noGrp="1" noRot="1" noChangeArrowheads="1"/>
          </p:cNvSpPr>
          <p:nvPr>
            <p:ph type="body" idx="1"/>
          </p:nvPr>
        </p:nvSpPr>
        <p:spPr>
          <a:xfrm>
            <a:off x="395288" y="1529308"/>
            <a:ext cx="8540750" cy="2914650"/>
          </a:xfrm>
        </p:spPr>
        <p:txBody>
          <a:bodyPr>
            <a:noAutofit/>
          </a:bodyPr>
          <a:lstStyle/>
          <a:p>
            <a:pPr>
              <a:buNone/>
            </a:pPr>
            <a:r>
              <a:rPr lang="zh-CN" altLang="en-US" sz="2600"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原</a:t>
            </a:r>
            <a:r>
              <a:rPr lang="zh-CN" altLang="en-US" sz="2600" dirty="0" smtClean="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因</a:t>
            </a:r>
            <a:r>
              <a:rPr lang="en-US" altLang="zh-CN" sz="2600" dirty="0" smtClean="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dirty="0" smtClean="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rPr>
              <a:t>移动时会引起多普勒（</a:t>
            </a:r>
            <a:r>
              <a:rPr lang="en-US" altLang="zh-CN"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rPr>
              <a:t>Doppler</a:t>
            </a:r>
            <a:r>
              <a:rPr lang="zh-CN" altLang="en-US"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rPr>
              <a:t>）频率漂移</a:t>
            </a:r>
            <a:endParaRPr lang="zh-CN" altLang="en-US"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r>
              <a:rPr lang="zh-CN" altLang="en-US"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rPr>
              <a:t>表达式</a:t>
            </a:r>
            <a:endParaRPr lang="zh-CN" altLang="en-US" sz="2600" dirty="0">
              <a:solidFill>
                <a:srgbClr val="00CC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endPar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a:buNone/>
            </a:pPr>
            <a:r>
              <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rPr>
              <a:t>	 </a:t>
            </a:r>
            <a:endPar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a:buNone/>
            </a:pPr>
            <a:r>
              <a:rPr lang="zh-CN" altLang="en-US" sz="2600" dirty="0" smtClean="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最</a:t>
            </a:r>
            <a:r>
              <a:rPr lang="zh-CN" altLang="en-US" sz="2600"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大多普勒</a:t>
            </a:r>
            <a:r>
              <a:rPr lang="en-US" altLang="zh-CN" sz="2600"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(Doppler)</a:t>
            </a:r>
            <a:r>
              <a:rPr lang="zh-CN" altLang="en-US" sz="2600"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频移</a:t>
            </a:r>
            <a:endParaRPr lang="zh-CN" altLang="en-US" sz="2600"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endParaRPr>
          </a:p>
          <a:p>
            <a:endPar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endParaRPr>
          </a:p>
          <a:p>
            <a:endPar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endParaRPr>
          </a:p>
          <a:p>
            <a:endParaRPr lang="en-US" altLang="zh-CN" sz="26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149508" name="Rectangle 4"/>
          <p:cNvSpPr>
            <a:spLocks noChangeArrowheads="1"/>
          </p:cNvSpPr>
          <p:nvPr/>
        </p:nvSpPr>
        <p:spPr bwMode="gray">
          <a:xfrm>
            <a:off x="0" y="2240638"/>
            <a:ext cx="184731" cy="369332"/>
          </a:xfrm>
          <a:prstGeom prst="rect">
            <a:avLst/>
          </a:prstGeom>
          <a:noFill/>
          <a:ln w="12700" algn="ctr">
            <a:noFill/>
            <a:miter lim="800000"/>
          </a:ln>
          <a:effectLst/>
        </p:spPr>
        <p:txBody>
          <a:bodyPr wrap="none" anchor="ctr">
            <a:spAutoFit/>
          </a:bodyPr>
          <a:lstStyle/>
          <a:p>
            <a:endParaRPr lang="zh-CN" altLang="en-US"/>
          </a:p>
        </p:txBody>
      </p:sp>
      <p:graphicFrame>
        <p:nvGraphicFramePr>
          <p:cNvPr id="149509" name="Object 5"/>
          <p:cNvGraphicFramePr>
            <a:graphicFrameLocks noChangeAspect="1"/>
          </p:cNvGraphicFramePr>
          <p:nvPr/>
        </p:nvGraphicFramePr>
        <p:xfrm>
          <a:off x="3275856" y="2139702"/>
          <a:ext cx="2232025" cy="815578"/>
        </p:xfrm>
        <a:graphic>
          <a:graphicData uri="http://schemas.openxmlformats.org/presentationml/2006/ole">
            <mc:AlternateContent xmlns:mc="http://schemas.openxmlformats.org/markup-compatibility/2006">
              <mc:Choice xmlns:v="urn:schemas-microsoft-com:vml" Requires="v">
                <p:oleObj spid="_x0000_s17409" name="公式" r:id="rId1" imgW="19202400" imgH="9448800" progId="">
                  <p:embed/>
                </p:oleObj>
              </mc:Choice>
              <mc:Fallback>
                <p:oleObj name="公式" r:id="rId1" imgW="19202400" imgH="9448800" progId="">
                  <p:embed/>
                  <p:pic>
                    <p:nvPicPr>
                      <p:cNvPr id="0" name="图片 17408" descr="image48"/>
                      <p:cNvPicPr>
                        <a:picLocks noChangeAspect="1"/>
                      </p:cNvPicPr>
                      <p:nvPr/>
                    </p:nvPicPr>
                    <p:blipFill>
                      <a:blip r:embed="rId2"/>
                      <a:stretch>
                        <a:fillRect/>
                      </a:stretch>
                    </p:blipFill>
                    <p:spPr>
                      <a:xfrm>
                        <a:off x="3275856" y="2139702"/>
                        <a:ext cx="2232025" cy="815578"/>
                      </a:xfrm>
                      <a:prstGeom prst="rect">
                        <a:avLst/>
                      </a:prstGeom>
                      <a:solidFill>
                        <a:srgbClr val="FFFFFF"/>
                      </a:solidFill>
                      <a:ln w="9525">
                        <a:noFill/>
                      </a:ln>
                    </p:spPr>
                  </p:pic>
                </p:oleObj>
              </mc:Fallback>
            </mc:AlternateContent>
          </a:graphicData>
        </a:graphic>
      </p:graphicFrame>
      <p:sp>
        <p:nvSpPr>
          <p:cNvPr id="149510" name="Rectangle 6"/>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sp>
        <p:nvSpPr>
          <p:cNvPr id="149511" name="Rectangle 7"/>
          <p:cNvSpPr>
            <a:spLocks noChangeArrowheads="1"/>
          </p:cNvSpPr>
          <p:nvPr/>
        </p:nvSpPr>
        <p:spPr bwMode="gray">
          <a:xfrm>
            <a:off x="0" y="-184666"/>
            <a:ext cx="184731" cy="369332"/>
          </a:xfrm>
          <a:prstGeom prst="rect">
            <a:avLst/>
          </a:prstGeom>
          <a:noFill/>
          <a:ln w="12700" algn="ctr">
            <a:noFill/>
            <a:miter lim="800000"/>
          </a:ln>
          <a:effectLst/>
        </p:spPr>
        <p:txBody>
          <a:bodyPr wrap="none" anchor="ctr">
            <a:spAutoFit/>
          </a:bodyPr>
          <a:lstStyle/>
          <a:p>
            <a:endParaRPr lang="zh-CN" altLang="en-US"/>
          </a:p>
        </p:txBody>
      </p:sp>
      <p:graphicFrame>
        <p:nvGraphicFramePr>
          <p:cNvPr id="149512" name="Object 8"/>
          <p:cNvGraphicFramePr>
            <a:graphicFrameLocks noChangeAspect="1"/>
          </p:cNvGraphicFramePr>
          <p:nvPr/>
        </p:nvGraphicFramePr>
        <p:xfrm>
          <a:off x="1835697" y="3980370"/>
          <a:ext cx="1368425" cy="895636"/>
        </p:xfrm>
        <a:graphic>
          <a:graphicData uri="http://schemas.openxmlformats.org/presentationml/2006/ole">
            <mc:AlternateContent xmlns:mc="http://schemas.openxmlformats.org/markup-compatibility/2006">
              <mc:Choice xmlns:v="urn:schemas-microsoft-com:vml" Requires="v">
                <p:oleObj spid="_x0000_s17410" name="公式" r:id="rId3" imgW="11277600" imgH="9448800" progId="">
                  <p:embed/>
                </p:oleObj>
              </mc:Choice>
              <mc:Fallback>
                <p:oleObj name="公式" r:id="rId3" imgW="11277600" imgH="9448800" progId="">
                  <p:embed/>
                  <p:pic>
                    <p:nvPicPr>
                      <p:cNvPr id="0" name="图片 17409" descr="image49"/>
                      <p:cNvPicPr>
                        <a:picLocks noChangeAspect="1"/>
                      </p:cNvPicPr>
                      <p:nvPr/>
                    </p:nvPicPr>
                    <p:blipFill>
                      <a:blip r:embed="rId4"/>
                      <a:stretch>
                        <a:fillRect/>
                      </a:stretch>
                    </p:blipFill>
                    <p:spPr>
                      <a:xfrm>
                        <a:off x="1835697" y="3980370"/>
                        <a:ext cx="1368425" cy="895636"/>
                      </a:xfrm>
                      <a:prstGeom prst="rect">
                        <a:avLst/>
                      </a:prstGeom>
                      <a:solidFill>
                        <a:srgbClr val="FFFFFF"/>
                      </a:solidFill>
                      <a:ln w="9525">
                        <a:noFill/>
                      </a:ln>
                    </p:spPr>
                  </p:pic>
                </p:oleObj>
              </mc:Fallback>
            </mc:AlternateContent>
          </a:graphicData>
        </a:graphic>
      </p:graphicFrame>
      <p:pic>
        <p:nvPicPr>
          <p:cNvPr id="149513" name="Picture 9"/>
          <p:cNvPicPr>
            <a:picLocks noChangeAspect="1" noChangeArrowheads="1"/>
          </p:cNvPicPr>
          <p:nvPr/>
        </p:nvPicPr>
        <p:blipFill>
          <a:blip r:embed="rId5" cstate="print"/>
          <a:srcRect l="32199" t="37743" r="33481" b="34818"/>
          <a:stretch>
            <a:fillRect/>
          </a:stretch>
        </p:blipFill>
        <p:spPr bwMode="auto">
          <a:xfrm>
            <a:off x="4726696" y="2949792"/>
            <a:ext cx="4417304" cy="1998222"/>
          </a:xfrm>
          <a:prstGeom prst="rect">
            <a:avLst/>
          </a:prstGeom>
          <a:noFill/>
          <a:ln w="9525">
            <a:noFill/>
            <a:miter lim="800000"/>
            <a:headEnd/>
            <a:tailEnd/>
          </a:ln>
        </p:spPr>
      </p:pic>
      <p:pic>
        <p:nvPicPr>
          <p:cNvPr id="10" name="图片 9" descr="5bc6fc52-b49d-4298-b410-192e1f0ef3a5.gif"/>
          <p:cNvPicPr>
            <a:picLocks noChangeAspect="1"/>
          </p:cNvPicPr>
          <p:nvPr/>
        </p:nvPicPr>
        <p:blipFill>
          <a:blip r:embed="rId6" cstate="print"/>
          <a:srcRect l="14589" t="33821" r="11138" b="38327"/>
          <a:stretch>
            <a:fillRect/>
          </a:stretch>
        </p:blipFill>
        <p:spPr>
          <a:xfrm>
            <a:off x="0" y="0"/>
            <a:ext cx="2592288" cy="486054"/>
          </a:xfrm>
          <a:prstGeom prst="rect">
            <a:avLst/>
          </a:prstGeom>
        </p:spPr>
      </p:pic>
      <p:sp>
        <p:nvSpPr>
          <p:cNvPr id="12" name="Rectangle 2"/>
          <p:cNvSpPr>
            <a:spLocks noGrp="1" noRot="1" noChangeArrowheads="1"/>
          </p:cNvSpPr>
          <p:nvPr>
            <p:ph type="title"/>
          </p:nvPr>
        </p:nvSpPr>
        <p:spPr>
          <a:xfrm>
            <a:off x="251520" y="411510"/>
            <a:ext cx="8682168" cy="648072"/>
          </a:xfrm>
        </p:spPr>
        <p:txBody>
          <a:bodyPr>
            <a:normAutofit/>
          </a:bodyPr>
          <a:lstStyle/>
          <a:p>
            <a:r>
              <a:rPr lang="en-US" altLang="zh-CN" sz="3600" b="1" dirty="0" smtClean="0">
                <a:effectLst>
                  <a:outerShdw blurRad="38100" dist="38100" dir="2700000" algn="tl">
                    <a:srgbClr val="C0C0C0"/>
                  </a:outerShdw>
                </a:effectLst>
              </a:rPr>
              <a:t>2.6</a:t>
            </a:r>
            <a:r>
              <a:rPr lang="zh-CN" altLang="en-US" sz="3600" b="1" dirty="0" smtClean="0">
                <a:effectLst>
                  <a:outerShdw blurRad="38100" dist="38100" dir="2700000" algn="tl">
                    <a:srgbClr val="C0C0C0"/>
                  </a:outerShdw>
                </a:effectLst>
              </a:rPr>
              <a:t>移动无线信道及特性参数</a:t>
            </a:r>
            <a:endParaRPr lang="zh-CN" altLang="en-US" sz="3600" b="1" dirty="0">
              <a:effectLst>
                <a:outerShdw blurRad="38100" dist="38100" dir="2700000" algn="tl">
                  <a:srgbClr val="C0C0C0"/>
                </a:outerShdw>
              </a:effectLst>
            </a:endParaRPr>
          </a:p>
        </p:txBody>
      </p:sp>
      <p:sp>
        <p:nvSpPr>
          <p:cNvPr id="13" name="矩形 12"/>
          <p:cNvSpPr/>
          <p:nvPr/>
        </p:nvSpPr>
        <p:spPr>
          <a:xfrm>
            <a:off x="251520" y="1059582"/>
            <a:ext cx="2755883" cy="492443"/>
          </a:xfrm>
          <a:prstGeom prst="rect">
            <a:avLst/>
          </a:prstGeom>
        </p:spPr>
        <p:txBody>
          <a:bodyPr wrap="none">
            <a:spAutoFit/>
          </a:bodyPr>
          <a:lstStyle/>
          <a:p>
            <a:r>
              <a:rPr lang="en-US" altLang="zh-CN" sz="2600" b="1" dirty="0" smtClean="0">
                <a:effectLst>
                  <a:outerShdw blurRad="38100" dist="38100" dir="2700000" algn="tl">
                    <a:srgbClr val="C0C0C0"/>
                  </a:outerShdw>
                </a:effectLst>
              </a:rPr>
              <a:t>2.6.2 </a:t>
            </a:r>
            <a:r>
              <a:rPr lang="zh-CN" altLang="en-US" sz="2600" b="1" dirty="0" smtClean="0">
                <a:effectLst>
                  <a:outerShdw blurRad="38100" dist="38100" dir="2700000" algn="tl">
                    <a:srgbClr val="C0C0C0"/>
                  </a:outerShdw>
                </a:effectLst>
              </a:rPr>
              <a:t>多普勒频移</a:t>
            </a:r>
            <a:endParaRPr lang="zh-CN" altLang="en-US" sz="26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p:cTn id="7" dur="1000" fill="hold"/>
                                        <p:tgtEl>
                                          <p:spTgt spid="14950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4950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49507">
                                            <p:txEl>
                                              <p:pRg st="0" end="0"/>
                                            </p:txEl>
                                          </p:spTgt>
                                        </p:tgtEl>
                                      </p:cBhvr>
                                    </p:animEffect>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149513"/>
                                        </p:tgtEl>
                                        <p:attrNameLst>
                                          <p:attrName>style.visibility</p:attrName>
                                        </p:attrNameLst>
                                      </p:cBhvr>
                                      <p:to>
                                        <p:strVal val="visible"/>
                                      </p:to>
                                    </p:set>
                                    <p:animEffect transition="in" filter="dissolve">
                                      <p:cBhvr>
                                        <p:cTn id="13" dur="500"/>
                                        <p:tgtEl>
                                          <p:spTgt spid="14951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49507">
                                            <p:txEl>
                                              <p:pRg st="1" end="1"/>
                                            </p:txEl>
                                          </p:spTgt>
                                        </p:tgtEl>
                                        <p:attrNameLst>
                                          <p:attrName>style.visibility</p:attrName>
                                        </p:attrNameLst>
                                      </p:cBhvr>
                                      <p:to>
                                        <p:strVal val="visible"/>
                                      </p:to>
                                    </p:set>
                                    <p:anim calcmode="lin" valueType="num">
                                      <p:cBhvr>
                                        <p:cTn id="18" dur="1000" fill="hold"/>
                                        <p:tgtEl>
                                          <p:spTgt spid="149507">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149507">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149507">
                                            <p:txEl>
                                              <p:pRg st="1" end="1"/>
                                            </p:txEl>
                                          </p:spTgt>
                                        </p:tgtEl>
                                      </p:cBhvr>
                                    </p:animEffect>
                                  </p:childTnLst>
                                </p:cTn>
                              </p:par>
                              <p:par>
                                <p:cTn id="21" presetID="55" presetClass="entr" presetSubtype="0" fill="hold" nodeType="withEffect">
                                  <p:stCondLst>
                                    <p:cond delay="0"/>
                                  </p:stCondLst>
                                  <p:childTnLst>
                                    <p:set>
                                      <p:cBhvr>
                                        <p:cTn id="22" dur="1" fill="hold">
                                          <p:stCondLst>
                                            <p:cond delay="0"/>
                                          </p:stCondLst>
                                        </p:cTn>
                                        <p:tgtEl>
                                          <p:spTgt spid="149507">
                                            <p:txEl>
                                              <p:pRg st="3" end="3"/>
                                            </p:txEl>
                                          </p:spTgt>
                                        </p:tgtEl>
                                        <p:attrNameLst>
                                          <p:attrName>style.visibility</p:attrName>
                                        </p:attrNameLst>
                                      </p:cBhvr>
                                      <p:to>
                                        <p:strVal val="visible"/>
                                      </p:to>
                                    </p:set>
                                    <p:anim calcmode="lin" valueType="num">
                                      <p:cBhvr>
                                        <p:cTn id="23" dur="1000" fill="hold"/>
                                        <p:tgtEl>
                                          <p:spTgt spid="149507">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149507">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149507">
                                            <p:txEl>
                                              <p:pRg st="3" end="3"/>
                                            </p:txEl>
                                          </p:spTgt>
                                        </p:tgtEl>
                                      </p:cBhvr>
                                    </p:animEffect>
                                  </p:childTnLst>
                                </p:cTn>
                              </p:par>
                              <p:par>
                                <p:cTn id="26" presetID="55" presetClass="entr" presetSubtype="0" fill="hold" nodeType="withEffect">
                                  <p:stCondLst>
                                    <p:cond delay="0"/>
                                  </p:stCondLst>
                                  <p:childTnLst>
                                    <p:set>
                                      <p:cBhvr>
                                        <p:cTn id="27" dur="1" fill="hold">
                                          <p:stCondLst>
                                            <p:cond delay="0"/>
                                          </p:stCondLst>
                                        </p:cTn>
                                        <p:tgtEl>
                                          <p:spTgt spid="149507">
                                            <p:txEl>
                                              <p:pRg st="4" end="4"/>
                                            </p:txEl>
                                          </p:spTgt>
                                        </p:tgtEl>
                                        <p:attrNameLst>
                                          <p:attrName>style.visibility</p:attrName>
                                        </p:attrNameLst>
                                      </p:cBhvr>
                                      <p:to>
                                        <p:strVal val="visible"/>
                                      </p:to>
                                    </p:set>
                                    <p:anim calcmode="lin" valueType="num">
                                      <p:cBhvr>
                                        <p:cTn id="28" dur="1000" fill="hold"/>
                                        <p:tgtEl>
                                          <p:spTgt spid="149507">
                                            <p:txEl>
                                              <p:pRg st="4" end="4"/>
                                            </p:txEl>
                                          </p:spTgt>
                                        </p:tgtEl>
                                        <p:attrNameLst>
                                          <p:attrName>ppt_w</p:attrName>
                                        </p:attrNameLst>
                                      </p:cBhvr>
                                      <p:tavLst>
                                        <p:tav tm="0">
                                          <p:val>
                                            <p:strVal val="#ppt_w*0.70"/>
                                          </p:val>
                                        </p:tav>
                                        <p:tav tm="100000">
                                          <p:val>
                                            <p:strVal val="#ppt_w"/>
                                          </p:val>
                                        </p:tav>
                                      </p:tavLst>
                                    </p:anim>
                                    <p:anim calcmode="lin" valueType="num">
                                      <p:cBhvr>
                                        <p:cTn id="29" dur="1000" fill="hold"/>
                                        <p:tgtEl>
                                          <p:spTgt spid="149507">
                                            <p:txEl>
                                              <p:pRg st="4" end="4"/>
                                            </p:txEl>
                                          </p:spTgt>
                                        </p:tgtEl>
                                        <p:attrNameLst>
                                          <p:attrName>ppt_h</p:attrName>
                                        </p:attrNameLst>
                                      </p:cBhvr>
                                      <p:tavLst>
                                        <p:tav tm="0">
                                          <p:val>
                                            <p:strVal val="#ppt_h"/>
                                          </p:val>
                                        </p:tav>
                                        <p:tav tm="100000">
                                          <p:val>
                                            <p:strVal val="#ppt_h"/>
                                          </p:val>
                                        </p:tav>
                                      </p:tavLst>
                                    </p:anim>
                                    <p:animEffect transition="in" filter="fade">
                                      <p:cBhvr>
                                        <p:cTn id="30" dur="1000"/>
                                        <p:tgtEl>
                                          <p:spTgt spid="149507">
                                            <p:txEl>
                                              <p:pRg st="4" end="4"/>
                                            </p:txEl>
                                          </p:spTgt>
                                        </p:tgtEl>
                                      </p:cBhvr>
                                    </p:animEffect>
                                  </p:childTnLst>
                                </p:cTn>
                              </p:par>
                              <p:par>
                                <p:cTn id="31" presetID="55" presetClass="entr" presetSubtype="0" fill="hold" nodeType="withEffect">
                                  <p:stCondLst>
                                    <p:cond delay="0"/>
                                  </p:stCondLst>
                                  <p:childTnLst>
                                    <p:set>
                                      <p:cBhvr>
                                        <p:cTn id="32" dur="1" fill="hold">
                                          <p:stCondLst>
                                            <p:cond delay="0"/>
                                          </p:stCondLst>
                                        </p:cTn>
                                        <p:tgtEl>
                                          <p:spTgt spid="149509"/>
                                        </p:tgtEl>
                                        <p:attrNameLst>
                                          <p:attrName>style.visibility</p:attrName>
                                        </p:attrNameLst>
                                      </p:cBhvr>
                                      <p:to>
                                        <p:strVal val="visible"/>
                                      </p:to>
                                    </p:set>
                                    <p:anim calcmode="lin" valueType="num">
                                      <p:cBhvr>
                                        <p:cTn id="33" dur="1000" fill="hold"/>
                                        <p:tgtEl>
                                          <p:spTgt spid="149509"/>
                                        </p:tgtEl>
                                        <p:attrNameLst>
                                          <p:attrName>ppt_w</p:attrName>
                                        </p:attrNameLst>
                                      </p:cBhvr>
                                      <p:tavLst>
                                        <p:tav tm="0">
                                          <p:val>
                                            <p:strVal val="#ppt_w*0.70"/>
                                          </p:val>
                                        </p:tav>
                                        <p:tav tm="100000">
                                          <p:val>
                                            <p:strVal val="#ppt_w"/>
                                          </p:val>
                                        </p:tav>
                                      </p:tavLst>
                                    </p:anim>
                                    <p:anim calcmode="lin" valueType="num">
                                      <p:cBhvr>
                                        <p:cTn id="34" dur="1000" fill="hold"/>
                                        <p:tgtEl>
                                          <p:spTgt spid="149509"/>
                                        </p:tgtEl>
                                        <p:attrNameLst>
                                          <p:attrName>ppt_h</p:attrName>
                                        </p:attrNameLst>
                                      </p:cBhvr>
                                      <p:tavLst>
                                        <p:tav tm="0">
                                          <p:val>
                                            <p:strVal val="#ppt_h"/>
                                          </p:val>
                                        </p:tav>
                                        <p:tav tm="100000">
                                          <p:val>
                                            <p:strVal val="#ppt_h"/>
                                          </p:val>
                                        </p:tav>
                                      </p:tavLst>
                                    </p:anim>
                                    <p:animEffect transition="in" filter="fade">
                                      <p:cBhvr>
                                        <p:cTn id="35" dur="1000"/>
                                        <p:tgtEl>
                                          <p:spTgt spid="149509"/>
                                        </p:tgtEl>
                                      </p:cBhvr>
                                    </p:animEffect>
                                  </p:childTnLst>
                                </p:cTn>
                              </p:par>
                              <p:par>
                                <p:cTn id="36" presetID="55" presetClass="entr" presetSubtype="0" fill="hold" nodeType="withEffect">
                                  <p:stCondLst>
                                    <p:cond delay="0"/>
                                  </p:stCondLst>
                                  <p:childTnLst>
                                    <p:set>
                                      <p:cBhvr>
                                        <p:cTn id="37" dur="1" fill="hold">
                                          <p:stCondLst>
                                            <p:cond delay="0"/>
                                          </p:stCondLst>
                                        </p:cTn>
                                        <p:tgtEl>
                                          <p:spTgt spid="149512"/>
                                        </p:tgtEl>
                                        <p:attrNameLst>
                                          <p:attrName>style.visibility</p:attrName>
                                        </p:attrNameLst>
                                      </p:cBhvr>
                                      <p:to>
                                        <p:strVal val="visible"/>
                                      </p:to>
                                    </p:set>
                                    <p:anim calcmode="lin" valueType="num">
                                      <p:cBhvr>
                                        <p:cTn id="38" dur="1000" fill="hold"/>
                                        <p:tgtEl>
                                          <p:spTgt spid="149512"/>
                                        </p:tgtEl>
                                        <p:attrNameLst>
                                          <p:attrName>ppt_w</p:attrName>
                                        </p:attrNameLst>
                                      </p:cBhvr>
                                      <p:tavLst>
                                        <p:tav tm="0">
                                          <p:val>
                                            <p:strVal val="#ppt_w*0.70"/>
                                          </p:val>
                                        </p:tav>
                                        <p:tav tm="100000">
                                          <p:val>
                                            <p:strVal val="#ppt_w"/>
                                          </p:val>
                                        </p:tav>
                                      </p:tavLst>
                                    </p:anim>
                                    <p:anim calcmode="lin" valueType="num">
                                      <p:cBhvr>
                                        <p:cTn id="39" dur="1000" fill="hold"/>
                                        <p:tgtEl>
                                          <p:spTgt spid="149512"/>
                                        </p:tgtEl>
                                        <p:attrNameLst>
                                          <p:attrName>ppt_h</p:attrName>
                                        </p:attrNameLst>
                                      </p:cBhvr>
                                      <p:tavLst>
                                        <p:tav tm="0">
                                          <p:val>
                                            <p:strVal val="#ppt_h"/>
                                          </p:val>
                                        </p:tav>
                                        <p:tav tm="100000">
                                          <p:val>
                                            <p:strVal val="#ppt_h"/>
                                          </p:val>
                                        </p:tav>
                                      </p:tavLst>
                                    </p:anim>
                                    <p:animEffect transition="in" filter="fade">
                                      <p:cBhvr>
                                        <p:cTn id="40" dur="1000"/>
                                        <p:tgtEl>
                                          <p:spTgt spid="149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3"/>
          <p:cNvSpPr>
            <a:spLocks noGrp="1" noRot="1" noChangeArrowheads="1"/>
          </p:cNvSpPr>
          <p:nvPr>
            <p:ph type="body" idx="1"/>
          </p:nvPr>
        </p:nvSpPr>
        <p:spPr>
          <a:xfrm>
            <a:off x="179512" y="1457300"/>
            <a:ext cx="8784976" cy="2914650"/>
          </a:xfrm>
        </p:spPr>
        <p:txBody>
          <a:bodyPr>
            <a:noAutofit/>
          </a:bodyPr>
          <a:lstStyle/>
          <a:p>
            <a:pPr marL="36195" lvl="1">
              <a:lnSpc>
                <a:spcPct val="150000"/>
              </a:lnSpc>
              <a:spcBef>
                <a:spcPts val="0"/>
              </a:spcBef>
              <a:buNone/>
            </a:pPr>
            <a:r>
              <a:rPr lang="zh-CN" altLang="en-US" sz="2600" b="1" dirty="0" smtClean="0">
                <a:effectLst>
                  <a:outerShdw blurRad="38100" dist="38100" dir="2700000" algn="tl">
                    <a:srgbClr val="C0C0C0"/>
                  </a:outerShdw>
                </a:effectLst>
                <a:latin typeface="宋体" panose="02010600030101010101" pitchFamily="2" charset="-122"/>
                <a:ea typeface="宋体" panose="02010600030101010101" pitchFamily="2" charset="-122"/>
              </a:rPr>
              <a:t>多</a:t>
            </a:r>
            <a:r>
              <a:rPr lang="zh-CN" altLang="en-US" sz="2600" b="1" dirty="0">
                <a:effectLst>
                  <a:outerShdw blurRad="38100" dist="38100" dir="2700000" algn="tl">
                    <a:srgbClr val="C0C0C0"/>
                  </a:outerShdw>
                </a:effectLst>
                <a:latin typeface="宋体" panose="02010600030101010101" pitchFamily="2" charset="-122"/>
                <a:ea typeface="宋体" panose="02010600030101010101" pitchFamily="2" charset="-122"/>
              </a:rPr>
              <a:t>普勒频移与移动台运动的方向、速度以及无线电波入射方向之间的夹角有关</a:t>
            </a:r>
            <a:r>
              <a:rPr lang="zh-CN" altLang="en-US" sz="2600" b="1"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若</a:t>
            </a:r>
            <a:r>
              <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rPr>
              <a:t>移动台朝向入射波方向运动，则多普勒频移为正（接收信号</a:t>
            </a:r>
            <a:r>
              <a:rPr lang="zh-CN" altLang="en-US" sz="2600" b="1"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频率上升</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）；若</a:t>
            </a:r>
            <a:r>
              <a:rPr lang="zh-CN" altLang="en-US" sz="2600" dirty="0">
                <a:effectLst>
                  <a:outerShdw blurRad="38100" dist="38100" dir="2700000" algn="tl">
                    <a:srgbClr val="C0C0C0"/>
                  </a:outerShdw>
                </a:effectLst>
                <a:latin typeface="宋体" panose="02010600030101010101" pitchFamily="2" charset="-122"/>
                <a:ea typeface="宋体" panose="02010600030101010101" pitchFamily="2" charset="-122"/>
              </a:rPr>
              <a:t>移动台背向入射波方向运动，则多普勒频移为负（接收信号</a:t>
            </a:r>
            <a:r>
              <a:rPr lang="zh-CN" altLang="en-US" sz="2600" b="1" dirty="0">
                <a:solidFill>
                  <a:srgbClr val="DA0000"/>
                </a:solidFill>
                <a:effectLst>
                  <a:outerShdw blurRad="38100" dist="38100" dir="2700000" algn="tl">
                    <a:srgbClr val="C0C0C0"/>
                  </a:outerShdw>
                </a:effectLst>
                <a:latin typeface="宋体" panose="02010600030101010101" pitchFamily="2" charset="-122"/>
                <a:ea typeface="宋体" panose="02010600030101010101" pitchFamily="2" charset="-122"/>
              </a:rPr>
              <a:t>频率下降</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endParaRPr lang="zh-CN" altLang="en-US" sz="2600" b="1"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lvl="1">
              <a:lnSpc>
                <a:spcPct val="150000"/>
              </a:lnSpc>
              <a:spcBef>
                <a:spcPts val="0"/>
              </a:spcBef>
              <a:buNone/>
            </a:pPr>
            <a:r>
              <a:rPr lang="zh-CN" altLang="en-US" sz="2600" b="1" dirty="0">
                <a:effectLst>
                  <a:outerShdw blurRad="38100" dist="38100" dir="2700000" algn="tl">
                    <a:srgbClr val="C0C0C0"/>
                  </a:outerShdw>
                </a:effectLst>
                <a:latin typeface="宋体" panose="02010600030101010101" pitchFamily="2" charset="-122"/>
                <a:ea typeface="宋体" panose="02010600030101010101" pitchFamily="2" charset="-122"/>
              </a:rPr>
              <a:t>信号经过不同方向传播，其多径分量造成接收机信号的多普勒扩散，因而增加了信号带宽。</a:t>
            </a:r>
            <a:endParaRPr lang="zh-CN" altLang="en-US" sz="26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5" name="Rectangle 2"/>
          <p:cNvSpPr>
            <a:spLocks noGrp="1" noRot="1" noChangeArrowheads="1"/>
          </p:cNvSpPr>
          <p:nvPr>
            <p:ph type="title"/>
          </p:nvPr>
        </p:nvSpPr>
        <p:spPr>
          <a:xfrm>
            <a:off x="251520" y="411510"/>
            <a:ext cx="8682168" cy="648072"/>
          </a:xfrm>
        </p:spPr>
        <p:txBody>
          <a:bodyPr>
            <a:normAutofit/>
          </a:bodyPr>
          <a:lstStyle/>
          <a:p>
            <a:r>
              <a:rPr lang="en-US" altLang="zh-CN" sz="3600" b="1" dirty="0" smtClean="0">
                <a:effectLst>
                  <a:outerShdw blurRad="38100" dist="38100" dir="2700000" algn="tl">
                    <a:srgbClr val="C0C0C0"/>
                  </a:outerShdw>
                </a:effectLst>
              </a:rPr>
              <a:t>2.6</a:t>
            </a:r>
            <a:r>
              <a:rPr lang="zh-CN" altLang="en-US" sz="3600" b="1" dirty="0" smtClean="0">
                <a:effectLst>
                  <a:outerShdw blurRad="38100" dist="38100" dir="2700000" algn="tl">
                    <a:srgbClr val="C0C0C0"/>
                  </a:outerShdw>
                </a:effectLst>
              </a:rPr>
              <a:t>移动无线信道及特性参数</a:t>
            </a:r>
            <a:endParaRPr lang="zh-CN" altLang="en-US" sz="3600" b="1" dirty="0">
              <a:effectLst>
                <a:outerShdw blurRad="38100" dist="38100" dir="2700000" algn="tl">
                  <a:srgbClr val="C0C0C0"/>
                </a:outerShdw>
              </a:effectLst>
            </a:endParaRPr>
          </a:p>
        </p:txBody>
      </p:sp>
      <p:sp>
        <p:nvSpPr>
          <p:cNvPr id="7" name="矩形 6"/>
          <p:cNvSpPr/>
          <p:nvPr/>
        </p:nvSpPr>
        <p:spPr>
          <a:xfrm>
            <a:off x="251520" y="1059582"/>
            <a:ext cx="2755883" cy="492443"/>
          </a:xfrm>
          <a:prstGeom prst="rect">
            <a:avLst/>
          </a:prstGeom>
        </p:spPr>
        <p:txBody>
          <a:bodyPr wrap="none">
            <a:spAutoFit/>
          </a:bodyPr>
          <a:lstStyle/>
          <a:p>
            <a:r>
              <a:rPr lang="en-US" altLang="zh-CN" sz="2600" b="1" dirty="0" smtClean="0">
                <a:effectLst>
                  <a:outerShdw blurRad="38100" dist="38100" dir="2700000" algn="tl">
                    <a:srgbClr val="C0C0C0"/>
                  </a:outerShdw>
                </a:effectLst>
              </a:rPr>
              <a:t>2.6.2 </a:t>
            </a:r>
            <a:r>
              <a:rPr lang="zh-CN" altLang="en-US" sz="2600" b="1" dirty="0" smtClean="0">
                <a:effectLst>
                  <a:outerShdw blurRad="38100" dist="38100" dir="2700000" algn="tl">
                    <a:srgbClr val="C0C0C0"/>
                  </a:outerShdw>
                </a:effectLst>
              </a:rPr>
              <a:t>多普勒频移</a:t>
            </a:r>
            <a:endParaRPr lang="zh-CN" altLang="en-US" sz="2600" dirty="0"/>
          </a:p>
        </p:txBody>
      </p:sp>
    </p:spTree>
  </p:cSld>
  <p:clrMapOvr>
    <a:masterClrMapping/>
  </p:clrMapOvr>
  <p:transition>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rrowheads="1"/>
          </p:cNvSpPr>
          <p:nvPr>
            <p:ph type="title"/>
          </p:nvPr>
        </p:nvSpPr>
        <p:spPr>
          <a:xfrm>
            <a:off x="1403350" y="518795"/>
            <a:ext cx="7498080" cy="581025"/>
          </a:xfrm>
        </p:spPr>
        <p:txBody>
          <a:bodyPr>
            <a:normAutofit fontScale="90000"/>
          </a:bodyPr>
          <a:lstStyle/>
          <a:p>
            <a:r>
              <a:rPr lang="en-US" altLang="zh-CN" sz="3200" b="1" dirty="0">
                <a:effectLst>
                  <a:outerShdw blurRad="38100" dist="38100" dir="2700000" algn="tl">
                    <a:srgbClr val="C0C0C0"/>
                  </a:outerShdw>
                </a:effectLst>
              </a:rPr>
              <a:t>2.6.3 </a:t>
            </a:r>
            <a:r>
              <a:rPr lang="zh-CN" altLang="en-US" sz="3200" b="1" dirty="0">
                <a:effectLst>
                  <a:outerShdw blurRad="38100" dist="38100" dir="2700000" algn="tl">
                    <a:srgbClr val="C0C0C0"/>
                  </a:outerShdw>
                </a:effectLst>
              </a:rPr>
              <a:t>多径信道的信道模型（不作要求）</a:t>
            </a:r>
            <a:endParaRPr lang="en-US" altLang="zh-CN" sz="3200" b="1" dirty="0">
              <a:effectLst>
                <a:outerShdw blurRad="38100" dist="38100" dir="2700000" algn="tl">
                  <a:srgbClr val="C0C0C0"/>
                </a:outerShdw>
              </a:effectLst>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graphicFrame>
        <p:nvGraphicFramePr>
          <p:cNvPr id="7" name="对象 6"/>
          <p:cNvGraphicFramePr/>
          <p:nvPr/>
        </p:nvGraphicFramePr>
        <p:xfrm>
          <a:off x="658495" y="1044575"/>
          <a:ext cx="7870190" cy="3744595"/>
        </p:xfrm>
        <a:graphic>
          <a:graphicData uri="http://schemas.openxmlformats.org/presentationml/2006/ole">
            <mc:AlternateContent xmlns:mc="http://schemas.openxmlformats.org/markup-compatibility/2006">
              <mc:Choice xmlns:v="urn:schemas-microsoft-com:vml" Requires="v">
                <p:oleObj spid="_x0000_s8" name="" r:id="rId2" imgW="5876925" imgH="2733675" progId="Paint.Picture">
                  <p:embed/>
                </p:oleObj>
              </mc:Choice>
              <mc:Fallback>
                <p:oleObj name="" r:id="rId2" imgW="5876925" imgH="2733675" progId="Paint.Picture">
                  <p:embed/>
                  <p:pic>
                    <p:nvPicPr>
                      <p:cNvPr id="0" name="图片 7"/>
                      <p:cNvPicPr/>
                      <p:nvPr/>
                    </p:nvPicPr>
                    <p:blipFill>
                      <a:blip r:embed="rId3"/>
                      <a:stretch>
                        <a:fillRect/>
                      </a:stretch>
                    </p:blipFill>
                    <p:spPr>
                      <a:xfrm>
                        <a:off x="658495" y="1044575"/>
                        <a:ext cx="7870190" cy="3744595"/>
                      </a:xfrm>
                      <a:prstGeom prst="rect">
                        <a:avLst/>
                      </a:prstGeom>
                    </p:spPr>
                  </p:pic>
                </p:oleObj>
              </mc:Fallback>
            </mc:AlternateContent>
          </a:graphicData>
        </a:graphic>
      </p:graphicFrame>
    </p:spTree>
  </p:cSld>
  <p:clrMapOvr>
    <a:masterClrMapping/>
  </p:clrMapOvr>
  <p:transition>
    <p:wipe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rrowheads="1"/>
          </p:cNvSpPr>
          <p:nvPr>
            <p:ph type="title"/>
          </p:nvPr>
        </p:nvSpPr>
        <p:spPr>
          <a:xfrm>
            <a:off x="1403648" y="303498"/>
            <a:ext cx="7498080" cy="857250"/>
          </a:xfrm>
        </p:spPr>
        <p:txBody>
          <a:bodyPr>
            <a:normAutofit fontScale="90000"/>
          </a:bodyPr>
          <a:lstStyle/>
          <a:p>
            <a:r>
              <a:rPr lang="en-US" altLang="zh-CN" sz="3555" b="1" dirty="0">
                <a:effectLst>
                  <a:outerShdw blurRad="38100" dist="38100" dir="2700000" algn="tl">
                    <a:srgbClr val="C0C0C0"/>
                  </a:outerShdw>
                </a:effectLst>
              </a:rPr>
              <a:t>2.6.3 </a:t>
            </a:r>
            <a:r>
              <a:rPr lang="zh-CN" altLang="en-US" sz="3555" b="1" dirty="0">
                <a:effectLst>
                  <a:outerShdw blurRad="38100" dist="38100" dir="2700000" algn="tl">
                    <a:srgbClr val="C0C0C0"/>
                  </a:outerShdw>
                </a:effectLst>
              </a:rPr>
              <a:t>多径信道的信道模型（不作要求）</a:t>
            </a:r>
            <a:endParaRPr lang="zh-CN" altLang="en-US" sz="3555" b="1" dirty="0">
              <a:effectLst>
                <a:outerShdw blurRad="38100" dist="38100" dir="2700000" algn="tl">
                  <a:srgbClr val="C0C0C0"/>
                </a:outerShdw>
              </a:effectLst>
            </a:endParaRPr>
          </a:p>
        </p:txBody>
      </p:sp>
      <p:sp>
        <p:nvSpPr>
          <p:cNvPr id="152579" name="Rectangle 3"/>
          <p:cNvSpPr>
            <a:spLocks noGrp="1" noRot="1" noChangeArrowheads="1"/>
          </p:cNvSpPr>
          <p:nvPr>
            <p:ph type="body" idx="1"/>
          </p:nvPr>
        </p:nvSpPr>
        <p:spPr>
          <a:xfrm>
            <a:off x="395536" y="1923678"/>
            <a:ext cx="8540750" cy="2914650"/>
          </a:xfrm>
        </p:spPr>
        <p:txBody>
          <a:bodyPr>
            <a:normAutofit fontScale="77500" lnSpcReduction="20000"/>
          </a:bodyPr>
          <a:lstStyle/>
          <a:p>
            <a:r>
              <a:rPr lang="zh-CN" altLang="en-US" sz="2800" dirty="0">
                <a:solidFill>
                  <a:schemeClr val="folHlink"/>
                </a:solidFill>
                <a:effectLst>
                  <a:outerShdw blurRad="38100" dist="38100" dir="2700000" algn="tl">
                    <a:srgbClr val="C0C0C0"/>
                  </a:outerShdw>
                </a:effectLst>
              </a:rPr>
              <a:t>推导冲击响应</a:t>
            </a:r>
            <a:endParaRPr lang="zh-CN" altLang="en-US" sz="2800" dirty="0">
              <a:solidFill>
                <a:schemeClr val="folHlink"/>
              </a:solidFill>
              <a:effectLst>
                <a:outerShdw blurRad="38100" dist="38100" dir="2700000" algn="tl">
                  <a:srgbClr val="C0C0C0"/>
                </a:outerShdw>
              </a:effectLst>
            </a:endParaRPr>
          </a:p>
          <a:p>
            <a:pPr lvl="1"/>
            <a:r>
              <a:rPr lang="zh-CN" altLang="en-US" b="1" dirty="0">
                <a:effectLst>
                  <a:outerShdw blurRad="38100" dist="38100" dir="2700000" algn="tl">
                    <a:srgbClr val="C0C0C0"/>
                  </a:outerShdw>
                </a:effectLst>
              </a:rPr>
              <a:t>只考虑多径效应</a:t>
            </a:r>
            <a:endParaRPr lang="zh-CN" altLang="en-US" b="1" dirty="0">
              <a:effectLst>
                <a:outerShdw blurRad="38100" dist="38100" dir="2700000" algn="tl">
                  <a:srgbClr val="C0C0C0"/>
                </a:outerShdw>
              </a:effectLst>
            </a:endParaRPr>
          </a:p>
          <a:p>
            <a:pPr lvl="1"/>
            <a:endParaRPr lang="zh-CN" altLang="en-US" b="1" dirty="0">
              <a:effectLst>
                <a:outerShdw blurRad="38100" dist="38100" dir="2700000" algn="tl">
                  <a:srgbClr val="C0C0C0"/>
                </a:outerShdw>
              </a:effectLst>
            </a:endParaRPr>
          </a:p>
          <a:p>
            <a:pPr lvl="1"/>
            <a:r>
              <a:rPr lang="zh-CN" altLang="en-US" b="1" dirty="0">
                <a:effectLst>
                  <a:outerShdw blurRad="38100" dist="38100" dir="2700000" algn="tl">
                    <a:srgbClr val="C0C0C0"/>
                  </a:outerShdw>
                </a:effectLst>
              </a:rPr>
              <a:t>再考虑多普勒效应</a:t>
            </a:r>
            <a:endParaRPr lang="zh-CN" altLang="en-US" b="1" dirty="0">
              <a:effectLst>
                <a:outerShdw blurRad="38100" dist="38100" dir="2700000" algn="tl">
                  <a:srgbClr val="C0C0C0"/>
                </a:outerShdw>
              </a:effectLst>
            </a:endParaRPr>
          </a:p>
          <a:p>
            <a:pPr lvl="1"/>
            <a:endParaRPr lang="zh-CN" altLang="en-US" b="1" dirty="0">
              <a:effectLst>
                <a:outerShdw blurRad="38100" dist="38100" dir="2700000" algn="tl">
                  <a:srgbClr val="C0C0C0"/>
                </a:outerShdw>
              </a:effectLst>
            </a:endParaRPr>
          </a:p>
          <a:p>
            <a:pPr lvl="1"/>
            <a:r>
              <a:rPr lang="zh-CN" altLang="en-US" b="1" dirty="0">
                <a:effectLst>
                  <a:outerShdw blurRad="38100" dist="38100" dir="2700000" algn="tl">
                    <a:srgbClr val="C0C0C0"/>
                  </a:outerShdw>
                </a:effectLst>
              </a:rPr>
              <a:t>多径和多普勒效应对传输信号的影响</a:t>
            </a:r>
            <a:endParaRPr lang="zh-CN" altLang="en-US" b="1" dirty="0">
              <a:effectLst>
                <a:outerShdw blurRad="38100" dist="38100" dir="2700000" algn="tl">
                  <a:srgbClr val="C0C0C0"/>
                </a:outerShdw>
              </a:effectLst>
            </a:endParaRPr>
          </a:p>
          <a:p>
            <a:pPr lvl="1"/>
            <a:endParaRPr lang="zh-CN" altLang="en-US" b="1" dirty="0">
              <a:effectLst>
                <a:outerShdw blurRad="38100" dist="38100" dir="2700000" algn="tl">
                  <a:srgbClr val="C0C0C0"/>
                </a:outerShdw>
              </a:effectLst>
            </a:endParaRPr>
          </a:p>
          <a:p>
            <a:pPr lvl="1"/>
            <a:r>
              <a:rPr lang="zh-CN" altLang="en-US" b="1" dirty="0">
                <a:effectLst>
                  <a:outerShdw blurRad="38100" dist="38100" dir="2700000" algn="tl">
                    <a:srgbClr val="C0C0C0"/>
                  </a:outerShdw>
                </a:effectLst>
              </a:rPr>
              <a:t>多径信道的冲击响应</a:t>
            </a:r>
            <a:endParaRPr lang="zh-CN" altLang="en-US" b="1" dirty="0">
              <a:effectLst>
                <a:outerShdw blurRad="38100" dist="38100" dir="2700000" algn="tl">
                  <a:srgbClr val="C0C0C0"/>
                </a:outerShdw>
              </a:effectLst>
            </a:endParaRPr>
          </a:p>
          <a:p>
            <a:endParaRPr lang="en-US" altLang="zh-CN" dirty="0"/>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 calcmode="lin" valueType="num">
                                      <p:cBhvr additive="base">
                                        <p:cTn id="7" dur="500" fill="hold"/>
                                        <p:tgtEl>
                                          <p:spTgt spid="152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2579">
                                            <p:txEl>
                                              <p:pRg st="3" end="3"/>
                                            </p:txEl>
                                          </p:spTgt>
                                        </p:tgtEl>
                                        <p:attrNameLst>
                                          <p:attrName>style.visibility</p:attrName>
                                        </p:attrNameLst>
                                      </p:cBhvr>
                                      <p:to>
                                        <p:strVal val="visible"/>
                                      </p:to>
                                    </p:set>
                                    <p:anim calcmode="lin" valueType="num">
                                      <p:cBhvr additive="base">
                                        <p:cTn id="13" dur="500" fill="hold"/>
                                        <p:tgtEl>
                                          <p:spTgt spid="15257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2579">
                                            <p:txEl>
                                              <p:pRg st="5" end="5"/>
                                            </p:txEl>
                                          </p:spTgt>
                                        </p:tgtEl>
                                        <p:attrNameLst>
                                          <p:attrName>style.visibility</p:attrName>
                                        </p:attrNameLst>
                                      </p:cBhvr>
                                      <p:to>
                                        <p:strVal val="visible"/>
                                      </p:to>
                                    </p:set>
                                    <p:anim calcmode="lin" valueType="num">
                                      <p:cBhvr additive="base">
                                        <p:cTn id="19" dur="500" fill="hold"/>
                                        <p:tgtEl>
                                          <p:spTgt spid="15257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57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2579">
                                            <p:txEl>
                                              <p:pRg st="7" end="7"/>
                                            </p:txEl>
                                          </p:spTgt>
                                        </p:tgtEl>
                                        <p:attrNameLst>
                                          <p:attrName>style.visibility</p:attrName>
                                        </p:attrNameLst>
                                      </p:cBhvr>
                                      <p:to>
                                        <p:strVal val="visible"/>
                                      </p:to>
                                    </p:set>
                                    <p:anim calcmode="lin" valueType="num">
                                      <p:cBhvr additive="base">
                                        <p:cTn id="25" dur="500" fill="hold"/>
                                        <p:tgtEl>
                                          <p:spTgt spid="15257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257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rrowheads="1"/>
          </p:cNvSpPr>
          <p:nvPr>
            <p:ph type="title"/>
          </p:nvPr>
        </p:nvSpPr>
        <p:spPr>
          <a:xfrm>
            <a:off x="1435608" y="303498"/>
            <a:ext cx="7498080" cy="691586"/>
          </a:xfrm>
        </p:spPr>
        <p:txBody>
          <a:bodyPr>
            <a:normAutofit/>
          </a:bodyPr>
          <a:lstStyle/>
          <a:p>
            <a:r>
              <a:rPr lang="en-US" altLang="zh-CN" sz="3600" b="1" dirty="0">
                <a:effectLst>
                  <a:outerShdw blurRad="38100" dist="38100" dir="2700000" algn="tl">
                    <a:srgbClr val="C0C0C0"/>
                  </a:outerShdw>
                </a:effectLst>
              </a:rPr>
              <a:t>2.6.4 </a:t>
            </a:r>
            <a:r>
              <a:rPr lang="zh-CN" altLang="en-US" sz="3600" b="1" dirty="0">
                <a:effectLst>
                  <a:outerShdw blurRad="38100" dist="38100" dir="2700000" algn="tl">
                    <a:srgbClr val="C0C0C0"/>
                  </a:outerShdw>
                </a:effectLst>
              </a:rPr>
              <a:t>描述多径信道的主要参数</a:t>
            </a:r>
            <a:endParaRPr lang="zh-CN" altLang="en-US" sz="3600" b="1" dirty="0">
              <a:effectLst>
                <a:outerShdw blurRad="38100" dist="38100" dir="2700000" algn="tl">
                  <a:srgbClr val="C0C0C0"/>
                </a:outerShdw>
              </a:effectLst>
            </a:endParaRPr>
          </a:p>
        </p:txBody>
      </p:sp>
      <p:sp>
        <p:nvSpPr>
          <p:cNvPr id="156675" name="Rectangle 3"/>
          <p:cNvSpPr>
            <a:spLocks noGrp="1" noRot="1" noChangeArrowheads="1"/>
          </p:cNvSpPr>
          <p:nvPr>
            <p:ph type="body" idx="1"/>
          </p:nvPr>
        </p:nvSpPr>
        <p:spPr>
          <a:xfrm>
            <a:off x="395536" y="1005576"/>
            <a:ext cx="8540502" cy="4083918"/>
          </a:xfrm>
        </p:spPr>
        <p:txBody>
          <a:bodyPr>
            <a:normAutofit fontScale="85000" lnSpcReduction="20000"/>
          </a:bodyPr>
          <a:lstStyle/>
          <a:p>
            <a:pPr>
              <a:lnSpc>
                <a:spcPct val="150000"/>
              </a:lnSpc>
              <a:buNone/>
            </a:pPr>
            <a:r>
              <a:rPr lang="zh-CN" altLang="en-US" sz="2400" dirty="0" smtClean="0">
                <a:effectLst>
                  <a:outerShdw blurRad="38100" dist="38100" dir="2700000" algn="tl">
                    <a:srgbClr val="C0C0C0"/>
                  </a:outerShdw>
                </a:effectLst>
              </a:rPr>
              <a:t>根据衰落与频率的关系，将衰落分为两种 ：频率选择性衰落和非频率选择性衰落。后者又称为平坦衰落。</a:t>
            </a:r>
            <a:endParaRPr lang="en-US" altLang="zh-CN" sz="2400" dirty="0" smtClean="0">
              <a:effectLst>
                <a:outerShdw blurRad="38100" dist="38100" dir="2700000" algn="tl">
                  <a:srgbClr val="C0C0C0"/>
                </a:outerShdw>
              </a:effectLst>
            </a:endParaRPr>
          </a:p>
          <a:p>
            <a:pPr>
              <a:lnSpc>
                <a:spcPct val="150000"/>
              </a:lnSpc>
              <a:buNone/>
            </a:pPr>
            <a:r>
              <a:rPr lang="zh-CN" altLang="en-US" sz="2400" dirty="0" smtClean="0">
                <a:effectLst>
                  <a:outerShdw blurRad="38100" dist="38100" dir="2700000" algn="tl">
                    <a:srgbClr val="C0C0C0"/>
                  </a:outerShdw>
                </a:effectLst>
              </a:rPr>
              <a:t>（</a:t>
            </a:r>
            <a:r>
              <a:rPr lang="en-US" altLang="zh-CN" sz="2400" dirty="0" smtClean="0">
                <a:effectLst>
                  <a:outerShdw blurRad="38100" dist="38100" dir="2700000" algn="tl">
                    <a:srgbClr val="C0C0C0"/>
                  </a:outerShdw>
                </a:effectLst>
              </a:rPr>
              <a:t>1</a:t>
            </a:r>
            <a:r>
              <a:rPr lang="zh-CN" altLang="en-US" sz="2400" dirty="0" smtClean="0">
                <a:effectLst>
                  <a:outerShdw blurRad="38100" dist="38100" dir="2700000" algn="tl">
                    <a:srgbClr val="C0C0C0"/>
                  </a:outerShdw>
                </a:effectLst>
              </a:rPr>
              <a:t>）频率选择性衰落是指传输信道对信号不同的频率成分有不同的随机响应，信号中不同频率分量衰落不一致，引起信号失真。</a:t>
            </a:r>
            <a:endParaRPr lang="en-US" altLang="zh-CN" sz="2400" dirty="0" smtClean="0">
              <a:effectLst>
                <a:outerShdw blurRad="38100" dist="38100" dir="2700000" algn="tl">
                  <a:srgbClr val="C0C0C0"/>
                </a:outerShdw>
              </a:effectLst>
            </a:endParaRPr>
          </a:p>
          <a:p>
            <a:pPr>
              <a:lnSpc>
                <a:spcPct val="150000"/>
              </a:lnSpc>
              <a:buNone/>
            </a:pPr>
            <a:r>
              <a:rPr lang="zh-CN" altLang="en-US" sz="2400" dirty="0" smtClean="0">
                <a:effectLst>
                  <a:outerShdw blurRad="38100" dist="38100" dir="2700000" algn="tl">
                    <a:srgbClr val="C0C0C0"/>
                  </a:outerShdw>
                </a:effectLst>
              </a:rPr>
              <a:t>（</a:t>
            </a:r>
            <a:r>
              <a:rPr lang="en-US" altLang="zh-CN" sz="2400" dirty="0" smtClean="0">
                <a:effectLst>
                  <a:outerShdw blurRad="38100" dist="38100" dir="2700000" algn="tl">
                    <a:srgbClr val="C0C0C0"/>
                  </a:outerShdw>
                </a:effectLst>
              </a:rPr>
              <a:t>2</a:t>
            </a:r>
            <a:r>
              <a:rPr lang="zh-CN" altLang="en-US" sz="2400" dirty="0" smtClean="0">
                <a:effectLst>
                  <a:outerShdw blurRad="38100" dist="38100" dir="2700000" algn="tl">
                    <a:srgbClr val="C0C0C0"/>
                  </a:outerShdw>
                </a:effectLst>
              </a:rPr>
              <a:t>）非频率选择性衰落是指信号经过传输信道后，各频率分量的衰落是相关的，具有一致性，衰落波形不失真。</a:t>
            </a:r>
            <a:endParaRPr lang="en-US" altLang="zh-CN" sz="2400" dirty="0" smtClean="0">
              <a:effectLst>
                <a:outerShdw blurRad="38100" dist="38100" dir="2700000" algn="tl">
                  <a:srgbClr val="C0C0C0"/>
                </a:outerShdw>
              </a:effectLst>
            </a:endParaRPr>
          </a:p>
          <a:p>
            <a:pPr>
              <a:lnSpc>
                <a:spcPct val="150000"/>
              </a:lnSpc>
              <a:buNone/>
            </a:pPr>
            <a:r>
              <a:rPr lang="zh-CN" altLang="en-US" sz="2400" dirty="0" smtClean="0">
                <a:effectLst>
                  <a:outerShdw blurRad="38100" dist="38100" dir="2700000" algn="tl">
                    <a:srgbClr val="C0C0C0"/>
                  </a:outerShdw>
                </a:effectLst>
              </a:rPr>
              <a:t>（</a:t>
            </a:r>
            <a:r>
              <a:rPr lang="en-US" altLang="zh-CN" sz="2400" dirty="0" smtClean="0">
                <a:effectLst>
                  <a:outerShdw blurRad="38100" dist="38100" dir="2700000" algn="tl">
                    <a:srgbClr val="C0C0C0"/>
                  </a:outerShdw>
                </a:effectLst>
              </a:rPr>
              <a:t>3</a:t>
            </a:r>
            <a:r>
              <a:rPr lang="zh-CN" altLang="en-US" sz="2400" dirty="0" smtClean="0">
                <a:effectLst>
                  <a:outerShdw blurRad="38100" dist="38100" dir="2700000" algn="tl">
                    <a:srgbClr val="C0C0C0"/>
                  </a:outerShdw>
                </a:effectLst>
              </a:rPr>
              <a:t>）对于移动信道来说，存在一个固有的相关带宽。当信号的带宽小于相关带宽时，发生非频率选择性衰落；当信号的带宽大于相关带宽时，发生频率选择性衰落。</a:t>
            </a:r>
            <a:endParaRPr lang="zh-CN" altLang="en-US" sz="2400" dirty="0">
              <a:effectLst>
                <a:outerShdw blurRad="38100" dist="38100" dir="2700000" algn="tl">
                  <a:srgbClr val="C0C0C0"/>
                </a:outerShdw>
              </a:effectLst>
            </a:endParaRPr>
          </a:p>
        </p:txBody>
      </p:sp>
      <p:pic>
        <p:nvPicPr>
          <p:cNvPr id="25" name="图片 24"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additive="base">
                                        <p:cTn id="7" dur="500" fill="hold"/>
                                        <p:tgtEl>
                                          <p:spTgt spid="156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xEl>
                                              <p:pRg st="1" end="1"/>
                                            </p:txEl>
                                          </p:spTgt>
                                        </p:tgtEl>
                                        <p:attrNameLst>
                                          <p:attrName>style.visibility</p:attrName>
                                        </p:attrNameLst>
                                      </p:cBhvr>
                                      <p:to>
                                        <p:strVal val="visible"/>
                                      </p:to>
                                    </p:set>
                                    <p:anim calcmode="lin" valueType="num">
                                      <p:cBhvr additive="base">
                                        <p:cTn id="13" dur="5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5">
                                            <p:txEl>
                                              <p:pRg st="2" end="2"/>
                                            </p:txEl>
                                          </p:spTgt>
                                        </p:tgtEl>
                                        <p:attrNameLst>
                                          <p:attrName>style.visibility</p:attrName>
                                        </p:attrNameLst>
                                      </p:cBhvr>
                                      <p:to>
                                        <p:strVal val="visible"/>
                                      </p:to>
                                    </p:set>
                                    <p:anim calcmode="lin" valueType="num">
                                      <p:cBhvr additive="base">
                                        <p:cTn id="19" dur="500" fill="hold"/>
                                        <p:tgtEl>
                                          <p:spTgt spid="156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6675">
                                            <p:txEl>
                                              <p:pRg st="3" end="3"/>
                                            </p:txEl>
                                          </p:spTgt>
                                        </p:tgtEl>
                                        <p:attrNameLst>
                                          <p:attrName>style.visibility</p:attrName>
                                        </p:attrNameLst>
                                      </p:cBhvr>
                                      <p:to>
                                        <p:strVal val="visible"/>
                                      </p:to>
                                    </p:set>
                                    <p:anim calcmode="lin" valueType="num">
                                      <p:cBhvr additive="base">
                                        <p:cTn id="25" dur="500" fill="hold"/>
                                        <p:tgtEl>
                                          <p:spTgt spid="156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66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1435608" y="274340"/>
            <a:ext cx="7498080" cy="857250"/>
          </a:xfrm>
        </p:spPr>
        <p:txBody>
          <a:bodyPr>
            <a:normAutofit/>
          </a:bodyPr>
          <a:lstStyle/>
          <a:p>
            <a:r>
              <a:rPr lang="en-US" altLang="zh-CN" sz="3600" b="1" dirty="0" smtClean="0">
                <a:effectLst>
                  <a:outerShdw blurRad="38100" dist="38100" dir="2700000" algn="tl">
                    <a:srgbClr val="C0C0C0"/>
                  </a:outerShdw>
                </a:effectLst>
              </a:rPr>
              <a:t>2.7 MIMO</a:t>
            </a:r>
            <a:r>
              <a:rPr lang="zh-CN" altLang="en-US" sz="3600" b="1" dirty="0" smtClean="0">
                <a:effectLst>
                  <a:outerShdw blurRad="38100" dist="38100" dir="2700000" algn="tl">
                    <a:srgbClr val="C0C0C0"/>
                  </a:outerShdw>
                </a:effectLst>
              </a:rPr>
              <a:t>信道（了解）</a:t>
            </a:r>
            <a:endParaRPr lang="zh-CN" altLang="en-US" sz="3600" b="1" dirty="0">
              <a:effectLst>
                <a:outerShdw blurRad="38100" dist="38100" dir="2700000" algn="tl">
                  <a:srgbClr val="C0C0C0"/>
                </a:outerShdw>
              </a:effectLst>
            </a:endParaRPr>
          </a:p>
        </p:txBody>
      </p:sp>
      <p:sp>
        <p:nvSpPr>
          <p:cNvPr id="192515" name="Rectangle 3"/>
          <p:cNvSpPr>
            <a:spLocks noGrp="1" noRot="1" noChangeArrowheads="1"/>
          </p:cNvSpPr>
          <p:nvPr>
            <p:ph type="body" idx="1"/>
          </p:nvPr>
        </p:nvSpPr>
        <p:spPr>
          <a:xfrm>
            <a:off x="395288" y="897731"/>
            <a:ext cx="8540750" cy="4104289"/>
          </a:xfrm>
        </p:spPr>
        <p:txBody>
          <a:bodyPr>
            <a:noAutofit/>
          </a:bodyPr>
          <a:lstStyle/>
          <a:p>
            <a:pPr marL="36195">
              <a:lnSpc>
                <a:spcPct val="150000"/>
              </a:lnSpc>
              <a:spcBef>
                <a:spcPts val="0"/>
              </a:spcBef>
              <a:buNone/>
            </a:pP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rPr>
              <a:t>1</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）当基站端和移动用户端的天线都为一副天线时，可称此时的移动通信信道为单输入单输出（</a:t>
            </a:r>
            <a:r>
              <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rPr>
              <a:t>SISO</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rPr>
              <a:t>Single Input Single Output</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endPar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rPr>
              <a:t>2</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rPr>
              <a:t>MIMO</a:t>
            </a:r>
            <a:r>
              <a:rPr lang="zh-CN" altLang="en-US" sz="2600" dirty="0" smtClean="0">
                <a:effectLst>
                  <a:outerShdw blurRad="38100" dist="38100" dir="2700000" algn="tl">
                    <a:srgbClr val="C0C0C0"/>
                  </a:outerShdw>
                </a:effectLst>
                <a:latin typeface="宋体" panose="02010600030101010101" pitchFamily="2" charset="-122"/>
                <a:ea typeface="宋体" panose="02010600030101010101" pitchFamily="2" charset="-122"/>
              </a:rPr>
              <a:t>信道就是在基站端和用户端都为多副天线</a:t>
            </a:r>
            <a:endParaRPr lang="en-US" altLang="zh-CN" sz="26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blinds(horizontal)">
                                      <p:cBhvr>
                                        <p:cTn id="7" dur="500"/>
                                        <p:tgtEl>
                                          <p:spTgt spid="192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2515">
                                            <p:txEl>
                                              <p:pRg st="1" end="1"/>
                                            </p:txEl>
                                          </p:spTgt>
                                        </p:tgtEl>
                                        <p:attrNameLst>
                                          <p:attrName>style.visibility</p:attrName>
                                        </p:attrNameLst>
                                      </p:cBhvr>
                                      <p:to>
                                        <p:strVal val="visible"/>
                                      </p:to>
                                    </p:set>
                                    <p:animEffect transition="in" filter="blinds(horizontal)">
                                      <p:cBhvr>
                                        <p:cTn id="12" dur="500"/>
                                        <p:tgtEl>
                                          <p:spTgt spid="1925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2592070" y="0"/>
            <a:ext cx="4610735" cy="739775"/>
          </a:xfrm>
        </p:spPr>
        <p:txBody>
          <a:bodyPr>
            <a:normAutofit/>
          </a:bodyPr>
          <a:lstStyle/>
          <a:p>
            <a:r>
              <a:rPr lang="en-US" altLang="zh-CN" sz="3200" b="1" dirty="0" smtClean="0">
                <a:effectLst>
                  <a:outerShdw blurRad="38100" dist="38100" dir="2700000" algn="tl">
                    <a:srgbClr val="C0C0C0"/>
                  </a:outerShdw>
                </a:effectLst>
              </a:rPr>
              <a:t>2.7 MIMO</a:t>
            </a:r>
            <a:r>
              <a:rPr lang="zh-CN" altLang="en-US" sz="3200" b="1" dirty="0" smtClean="0">
                <a:effectLst>
                  <a:outerShdw blurRad="38100" dist="38100" dir="2700000" algn="tl">
                    <a:srgbClr val="C0C0C0"/>
                  </a:outerShdw>
                </a:effectLst>
              </a:rPr>
              <a:t>信道（了解）</a:t>
            </a:r>
            <a:endParaRPr lang="zh-CN" altLang="en-US" sz="3200" b="1" dirty="0">
              <a:effectLst>
                <a:outerShdw blurRad="38100" dist="38100" dir="2700000" algn="tl">
                  <a:srgbClr val="C0C0C0"/>
                </a:outerShdw>
              </a:effectLst>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pic>
        <p:nvPicPr>
          <p:cNvPr id="3" name="图片 2"/>
          <p:cNvPicPr>
            <a:picLocks noChangeAspect="1"/>
          </p:cNvPicPr>
          <p:nvPr/>
        </p:nvPicPr>
        <p:blipFill>
          <a:blip r:embed="rId2"/>
          <a:srcRect/>
          <a:stretch>
            <a:fillRect/>
          </a:stretch>
        </p:blipFill>
        <p:spPr>
          <a:xfrm rot="16200000">
            <a:off x="5692140" y="2039620"/>
            <a:ext cx="1575435" cy="3528060"/>
          </a:xfrm>
          <a:prstGeom prst="rect">
            <a:avLst/>
          </a:prstGeom>
        </p:spPr>
      </p:pic>
      <p:sp>
        <p:nvSpPr>
          <p:cNvPr id="5" name="文本框 4"/>
          <p:cNvSpPr txBox="1"/>
          <p:nvPr/>
        </p:nvSpPr>
        <p:spPr>
          <a:xfrm>
            <a:off x="241300" y="699770"/>
            <a:ext cx="8760460" cy="2122805"/>
          </a:xfrm>
          <a:prstGeom prst="rect">
            <a:avLst/>
          </a:prstGeom>
          <a:noFill/>
        </p:spPr>
        <p:txBody>
          <a:bodyPr wrap="square" rtlCol="0">
            <a:spAutoFit/>
          </a:bodyPr>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分析模型：假设基站由</a:t>
            </a:r>
            <a:r>
              <a:rPr lang="en-US" altLang="zh-CN" sz="2200">
                <a:latin typeface="宋体" panose="02010600030101010101" pitchFamily="2" charset="-122"/>
                <a:ea typeface="宋体" panose="02010600030101010101" pitchFamily="2" charset="-122"/>
                <a:cs typeface="宋体" panose="02010600030101010101" pitchFamily="2" charset="-122"/>
              </a:rPr>
              <a:t>M</a:t>
            </a:r>
            <a:r>
              <a:rPr lang="zh-CN" altLang="en-US" sz="2200">
                <a:latin typeface="宋体" panose="02010600030101010101" pitchFamily="2" charset="-122"/>
                <a:ea typeface="宋体" panose="02010600030101010101" pitchFamily="2" charset="-122"/>
                <a:cs typeface="宋体" panose="02010600030101010101" pitchFamily="2" charset="-122"/>
              </a:rPr>
              <a:t>个天线，移动台有</a:t>
            </a:r>
            <a:r>
              <a:rPr lang="en-US" altLang="zh-CN" sz="2200">
                <a:latin typeface="宋体" panose="02010600030101010101" pitchFamily="2" charset="-122"/>
                <a:ea typeface="宋体" panose="02010600030101010101" pitchFamily="2" charset="-122"/>
                <a:cs typeface="宋体" panose="02010600030101010101" pitchFamily="2" charset="-122"/>
              </a:rPr>
              <a:t>N</a:t>
            </a:r>
            <a:r>
              <a:rPr lang="zh-CN" altLang="en-US" sz="2200">
                <a:latin typeface="宋体" panose="02010600030101010101" pitchFamily="2" charset="-122"/>
                <a:ea typeface="宋体" panose="02010600030101010101" pitchFamily="2" charset="-122"/>
                <a:cs typeface="宋体" panose="02010600030101010101" pitchFamily="2" charset="-122"/>
              </a:rPr>
              <a:t>个天线，则多天线示意图如下。</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根据这样的假设，可得到</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信道的冲激响应为：</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    </a:t>
            </a:r>
            <a:r>
              <a:rPr lang="zh-CN" altLang="en-US" sz="2200">
                <a:latin typeface="宋体" panose="02010600030101010101" pitchFamily="2" charset="-122"/>
                <a:ea typeface="宋体" panose="02010600030101010101" pitchFamily="2" charset="-122"/>
                <a:cs typeface="宋体" panose="02010600030101010101" pitchFamily="2" charset="-122"/>
              </a:rPr>
              <a:t>表示</a:t>
            </a:r>
            <a:r>
              <a:rPr lang="en-US" altLang="zh-CN" sz="2200">
                <a:latin typeface="宋体" panose="02010600030101010101" pitchFamily="2" charset="-122"/>
                <a:ea typeface="宋体" panose="02010600030101010101" pitchFamily="2" charset="-122"/>
                <a:cs typeface="宋体" panose="02010600030101010101" pitchFamily="2" charset="-122"/>
              </a:rPr>
              <a:t>BS</a:t>
            </a:r>
            <a:r>
              <a:rPr lang="zh-CN" altLang="en-US" sz="2200">
                <a:latin typeface="宋体" panose="02010600030101010101" pitchFamily="2" charset="-122"/>
                <a:ea typeface="宋体" panose="02010600030101010101" pitchFamily="2" charset="-122"/>
                <a:cs typeface="宋体" panose="02010600030101010101" pitchFamily="2" charset="-122"/>
              </a:rPr>
              <a:t>端第</a:t>
            </a:r>
            <a:r>
              <a:rPr lang="en-US" altLang="zh-CN" sz="2200">
                <a:latin typeface="宋体" panose="02010600030101010101" pitchFamily="2" charset="-122"/>
                <a:ea typeface="宋体" panose="02010600030101010101" pitchFamily="2" charset="-122"/>
                <a:cs typeface="宋体" panose="02010600030101010101" pitchFamily="2" charset="-122"/>
              </a:rPr>
              <a:t>m</a:t>
            </a:r>
            <a:r>
              <a:rPr lang="zh-CN" altLang="zh-CN" sz="2200">
                <a:latin typeface="宋体" panose="02010600030101010101" pitchFamily="2" charset="-122"/>
                <a:ea typeface="宋体" panose="02010600030101010101" pitchFamily="2" charset="-122"/>
                <a:cs typeface="宋体" panose="02010600030101010101" pitchFamily="2" charset="-122"/>
              </a:rPr>
              <a:t>个天线和</a:t>
            </a:r>
            <a:r>
              <a:rPr lang="en-US" altLang="zh-CN" sz="2200">
                <a:latin typeface="宋体" panose="02010600030101010101" pitchFamily="2" charset="-122"/>
                <a:ea typeface="宋体" panose="02010600030101010101" pitchFamily="2" charset="-122"/>
                <a:cs typeface="宋体" panose="02010600030101010101" pitchFamily="2" charset="-122"/>
              </a:rPr>
              <a:t>MS</a:t>
            </a:r>
            <a:r>
              <a:rPr lang="zh-CN" altLang="en-US" sz="2200">
                <a:latin typeface="宋体" panose="02010600030101010101" pitchFamily="2" charset="-122"/>
                <a:ea typeface="宋体" panose="02010600030101010101" pitchFamily="2" charset="-122"/>
                <a:cs typeface="宋体" panose="02010600030101010101" pitchFamily="2" charset="-122"/>
              </a:rPr>
              <a:t>端第</a:t>
            </a:r>
            <a:r>
              <a:rPr lang="en-US" altLang="zh-CN" sz="2200">
                <a:latin typeface="宋体" panose="02010600030101010101" pitchFamily="2" charset="-122"/>
                <a:ea typeface="宋体" panose="02010600030101010101" pitchFamily="2" charset="-122"/>
                <a:cs typeface="宋体" panose="02010600030101010101" pitchFamily="2" charset="-122"/>
              </a:rPr>
              <a:t>n</a:t>
            </a:r>
            <a:r>
              <a:rPr lang="zh-CN" altLang="en-US" sz="2200">
                <a:latin typeface="宋体" panose="02010600030101010101" pitchFamily="2" charset="-122"/>
                <a:ea typeface="宋体" panose="02010600030101010101" pitchFamily="2" charset="-122"/>
                <a:cs typeface="宋体" panose="02010600030101010101" pitchFamily="2" charset="-122"/>
              </a:rPr>
              <a:t>个天线之间链路第</a:t>
            </a:r>
            <a:r>
              <a:rPr lang="en-US" altLang="zh-CN" sz="2200">
                <a:latin typeface="宋体" panose="02010600030101010101" pitchFamily="2" charset="-122"/>
                <a:ea typeface="宋体" panose="02010600030101010101" pitchFamily="2" charset="-122"/>
                <a:cs typeface="宋体" panose="02010600030101010101" pitchFamily="2" charset="-122"/>
              </a:rPr>
              <a:t>l</a:t>
            </a:r>
            <a:r>
              <a:rPr lang="zh-CN" altLang="zh-CN" sz="2200">
                <a:latin typeface="宋体" panose="02010600030101010101" pitchFamily="2" charset="-122"/>
                <a:ea typeface="宋体" panose="02010600030101010101" pitchFamily="2" charset="-122"/>
                <a:cs typeface="宋体" panose="02010600030101010101" pitchFamily="2" charset="-122"/>
              </a:rPr>
              <a:t>径的复衰落系数。</a:t>
            </a:r>
            <a:endParaRPr lang="zh-CN" altLang="zh-CN" sz="22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3"/>
          <a:srcRect/>
          <a:stretch>
            <a:fillRect/>
          </a:stretch>
        </p:blipFill>
        <p:spPr>
          <a:xfrm>
            <a:off x="251460" y="2822575"/>
            <a:ext cx="3156585" cy="2141855"/>
          </a:xfrm>
          <a:prstGeom prst="rect">
            <a:avLst/>
          </a:prstGeom>
        </p:spPr>
      </p:pic>
      <p:graphicFrame>
        <p:nvGraphicFramePr>
          <p:cNvPr id="7" name="对象 6">
            <a:hlinkClick r:id="" action="ppaction://ole?verb="/>
          </p:cNvPr>
          <p:cNvGraphicFramePr>
            <a:graphicFrameLocks noChangeAspect="1"/>
          </p:cNvGraphicFramePr>
          <p:nvPr/>
        </p:nvGraphicFramePr>
        <p:xfrm>
          <a:off x="6443980" y="1779905"/>
          <a:ext cx="1837055" cy="618490"/>
        </p:xfrm>
        <a:graphic>
          <a:graphicData uri="http://schemas.openxmlformats.org/presentationml/2006/ole">
            <mc:AlternateContent xmlns:mc="http://schemas.openxmlformats.org/markup-compatibility/2006">
              <mc:Choice xmlns:v="urn:schemas-microsoft-com:vml" Requires="v">
                <p:oleObj spid="_x0000_s1025" name="" r:id="rId4" imgW="1282700" imgH="431800" progId="Equation.KSEE3">
                  <p:embed/>
                </p:oleObj>
              </mc:Choice>
              <mc:Fallback>
                <p:oleObj name="" r:id="rId4" imgW="1282700" imgH="431800" progId="Equation.KSEE3">
                  <p:embed/>
                  <p:pic>
                    <p:nvPicPr>
                      <p:cNvPr id="0" name="图片 1024"/>
                      <p:cNvPicPr/>
                      <p:nvPr/>
                    </p:nvPicPr>
                    <p:blipFill>
                      <a:blip r:embed="rId5"/>
                      <a:stretch>
                        <a:fillRect/>
                      </a:stretch>
                    </p:blipFill>
                    <p:spPr>
                      <a:xfrm>
                        <a:off x="6443980" y="1779905"/>
                        <a:ext cx="1837055" cy="61849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95605" y="2420303"/>
          <a:ext cx="346075" cy="346075"/>
        </p:xfrm>
        <a:graphic>
          <a:graphicData uri="http://schemas.openxmlformats.org/presentationml/2006/ole">
            <mc:AlternateContent xmlns:mc="http://schemas.openxmlformats.org/markup-compatibility/2006">
              <mc:Choice xmlns:v="urn:schemas-microsoft-com:vml" Requires="v">
                <p:oleObj spid="_x0000_s2" name="" r:id="rId6" imgW="241300" imgH="241300" progId="Equation.KSEE3">
                  <p:embed/>
                </p:oleObj>
              </mc:Choice>
              <mc:Fallback>
                <p:oleObj name="" r:id="rId6" imgW="241300" imgH="241300" progId="Equation.KSEE3">
                  <p:embed/>
                  <p:pic>
                    <p:nvPicPr>
                      <p:cNvPr id="0" name="图片 1024"/>
                      <p:cNvPicPr/>
                      <p:nvPr/>
                    </p:nvPicPr>
                    <p:blipFill>
                      <a:blip r:embed="rId7"/>
                      <a:stretch>
                        <a:fillRect/>
                      </a:stretch>
                    </p:blipFill>
                    <p:spPr>
                      <a:xfrm>
                        <a:off x="395605" y="2420303"/>
                        <a:ext cx="346075" cy="346075"/>
                      </a:xfrm>
                      <a:prstGeom prst="rect">
                        <a:avLst/>
                      </a:prstGeom>
                    </p:spPr>
                  </p:pic>
                </p:oleObj>
              </mc:Fallback>
            </mc:AlternateContent>
          </a:graphicData>
        </a:graphic>
      </p:graphicFrame>
    </p:spTree>
  </p:cSld>
  <p:clrMapOvr>
    <a:masterClrMapping/>
  </p:clrMapOvr>
  <p:transition>
    <p:wipe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2592070" y="0"/>
            <a:ext cx="4610735" cy="739775"/>
          </a:xfrm>
        </p:spPr>
        <p:txBody>
          <a:bodyPr>
            <a:normAutofit/>
          </a:bodyPr>
          <a:lstStyle/>
          <a:p>
            <a:r>
              <a:rPr lang="en-US" altLang="zh-CN" sz="3200" b="1" dirty="0" smtClean="0">
                <a:effectLst>
                  <a:outerShdw blurRad="38100" dist="38100" dir="2700000" algn="tl">
                    <a:srgbClr val="C0C0C0"/>
                  </a:outerShdw>
                </a:effectLst>
              </a:rPr>
              <a:t>2.7 MIMO</a:t>
            </a:r>
            <a:r>
              <a:rPr lang="zh-CN" altLang="en-US" sz="3200" b="1" dirty="0" smtClean="0">
                <a:effectLst>
                  <a:outerShdw blurRad="38100" dist="38100" dir="2700000" algn="tl">
                    <a:srgbClr val="C0C0C0"/>
                  </a:outerShdw>
                </a:effectLst>
              </a:rPr>
              <a:t>信道（了解）</a:t>
            </a:r>
            <a:endParaRPr lang="zh-CN" altLang="en-US" sz="3200" b="1" dirty="0">
              <a:effectLst>
                <a:outerShdw blurRad="38100" dist="38100" dir="2700000" algn="tl">
                  <a:srgbClr val="C0C0C0"/>
                </a:outerShdw>
              </a:effectLst>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5" name="文本框 4"/>
          <p:cNvSpPr txBox="1"/>
          <p:nvPr/>
        </p:nvSpPr>
        <p:spPr>
          <a:xfrm>
            <a:off x="241300" y="699770"/>
            <a:ext cx="8760460" cy="4154170"/>
          </a:xfrm>
          <a:prstGeom prst="rect">
            <a:avLst/>
          </a:prstGeom>
          <a:noFill/>
        </p:spPr>
        <p:txBody>
          <a:bodyPr wrap="square" rtlCol="0">
            <a:spAutoFit/>
          </a:bodyPr>
          <a:p>
            <a:pPr indent="0" fontAlgn="auto">
              <a:lnSpc>
                <a:spcPct val="150000"/>
              </a:lnSpc>
            </a:pPr>
            <a:r>
              <a:rPr lang="zh-CN" sz="2200">
                <a:latin typeface="宋体" panose="02010600030101010101" pitchFamily="2" charset="-122"/>
                <a:ea typeface="宋体" panose="02010600030101010101" pitchFamily="2" charset="-122"/>
                <a:cs typeface="宋体" panose="02010600030101010101" pitchFamily="2" charset="-122"/>
              </a:rPr>
              <a:t>由此可得出</a:t>
            </a:r>
            <a:r>
              <a:rPr lang="en-US" altLang="zh-CN" sz="2200">
                <a:latin typeface="宋体" panose="02010600030101010101" pitchFamily="2" charset="-122"/>
                <a:ea typeface="宋体" panose="02010600030101010101" pitchFamily="2" charset="-122"/>
                <a:cs typeface="宋体" panose="02010600030101010101" pitchFamily="2" charset="-122"/>
              </a:rPr>
              <a:t>BS</a:t>
            </a:r>
            <a:r>
              <a:rPr lang="zh-CN" altLang="en-US" sz="2200">
                <a:latin typeface="宋体" panose="02010600030101010101" pitchFamily="2" charset="-122"/>
                <a:ea typeface="宋体" panose="02010600030101010101" pitchFamily="2" charset="-122"/>
                <a:cs typeface="宋体" panose="02010600030101010101" pitchFamily="2" charset="-122"/>
              </a:rPr>
              <a:t>和</a:t>
            </a:r>
            <a:r>
              <a:rPr lang="en-US" altLang="zh-CN" sz="2200">
                <a:latin typeface="宋体" panose="02010600030101010101" pitchFamily="2" charset="-122"/>
                <a:ea typeface="宋体" panose="02010600030101010101" pitchFamily="2" charset="-122"/>
                <a:cs typeface="宋体" panose="02010600030101010101" pitchFamily="2" charset="-122"/>
              </a:rPr>
              <a:t>MS</a:t>
            </a:r>
            <a:r>
              <a:rPr lang="zh-CN" altLang="en-US" sz="2200">
                <a:latin typeface="宋体" panose="02010600030101010101" pitchFamily="2" charset="-122"/>
                <a:ea typeface="宋体" panose="02010600030101010101" pitchFamily="2" charset="-122"/>
                <a:cs typeface="宋体" panose="02010600030101010101" pitchFamily="2" charset="-122"/>
              </a:rPr>
              <a:t>信号分别为：</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信号经过线性系统，其输出</a:t>
            </a:r>
            <a:r>
              <a:rPr lang="en-US" altLang="zh-CN" sz="2200">
                <a:latin typeface="宋体" panose="02010600030101010101" pitchFamily="2" charset="-122"/>
                <a:ea typeface="宋体" panose="02010600030101010101" pitchFamily="2" charset="-122"/>
                <a:cs typeface="宋体" panose="02010600030101010101" pitchFamily="2" charset="-122"/>
              </a:rPr>
              <a:t>=</a:t>
            </a:r>
            <a:r>
              <a:rPr lang="zh-CN" altLang="en-US" sz="2200">
                <a:latin typeface="宋体" panose="02010600030101010101" pitchFamily="2" charset="-122"/>
                <a:ea typeface="宋体" panose="02010600030101010101" pitchFamily="2" charset="-122"/>
                <a:cs typeface="宋体" panose="02010600030101010101" pitchFamily="2" charset="-122"/>
              </a:rPr>
              <a:t>输入</a:t>
            </a:r>
            <a:r>
              <a:rPr lang="en-US" altLang="zh-CN" sz="2200">
                <a:latin typeface="宋体" panose="02010600030101010101" pitchFamily="2" charset="-122"/>
                <a:ea typeface="宋体" panose="02010600030101010101" pitchFamily="2" charset="-122"/>
                <a:cs typeface="宋体" panose="02010600030101010101" pitchFamily="2" charset="-122"/>
              </a:rPr>
              <a:t>*</a:t>
            </a:r>
            <a:r>
              <a:rPr lang="zh-CN" altLang="en-US" sz="2200">
                <a:latin typeface="宋体" panose="02010600030101010101" pitchFamily="2" charset="-122"/>
                <a:ea typeface="宋体" panose="02010600030101010101" pitchFamily="2" charset="-122"/>
                <a:cs typeface="宋体" panose="02010600030101010101" pitchFamily="2" charset="-122"/>
              </a:rPr>
              <a:t>冲激响应。</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的优势：</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提高容量：通过空间复用，</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系统可以显著提高信道容量。</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增强可靠性：通过空间分集，</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系统可以提高信号的抗干扰能力。</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频谱效率：</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技术可以在不增加带宽的情况下提高数据传输速率。</a:t>
            </a:r>
            <a:endParaRPr lang="zh-CN" altLang="en-US" sz="22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7" name="对象 6">
            <a:hlinkClick r:id="" action="ppaction://ole?verb="/>
          </p:cNvPr>
          <p:cNvGraphicFramePr>
            <a:graphicFrameLocks noChangeAspect="1"/>
          </p:cNvGraphicFramePr>
          <p:nvPr/>
        </p:nvGraphicFramePr>
        <p:xfrm>
          <a:off x="755650" y="1436370"/>
          <a:ext cx="2734310" cy="528320"/>
        </p:xfrm>
        <a:graphic>
          <a:graphicData uri="http://schemas.openxmlformats.org/presentationml/2006/ole">
            <mc:AlternateContent xmlns:mc="http://schemas.openxmlformats.org/markup-compatibility/2006">
              <mc:Choice xmlns:v="urn:schemas-microsoft-com:vml" Requires="v">
                <p:oleObj spid="_x0000_s1025" name="" r:id="rId2" imgW="1447800" imgH="279400" progId="Equation.KSEE3">
                  <p:embed/>
                </p:oleObj>
              </mc:Choice>
              <mc:Fallback>
                <p:oleObj name="" r:id="rId2" imgW="1447800" imgH="279400" progId="Equation.KSEE3">
                  <p:embed/>
                  <p:pic>
                    <p:nvPicPr>
                      <p:cNvPr id="0" name="图片 1024"/>
                      <p:cNvPicPr/>
                      <p:nvPr/>
                    </p:nvPicPr>
                    <p:blipFill>
                      <a:blip r:embed="rId3"/>
                      <a:stretch>
                        <a:fillRect/>
                      </a:stretch>
                    </p:blipFill>
                    <p:spPr>
                      <a:xfrm>
                        <a:off x="755650" y="1436370"/>
                        <a:ext cx="2734310" cy="52832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996055" y="1436370"/>
          <a:ext cx="2593975" cy="501015"/>
        </p:xfrm>
        <a:graphic>
          <a:graphicData uri="http://schemas.openxmlformats.org/presentationml/2006/ole">
            <mc:AlternateContent xmlns:mc="http://schemas.openxmlformats.org/markup-compatibility/2006">
              <mc:Choice xmlns:v="urn:schemas-microsoft-com:vml" Requires="v">
                <p:oleObj spid="_x0000_s2" name="" r:id="rId4" imgW="1447800" imgH="279400" progId="Equation.KSEE3">
                  <p:embed/>
                </p:oleObj>
              </mc:Choice>
              <mc:Fallback>
                <p:oleObj name="" r:id="rId4" imgW="1447800" imgH="279400" progId="Equation.KSEE3">
                  <p:embed/>
                  <p:pic>
                    <p:nvPicPr>
                      <p:cNvPr id="0" name="图片 1024"/>
                      <p:cNvPicPr/>
                      <p:nvPr/>
                    </p:nvPicPr>
                    <p:blipFill>
                      <a:blip r:embed="rId5"/>
                      <a:stretch>
                        <a:fillRect/>
                      </a:stretch>
                    </p:blipFill>
                    <p:spPr>
                      <a:xfrm>
                        <a:off x="3996055" y="1436370"/>
                        <a:ext cx="2593975" cy="501015"/>
                      </a:xfrm>
                      <a:prstGeom prst="rect">
                        <a:avLst/>
                      </a:prstGeom>
                    </p:spPr>
                  </p:pic>
                </p:oleObj>
              </mc:Fallback>
            </mc:AlternateContent>
          </a:graphicData>
        </a:graphic>
      </p:graphicFrame>
    </p:spTree>
  </p:cSld>
  <p:clrMapOvr>
    <a:masterClrMapping/>
  </p:clrMapOvr>
  <p:transition>
    <p:wipe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2592070" y="0"/>
            <a:ext cx="4610735" cy="739775"/>
          </a:xfrm>
        </p:spPr>
        <p:txBody>
          <a:bodyPr>
            <a:normAutofit/>
          </a:bodyPr>
          <a:lstStyle/>
          <a:p>
            <a:r>
              <a:rPr lang="en-US" altLang="zh-CN" sz="3200" b="1" dirty="0" smtClean="0">
                <a:effectLst>
                  <a:outerShdw blurRad="38100" dist="38100" dir="2700000" algn="tl">
                    <a:srgbClr val="C0C0C0"/>
                  </a:outerShdw>
                </a:effectLst>
              </a:rPr>
              <a:t>2.7 MIMO</a:t>
            </a:r>
            <a:r>
              <a:rPr lang="zh-CN" altLang="en-US" sz="3200" b="1" dirty="0" smtClean="0">
                <a:effectLst>
                  <a:outerShdw blurRad="38100" dist="38100" dir="2700000" algn="tl">
                    <a:srgbClr val="C0C0C0"/>
                  </a:outerShdw>
                </a:effectLst>
              </a:rPr>
              <a:t>信道（了解）</a:t>
            </a:r>
            <a:endParaRPr lang="zh-CN" altLang="en-US" sz="3200" b="1" dirty="0">
              <a:effectLst>
                <a:outerShdw blurRad="38100" dist="38100" dir="2700000" algn="tl">
                  <a:srgbClr val="C0C0C0"/>
                </a:outerShdw>
              </a:effectLst>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
        <p:nvSpPr>
          <p:cNvPr id="5" name="文本框 4"/>
          <p:cNvSpPr txBox="1"/>
          <p:nvPr/>
        </p:nvSpPr>
        <p:spPr>
          <a:xfrm>
            <a:off x="241300" y="699770"/>
            <a:ext cx="8760460" cy="4154170"/>
          </a:xfrm>
          <a:prstGeom prst="rect">
            <a:avLst/>
          </a:prstGeom>
          <a:noFill/>
        </p:spPr>
        <p:txBody>
          <a:bodyPr wrap="square" rtlCol="0">
            <a:spAutoFit/>
          </a:bodyPr>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信道的应用：</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4G LTE</a:t>
            </a:r>
            <a:r>
              <a:rPr lang="zh-CN" altLang="en-US" sz="2200">
                <a:latin typeface="宋体" panose="02010600030101010101" pitchFamily="2" charset="-122"/>
                <a:ea typeface="宋体" panose="02010600030101010101" pitchFamily="2" charset="-122"/>
                <a:cs typeface="宋体" panose="02010600030101010101" pitchFamily="2" charset="-122"/>
              </a:rPr>
              <a:t>：</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技术是</a:t>
            </a:r>
            <a:r>
              <a:rPr lang="en-US" altLang="zh-CN" sz="2200">
                <a:latin typeface="宋体" panose="02010600030101010101" pitchFamily="2" charset="-122"/>
                <a:ea typeface="宋体" panose="02010600030101010101" pitchFamily="2" charset="-122"/>
                <a:cs typeface="宋体" panose="02010600030101010101" pitchFamily="2" charset="-122"/>
              </a:rPr>
              <a:t>4G LTE</a:t>
            </a:r>
            <a:r>
              <a:rPr lang="zh-CN" altLang="en-US" sz="2200">
                <a:latin typeface="宋体" panose="02010600030101010101" pitchFamily="2" charset="-122"/>
                <a:ea typeface="宋体" panose="02010600030101010101" pitchFamily="2" charset="-122"/>
                <a:cs typeface="宋体" panose="02010600030101010101" pitchFamily="2" charset="-122"/>
              </a:rPr>
              <a:t>标准的核心技术之一。</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5G NR</a:t>
            </a:r>
            <a:r>
              <a:rPr lang="zh-CN" altLang="en-US" sz="2200">
                <a:latin typeface="宋体" panose="02010600030101010101" pitchFamily="2" charset="-122"/>
                <a:ea typeface="宋体" panose="02010600030101010101" pitchFamily="2" charset="-122"/>
                <a:cs typeface="宋体" panose="02010600030101010101" pitchFamily="2" charset="-122"/>
              </a:rPr>
              <a:t>：</a:t>
            </a:r>
            <a:r>
              <a:rPr lang="en-US" altLang="zh-CN" sz="2200">
                <a:latin typeface="宋体" panose="02010600030101010101" pitchFamily="2" charset="-122"/>
                <a:ea typeface="宋体" panose="02010600030101010101" pitchFamily="2" charset="-122"/>
                <a:cs typeface="宋体" panose="02010600030101010101" pitchFamily="2" charset="-122"/>
              </a:rPr>
              <a:t>5G</a:t>
            </a:r>
            <a:r>
              <a:rPr lang="zh-CN" altLang="en-US" sz="2200">
                <a:latin typeface="宋体" panose="02010600030101010101" pitchFamily="2" charset="-122"/>
                <a:ea typeface="宋体" panose="02010600030101010101" pitchFamily="2" charset="-122"/>
                <a:cs typeface="宋体" panose="02010600030101010101" pitchFamily="2" charset="-122"/>
              </a:rPr>
              <a:t>网络广泛采用</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技术，特别是大规模</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Wi-Fi</a:t>
            </a:r>
            <a:r>
              <a:rPr lang="zh-CN" altLang="en-US" sz="2200">
                <a:latin typeface="宋体" panose="02010600030101010101" pitchFamily="2" charset="-122"/>
                <a:ea typeface="宋体" panose="02010600030101010101" pitchFamily="2" charset="-122"/>
                <a:cs typeface="宋体" panose="02010600030101010101" pitchFamily="2" charset="-122"/>
              </a:rPr>
              <a:t>：</a:t>
            </a:r>
            <a:r>
              <a:rPr lang="en-US" altLang="zh-CN" sz="2200">
                <a:latin typeface="宋体" panose="02010600030101010101" pitchFamily="2" charset="-122"/>
                <a:ea typeface="宋体" panose="02010600030101010101" pitchFamily="2" charset="-122"/>
                <a:cs typeface="宋体" panose="02010600030101010101" pitchFamily="2" charset="-122"/>
              </a:rPr>
              <a:t>IEEE 802.11n/ac/ax</a:t>
            </a:r>
            <a:r>
              <a:rPr lang="zh-CN" altLang="en-US" sz="2200">
                <a:latin typeface="宋体" panose="02010600030101010101" pitchFamily="2" charset="-122"/>
                <a:ea typeface="宋体" panose="02010600030101010101" pitchFamily="2" charset="-122"/>
                <a:cs typeface="宋体" panose="02010600030101010101" pitchFamily="2" charset="-122"/>
              </a:rPr>
              <a:t>标准中，</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技术被用于提高</a:t>
            </a:r>
            <a:r>
              <a:rPr lang="en-US" altLang="zh-CN" sz="2200">
                <a:latin typeface="宋体" panose="02010600030101010101" pitchFamily="2" charset="-122"/>
                <a:ea typeface="宋体" panose="02010600030101010101" pitchFamily="2" charset="-122"/>
                <a:cs typeface="宋体" panose="02010600030101010101" pitchFamily="2" charset="-122"/>
              </a:rPr>
              <a:t>Wi-Fi</a:t>
            </a:r>
            <a:r>
              <a:rPr lang="zh-CN" altLang="en-US" sz="2200">
                <a:latin typeface="宋体" panose="02010600030101010101" pitchFamily="2" charset="-122"/>
                <a:ea typeface="宋体" panose="02010600030101010101" pitchFamily="2" charset="-122"/>
                <a:cs typeface="宋体" panose="02010600030101010101" pitchFamily="2" charset="-122"/>
              </a:rPr>
              <a:t>性能。</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信道的挑战：</a:t>
            </a:r>
            <a:endParaRPr lang="zh-CN" altLang="en-US"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信道估计：准确估计信道矩阵是</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系统设计的关键。</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干扰管理：在多用户</a:t>
            </a:r>
            <a:r>
              <a:rPr lang="en-US" altLang="zh-CN" sz="2200">
                <a:latin typeface="宋体" panose="02010600030101010101" pitchFamily="2" charset="-122"/>
                <a:ea typeface="宋体" panose="02010600030101010101" pitchFamily="2" charset="-122"/>
                <a:cs typeface="宋体" panose="02010600030101010101" pitchFamily="2" charset="-122"/>
              </a:rPr>
              <a:t>MIMO</a:t>
            </a:r>
            <a:r>
              <a:rPr lang="zh-CN" altLang="en-US" sz="2200">
                <a:latin typeface="宋体" panose="02010600030101010101" pitchFamily="2" charset="-122"/>
                <a:ea typeface="宋体" panose="02010600030101010101" pitchFamily="2" charset="-122"/>
                <a:cs typeface="宋体" panose="02010600030101010101" pitchFamily="2" charset="-122"/>
              </a:rPr>
              <a:t>系统中，用户间干扰是一个重要问题。</a:t>
            </a:r>
            <a:endParaRPr lang="en-US" altLang="zh-CN" sz="220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sz="2200">
                <a:latin typeface="宋体" panose="02010600030101010101" pitchFamily="2" charset="-122"/>
                <a:ea typeface="宋体" panose="02010600030101010101" pitchFamily="2" charset="-122"/>
                <a:cs typeface="宋体" panose="02010600030101010101" pitchFamily="2" charset="-122"/>
              </a:rPr>
              <a:t>硬件复杂度：多天线系统增加了硬件复杂度和成本。</a:t>
            </a:r>
            <a:endParaRPr lang="zh-CN" altLang="en-US" sz="22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wipe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1435608" y="274340"/>
            <a:ext cx="7498080" cy="857250"/>
          </a:xfrm>
        </p:spPr>
        <p:txBody>
          <a:bodyPr>
            <a:normAutofit/>
          </a:bodyPr>
          <a:lstStyle/>
          <a:p>
            <a:r>
              <a:rPr lang="en-US" altLang="zh-CN" sz="3600" b="1" dirty="0" smtClean="0">
                <a:effectLst>
                  <a:outerShdw blurRad="38100" dist="38100" dir="2700000" algn="tl">
                    <a:srgbClr val="C0C0C0"/>
                  </a:outerShdw>
                </a:effectLst>
              </a:rPr>
              <a:t>2.7 MIMO</a:t>
            </a:r>
            <a:r>
              <a:rPr lang="zh-CN" altLang="en-US" sz="3600" b="1" dirty="0" smtClean="0">
                <a:effectLst>
                  <a:outerShdw blurRad="38100" dist="38100" dir="2700000" algn="tl">
                    <a:srgbClr val="C0C0C0"/>
                  </a:outerShdw>
                </a:effectLst>
              </a:rPr>
              <a:t>信道（了解）</a:t>
            </a:r>
            <a:endParaRPr lang="zh-CN" altLang="en-US" sz="3600" b="1" dirty="0">
              <a:effectLst>
                <a:outerShdw blurRad="38100" dist="38100" dir="2700000" algn="tl">
                  <a:srgbClr val="C0C0C0"/>
                </a:outerShdw>
              </a:effectLst>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pic>
        <p:nvPicPr>
          <p:cNvPr id="53250" name="Picture 2"/>
          <p:cNvPicPr>
            <a:picLocks noChangeAspect="1" noChangeArrowheads="1"/>
          </p:cNvPicPr>
          <p:nvPr/>
        </p:nvPicPr>
        <p:blipFill>
          <a:blip r:embed="rId2" cstate="print"/>
          <a:srcRect/>
          <a:stretch>
            <a:fillRect/>
          </a:stretch>
        </p:blipFill>
        <p:spPr bwMode="auto">
          <a:xfrm>
            <a:off x="395536" y="1275606"/>
            <a:ext cx="7848872" cy="3233823"/>
          </a:xfrm>
          <a:prstGeom prst="rect">
            <a:avLst/>
          </a:prstGeom>
          <a:noFill/>
          <a:ln w="9525">
            <a:noFill/>
            <a:miter lim="800000"/>
            <a:headEnd/>
            <a:tailEnd/>
          </a:ln>
        </p:spPr>
      </p:pic>
      <p:sp>
        <p:nvSpPr>
          <p:cNvPr id="48130" name="AutoShape 2" descr="https://t12.baidu.com/it/u=3201199193,842664019&amp;fm=173&amp;app=25&amp;f=JPEG?w=640&amp;h=391&amp;s=1E24C7048BB0C5DC8E82E0D8030040AB"/>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sp>
        <p:nvSpPr>
          <p:cNvPr id="48132" name="AutoShape 4" descr="https://t12.baidu.com/it/u=3201199193,842664019&amp;fm=173&amp;app=25&amp;f=JPEG?w=640&amp;h=391&amp;s=1E24C7048BB0C5DC8E82E0D8030040AB"/>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pic>
        <p:nvPicPr>
          <p:cNvPr id="48133" name="Picture 5"/>
          <p:cNvPicPr>
            <a:picLocks noChangeAspect="1" noChangeArrowheads="1"/>
          </p:cNvPicPr>
          <p:nvPr/>
        </p:nvPicPr>
        <p:blipFill>
          <a:blip r:embed="rId3" cstate="print"/>
          <a:srcRect/>
          <a:stretch>
            <a:fillRect/>
          </a:stretch>
        </p:blipFill>
        <p:spPr bwMode="auto">
          <a:xfrm>
            <a:off x="323528" y="1275606"/>
            <a:ext cx="3714750" cy="3581400"/>
          </a:xfrm>
          <a:prstGeom prst="rect">
            <a:avLst/>
          </a:prstGeom>
          <a:noFill/>
          <a:ln w="9525">
            <a:noFill/>
            <a:miter lim="800000"/>
            <a:headEnd/>
            <a:tailEnd/>
          </a:ln>
        </p:spPr>
      </p:pic>
      <p:sp>
        <p:nvSpPr>
          <p:cNvPr id="48135" name="AutoShape 7" descr="https://gimg2.baidu.com/image_search/src=http%3A%2F%2F5b0988e595225.cdn.sohucs.com%2Fimages%2F20200514%2F97a9766be9d546dd8dc5071f09910566.jpeg&amp;refer=http%3A%2F%2F5b0988e595225.cdn.sohucs.com&amp;app=2002&amp;size=f9999,10000&amp;q=a80&amp;n=0&amp;g=0n&amp;fmt=jpeg?sec=1649426146&amp;t=bd0f17ee6d4527003204b375f7749a1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sp>
        <p:nvSpPr>
          <p:cNvPr id="48137" name="AutoShape 9" descr="https://gimg2.baidu.com/image_search/src=http%3A%2F%2F5b0988e595225.cdn.sohucs.com%2Fimages%2F20200514%2F97a9766be9d546dd8dc5071f09910566.jpeg&amp;refer=http%3A%2F%2F5b0988e595225.cdn.sohucs.com&amp;app=2002&amp;size=f9999,10000&amp;q=a80&amp;n=0&amp;g=0n&amp;fmt=jpeg?sec=1649426146&amp;t=bd0f17ee6d4527003204b375f7749a1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pic>
        <p:nvPicPr>
          <p:cNvPr id="48138" name="Picture 10"/>
          <p:cNvPicPr>
            <a:picLocks noChangeAspect="1" noChangeArrowheads="1"/>
          </p:cNvPicPr>
          <p:nvPr/>
        </p:nvPicPr>
        <p:blipFill>
          <a:blip r:embed="rId4" cstate="print"/>
          <a:srcRect/>
          <a:stretch>
            <a:fillRect/>
          </a:stretch>
        </p:blipFill>
        <p:spPr bwMode="auto">
          <a:xfrm>
            <a:off x="2627784" y="1707654"/>
            <a:ext cx="5972175" cy="264795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ox(in)">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8133"/>
                                        </p:tgtEl>
                                        <p:attrNameLst>
                                          <p:attrName>style.visibility</p:attrName>
                                        </p:attrNameLst>
                                      </p:cBhvr>
                                      <p:to>
                                        <p:strVal val="visible"/>
                                      </p:to>
                                    </p:set>
                                    <p:anim calcmode="lin" valueType="num">
                                      <p:cBhvr additive="base">
                                        <p:cTn id="12" dur="500" fill="hold"/>
                                        <p:tgtEl>
                                          <p:spTgt spid="48133"/>
                                        </p:tgtEl>
                                        <p:attrNameLst>
                                          <p:attrName>ppt_x</p:attrName>
                                        </p:attrNameLst>
                                      </p:cBhvr>
                                      <p:tavLst>
                                        <p:tav tm="0">
                                          <p:val>
                                            <p:strVal val="#ppt_x"/>
                                          </p:val>
                                        </p:tav>
                                        <p:tav tm="100000">
                                          <p:val>
                                            <p:strVal val="#ppt_x"/>
                                          </p:val>
                                        </p:tav>
                                      </p:tavLst>
                                    </p:anim>
                                    <p:anim calcmode="lin" valueType="num">
                                      <p:cBhvr additive="base">
                                        <p:cTn id="13" dur="500" fill="hold"/>
                                        <p:tgtEl>
                                          <p:spTgt spid="4813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nodeType="clickEffect">
                                  <p:stCondLst>
                                    <p:cond delay="0"/>
                                  </p:stCondLst>
                                  <p:childTnLst>
                                    <p:animEffect transition="out" filter="wipe(down)">
                                      <p:cBhvr>
                                        <p:cTn id="17" dur="500"/>
                                        <p:tgtEl>
                                          <p:spTgt spid="48133"/>
                                        </p:tgtEl>
                                      </p:cBhvr>
                                    </p:animEffect>
                                    <p:set>
                                      <p:cBhvr>
                                        <p:cTn id="18" dur="1" fill="hold">
                                          <p:stCondLst>
                                            <p:cond delay="499"/>
                                          </p:stCondLst>
                                        </p:cTn>
                                        <p:tgtEl>
                                          <p:spTgt spid="4813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8138"/>
                                        </p:tgtEl>
                                        <p:attrNameLst>
                                          <p:attrName>style.visibility</p:attrName>
                                        </p:attrNameLst>
                                      </p:cBhvr>
                                      <p:to>
                                        <p:strVal val="visible"/>
                                      </p:to>
                                    </p:set>
                                    <p:anim calcmode="lin" valueType="num">
                                      <p:cBhvr additive="base">
                                        <p:cTn id="23" dur="500" fill="hold"/>
                                        <p:tgtEl>
                                          <p:spTgt spid="48138"/>
                                        </p:tgtEl>
                                        <p:attrNameLst>
                                          <p:attrName>ppt_x</p:attrName>
                                        </p:attrNameLst>
                                      </p:cBhvr>
                                      <p:tavLst>
                                        <p:tav tm="0">
                                          <p:val>
                                            <p:strVal val="#ppt_x"/>
                                          </p:val>
                                        </p:tav>
                                        <p:tav tm="100000">
                                          <p:val>
                                            <p:strVal val="#ppt_x"/>
                                          </p:val>
                                        </p:tav>
                                      </p:tavLst>
                                    </p:anim>
                                    <p:anim calcmode="lin" valueType="num">
                                      <p:cBhvr additive="base">
                                        <p:cTn id="24" dur="500" fill="hold"/>
                                        <p:tgtEl>
                                          <p:spTgt spid="4813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nodeType="clickEffect">
                                  <p:stCondLst>
                                    <p:cond delay="0"/>
                                  </p:stCondLst>
                                  <p:childTnLst>
                                    <p:animEffect transition="out" filter="wipe(down)">
                                      <p:cBhvr>
                                        <p:cTn id="28" dur="500"/>
                                        <p:tgtEl>
                                          <p:spTgt spid="48138"/>
                                        </p:tgtEl>
                                      </p:cBhvr>
                                    </p:animEffect>
                                    <p:set>
                                      <p:cBhvr>
                                        <p:cTn id="29" dur="1" fill="hold">
                                          <p:stCondLst>
                                            <p:cond delay="499"/>
                                          </p:stCondLst>
                                        </p:cTn>
                                        <p:tgtEl>
                                          <p:spTgt spid="481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rrowheads="1"/>
          </p:cNvSpPr>
          <p:nvPr>
            <p:ph type="title"/>
          </p:nvPr>
        </p:nvSpPr>
        <p:spPr>
          <a:xfrm>
            <a:off x="1435608" y="274340"/>
            <a:ext cx="7498080" cy="857250"/>
          </a:xfrm>
        </p:spPr>
        <p:txBody>
          <a:bodyPr>
            <a:normAutofit/>
          </a:bodyPr>
          <a:lstStyle/>
          <a:p>
            <a:r>
              <a:rPr lang="en-US" altLang="zh-CN" sz="3600" b="1" dirty="0" smtClean="0">
                <a:effectLst>
                  <a:outerShdw blurRad="38100" dist="38100" dir="2700000" algn="tl">
                    <a:srgbClr val="C0C0C0"/>
                  </a:outerShdw>
                </a:effectLst>
              </a:rPr>
              <a:t>2.8 </a:t>
            </a:r>
            <a:r>
              <a:rPr lang="zh-CN" altLang="en-US" sz="3600" b="1" dirty="0">
                <a:effectLst>
                  <a:outerShdw blurRad="38100" dist="38100" dir="2700000" algn="tl">
                    <a:srgbClr val="C0C0C0"/>
                  </a:outerShdw>
                </a:effectLst>
              </a:rPr>
              <a:t>电波传播损耗预测模</a:t>
            </a:r>
            <a:r>
              <a:rPr lang="zh-CN" altLang="en-US" sz="3600" b="1" dirty="0" smtClean="0">
                <a:effectLst>
                  <a:outerShdw blurRad="38100" dist="38100" dir="2700000" algn="tl">
                    <a:srgbClr val="C0C0C0"/>
                  </a:outerShdw>
                </a:effectLst>
              </a:rPr>
              <a:t>型（了解）</a:t>
            </a:r>
            <a:endParaRPr lang="zh-CN" altLang="en-US" sz="3600" b="1" dirty="0">
              <a:effectLst>
                <a:outerShdw blurRad="38100" dist="38100" dir="2700000" algn="tl">
                  <a:srgbClr val="C0C0C0"/>
                </a:outerShdw>
              </a:effectLst>
            </a:endParaRPr>
          </a:p>
        </p:txBody>
      </p:sp>
      <p:sp>
        <p:nvSpPr>
          <p:cNvPr id="192515" name="Rectangle 3"/>
          <p:cNvSpPr>
            <a:spLocks noGrp="1" noRot="1" noChangeArrowheads="1"/>
          </p:cNvSpPr>
          <p:nvPr>
            <p:ph type="body" idx="1"/>
          </p:nvPr>
        </p:nvSpPr>
        <p:spPr>
          <a:xfrm>
            <a:off x="395288" y="897731"/>
            <a:ext cx="8540750" cy="4104289"/>
          </a:xfrm>
        </p:spPr>
        <p:txBody>
          <a:bodyPr>
            <a:noAutofit/>
          </a:bodyPr>
          <a:lstStyle/>
          <a:p>
            <a:pPr marL="36195">
              <a:lnSpc>
                <a:spcPct val="150000"/>
              </a:lnSpc>
              <a:spcBef>
                <a:spcPts val="0"/>
              </a:spcBef>
              <a:buNone/>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rPr>
              <a:t>1</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）目</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的：</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掌</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握基站周围所有地点处接收信号的平均强度及变化特点，为网络覆盖的研究以及整个网络设计提供基础</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endPar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rPr>
              <a:t>2</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）方</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法：</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分</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析测试数据归纳出基于不同环境的经验模型，在此基础上对模型进行校正</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a:t>
            </a:r>
            <a:r>
              <a:rPr lang="en-US" altLang="zh-CN" sz="2400" dirty="0" smtClean="0">
                <a:effectLst>
                  <a:outerShdw blurRad="38100" dist="38100" dir="2700000" algn="tl">
                    <a:srgbClr val="C0C0C0"/>
                  </a:outerShdw>
                </a:effectLst>
                <a:latin typeface="宋体" panose="02010600030101010101" pitchFamily="2" charset="-122"/>
                <a:ea typeface="宋体" panose="02010600030101010101" pitchFamily="2" charset="-122"/>
              </a:rPr>
              <a:t>3</a:t>
            </a:r>
            <a:r>
              <a:rPr lang="zh-CN" altLang="en-US" sz="2400" dirty="0" smtClean="0">
                <a:effectLst>
                  <a:outerShdw blurRad="38100" dist="38100" dir="2700000" algn="tl">
                    <a:srgbClr val="C0C0C0"/>
                  </a:outerShdw>
                </a:effectLst>
                <a:latin typeface="宋体" panose="02010600030101010101" pitchFamily="2" charset="-122"/>
                <a:ea typeface="宋体" panose="02010600030101010101" pitchFamily="2" charset="-122"/>
              </a:rPr>
              <a:t>）确</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定传播环境的主要因素</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36195" lvl="1" indent="-283210" algn="l">
              <a:lnSpc>
                <a:spcPct val="150000"/>
              </a:lnSpc>
              <a:spcBef>
                <a:spcPts val="0"/>
              </a:spcBef>
              <a:buSzPct val="80000"/>
              <a:buFont typeface="Wingdings 2"/>
              <a:buChar char=""/>
            </a:pP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地形；天气状况；自然和人为的电磁噪声状况；系统的工作频率和移动台运动等因素</a:t>
            </a:r>
            <a:endPar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blinds(horizontal)">
                                      <p:cBhvr>
                                        <p:cTn id="7" dur="500"/>
                                        <p:tgtEl>
                                          <p:spTgt spid="1925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2515">
                                            <p:txEl>
                                              <p:pRg st="1" end="1"/>
                                            </p:txEl>
                                          </p:spTgt>
                                        </p:tgtEl>
                                        <p:attrNameLst>
                                          <p:attrName>style.visibility</p:attrName>
                                        </p:attrNameLst>
                                      </p:cBhvr>
                                      <p:to>
                                        <p:strVal val="visible"/>
                                      </p:to>
                                    </p:set>
                                    <p:animEffect transition="in" filter="blinds(horizontal)">
                                      <p:cBhvr>
                                        <p:cTn id="10" dur="500"/>
                                        <p:tgtEl>
                                          <p:spTgt spid="1925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2515">
                                            <p:txEl>
                                              <p:pRg st="2" end="2"/>
                                            </p:txEl>
                                          </p:spTgt>
                                        </p:tgtEl>
                                        <p:attrNameLst>
                                          <p:attrName>style.visibility</p:attrName>
                                        </p:attrNameLst>
                                      </p:cBhvr>
                                      <p:to>
                                        <p:strVal val="visible"/>
                                      </p:to>
                                    </p:set>
                                    <p:animEffect transition="in" filter="blinds(horizontal)">
                                      <p:cBhvr>
                                        <p:cTn id="15" dur="500"/>
                                        <p:tgtEl>
                                          <p:spTgt spid="19251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2515">
                                            <p:txEl>
                                              <p:pRg st="3" end="3"/>
                                            </p:txEl>
                                          </p:spTgt>
                                        </p:tgtEl>
                                        <p:attrNameLst>
                                          <p:attrName>style.visibility</p:attrName>
                                        </p:attrNameLst>
                                      </p:cBhvr>
                                      <p:to>
                                        <p:strVal val="visible"/>
                                      </p:to>
                                    </p:set>
                                    <p:animEffect transition="in" filter="blinds(horizontal)">
                                      <p:cBhvr>
                                        <p:cTn id="18" dur="500"/>
                                        <p:tgtEl>
                                          <p:spTgt spid="192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rrowheads="1"/>
          </p:cNvSpPr>
          <p:nvPr>
            <p:ph type="title"/>
          </p:nvPr>
        </p:nvSpPr>
        <p:spPr>
          <a:xfrm>
            <a:off x="1435608" y="274340"/>
            <a:ext cx="7498080" cy="857250"/>
          </a:xfrm>
        </p:spPr>
        <p:txBody>
          <a:bodyPr>
            <a:normAutofit/>
          </a:bodyPr>
          <a:lstStyle/>
          <a:p>
            <a:r>
              <a:rPr lang="en-US" altLang="zh-CN" sz="3600" b="1" dirty="0">
                <a:effectLst>
                  <a:outerShdw blurRad="38100" dist="38100" dir="2700000" algn="tl">
                    <a:srgbClr val="C0C0C0"/>
                  </a:outerShdw>
                </a:effectLst>
              </a:rPr>
              <a:t>2.6.1 </a:t>
            </a:r>
            <a:r>
              <a:rPr lang="zh-CN" altLang="en-US" sz="3600" b="1" dirty="0">
                <a:effectLst>
                  <a:outerShdw blurRad="38100" dist="38100" dir="2700000" algn="tl">
                    <a:srgbClr val="C0C0C0"/>
                  </a:outerShdw>
                </a:effectLst>
              </a:rPr>
              <a:t>室外传播模型</a:t>
            </a:r>
            <a:endParaRPr lang="zh-CN" altLang="en-US" sz="3600" b="1" dirty="0">
              <a:effectLst>
                <a:outerShdw blurRad="38100" dist="38100" dir="2700000" algn="tl">
                  <a:srgbClr val="C0C0C0"/>
                </a:outerShdw>
              </a:effectLst>
            </a:endParaRPr>
          </a:p>
        </p:txBody>
      </p:sp>
      <p:grpSp>
        <p:nvGrpSpPr>
          <p:cNvPr id="2" name="Group 3"/>
          <p:cNvGrpSpPr/>
          <p:nvPr/>
        </p:nvGrpSpPr>
        <p:grpSpPr bwMode="auto">
          <a:xfrm>
            <a:off x="1143001" y="1485900"/>
            <a:ext cx="3833813" cy="2875360"/>
            <a:chOff x="720" y="1248"/>
            <a:chExt cx="2415" cy="2415"/>
          </a:xfrm>
        </p:grpSpPr>
        <p:sp>
          <p:nvSpPr>
            <p:cNvPr id="193540" name="AutoShape 4"/>
            <p:cNvSpPr>
              <a:spLocks noChangeArrowheads="1"/>
            </p:cNvSpPr>
            <p:nvPr/>
          </p:nvSpPr>
          <p:spPr bwMode="gray">
            <a:xfrm>
              <a:off x="720" y="1248"/>
              <a:ext cx="2415" cy="241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gradFill rotWithShape="1">
              <a:gsLst>
                <a:gs pos="0">
                  <a:schemeClr val="accent1">
                    <a:gamma/>
                    <a:shade val="66667"/>
                    <a:invGamma/>
                    <a:alpha val="12000"/>
                  </a:schemeClr>
                </a:gs>
                <a:gs pos="50000">
                  <a:schemeClr val="accent1"/>
                </a:gs>
                <a:gs pos="100000">
                  <a:schemeClr val="accent1">
                    <a:gamma/>
                    <a:shade val="66667"/>
                    <a:invGamma/>
                    <a:alpha val="12000"/>
                  </a:schemeClr>
                </a:gs>
              </a:gsLst>
              <a:lin ang="0" scaled="1"/>
            </a:gradFill>
            <a:ln w="9525">
              <a:noFill/>
              <a:round/>
            </a:ln>
            <a:effectLst/>
          </p:spPr>
          <p:txBody>
            <a:bodyPr wrap="none" anchor="ctr"/>
            <a:lstStyle/>
            <a:p>
              <a:endParaRPr lang="zh-CN" altLang="en-US"/>
            </a:p>
          </p:txBody>
        </p:sp>
        <p:grpSp>
          <p:nvGrpSpPr>
            <p:cNvPr id="3" name="Group 5"/>
            <p:cNvGrpSpPr/>
            <p:nvPr/>
          </p:nvGrpSpPr>
          <p:grpSpPr bwMode="auto">
            <a:xfrm>
              <a:off x="912" y="1440"/>
              <a:ext cx="2016" cy="2016"/>
              <a:chOff x="912" y="1440"/>
              <a:chExt cx="2016" cy="2016"/>
            </a:xfrm>
          </p:grpSpPr>
          <p:sp>
            <p:nvSpPr>
              <p:cNvPr id="193542" name="Oval 6"/>
              <p:cNvSpPr>
                <a:spLocks noChangeArrowheads="1"/>
              </p:cNvSpPr>
              <p:nvPr/>
            </p:nvSpPr>
            <p:spPr bwMode="gray">
              <a:xfrm>
                <a:off x="912" y="1440"/>
                <a:ext cx="2016" cy="2016"/>
              </a:xfrm>
              <a:prstGeom prst="ellipse">
                <a:avLst/>
              </a:prstGeom>
              <a:gradFill rotWithShape="1">
                <a:gsLst>
                  <a:gs pos="0">
                    <a:schemeClr val="accent2"/>
                  </a:gs>
                  <a:gs pos="100000">
                    <a:schemeClr val="accent2">
                      <a:gamma/>
                      <a:shade val="63529"/>
                      <a:invGamma/>
                    </a:schemeClr>
                  </a:gs>
                </a:gsLst>
                <a:path path="shape">
                  <a:fillToRect l="50000" t="50000" r="50000" b="50000"/>
                </a:path>
              </a:gradFill>
              <a:ln w="28575" algn="ctr">
                <a:solidFill>
                  <a:srgbClr val="FFFFFF"/>
                </a:solidFill>
                <a:round/>
              </a:ln>
              <a:effectLst/>
            </p:spPr>
            <p:txBody>
              <a:bodyPr wrap="none" anchor="ctr"/>
              <a:lstStyle/>
              <a:p>
                <a:endParaRPr lang="zh-CN" altLang="en-US"/>
              </a:p>
            </p:txBody>
          </p:sp>
          <p:sp>
            <p:nvSpPr>
              <p:cNvPr id="193543" name="WordArt 7"/>
              <p:cNvSpPr>
                <a:spLocks noChangeArrowheads="1" noChangeShapeType="1" noTextEdit="1"/>
              </p:cNvSpPr>
              <p:nvPr/>
            </p:nvSpPr>
            <p:spPr bwMode="gray">
              <a:xfrm>
                <a:off x="975" y="1888"/>
                <a:ext cx="1728" cy="864"/>
              </a:xfrm>
              <a:prstGeom prst="rect">
                <a:avLst/>
              </a:prstGeom>
            </p:spPr>
            <p:txBody>
              <a:bodyPr wrap="none" fromWordArt="1">
                <a:prstTxWarp prst="textPlain">
                  <a:avLst>
                    <a:gd name="adj" fmla="val 50000"/>
                  </a:avLst>
                </a:prstTxWarp>
              </a:bodyPr>
              <a:lstStyle/>
              <a:p>
                <a:pPr algn="ctr"/>
                <a:r>
                  <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rPr>
                  <a:t>常用的几种</a:t>
                </a:r>
                <a:endPar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endParaRPr>
              </a:p>
              <a:p>
                <a:pPr algn="ctr"/>
                <a:r>
                  <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rPr>
                  <a:t>室外电波传播</a:t>
                </a:r>
                <a:endPar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endParaRPr>
              </a:p>
              <a:p>
                <a:pPr algn="ctr"/>
                <a:r>
                  <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rPr>
                  <a:t>损耗预测模型</a:t>
                </a:r>
                <a:endParaRPr lang="zh-CN" altLang="en-US" sz="3600" kern="1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a typeface="宋体" panose="02010600030101010101" pitchFamily="2" charset="-122"/>
                </a:endParaRPr>
              </a:p>
            </p:txBody>
          </p:sp>
        </p:grpSp>
      </p:grpSp>
      <p:sp>
        <p:nvSpPr>
          <p:cNvPr id="193544" name="AutoShape 8"/>
          <p:cNvSpPr>
            <a:spLocks noChangeArrowheads="1"/>
          </p:cNvSpPr>
          <p:nvPr/>
        </p:nvSpPr>
        <p:spPr bwMode="gray">
          <a:xfrm>
            <a:off x="3852864" y="1733551"/>
            <a:ext cx="4103687" cy="375047"/>
          </a:xfrm>
          <a:prstGeom prst="roundRect">
            <a:avLst>
              <a:gd name="adj" fmla="val 50000"/>
            </a:avLst>
          </a:prstGeom>
          <a:gradFill rotWithShape="1">
            <a:gsLst>
              <a:gs pos="0">
                <a:schemeClr val="accent1"/>
              </a:gs>
              <a:gs pos="100000">
                <a:schemeClr val="accent1">
                  <a:gamma/>
                  <a:tint val="5882"/>
                  <a:invGamma/>
                </a:schemeClr>
              </a:gs>
            </a:gsLst>
            <a:lin ang="0" scaled="1"/>
          </a:gradFill>
          <a:ln w="38100" algn="ctr">
            <a:solidFill>
              <a:srgbClr val="808080"/>
            </a:solidFill>
            <a:round/>
          </a:ln>
          <a:effectLst/>
        </p:spPr>
        <p:txBody>
          <a:bodyPr wrap="none" anchor="ctr"/>
          <a:lstStyle/>
          <a:p>
            <a:pPr algn="ctr" eaLnBrk="0" hangingPunct="0"/>
            <a:r>
              <a:rPr lang="en-US" altLang="zh-CN" sz="2000" b="1"/>
              <a:t>Hata</a:t>
            </a:r>
            <a:r>
              <a:rPr lang="zh-CN" altLang="en-US" sz="2000" b="1"/>
              <a:t>模型</a:t>
            </a:r>
            <a:endParaRPr lang="zh-CN" altLang="en-US" sz="2000" b="1"/>
          </a:p>
        </p:txBody>
      </p:sp>
      <p:sp>
        <p:nvSpPr>
          <p:cNvPr id="193545" name="AutoShape 9"/>
          <p:cNvSpPr>
            <a:spLocks noChangeArrowheads="1"/>
          </p:cNvSpPr>
          <p:nvPr/>
        </p:nvSpPr>
        <p:spPr bwMode="gray">
          <a:xfrm>
            <a:off x="4211639" y="2356248"/>
            <a:ext cx="3781425" cy="373856"/>
          </a:xfrm>
          <a:prstGeom prst="roundRect">
            <a:avLst>
              <a:gd name="adj" fmla="val 50000"/>
            </a:avLst>
          </a:prstGeom>
          <a:gradFill rotWithShape="1">
            <a:gsLst>
              <a:gs pos="0">
                <a:schemeClr val="accent1"/>
              </a:gs>
              <a:gs pos="100000">
                <a:srgbClr val="F2FAF9"/>
              </a:gs>
            </a:gsLst>
            <a:lin ang="0" scaled="1"/>
          </a:gradFill>
          <a:ln w="38100" algn="ctr">
            <a:solidFill>
              <a:srgbClr val="808080"/>
            </a:solidFill>
            <a:round/>
          </a:ln>
          <a:effectLst/>
        </p:spPr>
        <p:txBody>
          <a:bodyPr wrap="none" anchor="ctr"/>
          <a:lstStyle/>
          <a:p>
            <a:pPr algn="ctr" eaLnBrk="0" hangingPunct="0"/>
            <a:r>
              <a:rPr lang="en-US" altLang="zh-CN" sz="2000" b="1"/>
              <a:t>CCIR</a:t>
            </a:r>
            <a:r>
              <a:rPr lang="zh-CN" altLang="en-US" sz="2000" b="1"/>
              <a:t>模型</a:t>
            </a:r>
            <a:endParaRPr lang="zh-CN" altLang="en-US" sz="2000" b="1"/>
          </a:p>
        </p:txBody>
      </p:sp>
      <p:sp>
        <p:nvSpPr>
          <p:cNvPr id="193546" name="AutoShape 10"/>
          <p:cNvSpPr>
            <a:spLocks noChangeArrowheads="1"/>
          </p:cNvSpPr>
          <p:nvPr/>
        </p:nvSpPr>
        <p:spPr bwMode="gray">
          <a:xfrm>
            <a:off x="4211639" y="3003947"/>
            <a:ext cx="3781425" cy="375047"/>
          </a:xfrm>
          <a:prstGeom prst="roundRect">
            <a:avLst>
              <a:gd name="adj" fmla="val 50000"/>
            </a:avLst>
          </a:prstGeom>
          <a:gradFill rotWithShape="1">
            <a:gsLst>
              <a:gs pos="0">
                <a:schemeClr val="accent1"/>
              </a:gs>
              <a:gs pos="100000">
                <a:srgbClr val="FCFFFB"/>
              </a:gs>
            </a:gsLst>
            <a:lin ang="0" scaled="1"/>
          </a:gradFill>
          <a:ln w="38100" algn="ctr">
            <a:solidFill>
              <a:srgbClr val="808080"/>
            </a:solidFill>
            <a:round/>
          </a:ln>
          <a:effectLst/>
        </p:spPr>
        <p:txBody>
          <a:bodyPr wrap="none" anchor="ctr"/>
          <a:lstStyle/>
          <a:p>
            <a:pPr algn="ctr">
              <a:lnSpc>
                <a:spcPct val="90000"/>
              </a:lnSpc>
              <a:spcBef>
                <a:spcPct val="20000"/>
              </a:spcBef>
              <a:buClr>
                <a:schemeClr val="hlink"/>
              </a:buClr>
            </a:pPr>
            <a:r>
              <a:rPr lang="en-US" altLang="zh-CN" sz="2000" b="1"/>
              <a:t>LEE</a:t>
            </a:r>
            <a:r>
              <a:rPr lang="zh-CN" altLang="en-US" sz="2000" b="1"/>
              <a:t>模型</a:t>
            </a:r>
            <a:endParaRPr lang="zh-CN" altLang="en-US" sz="2000" b="1"/>
          </a:p>
        </p:txBody>
      </p:sp>
      <p:sp>
        <p:nvSpPr>
          <p:cNvPr id="193547" name="AutoShape 11"/>
          <p:cNvSpPr>
            <a:spLocks noChangeArrowheads="1"/>
          </p:cNvSpPr>
          <p:nvPr/>
        </p:nvSpPr>
        <p:spPr bwMode="gray">
          <a:xfrm>
            <a:off x="3852864" y="3717132"/>
            <a:ext cx="4103687" cy="375047"/>
          </a:xfrm>
          <a:prstGeom prst="roundRect">
            <a:avLst>
              <a:gd name="adj" fmla="val 50000"/>
            </a:avLst>
          </a:prstGeom>
          <a:gradFill rotWithShape="1">
            <a:gsLst>
              <a:gs pos="0">
                <a:schemeClr val="accent1"/>
              </a:gs>
              <a:gs pos="100000">
                <a:schemeClr val="accent1">
                  <a:gamma/>
                  <a:tint val="5882"/>
                  <a:invGamma/>
                </a:schemeClr>
              </a:gs>
            </a:gsLst>
            <a:lin ang="0" scaled="1"/>
          </a:gradFill>
          <a:ln w="38100" algn="ctr">
            <a:solidFill>
              <a:srgbClr val="808080"/>
            </a:solidFill>
            <a:round/>
          </a:ln>
          <a:effectLst/>
        </p:spPr>
        <p:txBody>
          <a:bodyPr wrap="none" anchor="ctr"/>
          <a:lstStyle/>
          <a:p>
            <a:pPr algn="ctr" eaLnBrk="0" hangingPunct="0"/>
            <a:r>
              <a:rPr lang="en-US" altLang="zh-CN" sz="2000" b="1"/>
              <a:t>COST 231 Walfisch-Ikegami </a:t>
            </a:r>
            <a:r>
              <a:rPr lang="zh-CN" altLang="en-US" sz="2000" b="1"/>
              <a:t>模型</a:t>
            </a:r>
            <a:endParaRPr lang="zh-CN" altLang="en-US" sz="2000" b="1"/>
          </a:p>
        </p:txBody>
      </p:sp>
      <p:pic>
        <p:nvPicPr>
          <p:cNvPr id="12" name="图片 11"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par>
                          <p:cTn id="11" fill="hold">
                            <p:stCondLst>
                              <p:cond delay="500"/>
                            </p:stCondLst>
                            <p:childTnLst>
                              <p:par>
                                <p:cTn id="12" presetID="12" presetClass="entr" presetSubtype="8" fill="hold" grpId="0" nodeType="afterEffect">
                                  <p:stCondLst>
                                    <p:cond delay="0"/>
                                  </p:stCondLst>
                                  <p:childTnLst>
                                    <p:set>
                                      <p:cBhvr>
                                        <p:cTn id="13" dur="1" fill="hold">
                                          <p:stCondLst>
                                            <p:cond delay="0"/>
                                          </p:stCondLst>
                                        </p:cTn>
                                        <p:tgtEl>
                                          <p:spTgt spid="193544"/>
                                        </p:tgtEl>
                                        <p:attrNameLst>
                                          <p:attrName>style.visibility</p:attrName>
                                        </p:attrNameLst>
                                      </p:cBhvr>
                                      <p:to>
                                        <p:strVal val="visible"/>
                                      </p:to>
                                    </p:set>
                                    <p:animEffect transition="in" filter="slide(fromLeft)">
                                      <p:cBhvr>
                                        <p:cTn id="14" dur="500"/>
                                        <p:tgtEl>
                                          <p:spTgt spid="193544"/>
                                        </p:tgtEl>
                                      </p:cBhvr>
                                    </p:animEffect>
                                  </p:childTnLst>
                                </p:cTn>
                              </p:par>
                            </p:childTnLst>
                          </p:cTn>
                        </p:par>
                        <p:par>
                          <p:cTn id="15" fill="hold">
                            <p:stCondLst>
                              <p:cond delay="1000"/>
                            </p:stCondLst>
                            <p:childTnLst>
                              <p:par>
                                <p:cTn id="16" presetID="12" presetClass="entr" presetSubtype="8" fill="hold" grpId="0" nodeType="afterEffect">
                                  <p:stCondLst>
                                    <p:cond delay="0"/>
                                  </p:stCondLst>
                                  <p:childTnLst>
                                    <p:set>
                                      <p:cBhvr>
                                        <p:cTn id="17" dur="1" fill="hold">
                                          <p:stCondLst>
                                            <p:cond delay="0"/>
                                          </p:stCondLst>
                                        </p:cTn>
                                        <p:tgtEl>
                                          <p:spTgt spid="193545"/>
                                        </p:tgtEl>
                                        <p:attrNameLst>
                                          <p:attrName>style.visibility</p:attrName>
                                        </p:attrNameLst>
                                      </p:cBhvr>
                                      <p:to>
                                        <p:strVal val="visible"/>
                                      </p:to>
                                    </p:set>
                                    <p:animEffect transition="in" filter="slide(fromLeft)">
                                      <p:cBhvr>
                                        <p:cTn id="18" dur="500"/>
                                        <p:tgtEl>
                                          <p:spTgt spid="193545"/>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193546"/>
                                        </p:tgtEl>
                                        <p:attrNameLst>
                                          <p:attrName>style.visibility</p:attrName>
                                        </p:attrNameLst>
                                      </p:cBhvr>
                                      <p:to>
                                        <p:strVal val="visible"/>
                                      </p:to>
                                    </p:set>
                                    <p:animEffect transition="in" filter="slide(fromLeft)">
                                      <p:cBhvr>
                                        <p:cTn id="22" dur="500"/>
                                        <p:tgtEl>
                                          <p:spTgt spid="193546"/>
                                        </p:tgtEl>
                                      </p:cBhvr>
                                    </p:animEffect>
                                  </p:childTnLst>
                                </p:cTn>
                              </p:par>
                            </p:childTnLst>
                          </p:cTn>
                        </p:par>
                        <p:par>
                          <p:cTn id="23" fill="hold">
                            <p:stCondLst>
                              <p:cond delay="2000"/>
                            </p:stCondLst>
                            <p:childTnLst>
                              <p:par>
                                <p:cTn id="24" presetID="12" presetClass="entr" presetSubtype="8" fill="hold" grpId="0" nodeType="afterEffect">
                                  <p:stCondLst>
                                    <p:cond delay="0"/>
                                  </p:stCondLst>
                                  <p:childTnLst>
                                    <p:set>
                                      <p:cBhvr>
                                        <p:cTn id="25" dur="1" fill="hold">
                                          <p:stCondLst>
                                            <p:cond delay="0"/>
                                          </p:stCondLst>
                                        </p:cTn>
                                        <p:tgtEl>
                                          <p:spTgt spid="193547"/>
                                        </p:tgtEl>
                                        <p:attrNameLst>
                                          <p:attrName>style.visibility</p:attrName>
                                        </p:attrNameLst>
                                      </p:cBhvr>
                                      <p:to>
                                        <p:strVal val="visible"/>
                                      </p:to>
                                    </p:set>
                                    <p:animEffect transition="in" filter="slide(fromLeft)">
                                      <p:cBhvr>
                                        <p:cTn id="26" dur="500"/>
                                        <p:tgtEl>
                                          <p:spTgt spid="193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4" grpId="0" animBg="1"/>
      <p:bldP spid="193545" grpId="0" animBg="1"/>
      <p:bldP spid="193546" grpId="0" animBg="1"/>
      <p:bldP spid="19354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rrowheads="1"/>
          </p:cNvSpPr>
          <p:nvPr>
            <p:ph type="title"/>
          </p:nvPr>
        </p:nvSpPr>
        <p:spPr>
          <a:xfrm>
            <a:off x="298450" y="274340"/>
            <a:ext cx="8540750" cy="857250"/>
          </a:xfrm>
        </p:spPr>
        <p:txBody>
          <a:bodyPr>
            <a:normAutofit/>
          </a:bodyPr>
          <a:lstStyle/>
          <a:p>
            <a:r>
              <a:rPr lang="en-US" altLang="zh-CN" sz="3600" b="1" dirty="0">
                <a:effectLst>
                  <a:outerShdw blurRad="38100" dist="38100" dir="2700000" algn="tl">
                    <a:srgbClr val="C0C0C0"/>
                  </a:outerShdw>
                </a:effectLst>
              </a:rPr>
              <a:t>Okumura-Hata </a:t>
            </a:r>
            <a:r>
              <a:rPr lang="zh-CN" altLang="en-US" sz="3600" b="1" dirty="0">
                <a:effectLst>
                  <a:outerShdw blurRad="38100" dist="38100" dir="2700000" algn="tl">
                    <a:srgbClr val="C0C0C0"/>
                  </a:outerShdw>
                </a:effectLst>
              </a:rPr>
              <a:t>模型</a:t>
            </a:r>
            <a:endParaRPr lang="zh-CN" altLang="en-US" sz="3600" b="1" dirty="0">
              <a:effectLst>
                <a:outerShdw blurRad="38100" dist="38100" dir="2700000" algn="tl">
                  <a:srgbClr val="C0C0C0"/>
                </a:outerShdw>
              </a:effectLst>
            </a:endParaRPr>
          </a:p>
        </p:txBody>
      </p:sp>
      <p:sp>
        <p:nvSpPr>
          <p:cNvPr id="194563" name="Rectangle 3"/>
          <p:cNvSpPr>
            <a:spLocks noGrp="1" noRot="1" noChangeArrowheads="1"/>
          </p:cNvSpPr>
          <p:nvPr>
            <p:ph type="body" sz="half" idx="1"/>
          </p:nvPr>
        </p:nvSpPr>
        <p:spPr>
          <a:xfrm>
            <a:off x="323850" y="899238"/>
            <a:ext cx="8305800" cy="2914650"/>
          </a:xfrm>
        </p:spPr>
        <p:txBody>
          <a:bodyPr>
            <a:noAutofit/>
          </a:bodyPr>
          <a:lstStyle/>
          <a:p>
            <a:r>
              <a:rPr lang="zh-CN" altLang="en-US" sz="2400" dirty="0">
                <a:effectLst>
                  <a:outerShdw blurRad="38100" dist="38100" dir="2700000" algn="tl">
                    <a:srgbClr val="C0C0C0"/>
                  </a:outerShdw>
                </a:effectLst>
              </a:rPr>
              <a:t>路径损耗计算的经验公式</a:t>
            </a:r>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r>
              <a:rPr lang="zh-CN" altLang="en-US" sz="2400" dirty="0" smtClean="0">
                <a:effectLst>
                  <a:outerShdw blurRad="38100" dist="38100" dir="2700000" algn="tl">
                    <a:srgbClr val="C0C0C0"/>
                  </a:outerShdw>
                </a:effectLst>
              </a:rPr>
              <a:t>式</a:t>
            </a:r>
            <a:r>
              <a:rPr lang="zh-CN" altLang="en-US" sz="2400" dirty="0">
                <a:effectLst>
                  <a:outerShdw blurRad="38100" dist="38100" dir="2700000" algn="tl">
                    <a:srgbClr val="C0C0C0"/>
                  </a:outerShdw>
                </a:effectLst>
              </a:rPr>
              <a:t>中      </a:t>
            </a:r>
            <a:r>
              <a:rPr lang="en-US" altLang="zh-CN" sz="2400" dirty="0">
                <a:effectLst>
                  <a:outerShdw blurRad="38100" dist="38100" dir="2700000" algn="tl">
                    <a:srgbClr val="C0C0C0"/>
                  </a:outerShdw>
                </a:effectLst>
              </a:rPr>
              <a:t>— </a:t>
            </a:r>
            <a:r>
              <a:rPr lang="zh-CN" altLang="en-US" sz="2400" dirty="0">
                <a:effectLst>
                  <a:outerShdw blurRad="38100" dist="38100" dir="2700000" algn="tl">
                    <a:srgbClr val="C0C0C0"/>
                  </a:outerShdw>
                </a:effectLst>
              </a:rPr>
              <a:t>工作频率（</a:t>
            </a:r>
            <a:r>
              <a:rPr lang="en-US" altLang="zh-CN" sz="2400" dirty="0">
                <a:effectLst>
                  <a:outerShdw blurRad="38100" dist="38100" dir="2700000" algn="tl">
                    <a:srgbClr val="C0C0C0"/>
                  </a:outerShdw>
                </a:effectLst>
              </a:rPr>
              <a:t>MHz</a:t>
            </a:r>
            <a:r>
              <a:rPr lang="zh-CN" altLang="en-US" sz="2400" dirty="0">
                <a:effectLst>
                  <a:outerShdw blurRad="38100" dist="38100" dir="2700000" algn="tl">
                    <a:srgbClr val="C0C0C0"/>
                  </a:outerShdw>
                </a:effectLst>
              </a:rPr>
              <a:t>）</a:t>
            </a:r>
            <a:endParaRPr lang="zh-CN" altLang="en-US" sz="2400" dirty="0">
              <a:effectLst>
                <a:outerShdw blurRad="38100" dist="38100" dir="2700000" algn="tl">
                  <a:srgbClr val="C0C0C0"/>
                </a:outerShdw>
              </a:effectLst>
            </a:endParaRPr>
          </a:p>
          <a:p>
            <a:r>
              <a:rPr lang="zh-CN" altLang="en-US" sz="2400" dirty="0">
                <a:effectLst>
                  <a:outerShdw blurRad="38100" dist="38100" dir="2700000" algn="tl">
                    <a:srgbClr val="C0C0C0"/>
                  </a:outerShdw>
                </a:effectLst>
              </a:rPr>
              <a:t>          </a:t>
            </a:r>
            <a:r>
              <a:rPr lang="zh-CN" altLang="en-US" sz="2400" dirty="0" smtClean="0">
                <a:effectLst>
                  <a:outerShdw blurRad="38100" dist="38100" dir="2700000" algn="tl">
                    <a:srgbClr val="C0C0C0"/>
                  </a:outerShdw>
                </a:effectLst>
              </a:rPr>
              <a:t> </a:t>
            </a:r>
            <a:r>
              <a:rPr lang="en-US" altLang="zh-CN" sz="2400" dirty="0">
                <a:effectLst>
                  <a:outerShdw blurRad="38100" dist="38100" dir="2700000" algn="tl">
                    <a:srgbClr val="C0C0C0"/>
                  </a:outerShdw>
                </a:effectLst>
              </a:rPr>
              <a:t>— </a:t>
            </a:r>
            <a:r>
              <a:rPr lang="zh-CN" altLang="en-US" sz="2400" dirty="0">
                <a:effectLst>
                  <a:outerShdw blurRad="38100" dist="38100" dir="2700000" algn="tl">
                    <a:srgbClr val="C0C0C0"/>
                  </a:outerShdw>
                </a:effectLst>
              </a:rPr>
              <a:t>基站天线有效高度（ </a:t>
            </a:r>
            <a:r>
              <a:rPr lang="en-US" altLang="zh-CN" sz="2400" dirty="0">
                <a:effectLst>
                  <a:outerShdw blurRad="38100" dist="38100" dir="2700000" algn="tl">
                    <a:srgbClr val="C0C0C0"/>
                  </a:outerShdw>
                </a:effectLst>
              </a:rPr>
              <a:t>m </a:t>
            </a:r>
            <a:r>
              <a:rPr lang="zh-CN" altLang="en-US" sz="2400" dirty="0">
                <a:effectLst>
                  <a:outerShdw blurRad="38100" dist="38100" dir="2700000" algn="tl">
                    <a:srgbClr val="C0C0C0"/>
                  </a:outerShdw>
                </a:effectLst>
              </a:rPr>
              <a:t>），定义为基站天线实际海拔高度与基 </a:t>
            </a:r>
            <a:r>
              <a:rPr lang="zh-CN" altLang="en-US" sz="2400" dirty="0" smtClean="0">
                <a:effectLst>
                  <a:outerShdw blurRad="38100" dist="38100" dir="2700000" algn="tl">
                    <a:srgbClr val="C0C0C0"/>
                  </a:outerShdw>
                </a:effectLst>
              </a:rPr>
              <a:t>站</a:t>
            </a:r>
            <a:r>
              <a:rPr lang="zh-CN" altLang="en-US" sz="2400" dirty="0">
                <a:effectLst>
                  <a:outerShdw blurRad="38100" dist="38100" dir="2700000" algn="tl">
                    <a:srgbClr val="C0C0C0"/>
                  </a:outerShdw>
                </a:effectLst>
              </a:rPr>
              <a:t>沿传播方向实际距离内的平均地面海波高度之差</a:t>
            </a:r>
            <a:r>
              <a:rPr lang="zh-CN" altLang="en-US" sz="2400" dirty="0" smtClean="0">
                <a:effectLst>
                  <a:outerShdw blurRad="38100" dist="38100" dir="2700000" algn="tl">
                    <a:srgbClr val="C0C0C0"/>
                  </a:outerShdw>
                </a:effectLst>
              </a:rPr>
              <a:t>，</a:t>
            </a:r>
            <a:endParaRPr lang="zh-CN" altLang="en-US" sz="2400" dirty="0">
              <a:effectLst>
                <a:outerShdw blurRad="38100" dist="38100" dir="2700000" algn="tl">
                  <a:srgbClr val="C0C0C0"/>
                </a:outerShdw>
              </a:effectLst>
            </a:endParaRPr>
          </a:p>
          <a:p>
            <a:r>
              <a:rPr lang="zh-CN" altLang="en-US" sz="2400" dirty="0" smtClean="0">
                <a:effectLst>
                  <a:outerShdw blurRad="38100" dist="38100" dir="2700000" algn="tl">
                    <a:srgbClr val="C0C0C0"/>
                  </a:outerShdw>
                </a:effectLst>
              </a:rPr>
              <a:t>            </a:t>
            </a:r>
            <a:r>
              <a:rPr lang="en-US" altLang="zh-CN" sz="2400" dirty="0" smtClean="0">
                <a:effectLst>
                  <a:outerShdw blurRad="38100" dist="38100" dir="2700000" algn="tl">
                    <a:srgbClr val="C0C0C0"/>
                  </a:outerShdw>
                </a:effectLst>
              </a:rPr>
              <a:t>— </a:t>
            </a:r>
            <a:r>
              <a:rPr lang="zh-CN" altLang="en-US" sz="2400" dirty="0">
                <a:effectLst>
                  <a:outerShdw blurRad="38100" dist="38100" dir="2700000" algn="tl">
                    <a:srgbClr val="C0C0C0"/>
                  </a:outerShdw>
                </a:effectLst>
              </a:rPr>
              <a:t>移动台天线有效高度（</a:t>
            </a:r>
            <a:r>
              <a:rPr lang="en-US" altLang="zh-CN" sz="2400" dirty="0">
                <a:effectLst>
                  <a:outerShdw blurRad="38100" dist="38100" dir="2700000" algn="tl">
                    <a:srgbClr val="C0C0C0"/>
                  </a:outerShdw>
                </a:effectLst>
              </a:rPr>
              <a:t>m</a:t>
            </a:r>
            <a:r>
              <a:rPr lang="zh-CN" altLang="en-US" sz="2400" dirty="0">
                <a:effectLst>
                  <a:outerShdw blurRad="38100" dist="38100" dir="2700000" algn="tl">
                    <a:srgbClr val="C0C0C0"/>
                  </a:outerShdw>
                </a:effectLst>
              </a:rPr>
              <a:t>），定义为移动台天线高出地表的高度</a:t>
            </a:r>
            <a:endParaRPr lang="zh-CN" altLang="en-US" sz="2400" dirty="0">
              <a:effectLst>
                <a:outerShdw blurRad="38100" dist="38100" dir="2700000" algn="tl">
                  <a:srgbClr val="C0C0C0"/>
                </a:outerShdw>
              </a:effectLst>
            </a:endParaRPr>
          </a:p>
          <a:p>
            <a:r>
              <a:rPr lang="zh-CN" altLang="en-US" sz="2400" dirty="0">
                <a:effectLst>
                  <a:outerShdw blurRad="38100" dist="38100" dir="2700000" algn="tl">
                    <a:srgbClr val="C0C0C0"/>
                  </a:outerShdw>
                </a:effectLst>
              </a:rPr>
              <a:t>          </a:t>
            </a:r>
            <a:r>
              <a:rPr lang="zh-CN" altLang="en-US" sz="2400" i="1"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 </a:t>
            </a:r>
            <a:r>
              <a:rPr lang="zh-CN" altLang="en-US" sz="2400" dirty="0">
                <a:effectLst>
                  <a:outerShdw blurRad="38100" dist="38100" dir="2700000" algn="tl">
                    <a:srgbClr val="C0C0C0"/>
                  </a:outerShdw>
                </a:effectLst>
              </a:rPr>
              <a:t>基站天线和移动台天线之间的水平距离 （</a:t>
            </a:r>
            <a:r>
              <a:rPr lang="en-US" altLang="zh-CN" sz="2400" dirty="0">
                <a:effectLst>
                  <a:outerShdw blurRad="38100" dist="38100" dir="2700000" algn="tl">
                    <a:srgbClr val="C0C0C0"/>
                  </a:outerShdw>
                </a:effectLst>
              </a:rPr>
              <a:t>km</a:t>
            </a:r>
            <a:r>
              <a:rPr lang="zh-CN" altLang="en-US" sz="2400" dirty="0">
                <a:effectLst>
                  <a:outerShdw blurRad="38100" dist="38100" dir="2700000" algn="tl">
                    <a:srgbClr val="C0C0C0"/>
                  </a:outerShdw>
                </a:effectLst>
              </a:rPr>
              <a:t>）</a:t>
            </a:r>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r>
              <a:rPr lang="zh-CN" altLang="en-US" sz="2400" dirty="0">
                <a:effectLst>
                  <a:outerShdw blurRad="38100" dist="38100" dir="2700000" algn="tl">
                    <a:srgbClr val="C0C0C0"/>
                  </a:outerShdw>
                </a:effectLst>
              </a:rPr>
              <a:t>		</a:t>
            </a:r>
            <a:endParaRPr lang="zh-CN" altLang="en-US" sz="2400" dirty="0">
              <a:effectLst>
                <a:outerShdw blurRad="38100" dist="38100" dir="2700000" algn="tl">
                  <a:srgbClr val="C0C0C0"/>
                </a:outerShdw>
              </a:effectLst>
            </a:endParaRPr>
          </a:p>
          <a:p>
            <a:r>
              <a:rPr lang="zh-CN" altLang="en-US" sz="2400" dirty="0">
                <a:effectLst>
                  <a:outerShdw blurRad="38100" dist="38100" dir="2700000" algn="tl">
                    <a:srgbClr val="C0C0C0"/>
                  </a:outerShdw>
                </a:effectLst>
              </a:rPr>
              <a:t> </a:t>
            </a:r>
            <a:endParaRPr lang="zh-CN" altLang="en-US" sz="2400" dirty="0">
              <a:effectLst>
                <a:outerShdw blurRad="38100" dist="38100" dir="2700000" algn="tl">
                  <a:srgbClr val="C0C0C0"/>
                </a:outerShdw>
              </a:effectLst>
            </a:endParaRPr>
          </a:p>
          <a:p>
            <a:endParaRPr lang="en-US" altLang="zh-CN" sz="2400" dirty="0">
              <a:effectLst>
                <a:outerShdw blurRad="38100" dist="38100" dir="2700000" algn="tl">
                  <a:srgbClr val="C0C0C0"/>
                </a:outerShdw>
              </a:effectLst>
            </a:endParaRPr>
          </a:p>
        </p:txBody>
      </p:sp>
      <p:graphicFrame>
        <p:nvGraphicFramePr>
          <p:cNvPr id="194564" name="Object 4"/>
          <p:cNvGraphicFramePr>
            <a:graphicFrameLocks noChangeAspect="1"/>
          </p:cNvGraphicFramePr>
          <p:nvPr>
            <p:ph sz="quarter" idx="2"/>
          </p:nvPr>
        </p:nvGraphicFramePr>
        <p:xfrm>
          <a:off x="251520" y="1275607"/>
          <a:ext cx="8718582" cy="594977"/>
        </p:xfrm>
        <a:graphic>
          <a:graphicData uri="http://schemas.openxmlformats.org/presentationml/2006/ole">
            <mc:AlternateContent xmlns:mc="http://schemas.openxmlformats.org/markup-compatibility/2006">
              <mc:Choice xmlns:v="urn:schemas-microsoft-com:vml" Requires="v">
                <p:oleObj spid="_x0000_s18433" name="公式" r:id="rId1" imgW="75590400" imgH="10972800" progId="">
                  <p:embed/>
                </p:oleObj>
              </mc:Choice>
              <mc:Fallback>
                <p:oleObj name="公式" r:id="rId1" imgW="75590400" imgH="10972800" progId="">
                  <p:embed/>
                  <p:pic>
                    <p:nvPicPr>
                      <p:cNvPr id="0" name="图片 18432" descr="image51"/>
                      <p:cNvPicPr>
                        <a:picLocks noChangeAspect="1"/>
                      </p:cNvPicPr>
                      <p:nvPr/>
                    </p:nvPicPr>
                    <p:blipFill>
                      <a:blip r:embed="rId2"/>
                      <a:stretch>
                        <a:fillRect/>
                      </a:stretch>
                    </p:blipFill>
                    <p:spPr>
                      <a:xfrm>
                        <a:off x="251520" y="1275607"/>
                        <a:ext cx="8718582" cy="594977"/>
                      </a:xfrm>
                      <a:prstGeom prst="rect">
                        <a:avLst/>
                      </a:prstGeom>
                      <a:solidFill>
                        <a:srgbClr val="FFFFFF"/>
                      </a:solidFill>
                      <a:ln w="9525">
                        <a:noFill/>
                      </a:ln>
                    </p:spPr>
                  </p:pic>
                </p:oleObj>
              </mc:Fallback>
            </mc:AlternateContent>
          </a:graphicData>
        </a:graphic>
      </p:graphicFrame>
      <p:graphicFrame>
        <p:nvGraphicFramePr>
          <p:cNvPr id="194565" name="Object 5"/>
          <p:cNvGraphicFramePr>
            <a:graphicFrameLocks noChangeAspect="1"/>
          </p:cNvGraphicFramePr>
          <p:nvPr>
            <p:ph sz="quarter" idx="3"/>
          </p:nvPr>
        </p:nvGraphicFramePr>
        <p:xfrm>
          <a:off x="1475656" y="1869673"/>
          <a:ext cx="442266" cy="387809"/>
        </p:xfrm>
        <a:graphic>
          <a:graphicData uri="http://schemas.openxmlformats.org/presentationml/2006/ole">
            <mc:AlternateContent xmlns:mc="http://schemas.openxmlformats.org/markup-compatibility/2006">
              <mc:Choice xmlns:v="urn:schemas-microsoft-com:vml" Requires="v">
                <p:oleObj spid="_x0000_s18434" name="公式" r:id="rId3" imgW="3962400" imgH="5486400" progId="">
                  <p:embed/>
                </p:oleObj>
              </mc:Choice>
              <mc:Fallback>
                <p:oleObj name="公式" r:id="rId3" imgW="3962400" imgH="5486400" progId="">
                  <p:embed/>
                  <p:pic>
                    <p:nvPicPr>
                      <p:cNvPr id="0" name="图片 18433" descr="image52"/>
                      <p:cNvPicPr>
                        <a:picLocks noChangeAspect="1"/>
                      </p:cNvPicPr>
                      <p:nvPr/>
                    </p:nvPicPr>
                    <p:blipFill>
                      <a:blip r:embed="rId4"/>
                      <a:stretch>
                        <a:fillRect/>
                      </a:stretch>
                    </p:blipFill>
                    <p:spPr>
                      <a:xfrm>
                        <a:off x="1475656" y="1869673"/>
                        <a:ext cx="442266" cy="387809"/>
                      </a:xfrm>
                      <a:prstGeom prst="rect">
                        <a:avLst/>
                      </a:prstGeom>
                      <a:solidFill>
                        <a:srgbClr val="FFFFFF"/>
                      </a:solidFill>
                      <a:ln w="9525">
                        <a:noFill/>
                      </a:ln>
                    </p:spPr>
                  </p:pic>
                </p:oleObj>
              </mc:Fallback>
            </mc:AlternateContent>
          </a:graphicData>
        </a:graphic>
      </p:graphicFrame>
      <p:graphicFrame>
        <p:nvGraphicFramePr>
          <p:cNvPr id="194566" name="Object 6"/>
          <p:cNvGraphicFramePr>
            <a:graphicFrameLocks noChangeAspect="1"/>
          </p:cNvGraphicFramePr>
          <p:nvPr/>
        </p:nvGraphicFramePr>
        <p:xfrm>
          <a:off x="755576" y="2193708"/>
          <a:ext cx="648072" cy="376666"/>
        </p:xfrm>
        <a:graphic>
          <a:graphicData uri="http://schemas.openxmlformats.org/presentationml/2006/ole">
            <mc:AlternateContent xmlns:mc="http://schemas.openxmlformats.org/markup-compatibility/2006">
              <mc:Choice xmlns:v="urn:schemas-microsoft-com:vml" Requires="v">
                <p:oleObj spid="_x0000_s18435" name="公式" r:id="rId5" imgW="4267200" imgH="5486400" progId="">
                  <p:embed/>
                </p:oleObj>
              </mc:Choice>
              <mc:Fallback>
                <p:oleObj name="公式" r:id="rId5" imgW="4267200" imgH="5486400" progId="">
                  <p:embed/>
                  <p:pic>
                    <p:nvPicPr>
                      <p:cNvPr id="0" name="图片 18434" descr="image53"/>
                      <p:cNvPicPr>
                        <a:picLocks noChangeAspect="1"/>
                      </p:cNvPicPr>
                      <p:nvPr/>
                    </p:nvPicPr>
                    <p:blipFill>
                      <a:blip r:embed="rId6"/>
                      <a:stretch>
                        <a:fillRect/>
                      </a:stretch>
                    </p:blipFill>
                    <p:spPr>
                      <a:xfrm>
                        <a:off x="755576" y="2193708"/>
                        <a:ext cx="648072" cy="376666"/>
                      </a:xfrm>
                      <a:prstGeom prst="rect">
                        <a:avLst/>
                      </a:prstGeom>
                      <a:solidFill>
                        <a:srgbClr val="FFFFFF"/>
                      </a:solidFill>
                      <a:ln w="9525">
                        <a:noFill/>
                      </a:ln>
                    </p:spPr>
                  </p:pic>
                </p:oleObj>
              </mc:Fallback>
            </mc:AlternateContent>
          </a:graphicData>
        </a:graphic>
      </p:graphicFrame>
      <p:graphicFrame>
        <p:nvGraphicFramePr>
          <p:cNvPr id="194567" name="Object 7"/>
          <p:cNvGraphicFramePr>
            <a:graphicFrameLocks noChangeAspect="1"/>
          </p:cNvGraphicFramePr>
          <p:nvPr/>
        </p:nvGraphicFramePr>
        <p:xfrm>
          <a:off x="971600" y="3057804"/>
          <a:ext cx="413048" cy="377856"/>
        </p:xfrm>
        <a:graphic>
          <a:graphicData uri="http://schemas.openxmlformats.org/presentationml/2006/ole">
            <mc:AlternateContent xmlns:mc="http://schemas.openxmlformats.org/markup-compatibility/2006">
              <mc:Choice xmlns:v="urn:schemas-microsoft-com:vml" Requires="v">
                <p:oleObj spid="_x0000_s18436" name="公式" r:id="rId7" imgW="4572000" imgH="5486400" progId="">
                  <p:embed/>
                </p:oleObj>
              </mc:Choice>
              <mc:Fallback>
                <p:oleObj name="公式" r:id="rId7" imgW="4572000" imgH="5486400" progId="">
                  <p:embed/>
                  <p:pic>
                    <p:nvPicPr>
                      <p:cNvPr id="0" name="图片 18435" descr="image54"/>
                      <p:cNvPicPr>
                        <a:picLocks noChangeAspect="1"/>
                      </p:cNvPicPr>
                      <p:nvPr/>
                    </p:nvPicPr>
                    <p:blipFill>
                      <a:blip r:embed="rId8"/>
                      <a:stretch>
                        <a:fillRect/>
                      </a:stretch>
                    </p:blipFill>
                    <p:spPr>
                      <a:xfrm>
                        <a:off x="971600" y="3057804"/>
                        <a:ext cx="413048" cy="377856"/>
                      </a:xfrm>
                      <a:prstGeom prst="rect">
                        <a:avLst/>
                      </a:prstGeom>
                      <a:solidFill>
                        <a:srgbClr val="FFFFFF"/>
                      </a:solidFill>
                      <a:ln w="9525">
                        <a:noFill/>
                      </a:ln>
                    </p:spPr>
                  </p:pic>
                </p:oleObj>
              </mc:Fallback>
            </mc:AlternateContent>
          </a:graphicData>
        </a:graphic>
      </p:graphicFrame>
      <p:graphicFrame>
        <p:nvGraphicFramePr>
          <p:cNvPr id="194573" name="Object 13"/>
          <p:cNvGraphicFramePr>
            <a:graphicFrameLocks noChangeAspect="1"/>
          </p:cNvGraphicFramePr>
          <p:nvPr/>
        </p:nvGraphicFramePr>
        <p:xfrm>
          <a:off x="1259632" y="3651870"/>
          <a:ext cx="451394" cy="431528"/>
        </p:xfrm>
        <a:graphic>
          <a:graphicData uri="http://schemas.openxmlformats.org/presentationml/2006/ole">
            <mc:AlternateContent xmlns:mc="http://schemas.openxmlformats.org/markup-compatibility/2006">
              <mc:Choice xmlns:v="urn:schemas-microsoft-com:vml" Requires="v">
                <p:oleObj spid="_x0000_s18437" name="公式" r:id="rId9" imgW="3352800" imgH="4267200" progId="">
                  <p:embed/>
                </p:oleObj>
              </mc:Choice>
              <mc:Fallback>
                <p:oleObj name="公式" r:id="rId9" imgW="3352800" imgH="4267200" progId="">
                  <p:embed/>
                  <p:pic>
                    <p:nvPicPr>
                      <p:cNvPr id="0" name="图片 18436" descr="image55"/>
                      <p:cNvPicPr>
                        <a:picLocks noChangeAspect="1"/>
                      </p:cNvPicPr>
                      <p:nvPr/>
                    </p:nvPicPr>
                    <p:blipFill>
                      <a:blip r:embed="rId10"/>
                      <a:stretch>
                        <a:fillRect/>
                      </a:stretch>
                    </p:blipFill>
                    <p:spPr>
                      <a:xfrm>
                        <a:off x="1259632" y="3651870"/>
                        <a:ext cx="451394" cy="431528"/>
                      </a:xfrm>
                      <a:prstGeom prst="rect">
                        <a:avLst/>
                      </a:prstGeom>
                      <a:solidFill>
                        <a:srgbClr val="FFFFFF"/>
                      </a:solidFill>
                      <a:ln w="9525">
                        <a:noFill/>
                      </a:ln>
                    </p:spPr>
                  </p:pic>
                </p:oleObj>
              </mc:Fallback>
            </mc:AlternateContent>
          </a:graphicData>
        </a:graphic>
      </p:graphicFrame>
      <p:pic>
        <p:nvPicPr>
          <p:cNvPr id="14" name="图片 13" descr="5bc6fc52-b49d-4298-b410-192e1f0ef3a5.gif"/>
          <p:cNvPicPr>
            <a:picLocks noChangeAspect="1"/>
          </p:cNvPicPr>
          <p:nvPr/>
        </p:nvPicPr>
        <p:blipFill>
          <a:blip r:embed="rId1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blinds(horizontal)">
                                      <p:cBhvr>
                                        <p:cTn id="7" dur="500"/>
                                        <p:tgtEl>
                                          <p:spTgt spid="19456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4563">
                                            <p:txEl>
                                              <p:pRg st="3" end="3"/>
                                            </p:txEl>
                                          </p:spTgt>
                                        </p:tgtEl>
                                        <p:attrNameLst>
                                          <p:attrName>style.visibility</p:attrName>
                                        </p:attrNameLst>
                                      </p:cBhvr>
                                      <p:to>
                                        <p:strVal val="visible"/>
                                      </p:to>
                                    </p:set>
                                    <p:animEffect transition="in" filter="blinds(horizontal)">
                                      <p:cBhvr>
                                        <p:cTn id="10" dur="500"/>
                                        <p:tgtEl>
                                          <p:spTgt spid="194563">
                                            <p:txEl>
                                              <p:pRg st="3" end="3"/>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4563">
                                            <p:txEl>
                                              <p:pRg st="4" end="4"/>
                                            </p:txEl>
                                          </p:spTgt>
                                        </p:tgtEl>
                                        <p:attrNameLst>
                                          <p:attrName>style.visibility</p:attrName>
                                        </p:attrNameLst>
                                      </p:cBhvr>
                                      <p:to>
                                        <p:strVal val="visible"/>
                                      </p:to>
                                    </p:set>
                                    <p:animEffect transition="in" filter="blinds(horizontal)">
                                      <p:cBhvr>
                                        <p:cTn id="13" dur="500"/>
                                        <p:tgtEl>
                                          <p:spTgt spid="194563">
                                            <p:txEl>
                                              <p:pRg st="4" end="4"/>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94563">
                                            <p:txEl>
                                              <p:pRg st="5" end="5"/>
                                            </p:txEl>
                                          </p:spTgt>
                                        </p:tgtEl>
                                        <p:attrNameLst>
                                          <p:attrName>style.visibility</p:attrName>
                                        </p:attrNameLst>
                                      </p:cBhvr>
                                      <p:to>
                                        <p:strVal val="visible"/>
                                      </p:to>
                                    </p:set>
                                    <p:animEffect transition="in" filter="blinds(horizontal)">
                                      <p:cBhvr>
                                        <p:cTn id="16" dur="500"/>
                                        <p:tgtEl>
                                          <p:spTgt spid="194563">
                                            <p:txEl>
                                              <p:pRg st="5" end="5"/>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94563">
                                            <p:txEl>
                                              <p:pRg st="6" end="6"/>
                                            </p:txEl>
                                          </p:spTgt>
                                        </p:tgtEl>
                                        <p:attrNameLst>
                                          <p:attrName>style.visibility</p:attrName>
                                        </p:attrNameLst>
                                      </p:cBhvr>
                                      <p:to>
                                        <p:strVal val="visible"/>
                                      </p:to>
                                    </p:set>
                                    <p:animEffect transition="in" filter="blinds(horizontal)">
                                      <p:cBhvr>
                                        <p:cTn id="19" dur="500"/>
                                        <p:tgtEl>
                                          <p:spTgt spid="194563">
                                            <p:txEl>
                                              <p:pRg st="6" end="6"/>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94563">
                                            <p:txEl>
                                              <p:pRg st="12" end="12"/>
                                            </p:txEl>
                                          </p:spTgt>
                                        </p:tgtEl>
                                        <p:attrNameLst>
                                          <p:attrName>style.visibility</p:attrName>
                                        </p:attrNameLst>
                                      </p:cBhvr>
                                      <p:to>
                                        <p:strVal val="visible"/>
                                      </p:to>
                                    </p:set>
                                    <p:animEffect transition="in" filter="blinds(horizontal)">
                                      <p:cBhvr>
                                        <p:cTn id="22" dur="500"/>
                                        <p:tgtEl>
                                          <p:spTgt spid="194563">
                                            <p:txEl>
                                              <p:pRg st="12" end="12"/>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4563">
                                            <p:txEl>
                                              <p:pRg st="13" end="13"/>
                                            </p:txEl>
                                          </p:spTgt>
                                        </p:tgtEl>
                                        <p:attrNameLst>
                                          <p:attrName>style.visibility</p:attrName>
                                        </p:attrNameLst>
                                      </p:cBhvr>
                                      <p:to>
                                        <p:strVal val="visible"/>
                                      </p:to>
                                    </p:set>
                                    <p:animEffect transition="in" filter="blinds(horizontal)">
                                      <p:cBhvr>
                                        <p:cTn id="25" dur="500"/>
                                        <p:tgtEl>
                                          <p:spTgt spid="194563">
                                            <p:txEl>
                                              <p:pRg st="13" end="13"/>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94564"/>
                                        </p:tgtEl>
                                        <p:attrNameLst>
                                          <p:attrName>style.visibility</p:attrName>
                                        </p:attrNameLst>
                                      </p:cBhvr>
                                      <p:to>
                                        <p:strVal val="visible"/>
                                      </p:to>
                                    </p:set>
                                    <p:animEffect transition="in" filter="blinds(horizontal)">
                                      <p:cBhvr>
                                        <p:cTn id="28" dur="500"/>
                                        <p:tgtEl>
                                          <p:spTgt spid="194564"/>
                                        </p:tgtEl>
                                      </p:cBhvr>
                                    </p:animEffect>
                                  </p:childTnLst>
                                </p:cTn>
                              </p:par>
                              <p:par>
                                <p:cTn id="29" presetID="3" presetClass="entr" presetSubtype="10" fill="hold" nodeType="withEffect">
                                  <p:stCondLst>
                                    <p:cond delay="0"/>
                                  </p:stCondLst>
                                  <p:childTnLst>
                                    <p:set>
                                      <p:cBhvr>
                                        <p:cTn id="30" dur="1" fill="hold">
                                          <p:stCondLst>
                                            <p:cond delay="0"/>
                                          </p:stCondLst>
                                        </p:cTn>
                                        <p:tgtEl>
                                          <p:spTgt spid="194565"/>
                                        </p:tgtEl>
                                        <p:attrNameLst>
                                          <p:attrName>style.visibility</p:attrName>
                                        </p:attrNameLst>
                                      </p:cBhvr>
                                      <p:to>
                                        <p:strVal val="visible"/>
                                      </p:to>
                                    </p:set>
                                    <p:animEffect transition="in" filter="blinds(horizontal)">
                                      <p:cBhvr>
                                        <p:cTn id="31" dur="500"/>
                                        <p:tgtEl>
                                          <p:spTgt spid="194565"/>
                                        </p:tgtEl>
                                      </p:cBhvr>
                                    </p:animEffect>
                                  </p:childTnLst>
                                </p:cTn>
                              </p:par>
                              <p:par>
                                <p:cTn id="32" presetID="3" presetClass="entr" presetSubtype="10" fill="hold" nodeType="withEffect">
                                  <p:stCondLst>
                                    <p:cond delay="0"/>
                                  </p:stCondLst>
                                  <p:childTnLst>
                                    <p:set>
                                      <p:cBhvr>
                                        <p:cTn id="33" dur="1" fill="hold">
                                          <p:stCondLst>
                                            <p:cond delay="0"/>
                                          </p:stCondLst>
                                        </p:cTn>
                                        <p:tgtEl>
                                          <p:spTgt spid="194566"/>
                                        </p:tgtEl>
                                        <p:attrNameLst>
                                          <p:attrName>style.visibility</p:attrName>
                                        </p:attrNameLst>
                                      </p:cBhvr>
                                      <p:to>
                                        <p:strVal val="visible"/>
                                      </p:to>
                                    </p:set>
                                    <p:animEffect transition="in" filter="blinds(horizontal)">
                                      <p:cBhvr>
                                        <p:cTn id="34" dur="500"/>
                                        <p:tgtEl>
                                          <p:spTgt spid="194566"/>
                                        </p:tgtEl>
                                      </p:cBhvr>
                                    </p:animEffect>
                                  </p:childTnLst>
                                </p:cTn>
                              </p:par>
                              <p:par>
                                <p:cTn id="35" presetID="3" presetClass="entr" presetSubtype="10" fill="hold" nodeType="withEffect">
                                  <p:stCondLst>
                                    <p:cond delay="0"/>
                                  </p:stCondLst>
                                  <p:childTnLst>
                                    <p:set>
                                      <p:cBhvr>
                                        <p:cTn id="36" dur="1" fill="hold">
                                          <p:stCondLst>
                                            <p:cond delay="0"/>
                                          </p:stCondLst>
                                        </p:cTn>
                                        <p:tgtEl>
                                          <p:spTgt spid="194567"/>
                                        </p:tgtEl>
                                        <p:attrNameLst>
                                          <p:attrName>style.visibility</p:attrName>
                                        </p:attrNameLst>
                                      </p:cBhvr>
                                      <p:to>
                                        <p:strVal val="visible"/>
                                      </p:to>
                                    </p:set>
                                    <p:animEffect transition="in" filter="blinds(horizontal)">
                                      <p:cBhvr>
                                        <p:cTn id="37" dur="500"/>
                                        <p:tgtEl>
                                          <p:spTgt spid="194567"/>
                                        </p:tgtEl>
                                      </p:cBhvr>
                                    </p:animEffect>
                                  </p:childTnLst>
                                </p:cTn>
                              </p:par>
                              <p:par>
                                <p:cTn id="38" presetID="3" presetClass="entr" presetSubtype="10" fill="hold" nodeType="withEffect">
                                  <p:stCondLst>
                                    <p:cond delay="0"/>
                                  </p:stCondLst>
                                  <p:childTnLst>
                                    <p:set>
                                      <p:cBhvr>
                                        <p:cTn id="39" dur="1" fill="hold">
                                          <p:stCondLst>
                                            <p:cond delay="0"/>
                                          </p:stCondLst>
                                        </p:cTn>
                                        <p:tgtEl>
                                          <p:spTgt spid="194573"/>
                                        </p:tgtEl>
                                        <p:attrNameLst>
                                          <p:attrName>style.visibility</p:attrName>
                                        </p:attrNameLst>
                                      </p:cBhvr>
                                      <p:to>
                                        <p:strVal val="visible"/>
                                      </p:to>
                                    </p:set>
                                    <p:animEffect transition="in" filter="blinds(horizontal)">
                                      <p:cBhvr>
                                        <p:cTn id="40" dur="500"/>
                                        <p:tgtEl>
                                          <p:spTgt spid="194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rrowheads="1"/>
          </p:cNvSpPr>
          <p:nvPr>
            <p:ph type="title"/>
          </p:nvPr>
        </p:nvSpPr>
        <p:spPr>
          <a:xfrm>
            <a:off x="298450" y="202332"/>
            <a:ext cx="8540750" cy="857250"/>
          </a:xfrm>
        </p:spPr>
        <p:txBody>
          <a:bodyPr>
            <a:normAutofit/>
          </a:bodyPr>
          <a:lstStyle/>
          <a:p>
            <a:r>
              <a:rPr lang="en-US" altLang="zh-CN" sz="3600" b="1" dirty="0">
                <a:effectLst>
                  <a:outerShdw blurRad="38100" dist="38100" dir="2700000" algn="tl">
                    <a:srgbClr val="C0C0C0"/>
                  </a:outerShdw>
                </a:effectLst>
              </a:rPr>
              <a:t>Okumura-Hata </a:t>
            </a:r>
            <a:r>
              <a:rPr lang="zh-CN" altLang="en-US" sz="3600" b="1" dirty="0">
                <a:effectLst>
                  <a:outerShdw blurRad="38100" dist="38100" dir="2700000" algn="tl">
                    <a:srgbClr val="C0C0C0"/>
                  </a:outerShdw>
                </a:effectLst>
              </a:rPr>
              <a:t>模型</a:t>
            </a:r>
            <a:endParaRPr lang="zh-CN" altLang="en-US" sz="3600" b="1" dirty="0">
              <a:effectLst>
                <a:outerShdw blurRad="38100" dist="38100" dir="2700000" algn="tl">
                  <a:srgbClr val="C0C0C0"/>
                </a:outerShdw>
              </a:effectLst>
            </a:endParaRPr>
          </a:p>
        </p:txBody>
      </p:sp>
      <p:sp>
        <p:nvSpPr>
          <p:cNvPr id="194563" name="Rectangle 3"/>
          <p:cNvSpPr>
            <a:spLocks noGrp="1" noRot="1" noChangeArrowheads="1"/>
          </p:cNvSpPr>
          <p:nvPr>
            <p:ph type="body" sz="half" idx="1"/>
          </p:nvPr>
        </p:nvSpPr>
        <p:spPr>
          <a:xfrm>
            <a:off x="323850" y="953244"/>
            <a:ext cx="8305800" cy="2914650"/>
          </a:xfrm>
        </p:spPr>
        <p:txBody>
          <a:bodyPr>
            <a:noAutofit/>
          </a:bodyPr>
          <a:lstStyle/>
          <a:p>
            <a:r>
              <a:rPr lang="zh-CN" altLang="en-US" sz="2400" dirty="0">
                <a:effectLst>
                  <a:outerShdw blurRad="38100" dist="38100" dir="2700000" algn="tl">
                    <a:srgbClr val="C0C0C0"/>
                  </a:outerShdw>
                </a:effectLst>
              </a:rPr>
              <a:t>路径损耗计算的经验公</a:t>
            </a:r>
            <a:r>
              <a:rPr lang="zh-CN" altLang="en-US" sz="2400" dirty="0" smtClean="0">
                <a:effectLst>
                  <a:outerShdw blurRad="38100" dist="38100" dir="2700000" algn="tl">
                    <a:srgbClr val="C0C0C0"/>
                  </a:outerShdw>
                </a:effectLst>
              </a:rPr>
              <a:t>式</a:t>
            </a:r>
            <a:endParaRPr lang="en-US" altLang="zh-CN" sz="2400" dirty="0" smtClean="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endParaRPr lang="zh-CN" altLang="en-US" sz="2400" dirty="0">
              <a:effectLst>
                <a:outerShdw blurRad="38100" dist="38100" dir="2700000" algn="tl">
                  <a:srgbClr val="C0C0C0"/>
                </a:outerShdw>
              </a:effectLst>
            </a:endParaRPr>
          </a:p>
          <a:p>
            <a:pPr>
              <a:buNone/>
            </a:pPr>
            <a:r>
              <a:rPr lang="zh-CN" altLang="en-US" sz="2400" dirty="0" smtClean="0">
                <a:effectLst>
                  <a:outerShdw blurRad="38100" dist="38100" dir="2700000" algn="tl">
                    <a:srgbClr val="C0C0C0"/>
                  </a:outerShdw>
                </a:effectLst>
              </a:rPr>
              <a:t> </a:t>
            </a:r>
            <a:r>
              <a:rPr lang="en-US" altLang="zh-CN" sz="2400" dirty="0" smtClean="0">
                <a:effectLst>
                  <a:outerShdw blurRad="38100" dist="38100" dir="2700000" algn="tl">
                    <a:srgbClr val="C0C0C0"/>
                  </a:outerShdw>
                </a:effectLst>
              </a:rPr>
              <a:t>— </a:t>
            </a:r>
            <a:r>
              <a:rPr lang="zh-CN" altLang="en-US" sz="2400" dirty="0" smtClean="0">
                <a:effectLst>
                  <a:outerShdw blurRad="38100" dist="38100" dir="2700000" algn="tl">
                    <a:srgbClr val="C0C0C0"/>
                  </a:outerShdw>
                </a:effectLst>
              </a:rPr>
              <a:t>小区</a:t>
            </a:r>
            <a:r>
              <a:rPr lang="zh-CN" altLang="en-US" sz="2400" dirty="0">
                <a:effectLst>
                  <a:outerShdw blurRad="38100" dist="38100" dir="2700000" algn="tl">
                    <a:srgbClr val="C0C0C0"/>
                  </a:outerShdw>
                </a:effectLst>
              </a:rPr>
              <a:t>类型校正因</a:t>
            </a:r>
            <a:r>
              <a:rPr lang="zh-CN" altLang="en-US" sz="2400" dirty="0" smtClean="0">
                <a:effectLst>
                  <a:outerShdw blurRad="38100" dist="38100" dir="2700000" algn="tl">
                    <a:srgbClr val="C0C0C0"/>
                  </a:outerShdw>
                </a:effectLst>
              </a:rPr>
              <a:t>子</a:t>
            </a:r>
            <a:endParaRPr lang="en-US" altLang="zh-CN" sz="2400" dirty="0" smtClean="0">
              <a:effectLst>
                <a:outerShdw blurRad="38100" dist="38100" dir="2700000" algn="tl">
                  <a:srgbClr val="C0C0C0"/>
                </a:outerShdw>
              </a:effectLst>
            </a:endParaRPr>
          </a:p>
          <a:p>
            <a:endParaRPr lang="en-US" altLang="zh-CN" sz="2400" dirty="0" smtClean="0">
              <a:effectLst>
                <a:outerShdw blurRad="38100" dist="38100" dir="2700000" algn="tl">
                  <a:srgbClr val="C0C0C0"/>
                </a:outerShdw>
              </a:effectLst>
            </a:endParaRPr>
          </a:p>
          <a:p>
            <a:endParaRPr lang="en-US" altLang="zh-CN" sz="2400" dirty="0" smtClean="0">
              <a:effectLst>
                <a:outerShdw blurRad="38100" dist="38100" dir="2700000" algn="tl">
                  <a:srgbClr val="C0C0C0"/>
                </a:outerShdw>
              </a:effectLst>
            </a:endParaRPr>
          </a:p>
          <a:p>
            <a:pPr>
              <a:buNone/>
            </a:pPr>
            <a:r>
              <a:rPr lang="zh-CN" altLang="en-US" sz="2400" dirty="0" smtClean="0">
                <a:effectLst>
                  <a:outerShdw blurRad="38100" dist="38100" dir="2700000" algn="tl">
                    <a:srgbClr val="C0C0C0"/>
                  </a:outerShdw>
                </a:effectLst>
              </a:rPr>
              <a:t> </a:t>
            </a:r>
            <a:r>
              <a:rPr lang="en-US" altLang="zh-CN" sz="2400" dirty="0" smtClean="0">
                <a:effectLst>
                  <a:outerShdw blurRad="38100" dist="38100" dir="2700000" algn="tl">
                    <a:srgbClr val="C0C0C0"/>
                  </a:outerShdw>
                </a:effectLst>
              </a:rPr>
              <a:t>— </a:t>
            </a:r>
            <a:r>
              <a:rPr lang="zh-CN" altLang="en-US" sz="2400" dirty="0">
                <a:effectLst>
                  <a:outerShdw blurRad="38100" dist="38100" dir="2700000" algn="tl">
                    <a:srgbClr val="C0C0C0"/>
                  </a:outerShdw>
                </a:effectLst>
              </a:rPr>
              <a:t>地形校正因子，反映一些重要的地形环境因素对路径损耗的影响 </a:t>
            </a:r>
            <a:endParaRPr lang="zh-CN" altLang="en-US" sz="2400" dirty="0">
              <a:effectLst>
                <a:outerShdw blurRad="38100" dist="38100" dir="2700000" algn="tl">
                  <a:srgbClr val="C0C0C0"/>
                </a:outerShdw>
              </a:effectLst>
            </a:endParaRPr>
          </a:p>
          <a:p>
            <a:endParaRPr lang="en-US" altLang="zh-CN" sz="2400" dirty="0">
              <a:effectLst>
                <a:outerShdw blurRad="38100" dist="38100" dir="2700000" algn="tl">
                  <a:srgbClr val="C0C0C0"/>
                </a:outerShdw>
              </a:effectLst>
            </a:endParaRPr>
          </a:p>
        </p:txBody>
      </p:sp>
      <p:graphicFrame>
        <p:nvGraphicFramePr>
          <p:cNvPr id="194569" name="Object 9"/>
          <p:cNvGraphicFramePr>
            <a:graphicFrameLocks noChangeAspect="1"/>
          </p:cNvGraphicFramePr>
          <p:nvPr/>
        </p:nvGraphicFramePr>
        <p:xfrm>
          <a:off x="0" y="2643758"/>
          <a:ext cx="8641830" cy="900099"/>
        </p:xfrm>
        <a:graphic>
          <a:graphicData uri="http://schemas.openxmlformats.org/presentationml/2006/ole">
            <mc:AlternateContent xmlns:mc="http://schemas.openxmlformats.org/markup-compatibility/2006">
              <mc:Choice xmlns:v="urn:schemas-microsoft-com:vml" Requires="v">
                <p:oleObj spid="_x0000_s19457" name="公式" r:id="rId1" imgW="117348000" imgH="17068800" progId="">
                  <p:embed/>
                </p:oleObj>
              </mc:Choice>
              <mc:Fallback>
                <p:oleObj name="公式" r:id="rId1" imgW="117348000" imgH="17068800" progId="">
                  <p:embed/>
                  <p:pic>
                    <p:nvPicPr>
                      <p:cNvPr id="0" name="图片 19456" descr="image56"/>
                      <p:cNvPicPr>
                        <a:picLocks noChangeAspect="1"/>
                      </p:cNvPicPr>
                      <p:nvPr/>
                    </p:nvPicPr>
                    <p:blipFill>
                      <a:blip r:embed="rId2"/>
                      <a:stretch>
                        <a:fillRect/>
                      </a:stretch>
                    </p:blipFill>
                    <p:spPr>
                      <a:xfrm>
                        <a:off x="0" y="2643758"/>
                        <a:ext cx="8641830" cy="900099"/>
                      </a:xfrm>
                      <a:prstGeom prst="rect">
                        <a:avLst/>
                      </a:prstGeom>
                      <a:solidFill>
                        <a:srgbClr val="FFFFFF"/>
                      </a:solidFill>
                      <a:ln w="9525">
                        <a:noFill/>
                      </a:ln>
                    </p:spPr>
                  </p:pic>
                </p:oleObj>
              </mc:Fallback>
            </mc:AlternateContent>
          </a:graphicData>
        </a:graphic>
      </p:graphicFrame>
      <p:graphicFrame>
        <p:nvGraphicFramePr>
          <p:cNvPr id="194571" name="Object 11"/>
          <p:cNvGraphicFramePr>
            <a:graphicFrameLocks noChangeAspect="1"/>
          </p:cNvGraphicFramePr>
          <p:nvPr/>
        </p:nvGraphicFramePr>
        <p:xfrm>
          <a:off x="395536" y="4011910"/>
          <a:ext cx="8538537" cy="965640"/>
        </p:xfrm>
        <a:graphic>
          <a:graphicData uri="http://schemas.openxmlformats.org/presentationml/2006/ole">
            <mc:AlternateContent xmlns:mc="http://schemas.openxmlformats.org/markup-compatibility/2006">
              <mc:Choice xmlns:v="urn:schemas-microsoft-com:vml" Requires="v">
                <p:oleObj spid="_x0000_s19458" name="公式" r:id="rId3" imgW="78028800" imgH="17068800" progId="">
                  <p:embed/>
                </p:oleObj>
              </mc:Choice>
              <mc:Fallback>
                <p:oleObj name="公式" r:id="rId3" imgW="78028800" imgH="17068800" progId="">
                  <p:embed/>
                  <p:pic>
                    <p:nvPicPr>
                      <p:cNvPr id="0" name="图片 19457" descr="image57"/>
                      <p:cNvPicPr>
                        <a:picLocks noChangeAspect="1"/>
                      </p:cNvPicPr>
                      <p:nvPr/>
                    </p:nvPicPr>
                    <p:blipFill>
                      <a:blip r:embed="rId4"/>
                      <a:stretch>
                        <a:fillRect/>
                      </a:stretch>
                    </p:blipFill>
                    <p:spPr>
                      <a:xfrm>
                        <a:off x="395536" y="4011910"/>
                        <a:ext cx="8538537" cy="965640"/>
                      </a:xfrm>
                      <a:prstGeom prst="rect">
                        <a:avLst/>
                      </a:prstGeom>
                      <a:solidFill>
                        <a:srgbClr val="FFFFFF"/>
                      </a:solidFill>
                      <a:ln w="9525">
                        <a:noFill/>
                      </a:ln>
                    </p:spPr>
                  </p:pic>
                </p:oleObj>
              </mc:Fallback>
            </mc:AlternateContent>
          </a:graphicData>
        </a:graphic>
      </p:graphicFrame>
      <p:pic>
        <p:nvPicPr>
          <p:cNvPr id="14" name="图片 13" descr="5bc6fc52-b49d-4298-b410-192e1f0ef3a5.gif"/>
          <p:cNvPicPr>
            <a:picLocks noChangeAspect="1"/>
          </p:cNvPicPr>
          <p:nvPr/>
        </p:nvPicPr>
        <p:blipFill>
          <a:blip r:embed="rId5" cstate="print"/>
          <a:srcRect l="14589" t="33821" r="11138" b="38327"/>
          <a:stretch>
            <a:fillRect/>
          </a:stretch>
        </p:blipFill>
        <p:spPr>
          <a:xfrm>
            <a:off x="0" y="0"/>
            <a:ext cx="2592288" cy="486054"/>
          </a:xfrm>
          <a:prstGeom prst="rect">
            <a:avLst/>
          </a:prstGeom>
        </p:spPr>
      </p:pic>
      <p:graphicFrame>
        <p:nvGraphicFramePr>
          <p:cNvPr id="303116" name="Object 12"/>
          <p:cNvGraphicFramePr>
            <a:graphicFrameLocks noChangeAspect="1"/>
          </p:cNvGraphicFramePr>
          <p:nvPr/>
        </p:nvGraphicFramePr>
        <p:xfrm>
          <a:off x="250825" y="1472381"/>
          <a:ext cx="8718550" cy="595313"/>
        </p:xfrm>
        <a:graphic>
          <a:graphicData uri="http://schemas.openxmlformats.org/presentationml/2006/ole">
            <mc:AlternateContent xmlns:mc="http://schemas.openxmlformats.org/markup-compatibility/2006">
              <mc:Choice xmlns:v="urn:schemas-microsoft-com:vml" Requires="v">
                <p:oleObj spid="_x0000_s19459" name="公式" r:id="rId6" imgW="75590400" imgH="10972800" progId="">
                  <p:embed/>
                </p:oleObj>
              </mc:Choice>
              <mc:Fallback>
                <p:oleObj name="公式" r:id="rId6" imgW="75590400" imgH="10972800" progId="">
                  <p:embed/>
                  <p:pic>
                    <p:nvPicPr>
                      <p:cNvPr id="0" name="图片 19458" descr="image51"/>
                      <p:cNvPicPr>
                        <a:picLocks noChangeAspect="1"/>
                      </p:cNvPicPr>
                      <p:nvPr/>
                    </p:nvPicPr>
                    <p:blipFill>
                      <a:blip r:embed="rId7"/>
                      <a:stretch>
                        <a:fillRect/>
                      </a:stretch>
                    </p:blipFill>
                    <p:spPr>
                      <a:xfrm>
                        <a:off x="250825" y="1472381"/>
                        <a:ext cx="8718550" cy="595313"/>
                      </a:xfrm>
                      <a:prstGeom prst="rect">
                        <a:avLst/>
                      </a:prstGeom>
                      <a:solidFill>
                        <a:srgbClr val="FFFFFF"/>
                      </a:solidFill>
                      <a:ln w="9525">
                        <a:noFill/>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blinds(horizontal)">
                                      <p:cBhvr>
                                        <p:cTn id="7" dur="500"/>
                                        <p:tgtEl>
                                          <p:spTgt spid="19456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4563">
                                            <p:txEl>
                                              <p:pRg st="3" end="3"/>
                                            </p:txEl>
                                          </p:spTgt>
                                        </p:tgtEl>
                                        <p:attrNameLst>
                                          <p:attrName>style.visibility</p:attrName>
                                        </p:attrNameLst>
                                      </p:cBhvr>
                                      <p:to>
                                        <p:strVal val="visible"/>
                                      </p:to>
                                    </p:set>
                                    <p:animEffect transition="in" filter="blinds(horizontal)">
                                      <p:cBhvr>
                                        <p:cTn id="10" dur="500"/>
                                        <p:tgtEl>
                                          <p:spTgt spid="194563">
                                            <p:txEl>
                                              <p:pRg st="3" end="3"/>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4563">
                                            <p:txEl>
                                              <p:pRg st="6" end="6"/>
                                            </p:txEl>
                                          </p:spTgt>
                                        </p:tgtEl>
                                        <p:attrNameLst>
                                          <p:attrName>style.visibility</p:attrName>
                                        </p:attrNameLst>
                                      </p:cBhvr>
                                      <p:to>
                                        <p:strVal val="visible"/>
                                      </p:to>
                                    </p:set>
                                    <p:animEffect transition="in" filter="blinds(horizontal)">
                                      <p:cBhvr>
                                        <p:cTn id="13" dur="500"/>
                                        <p:tgtEl>
                                          <p:spTgt spid="19456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4569"/>
                                        </p:tgtEl>
                                        <p:attrNameLst>
                                          <p:attrName>style.visibility</p:attrName>
                                        </p:attrNameLst>
                                      </p:cBhvr>
                                      <p:to>
                                        <p:strVal val="visible"/>
                                      </p:to>
                                    </p:set>
                                    <p:animEffect transition="in" filter="blinds(horizontal)">
                                      <p:cBhvr>
                                        <p:cTn id="16" dur="500"/>
                                        <p:tgtEl>
                                          <p:spTgt spid="194569"/>
                                        </p:tgtEl>
                                      </p:cBhvr>
                                    </p:animEffect>
                                  </p:childTnLst>
                                </p:cTn>
                              </p:par>
                              <p:par>
                                <p:cTn id="17" presetID="3" presetClass="entr" presetSubtype="10" fill="hold" nodeType="withEffect">
                                  <p:stCondLst>
                                    <p:cond delay="0"/>
                                  </p:stCondLst>
                                  <p:childTnLst>
                                    <p:set>
                                      <p:cBhvr>
                                        <p:cTn id="18" dur="1" fill="hold">
                                          <p:stCondLst>
                                            <p:cond delay="0"/>
                                          </p:stCondLst>
                                        </p:cTn>
                                        <p:tgtEl>
                                          <p:spTgt spid="194571"/>
                                        </p:tgtEl>
                                        <p:attrNameLst>
                                          <p:attrName>style.visibility</p:attrName>
                                        </p:attrNameLst>
                                      </p:cBhvr>
                                      <p:to>
                                        <p:strVal val="visible"/>
                                      </p:to>
                                    </p:set>
                                    <p:animEffect transition="in" filter="blinds(horizontal)">
                                      <p:cBhvr>
                                        <p:cTn id="19" dur="500"/>
                                        <p:tgtEl>
                                          <p:spTgt spid="194571"/>
                                        </p:tgtEl>
                                      </p:cBhvr>
                                    </p:animEffect>
                                  </p:childTnLst>
                                </p:cTn>
                              </p:par>
                              <p:par>
                                <p:cTn id="20" presetID="3" presetClass="entr" presetSubtype="10" fill="hold" nodeType="withEffect">
                                  <p:stCondLst>
                                    <p:cond delay="0"/>
                                  </p:stCondLst>
                                  <p:childTnLst>
                                    <p:set>
                                      <p:cBhvr>
                                        <p:cTn id="21" dur="1" fill="hold">
                                          <p:stCondLst>
                                            <p:cond delay="0"/>
                                          </p:stCondLst>
                                        </p:cTn>
                                        <p:tgtEl>
                                          <p:spTgt spid="303116"/>
                                        </p:tgtEl>
                                        <p:attrNameLst>
                                          <p:attrName>style.visibility</p:attrName>
                                        </p:attrNameLst>
                                      </p:cBhvr>
                                      <p:to>
                                        <p:strVal val="visible"/>
                                      </p:to>
                                    </p:set>
                                    <p:animEffect transition="in" filter="blinds(horizontal)">
                                      <p:cBhvr>
                                        <p:cTn id="22" dur="500"/>
                                        <p:tgtEl>
                                          <p:spTgt spid="303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rrowheads="1"/>
          </p:cNvSpPr>
          <p:nvPr>
            <p:ph type="title"/>
          </p:nvPr>
        </p:nvSpPr>
        <p:spPr>
          <a:xfrm>
            <a:off x="298450" y="411510"/>
            <a:ext cx="8161982" cy="617190"/>
          </a:xfrm>
        </p:spPr>
        <p:txBody>
          <a:bodyPr>
            <a:normAutofit fontScale="90000"/>
          </a:bodyPr>
          <a:lstStyle/>
          <a:p>
            <a:r>
              <a:rPr lang="en-US" altLang="zh-CN" b="1" dirty="0">
                <a:effectLst>
                  <a:outerShdw blurRad="38100" dist="38100" dir="2700000" algn="tl">
                    <a:srgbClr val="C0C0C0"/>
                  </a:outerShdw>
                </a:effectLst>
              </a:rPr>
              <a:t>COST-231 Hata</a:t>
            </a:r>
            <a:r>
              <a:rPr lang="zh-CN" altLang="en-US" b="1" dirty="0">
                <a:effectLst>
                  <a:outerShdw blurRad="38100" dist="38100" dir="2700000" algn="tl">
                    <a:srgbClr val="C0C0C0"/>
                  </a:outerShdw>
                </a:effectLst>
              </a:rPr>
              <a:t>模型</a:t>
            </a:r>
            <a:endParaRPr lang="zh-CN" altLang="en-US" b="1" dirty="0">
              <a:effectLst>
                <a:outerShdw blurRad="38100" dist="38100" dir="2700000" algn="tl">
                  <a:srgbClr val="C0C0C0"/>
                </a:outerShdw>
              </a:effectLst>
            </a:endParaRPr>
          </a:p>
        </p:txBody>
      </p:sp>
      <p:sp>
        <p:nvSpPr>
          <p:cNvPr id="195587" name="Rectangle 3"/>
          <p:cNvSpPr>
            <a:spLocks noGrp="1" noRot="1" noChangeArrowheads="1"/>
          </p:cNvSpPr>
          <p:nvPr>
            <p:ph type="body" sz="half" idx="1"/>
          </p:nvPr>
        </p:nvSpPr>
        <p:spPr>
          <a:xfrm>
            <a:off x="395289" y="844154"/>
            <a:ext cx="8529637" cy="4103860"/>
          </a:xfrm>
        </p:spPr>
        <p:txBody>
          <a:bodyPr>
            <a:noAutofit/>
          </a:bodyPr>
          <a:lstStyle/>
          <a:p>
            <a:pPr marL="36195">
              <a:lnSpc>
                <a:spcPct val="150000"/>
              </a:lnSpc>
              <a:spcBef>
                <a:spcPts val="0"/>
              </a:spcBef>
            </a:pPr>
            <a:r>
              <a:rPr lang="zh-CN" altLang="en-US" sz="2200" dirty="0">
                <a:latin typeface="宋体" panose="02010600030101010101" pitchFamily="2" charset="-122"/>
                <a:ea typeface="宋体" panose="02010600030101010101" pitchFamily="2" charset="-122"/>
              </a:rPr>
              <a:t>路径损耗计算的经验公式</a:t>
            </a:r>
            <a:endParaRPr lang="zh-CN" altLang="en-US" sz="2200" dirty="0">
              <a:latin typeface="宋体" panose="02010600030101010101" pitchFamily="2" charset="-122"/>
              <a:ea typeface="宋体" panose="02010600030101010101" pitchFamily="2" charset="-122"/>
            </a:endParaRPr>
          </a:p>
          <a:p>
            <a:pPr marL="36195">
              <a:lnSpc>
                <a:spcPct val="150000"/>
              </a:lnSpc>
              <a:spcBef>
                <a:spcPts val="0"/>
              </a:spcBef>
            </a:pPr>
            <a:endParaRPr lang="zh-CN" altLang="en-US" sz="2200" dirty="0">
              <a:latin typeface="宋体" panose="02010600030101010101" pitchFamily="2" charset="-122"/>
              <a:ea typeface="宋体" panose="02010600030101010101" pitchFamily="2" charset="-122"/>
            </a:endParaRPr>
          </a:p>
          <a:p>
            <a:pPr marL="36195">
              <a:lnSpc>
                <a:spcPct val="150000"/>
              </a:lnSpc>
              <a:spcBef>
                <a:spcPts val="0"/>
              </a:spcBef>
              <a:buNone/>
            </a:pPr>
            <a:endParaRPr lang="en-US" altLang="zh-CN" sz="2200" dirty="0" smtClean="0">
              <a:latin typeface="宋体" panose="02010600030101010101" pitchFamily="2" charset="-122"/>
              <a:ea typeface="宋体" panose="02010600030101010101" pitchFamily="2" charset="-122"/>
            </a:endParaRPr>
          </a:p>
          <a:p>
            <a:pPr marL="36195">
              <a:lnSpc>
                <a:spcPct val="150000"/>
              </a:lnSpc>
              <a:spcBef>
                <a:spcPts val="0"/>
              </a:spcBef>
              <a:buNone/>
            </a:pPr>
            <a:r>
              <a:rPr lang="zh-CN" altLang="en-US" sz="2200" dirty="0" smtClean="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式</a:t>
            </a:r>
            <a:r>
              <a:rPr lang="zh-CN" altLang="en-US" sz="2200" dirty="0" smtClean="0">
                <a:latin typeface="宋体" panose="02010600030101010101" pitchFamily="2" charset="-122"/>
                <a:ea typeface="宋体" panose="02010600030101010101" pitchFamily="2" charset="-122"/>
              </a:rPr>
              <a:t>中</a:t>
            </a:r>
            <a:endParaRPr lang="en-US" altLang="zh-CN" sz="2200" dirty="0" smtClean="0">
              <a:latin typeface="宋体" panose="02010600030101010101" pitchFamily="2" charset="-122"/>
              <a:ea typeface="宋体" panose="02010600030101010101" pitchFamily="2" charset="-122"/>
            </a:endParaRPr>
          </a:p>
          <a:p>
            <a:pPr marL="36195">
              <a:lnSpc>
                <a:spcPct val="150000"/>
              </a:lnSpc>
              <a:spcBef>
                <a:spcPts val="0"/>
              </a:spcBef>
            </a:pPr>
            <a:r>
              <a:rPr lang="zh-CN" altLang="en-US" sz="2200" dirty="0" smtClean="0">
                <a:latin typeface="宋体" panose="02010600030101010101" pitchFamily="2" charset="-122"/>
                <a:ea typeface="宋体" panose="02010600030101010101" pitchFamily="2" charset="-122"/>
              </a:rPr>
              <a:t>两</a:t>
            </a:r>
            <a:r>
              <a:rPr lang="zh-CN" altLang="en-US" sz="2200" dirty="0">
                <a:latin typeface="宋体" panose="02010600030101010101" pitchFamily="2" charset="-122"/>
                <a:ea typeface="宋体" panose="02010600030101010101" pitchFamily="2" charset="-122"/>
              </a:rPr>
              <a:t>种</a:t>
            </a:r>
            <a:r>
              <a:rPr lang="en-US" altLang="zh-CN" sz="2200" dirty="0">
                <a:latin typeface="宋体" panose="02010600030101010101" pitchFamily="2" charset="-122"/>
                <a:ea typeface="宋体" panose="02010600030101010101" pitchFamily="2" charset="-122"/>
              </a:rPr>
              <a:t>Hata</a:t>
            </a:r>
            <a:r>
              <a:rPr lang="zh-CN" altLang="en-US" sz="2200" dirty="0">
                <a:latin typeface="宋体" panose="02010600030101010101" pitchFamily="2" charset="-122"/>
                <a:ea typeface="宋体" panose="02010600030101010101" pitchFamily="2" charset="-122"/>
              </a:rPr>
              <a:t>模型的主要区别</a:t>
            </a:r>
            <a:endParaRPr lang="zh-CN" altLang="en-US" sz="2200" dirty="0">
              <a:latin typeface="宋体" panose="02010600030101010101" pitchFamily="2" charset="-122"/>
              <a:ea typeface="宋体" panose="02010600030101010101" pitchFamily="2" charset="-122"/>
            </a:endParaRPr>
          </a:p>
          <a:p>
            <a:pPr marL="36195" lvl="1">
              <a:lnSpc>
                <a:spcPct val="150000"/>
              </a:lnSpc>
              <a:spcBef>
                <a:spcPts val="0"/>
              </a:spcBef>
            </a:pPr>
            <a:r>
              <a:rPr lang="zh-CN" altLang="en-US" sz="2200" dirty="0">
                <a:latin typeface="宋体" panose="02010600030101010101" pitchFamily="2" charset="-122"/>
                <a:ea typeface="宋体" panose="02010600030101010101" pitchFamily="2" charset="-122"/>
              </a:rPr>
              <a:t>频率</a:t>
            </a:r>
            <a:r>
              <a:rPr lang="zh-CN" altLang="en-US" sz="2200" u="sng" dirty="0">
                <a:latin typeface="宋体" panose="02010600030101010101" pitchFamily="2" charset="-122"/>
                <a:ea typeface="宋体" panose="02010600030101010101" pitchFamily="2" charset="-122"/>
              </a:rPr>
              <a:t>衰减系数</a:t>
            </a:r>
            <a:r>
              <a:rPr lang="zh-CN" altLang="en-US" sz="2200" dirty="0">
                <a:latin typeface="宋体" panose="02010600030101010101" pitchFamily="2" charset="-122"/>
                <a:ea typeface="宋体" panose="02010600030101010101" pitchFamily="2" charset="-122"/>
              </a:rPr>
              <a:t>不</a:t>
            </a:r>
            <a:r>
              <a:rPr lang="zh-CN" altLang="en-US" sz="2200" dirty="0" smtClean="0">
                <a:latin typeface="宋体" panose="02010600030101010101" pitchFamily="2" charset="-122"/>
                <a:ea typeface="宋体" panose="02010600030101010101" pitchFamily="2" charset="-122"/>
              </a:rPr>
              <a:t>同，</a:t>
            </a:r>
            <a:r>
              <a:rPr lang="en-US" altLang="zh-CN" sz="2200" dirty="0" smtClean="0">
                <a:latin typeface="宋体" panose="02010600030101010101" pitchFamily="2" charset="-122"/>
                <a:ea typeface="宋体" panose="02010600030101010101" pitchFamily="2" charset="-122"/>
              </a:rPr>
              <a:t>COST-231Hata</a:t>
            </a:r>
            <a:r>
              <a:rPr lang="zh-CN" altLang="en-US" sz="2200" dirty="0">
                <a:latin typeface="宋体" panose="02010600030101010101" pitchFamily="2" charset="-122"/>
                <a:ea typeface="宋体" panose="02010600030101010101" pitchFamily="2" charset="-122"/>
              </a:rPr>
              <a:t>模型频率衰减因子为</a:t>
            </a:r>
            <a:r>
              <a:rPr lang="en-US" altLang="zh-CN" sz="2200" dirty="0" smtClean="0">
                <a:latin typeface="宋体" panose="02010600030101010101" pitchFamily="2" charset="-122"/>
                <a:ea typeface="宋体" panose="02010600030101010101" pitchFamily="2" charset="-122"/>
              </a:rPr>
              <a:t>33.9</a:t>
            </a:r>
            <a:r>
              <a:rPr lang="zh-CN" altLang="en-US" sz="2200" dirty="0" smtClean="0">
                <a:latin typeface="宋体" panose="02010600030101010101" pitchFamily="2" charset="-122"/>
                <a:ea typeface="宋体" panose="02010600030101010101" pitchFamily="2" charset="-122"/>
              </a:rPr>
              <a:t>；</a:t>
            </a:r>
            <a:r>
              <a:rPr lang="en-US" altLang="zh-CN" sz="2200" dirty="0" smtClean="0">
                <a:latin typeface="宋体" panose="02010600030101010101" pitchFamily="2" charset="-122"/>
                <a:ea typeface="宋体" panose="02010600030101010101" pitchFamily="2" charset="-122"/>
              </a:rPr>
              <a:t>Okumura-Hata</a:t>
            </a:r>
            <a:r>
              <a:rPr lang="zh-CN" altLang="en-US" sz="2200" dirty="0">
                <a:latin typeface="宋体" panose="02010600030101010101" pitchFamily="2" charset="-122"/>
                <a:ea typeface="宋体" panose="02010600030101010101" pitchFamily="2" charset="-122"/>
              </a:rPr>
              <a:t>模型的频率衰减因子为</a:t>
            </a:r>
            <a:r>
              <a:rPr lang="en-US" altLang="zh-CN" sz="2200" dirty="0" smtClean="0">
                <a:latin typeface="宋体" panose="02010600030101010101" pitchFamily="2" charset="-122"/>
                <a:ea typeface="宋体" panose="02010600030101010101" pitchFamily="2" charset="-122"/>
              </a:rPr>
              <a:t>26.16</a:t>
            </a:r>
            <a:r>
              <a:rPr lang="zh-CN" altLang="en-US" sz="2200" dirty="0" smtClean="0">
                <a:latin typeface="宋体" panose="02010600030101010101" pitchFamily="2" charset="-122"/>
                <a:ea typeface="宋体" panose="02010600030101010101" pitchFamily="2" charset="-122"/>
              </a:rPr>
              <a:t>；</a:t>
            </a:r>
            <a:r>
              <a:rPr lang="en-US" altLang="zh-CN" sz="2200" dirty="0" smtClean="0">
                <a:latin typeface="宋体" panose="02010600030101010101" pitchFamily="2" charset="-122"/>
                <a:ea typeface="宋体" panose="02010600030101010101" pitchFamily="2" charset="-122"/>
              </a:rPr>
              <a:t>COST-231Hata</a:t>
            </a:r>
            <a:r>
              <a:rPr lang="zh-CN" altLang="en-US" sz="2200" dirty="0">
                <a:latin typeface="宋体" panose="02010600030101010101" pitchFamily="2" charset="-122"/>
                <a:ea typeface="宋体" panose="02010600030101010101" pitchFamily="2" charset="-122"/>
              </a:rPr>
              <a:t>模型还</a:t>
            </a:r>
            <a:r>
              <a:rPr lang="zh-CN" altLang="en-US" sz="2200" u="sng" dirty="0">
                <a:latin typeface="宋体" panose="02010600030101010101" pitchFamily="2" charset="-122"/>
                <a:ea typeface="宋体" panose="02010600030101010101" pitchFamily="2" charset="-122"/>
              </a:rPr>
              <a:t>增加</a:t>
            </a:r>
            <a:r>
              <a:rPr lang="zh-CN" altLang="en-US" sz="2200" dirty="0">
                <a:latin typeface="宋体" panose="02010600030101010101" pitchFamily="2" charset="-122"/>
                <a:ea typeface="宋体" panose="02010600030101010101" pitchFamily="2" charset="-122"/>
              </a:rPr>
              <a:t>了一个大城市中心衰</a:t>
            </a:r>
            <a:r>
              <a:rPr lang="zh-CN" altLang="en-US" sz="2200" dirty="0" smtClean="0">
                <a:latin typeface="宋体" panose="02010600030101010101" pitchFamily="2" charset="-122"/>
                <a:ea typeface="宋体" panose="02010600030101010101" pitchFamily="2" charset="-122"/>
              </a:rPr>
              <a:t>减。</a:t>
            </a:r>
            <a:endParaRPr lang="en-US" altLang="zh-CN" sz="2200" dirty="0">
              <a:latin typeface="宋体" panose="02010600030101010101" pitchFamily="2" charset="-122"/>
              <a:ea typeface="宋体" panose="02010600030101010101" pitchFamily="2" charset="-122"/>
            </a:endParaRPr>
          </a:p>
        </p:txBody>
      </p:sp>
      <p:graphicFrame>
        <p:nvGraphicFramePr>
          <p:cNvPr id="195588" name="Object 4"/>
          <p:cNvGraphicFramePr>
            <a:graphicFrameLocks noChangeAspect="1"/>
          </p:cNvGraphicFramePr>
          <p:nvPr>
            <p:ph sz="half" idx="2"/>
          </p:nvPr>
        </p:nvGraphicFramePr>
        <p:xfrm>
          <a:off x="609601" y="1384275"/>
          <a:ext cx="7847013" cy="683419"/>
        </p:xfrm>
        <a:graphic>
          <a:graphicData uri="http://schemas.openxmlformats.org/presentationml/2006/ole">
            <mc:AlternateContent xmlns:mc="http://schemas.openxmlformats.org/markup-compatibility/2006">
              <mc:Choice xmlns:v="urn:schemas-microsoft-com:vml" Requires="v">
                <p:oleObj spid="_x0000_s20481" name="公式" r:id="rId1" imgW="80467200" imgH="10972800" progId="">
                  <p:embed/>
                </p:oleObj>
              </mc:Choice>
              <mc:Fallback>
                <p:oleObj name="公式" r:id="rId1" imgW="80467200" imgH="10972800" progId="">
                  <p:embed/>
                  <p:pic>
                    <p:nvPicPr>
                      <p:cNvPr id="0" name="图片 20480" descr="image58"/>
                      <p:cNvPicPr>
                        <a:picLocks noChangeAspect="1"/>
                      </p:cNvPicPr>
                      <p:nvPr/>
                    </p:nvPicPr>
                    <p:blipFill>
                      <a:blip r:embed="rId2"/>
                      <a:stretch>
                        <a:fillRect/>
                      </a:stretch>
                    </p:blipFill>
                    <p:spPr>
                      <a:xfrm>
                        <a:off x="609601" y="1384275"/>
                        <a:ext cx="7847013" cy="683419"/>
                      </a:xfrm>
                      <a:prstGeom prst="rect">
                        <a:avLst/>
                      </a:prstGeom>
                      <a:solidFill>
                        <a:srgbClr val="FFFFFF"/>
                      </a:solidFill>
                      <a:ln w="9525">
                        <a:noFill/>
                      </a:ln>
                    </p:spPr>
                  </p:pic>
                </p:oleObj>
              </mc:Fallback>
            </mc:AlternateContent>
          </a:graphicData>
        </a:graphic>
      </p:graphicFrame>
      <p:graphicFrame>
        <p:nvGraphicFramePr>
          <p:cNvPr id="195590" name="Object 6"/>
          <p:cNvGraphicFramePr>
            <a:graphicFrameLocks noChangeAspect="1"/>
          </p:cNvGraphicFramePr>
          <p:nvPr/>
        </p:nvGraphicFramePr>
        <p:xfrm>
          <a:off x="1331640" y="2270373"/>
          <a:ext cx="4132263" cy="733425"/>
        </p:xfrm>
        <a:graphic>
          <a:graphicData uri="http://schemas.openxmlformats.org/presentationml/2006/ole">
            <mc:AlternateContent xmlns:mc="http://schemas.openxmlformats.org/markup-compatibility/2006">
              <mc:Choice xmlns:v="urn:schemas-microsoft-com:vml" Requires="v">
                <p:oleObj spid="_x0000_s20482" name="公式" r:id="rId3" imgW="49377600" imgH="11582400" progId="">
                  <p:embed/>
                </p:oleObj>
              </mc:Choice>
              <mc:Fallback>
                <p:oleObj name="公式" r:id="rId3" imgW="49377600" imgH="11582400" progId="">
                  <p:embed/>
                  <p:pic>
                    <p:nvPicPr>
                      <p:cNvPr id="0" name="图片 20481" descr="image59"/>
                      <p:cNvPicPr>
                        <a:picLocks noChangeAspect="1"/>
                      </p:cNvPicPr>
                      <p:nvPr/>
                    </p:nvPicPr>
                    <p:blipFill>
                      <a:blip r:embed="rId4"/>
                      <a:stretch>
                        <a:fillRect/>
                      </a:stretch>
                    </p:blipFill>
                    <p:spPr>
                      <a:xfrm>
                        <a:off x="1331640" y="2270373"/>
                        <a:ext cx="4132263" cy="733425"/>
                      </a:xfrm>
                      <a:prstGeom prst="rect">
                        <a:avLst/>
                      </a:prstGeom>
                      <a:solidFill>
                        <a:srgbClr val="FFFFFF"/>
                      </a:solidFill>
                      <a:ln w="9525">
                        <a:noFill/>
                      </a:ln>
                    </p:spPr>
                  </p:pic>
                </p:oleObj>
              </mc:Fallback>
            </mc:AlternateContent>
          </a:graphicData>
        </a:graphic>
      </p:graphicFrame>
      <p:pic>
        <p:nvPicPr>
          <p:cNvPr id="7" name="图片 6" descr="5bc6fc52-b49d-4298-b410-192e1f0ef3a5.gif"/>
          <p:cNvPicPr>
            <a:picLocks noChangeAspect="1"/>
          </p:cNvPicPr>
          <p:nvPr/>
        </p:nvPicPr>
        <p:blipFill>
          <a:blip r:embed="rId5"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slide(fromBottom)">
                                      <p:cBhvr>
                                        <p:cTn id="7" dur="500"/>
                                        <p:tgtEl>
                                          <p:spTgt spid="195587">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95587">
                                            <p:txEl>
                                              <p:pRg st="3" end="3"/>
                                            </p:txEl>
                                          </p:spTgt>
                                        </p:tgtEl>
                                        <p:attrNameLst>
                                          <p:attrName>style.visibility</p:attrName>
                                        </p:attrNameLst>
                                      </p:cBhvr>
                                      <p:to>
                                        <p:strVal val="visible"/>
                                      </p:to>
                                    </p:set>
                                    <p:animEffect transition="in" filter="slide(fromBottom)">
                                      <p:cBhvr>
                                        <p:cTn id="10" dur="500"/>
                                        <p:tgtEl>
                                          <p:spTgt spid="195587">
                                            <p:txEl>
                                              <p:pRg st="3" end="3"/>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95588"/>
                                        </p:tgtEl>
                                        <p:attrNameLst>
                                          <p:attrName>style.visibility</p:attrName>
                                        </p:attrNameLst>
                                      </p:cBhvr>
                                      <p:to>
                                        <p:strVal val="visible"/>
                                      </p:to>
                                    </p:set>
                                    <p:animEffect transition="in" filter="slide(fromBottom)">
                                      <p:cBhvr>
                                        <p:cTn id="13" dur="500"/>
                                        <p:tgtEl>
                                          <p:spTgt spid="195588"/>
                                        </p:tgtEl>
                                      </p:cBhvr>
                                    </p:animEffect>
                                  </p:childTnLst>
                                </p:cTn>
                              </p:par>
                              <p:par>
                                <p:cTn id="14" presetID="12" presetClass="entr" presetSubtype="4" fill="hold" nodeType="withEffect">
                                  <p:stCondLst>
                                    <p:cond delay="0"/>
                                  </p:stCondLst>
                                  <p:childTnLst>
                                    <p:set>
                                      <p:cBhvr>
                                        <p:cTn id="15" dur="1" fill="hold">
                                          <p:stCondLst>
                                            <p:cond delay="0"/>
                                          </p:stCondLst>
                                        </p:cTn>
                                        <p:tgtEl>
                                          <p:spTgt spid="195590"/>
                                        </p:tgtEl>
                                        <p:attrNameLst>
                                          <p:attrName>style.visibility</p:attrName>
                                        </p:attrNameLst>
                                      </p:cBhvr>
                                      <p:to>
                                        <p:strVal val="visible"/>
                                      </p:to>
                                    </p:set>
                                    <p:animEffect transition="in" filter="slide(fromBottom)">
                                      <p:cBhvr>
                                        <p:cTn id="16" dur="500"/>
                                        <p:tgtEl>
                                          <p:spTgt spid="195590"/>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195587">
                                            <p:txEl>
                                              <p:pRg st="4" end="4"/>
                                            </p:txEl>
                                          </p:spTgt>
                                        </p:tgtEl>
                                        <p:attrNameLst>
                                          <p:attrName>style.visibility</p:attrName>
                                        </p:attrNameLst>
                                      </p:cBhvr>
                                      <p:to>
                                        <p:strVal val="visible"/>
                                      </p:to>
                                    </p:set>
                                    <p:animEffect transition="in" filter="slide(fromBottom)">
                                      <p:cBhvr>
                                        <p:cTn id="21" dur="500"/>
                                        <p:tgtEl>
                                          <p:spTgt spid="195587">
                                            <p:txEl>
                                              <p:pRg st="4" end="4"/>
                                            </p:txEl>
                                          </p:spTgt>
                                        </p:tgtEl>
                                      </p:cBhvr>
                                    </p:animEffect>
                                  </p:childTnLst>
                                </p:cTn>
                              </p:par>
                              <p:par>
                                <p:cTn id="22" presetID="12" presetClass="entr" presetSubtype="4" fill="hold" nodeType="withEffect">
                                  <p:stCondLst>
                                    <p:cond delay="0"/>
                                  </p:stCondLst>
                                  <p:childTnLst>
                                    <p:set>
                                      <p:cBhvr>
                                        <p:cTn id="23" dur="1" fill="hold">
                                          <p:stCondLst>
                                            <p:cond delay="0"/>
                                          </p:stCondLst>
                                        </p:cTn>
                                        <p:tgtEl>
                                          <p:spTgt spid="195587">
                                            <p:txEl>
                                              <p:pRg st="5" end="5"/>
                                            </p:txEl>
                                          </p:spTgt>
                                        </p:tgtEl>
                                        <p:attrNameLst>
                                          <p:attrName>style.visibility</p:attrName>
                                        </p:attrNameLst>
                                      </p:cBhvr>
                                      <p:to>
                                        <p:strVal val="visible"/>
                                      </p:to>
                                    </p:set>
                                    <p:animEffect transition="in" filter="slide(fromBottom)">
                                      <p:cBhvr>
                                        <p:cTn id="24" dur="500"/>
                                        <p:tgtEl>
                                          <p:spTgt spid="195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rrowheads="1"/>
          </p:cNvSpPr>
          <p:nvPr>
            <p:ph type="title"/>
          </p:nvPr>
        </p:nvSpPr>
        <p:spPr>
          <a:xfrm>
            <a:off x="1435608" y="256338"/>
            <a:ext cx="7498080" cy="857250"/>
          </a:xfrm>
        </p:spPr>
        <p:txBody>
          <a:bodyPr>
            <a:normAutofit/>
          </a:bodyPr>
          <a:lstStyle/>
          <a:p>
            <a:r>
              <a:rPr lang="zh-CN" altLang="en-US" sz="3600" b="1" dirty="0">
                <a:effectLst>
                  <a:outerShdw blurRad="38100" dist="38100" dir="2700000" algn="tl">
                    <a:srgbClr val="C0C0C0"/>
                  </a:outerShdw>
                </a:effectLst>
              </a:rPr>
              <a:t>传播模型的适用范围</a:t>
            </a:r>
            <a:endParaRPr lang="zh-CN" altLang="en-US" sz="3600" b="1" dirty="0">
              <a:effectLst>
                <a:outerShdw blurRad="38100" dist="38100" dir="2700000" algn="tl">
                  <a:srgbClr val="C0C0C0"/>
                </a:outerShdw>
              </a:effectLst>
            </a:endParaRPr>
          </a:p>
        </p:txBody>
      </p:sp>
      <p:graphicFrame>
        <p:nvGraphicFramePr>
          <p:cNvPr id="207875" name="Group 3"/>
          <p:cNvGraphicFramePr>
            <a:graphicFrameLocks noGrp="1"/>
          </p:cNvGraphicFramePr>
          <p:nvPr/>
        </p:nvGraphicFramePr>
        <p:xfrm>
          <a:off x="250826" y="1000125"/>
          <a:ext cx="8640763" cy="4088892"/>
        </p:xfrm>
        <a:graphic>
          <a:graphicData uri="http://schemas.openxmlformats.org/drawingml/2006/table">
            <a:tbl>
              <a:tblPr/>
              <a:tblGrid>
                <a:gridCol w="719138"/>
                <a:gridCol w="1152525"/>
                <a:gridCol w="2016125"/>
                <a:gridCol w="1439862"/>
                <a:gridCol w="1728788"/>
                <a:gridCol w="1584325"/>
              </a:tblGrid>
              <a:tr h="521494">
                <a:tc gridSpan="2">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适用范围</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传播模型</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C0C0C0"/>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宏蜂窝（</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&gt;1km</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微蜂窝（</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&lt;1km</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频率（</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MHz</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天线高度</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m</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城区</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郊区</a:t>
                      </a:r>
                      <a:r>
                        <a:rPr kumimoji="0" lang="en-US" altLang="zh-CN"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rPr>
                        <a:t>乡村</a:t>
                      </a:r>
                      <a:endParaRPr kumimoji="0" lang="zh-CN" altLang="en-US" sz="1600" b="0" i="0" u="none" strike="noStrike" cap="none" normalizeH="0" baseline="0" smtClean="0">
                        <a:ln>
                          <a:noFill/>
                        </a:ln>
                        <a:solidFill>
                          <a:srgbClr val="0099FF"/>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r>
              <a:tr h="523875">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rPr>
                        <a:t>Hata</a:t>
                      </a:r>
                      <a:endPar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Okumura-Hata</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宏蜂窝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基站：</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移动台：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城区、郊区、乡村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80060">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COST-231 Hata</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宏蜂窝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1500 </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基站：</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移动台：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城区、郊区、乡村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34340">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rPr>
                        <a:t>CCIR</a:t>
                      </a:r>
                      <a:endPar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宏蜂窝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150 </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基站：</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移动台：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城区、郊区</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r>
              <a:tr h="441722">
                <a:tc rowSpan="2" grid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rPr>
                        <a:t>LEE</a:t>
                      </a:r>
                      <a:endPar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rowSpan="2"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宏蜂窝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450 </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城区、郊区、乡村 </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70916">
                <a:tc vMerge="1" gridSpan="2">
                  <a:tcPr/>
                </a:tc>
                <a:tc vMerge="1"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微蜂窝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LOS</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和</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NLOS</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450 </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城区、郊区</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70916">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rPr>
                        <a:t>WIM</a:t>
                      </a:r>
                      <a:endParaRPr kumimoji="0" lang="en-US" altLang="zh-CN" sz="1600" b="1" i="0" u="none" strike="noStrike" cap="none" normalizeH="0" baseline="0" smtClean="0">
                        <a:ln>
                          <a:noFill/>
                        </a:ln>
                        <a:solidFill>
                          <a:srgbClr val="003300"/>
                        </a:solidFill>
                        <a:effectLst/>
                        <a:latin typeface="Arial" panose="020B0604020202020204" pitchFamily="34" charset="0"/>
                        <a:ea typeface="宋体" panose="02010600030101010101"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66FFCC"/>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0.02</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5km</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LOS</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和</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NLOS</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800 </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基站：</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移动台：</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 </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城区、郊区</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66FFCC"/>
                    </a:solidFill>
                  </a:tcPr>
                </a:tc>
              </a:tr>
            </a:tbl>
          </a:graphicData>
        </a:graphic>
      </p:graphicFrame>
      <p:pic>
        <p:nvPicPr>
          <p:cNvPr id="4" name="图片 3" descr="5bc6fc52-b49d-4298-b410-192e1f0ef3a5.gif"/>
          <p:cNvPicPr>
            <a:picLocks noChangeAspect="1"/>
          </p:cNvPicPr>
          <p:nvPr/>
        </p:nvPicPr>
        <p:blipFill>
          <a:blip r:embed="rId1" cstate="print"/>
          <a:srcRect l="14589" t="33821" r="11138" b="38327"/>
          <a:stretch>
            <a:fillRect/>
          </a:stretch>
        </p:blipFill>
        <p:spPr>
          <a:xfrm>
            <a:off x="0" y="0"/>
            <a:ext cx="2592288" cy="486054"/>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07875"/>
                                        </p:tgtEl>
                                        <p:attrNameLst>
                                          <p:attrName>style.visibility</p:attrName>
                                        </p:attrNameLst>
                                      </p:cBhvr>
                                      <p:to>
                                        <p:strVal val="visible"/>
                                      </p:to>
                                    </p:set>
                                    <p:animEffect transition="in" filter="dissolve">
                                      <p:cBhvr>
                                        <p:cTn id="7" dur="500"/>
                                        <p:tgtEl>
                                          <p:spTgt spid="207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5047</Words>
  <Application>WPS 演示</Application>
  <PresentationFormat>全屏显示(16:9)</PresentationFormat>
  <Paragraphs>501</Paragraphs>
  <Slides>44</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30</vt:i4>
      </vt:variant>
      <vt:variant>
        <vt:lpstr>幻灯片标题</vt:lpstr>
      </vt:variant>
      <vt:variant>
        <vt:i4>44</vt:i4>
      </vt:variant>
    </vt:vector>
  </HeadingPairs>
  <TitlesOfParts>
    <vt:vector size="87" baseType="lpstr">
      <vt:lpstr>Arial</vt:lpstr>
      <vt:lpstr>宋体</vt:lpstr>
      <vt:lpstr>Wingdings</vt:lpstr>
      <vt:lpstr>Wingdings 2</vt:lpstr>
      <vt:lpstr>Wingdings</vt:lpstr>
      <vt:lpstr>Verdana</vt:lpstr>
      <vt:lpstr>Times New Roman</vt:lpstr>
      <vt:lpstr>Gill Sans MT</vt:lpstr>
      <vt:lpstr>微软雅黑</vt:lpstr>
      <vt:lpstr>Arial Unicode MS</vt:lpstr>
      <vt:lpstr>华文中宋</vt:lpstr>
      <vt:lpstr>Calibri</vt:lpstr>
      <vt:lpstr>夏至</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Paint.Picture</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2.1 电波传播的基本特性</vt:lpstr>
      <vt:lpstr>2.1 电波传播的基本特性</vt:lpstr>
      <vt:lpstr>2.1 电波传播的基本特性</vt:lpstr>
      <vt:lpstr>2.1 电波传播特性的研究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对数距离路径损耗模型</vt:lpstr>
      <vt:lpstr>2.4 对数距离路径损耗模型</vt:lpstr>
      <vt:lpstr>2.5 阴影衰落的基本特性</vt:lpstr>
      <vt:lpstr>2.6移动无线信道及特性参数</vt:lpstr>
      <vt:lpstr>2.6移动无线信道及特性参数</vt:lpstr>
      <vt:lpstr>2.6移动无线信道及特性参数</vt:lpstr>
      <vt:lpstr>2.6.3 多径信道的信道模型（不作要求）</vt:lpstr>
      <vt:lpstr>2.6.3 多径信道的信道模型（不作要求）</vt:lpstr>
      <vt:lpstr>2.6.4 描述多径信道的主要参数</vt:lpstr>
      <vt:lpstr>2.7 MIMO信道（了解）</vt:lpstr>
      <vt:lpstr>2.7 MIMO信道（了解）</vt:lpstr>
      <vt:lpstr>2.7 MIMO信道（了解）</vt:lpstr>
      <vt:lpstr>2.7 MIMO信道（了解）</vt:lpstr>
      <vt:lpstr>2.7 MIMO信道（了解）</vt:lpstr>
      <vt:lpstr>2.8 电波传播损耗预测模型（了解）</vt:lpstr>
      <vt:lpstr>2.6.1 室外传播模型</vt:lpstr>
      <vt:lpstr>Okumura-Hata 模型</vt:lpstr>
      <vt:lpstr>Okumura-Hata 模型</vt:lpstr>
      <vt:lpstr>COST-231 Hata模型</vt:lpstr>
      <vt:lpstr>传播模型的适用范围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一片云</cp:lastModifiedBy>
  <cp:revision>69</cp:revision>
  <dcterms:created xsi:type="dcterms:W3CDTF">2020-02-13T12:37:00Z</dcterms:created>
  <dcterms:modified xsi:type="dcterms:W3CDTF">2025-02-17T02:10:55Z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F19B5B92F41B4B6AA1395CB68DA621A8</vt:lpwstr>
  </property>
  <property fmtid="{D5CDD505-2E9C-101B-9397-08002B2CF9AE}" pid="3" name="KSOProductBuildVer">
    <vt:lpwstr>2052-12.1.0.20260</vt:lpwstr>
  </property>
</Properties>
</file>