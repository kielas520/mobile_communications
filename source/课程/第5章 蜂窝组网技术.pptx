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handoutMasterIdLst>
    <p:handoutMasterId r:id="rId65"/>
  </p:handoutMasterIdLst>
  <p:sldIdLst>
    <p:sldId id="423" r:id="rId3"/>
    <p:sldId id="424" r:id="rId4"/>
    <p:sldId id="544" r:id="rId5"/>
    <p:sldId id="425" r:id="rId6"/>
    <p:sldId id="426" r:id="rId7"/>
    <p:sldId id="428" r:id="rId8"/>
    <p:sldId id="545" r:id="rId9"/>
    <p:sldId id="429" r:id="rId10"/>
    <p:sldId id="430" r:id="rId11"/>
    <p:sldId id="432" r:id="rId12"/>
    <p:sldId id="433" r:id="rId13"/>
    <p:sldId id="434" r:id="rId14"/>
    <p:sldId id="436" r:id="rId15"/>
    <p:sldId id="546" r:id="rId16"/>
    <p:sldId id="547" r:id="rId17"/>
    <p:sldId id="548" r:id="rId18"/>
    <p:sldId id="440" r:id="rId19"/>
    <p:sldId id="441" r:id="rId20"/>
    <p:sldId id="442" r:id="rId21"/>
    <p:sldId id="443" r:id="rId22"/>
    <p:sldId id="445" r:id="rId23"/>
    <p:sldId id="446" r:id="rId24"/>
    <p:sldId id="447" r:id="rId25"/>
    <p:sldId id="449" r:id="rId26"/>
    <p:sldId id="450" r:id="rId27"/>
    <p:sldId id="452" r:id="rId28"/>
    <p:sldId id="453" r:id="rId29"/>
    <p:sldId id="455" r:id="rId30"/>
    <p:sldId id="456" r:id="rId31"/>
    <p:sldId id="457" r:id="rId32"/>
    <p:sldId id="458" r:id="rId33"/>
    <p:sldId id="459" r:id="rId34"/>
    <p:sldId id="507" r:id="rId35"/>
    <p:sldId id="564" r:id="rId36"/>
    <p:sldId id="508" r:id="rId37"/>
    <p:sldId id="509" r:id="rId38"/>
    <p:sldId id="560" r:id="rId39"/>
    <p:sldId id="512" r:id="rId40"/>
    <p:sldId id="561" r:id="rId41"/>
    <p:sldId id="562" r:id="rId42"/>
    <p:sldId id="563" r:id="rId43"/>
    <p:sldId id="513" r:id="rId44"/>
    <p:sldId id="515" r:id="rId45"/>
    <p:sldId id="517" r:id="rId46"/>
    <p:sldId id="518" r:id="rId47"/>
    <p:sldId id="519" r:id="rId48"/>
    <p:sldId id="521" r:id="rId49"/>
    <p:sldId id="525" r:id="rId50"/>
    <p:sldId id="527" r:id="rId51"/>
    <p:sldId id="538" r:id="rId52"/>
    <p:sldId id="539" r:id="rId53"/>
    <p:sldId id="540" r:id="rId54"/>
    <p:sldId id="541" r:id="rId55"/>
    <p:sldId id="542" r:id="rId56"/>
    <p:sldId id="565" r:id="rId57"/>
    <p:sldId id="566" r:id="rId58"/>
    <p:sldId id="567" r:id="rId59"/>
    <p:sldId id="568" r:id="rId60"/>
    <p:sldId id="569" r:id="rId61"/>
    <p:sldId id="570" r:id="rId62"/>
    <p:sldId id="543" r:id="rId63"/>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E"/>
    <a:srgbClr val="002A7E"/>
    <a:srgbClr val="FFFF00"/>
    <a:srgbClr val="3366FF"/>
    <a:srgbClr val="FFCCFF"/>
    <a:srgbClr val="0000FF"/>
    <a:srgbClr val="EC2295"/>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0" autoAdjust="0"/>
    <p:restoredTop sz="92579" autoAdjust="0"/>
  </p:normalViewPr>
  <p:slideViewPr>
    <p:cSldViewPr showGuides="1">
      <p:cViewPr varScale="1">
        <p:scale>
          <a:sx n="87" d="100"/>
          <a:sy n="87" d="100"/>
        </p:scale>
        <p:origin x="-204" y="-78"/>
      </p:cViewPr>
      <p:guideLst>
        <p:guide orient="horz" pos="1637"/>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notesMaster" Target="notesMasters/notesMaster1.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B525100-0F72-464D-B263-748A8DD80A85}"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0B6F3C4-C4E0-4781-B827-DF4F21B1AA8E}"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81533" y="685800"/>
            <a:ext cx="6094934"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2" name="Rectangle 38"/>
          <p:cNvSpPr>
            <a:spLocks noChangeArrowheads="1"/>
          </p:cNvSpPr>
          <p:nvPr/>
        </p:nvSpPr>
        <p:spPr bwMode="gray">
          <a:xfrm>
            <a:off x="6443663" y="1275382"/>
            <a:ext cx="2700338" cy="3869017"/>
          </a:xfrm>
          <a:prstGeom prst="rect">
            <a:avLst/>
          </a:prstGeom>
          <a:gradFill rotWithShape="1">
            <a:gsLst>
              <a:gs pos="0">
                <a:srgbClr val="333399"/>
              </a:gs>
              <a:gs pos="100000">
                <a:srgbClr val="0092CC"/>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Rectangle 3"/>
          <p:cNvSpPr>
            <a:spLocks noChangeArrowheads="1"/>
          </p:cNvSpPr>
          <p:nvPr/>
        </p:nvSpPr>
        <p:spPr bwMode="gray">
          <a:xfrm>
            <a:off x="50800" y="21435"/>
            <a:ext cx="6392863" cy="1253947"/>
          </a:xfrm>
          <a:prstGeom prst="rect">
            <a:avLst/>
          </a:prstGeom>
          <a:gradFill rotWithShape="1">
            <a:gsLst>
              <a:gs pos="0">
                <a:schemeClr val="tx2"/>
              </a:gs>
              <a:gs pos="100000">
                <a:schemeClr val="tx2">
                  <a:gamma/>
                  <a:shade val="46275"/>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 name="Rectangle 9"/>
          <p:cNvSpPr>
            <a:spLocks noChangeArrowheads="1"/>
          </p:cNvSpPr>
          <p:nvPr/>
        </p:nvSpPr>
        <p:spPr bwMode="gray">
          <a:xfrm>
            <a:off x="6443663" y="21435"/>
            <a:ext cx="2643188" cy="1253947"/>
          </a:xfrm>
          <a:prstGeom prst="rect">
            <a:avLst/>
          </a:prstGeom>
          <a:blipFill dpi="0" rotWithShape="1">
            <a:blip r:embed="rId2" cstate="print"/>
            <a:srcRect/>
            <a:stretch>
              <a:fillRect/>
            </a:stretch>
          </a:blip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56325" name="Group 10"/>
          <p:cNvGrpSpPr/>
          <p:nvPr/>
        </p:nvGrpSpPr>
        <p:grpSpPr>
          <a:xfrm>
            <a:off x="0" y="-1190"/>
            <a:ext cx="9166225" cy="5145590"/>
            <a:chOff x="0" y="0"/>
            <a:chExt cx="5764" cy="4321"/>
          </a:xfrm>
        </p:grpSpPr>
        <p:sp>
          <p:nvSpPr>
            <p:cNvPr id="26" name="AutoShape 11"/>
            <p:cNvSpPr>
              <a:spLocks noChangeArrowheads="1"/>
            </p:cNvSpPr>
            <p:nvPr/>
          </p:nvSpPr>
          <p:spPr bwMode="gray">
            <a:xfrm>
              <a:off x="27" y="24"/>
              <a:ext cx="5712" cy="4274"/>
            </a:xfrm>
            <a:prstGeom prst="roundRect">
              <a:avLst>
                <a:gd name="adj" fmla="val 6227"/>
              </a:avLst>
            </a:prstGeom>
            <a:noFill/>
            <a:ln w="76200">
              <a:solidFill>
                <a:schemeClr val="bg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 name="Freeform 12"/>
            <p:cNvSpPr/>
            <p:nvPr/>
          </p:nvSpPr>
          <p:spPr bwMode="gray">
            <a:xfrm>
              <a:off x="0" y="0"/>
              <a:ext cx="288" cy="282"/>
            </a:xfrm>
            <a:custGeom>
              <a:avLst/>
              <a:gdLst/>
              <a:ahLst/>
              <a:cxnLst>
                <a:cxn ang="0">
                  <a:pos x="2" y="282"/>
                </a:cxn>
                <a:cxn ang="0">
                  <a:pos x="82" y="144"/>
                </a:cxn>
                <a:cxn ang="0">
                  <a:pos x="165" y="36"/>
                </a:cxn>
                <a:cxn ang="0">
                  <a:pos x="288" y="0"/>
                </a:cxn>
                <a:cxn ang="0">
                  <a:pos x="0" y="0"/>
                </a:cxn>
              </a:cxnLst>
              <a:rect l="0" t="0" r="r" b="b"/>
              <a:pathLst>
                <a:path w="288" h="282">
                  <a:moveTo>
                    <a:pt x="2" y="282"/>
                  </a:moveTo>
                  <a:lnTo>
                    <a:pt x="82" y="144"/>
                  </a:lnTo>
                  <a:lnTo>
                    <a:pt x="165" y="36"/>
                  </a:lnTo>
                  <a:lnTo>
                    <a:pt x="288" y="0"/>
                  </a:lnTo>
                  <a:lnTo>
                    <a:pt x="0" y="0"/>
                  </a:lnTo>
                </a:path>
              </a:pathLst>
            </a:custGeom>
            <a:solidFill>
              <a:schemeClr val="bg1"/>
            </a:soli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 name="Freeform 13"/>
            <p:cNvSpPr/>
            <p:nvPr/>
          </p:nvSpPr>
          <p:spPr bwMode="gray">
            <a:xfrm>
              <a:off x="5" y="3985"/>
              <a:ext cx="244" cy="336"/>
            </a:xfrm>
            <a:custGeom>
              <a:avLst/>
              <a:gdLst/>
              <a:ahLst/>
              <a:cxnLst>
                <a:cxn ang="0">
                  <a:pos x="243" y="335"/>
                </a:cxn>
                <a:cxn ang="0">
                  <a:pos x="122" y="239"/>
                </a:cxn>
                <a:cxn ang="0">
                  <a:pos x="30" y="144"/>
                </a:cxn>
                <a:cxn ang="0">
                  <a:pos x="0" y="0"/>
                </a:cxn>
                <a:cxn ang="0">
                  <a:pos x="1" y="336"/>
                </a:cxn>
              </a:cxnLst>
              <a:rect l="0" t="0" r="r" b="b"/>
              <a:pathLst>
                <a:path w="243" h="336">
                  <a:moveTo>
                    <a:pt x="243" y="335"/>
                  </a:moveTo>
                  <a:lnTo>
                    <a:pt x="122" y="239"/>
                  </a:lnTo>
                  <a:lnTo>
                    <a:pt x="30" y="144"/>
                  </a:lnTo>
                  <a:lnTo>
                    <a:pt x="0" y="0"/>
                  </a:lnTo>
                  <a:lnTo>
                    <a:pt x="1" y="336"/>
                  </a:lnTo>
                </a:path>
              </a:pathLst>
            </a:custGeom>
            <a:solidFill>
              <a:schemeClr val="bg1"/>
            </a:soli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 name="Freeform 14"/>
            <p:cNvSpPr/>
            <p:nvPr/>
          </p:nvSpPr>
          <p:spPr bwMode="gray">
            <a:xfrm>
              <a:off x="5511" y="4029"/>
              <a:ext cx="253" cy="290"/>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 name="Freeform 15"/>
            <p:cNvSpPr/>
            <p:nvPr/>
          </p:nvSpPr>
          <p:spPr bwMode="gray">
            <a:xfrm>
              <a:off x="5472" y="0"/>
              <a:ext cx="288" cy="288"/>
            </a:xfrm>
            <a:custGeom>
              <a:avLst/>
              <a:gdLst/>
              <a:ahLst/>
              <a:cxnLst>
                <a:cxn ang="0">
                  <a:pos x="0" y="0"/>
                </a:cxn>
                <a:cxn ang="0">
                  <a:pos x="144" y="82"/>
                </a:cxn>
                <a:cxn ang="0">
                  <a:pos x="252" y="165"/>
                </a:cxn>
                <a:cxn ang="0">
                  <a:pos x="288" y="288"/>
                </a:cxn>
                <a:cxn ang="0">
                  <a:pos x="288" y="0"/>
                </a:cxn>
              </a:cxnLst>
              <a:rect l="0" t="0" r="r" b="b"/>
              <a:pathLst>
                <a:path w="288" h="288">
                  <a:moveTo>
                    <a:pt x="0" y="0"/>
                  </a:moveTo>
                  <a:lnTo>
                    <a:pt x="144" y="82"/>
                  </a:lnTo>
                  <a:lnTo>
                    <a:pt x="252" y="165"/>
                  </a:lnTo>
                  <a:lnTo>
                    <a:pt x="288" y="288"/>
                  </a:lnTo>
                  <a:lnTo>
                    <a:pt x="288" y="0"/>
                  </a:lnTo>
                </a:path>
              </a:pathLst>
            </a:custGeom>
            <a:solidFill>
              <a:schemeClr val="bg1"/>
            </a:soli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pic>
        <p:nvPicPr>
          <p:cNvPr id="56326" name="Picture 17" descr="校徽－1"/>
          <p:cNvPicPr>
            <a:picLocks noChangeAspect="1"/>
          </p:cNvPicPr>
          <p:nvPr userDrawn="1"/>
        </p:nvPicPr>
        <p:blipFill>
          <a:blip r:embed="rId3" cstate="print">
            <a:clrChange>
              <a:clrFrom>
                <a:srgbClr val="FFFFFF"/>
              </a:clrFrom>
              <a:clrTo>
                <a:srgbClr val="FFFFFF">
                  <a:alpha val="0"/>
                </a:srgbClr>
              </a:clrTo>
            </a:clrChange>
          </a:blip>
          <a:stretch>
            <a:fillRect/>
          </a:stretch>
        </p:blipFill>
        <p:spPr>
          <a:xfrm>
            <a:off x="5651500" y="4035734"/>
            <a:ext cx="1511300" cy="1108665"/>
          </a:xfrm>
          <a:prstGeom prst="rect">
            <a:avLst/>
          </a:prstGeom>
          <a:noFill/>
          <a:ln w="9525">
            <a:noFill/>
          </a:ln>
        </p:spPr>
      </p:pic>
      <p:pic>
        <p:nvPicPr>
          <p:cNvPr id="56327" name="Picture 18" descr="icon_female"/>
          <p:cNvPicPr>
            <a:picLocks noChangeAspect="1"/>
          </p:cNvPicPr>
          <p:nvPr userDrawn="1"/>
        </p:nvPicPr>
        <p:blipFill>
          <a:blip r:embed="rId4" cstate="print"/>
          <a:stretch>
            <a:fillRect/>
          </a:stretch>
        </p:blipFill>
        <p:spPr>
          <a:xfrm>
            <a:off x="7092950" y="3328379"/>
            <a:ext cx="1008063" cy="756179"/>
          </a:xfrm>
          <a:prstGeom prst="rect">
            <a:avLst/>
          </a:prstGeom>
          <a:noFill/>
          <a:ln w="9525">
            <a:noFill/>
          </a:ln>
        </p:spPr>
      </p:pic>
      <p:pic>
        <p:nvPicPr>
          <p:cNvPr id="56328" name="Picture 19" descr="icon_men"/>
          <p:cNvPicPr>
            <a:picLocks noChangeAspect="1"/>
          </p:cNvPicPr>
          <p:nvPr userDrawn="1"/>
        </p:nvPicPr>
        <p:blipFill>
          <a:blip r:embed="rId5" cstate="print"/>
          <a:stretch>
            <a:fillRect/>
          </a:stretch>
        </p:blipFill>
        <p:spPr>
          <a:xfrm>
            <a:off x="7885113" y="2518613"/>
            <a:ext cx="863600" cy="589462"/>
          </a:xfrm>
          <a:prstGeom prst="rect">
            <a:avLst/>
          </a:prstGeom>
          <a:noFill/>
          <a:ln w="9525">
            <a:noFill/>
          </a:ln>
        </p:spPr>
      </p:pic>
      <p:pic>
        <p:nvPicPr>
          <p:cNvPr id="56329" name="Picture 23" descr="icon_bulding"/>
          <p:cNvPicPr>
            <a:picLocks noChangeAspect="1"/>
          </p:cNvPicPr>
          <p:nvPr userDrawn="1"/>
        </p:nvPicPr>
        <p:blipFill>
          <a:blip r:embed="rId6" cstate="print"/>
          <a:stretch>
            <a:fillRect/>
          </a:stretch>
        </p:blipFill>
        <p:spPr>
          <a:xfrm>
            <a:off x="7524750" y="1654068"/>
            <a:ext cx="782638" cy="587080"/>
          </a:xfrm>
          <a:prstGeom prst="rect">
            <a:avLst/>
          </a:prstGeom>
          <a:noFill/>
          <a:ln w="9525">
            <a:noFill/>
          </a:ln>
        </p:spPr>
      </p:pic>
      <p:pic>
        <p:nvPicPr>
          <p:cNvPr id="56330" name="Picture 39" descr="light_white"/>
          <p:cNvPicPr>
            <a:picLocks noChangeAspect="1"/>
          </p:cNvPicPr>
          <p:nvPr userDrawn="1"/>
        </p:nvPicPr>
        <p:blipFill>
          <a:blip r:embed="rId7" cstate="print">
            <a:grayscl/>
          </a:blip>
          <a:stretch>
            <a:fillRect/>
          </a:stretch>
        </p:blipFill>
        <p:spPr>
          <a:xfrm>
            <a:off x="1308100" y="1819593"/>
            <a:ext cx="69850" cy="100030"/>
          </a:xfrm>
          <a:prstGeom prst="rect">
            <a:avLst/>
          </a:prstGeom>
          <a:noFill/>
          <a:ln w="9525">
            <a:noFill/>
          </a:ln>
        </p:spPr>
      </p:pic>
      <p:pic>
        <p:nvPicPr>
          <p:cNvPr id="56331" name="Picture 40" descr="light_white"/>
          <p:cNvPicPr>
            <a:picLocks noChangeAspect="1"/>
          </p:cNvPicPr>
          <p:nvPr userDrawn="1"/>
        </p:nvPicPr>
        <p:blipFill>
          <a:blip r:embed="rId7" cstate="print">
            <a:lum contrast="-30000"/>
          </a:blip>
          <a:stretch>
            <a:fillRect/>
          </a:stretch>
        </p:blipFill>
        <p:spPr>
          <a:xfrm>
            <a:off x="7042150" y="2180416"/>
            <a:ext cx="69850" cy="100030"/>
          </a:xfrm>
          <a:prstGeom prst="rect">
            <a:avLst/>
          </a:prstGeom>
          <a:noFill/>
          <a:ln w="9525">
            <a:noFill/>
          </a:ln>
        </p:spPr>
      </p:pic>
      <p:pic>
        <p:nvPicPr>
          <p:cNvPr id="56332" name="Picture 41" descr="light_white"/>
          <p:cNvPicPr>
            <a:picLocks noChangeAspect="1"/>
          </p:cNvPicPr>
          <p:nvPr userDrawn="1"/>
        </p:nvPicPr>
        <p:blipFill>
          <a:blip r:embed="rId7" cstate="print">
            <a:lum contrast="-53999"/>
          </a:blip>
          <a:stretch>
            <a:fillRect/>
          </a:stretch>
        </p:blipFill>
        <p:spPr>
          <a:xfrm>
            <a:off x="8459788" y="1437336"/>
            <a:ext cx="73025" cy="155999"/>
          </a:xfrm>
          <a:prstGeom prst="rect">
            <a:avLst/>
          </a:prstGeom>
          <a:noFill/>
          <a:ln w="9525">
            <a:noFill/>
          </a:ln>
        </p:spPr>
      </p:pic>
      <p:pic>
        <p:nvPicPr>
          <p:cNvPr id="56333" name="Picture 42" descr="light_white"/>
          <p:cNvPicPr>
            <a:picLocks noChangeAspect="1"/>
          </p:cNvPicPr>
          <p:nvPr userDrawn="1"/>
        </p:nvPicPr>
        <p:blipFill>
          <a:blip r:embed="rId7" cstate="print">
            <a:grayscl/>
            <a:lum contrast="-53999"/>
          </a:blip>
          <a:stretch>
            <a:fillRect/>
          </a:stretch>
        </p:blipFill>
        <p:spPr>
          <a:xfrm>
            <a:off x="7392988" y="2023226"/>
            <a:ext cx="69850" cy="136945"/>
          </a:xfrm>
          <a:prstGeom prst="rect">
            <a:avLst/>
          </a:prstGeom>
          <a:noFill/>
          <a:ln w="9525">
            <a:noFill/>
          </a:ln>
        </p:spPr>
      </p:pic>
      <p:pic>
        <p:nvPicPr>
          <p:cNvPr id="56334" name="Picture 43" descr="light_white"/>
          <p:cNvPicPr>
            <a:picLocks noChangeAspect="1"/>
          </p:cNvPicPr>
          <p:nvPr userDrawn="1"/>
        </p:nvPicPr>
        <p:blipFill>
          <a:blip r:embed="rId7" cstate="print">
            <a:lum contrast="-24001"/>
          </a:blip>
          <a:stretch>
            <a:fillRect/>
          </a:stretch>
        </p:blipFill>
        <p:spPr>
          <a:xfrm>
            <a:off x="8067675" y="2342369"/>
            <a:ext cx="69850" cy="100030"/>
          </a:xfrm>
          <a:prstGeom prst="rect">
            <a:avLst/>
          </a:prstGeom>
          <a:noFill/>
          <a:ln w="9525">
            <a:noFill/>
          </a:ln>
        </p:spPr>
      </p:pic>
      <p:pic>
        <p:nvPicPr>
          <p:cNvPr id="56335" name="Picture 44" descr="light_white"/>
          <p:cNvPicPr>
            <a:picLocks noChangeAspect="1"/>
          </p:cNvPicPr>
          <p:nvPr userDrawn="1"/>
        </p:nvPicPr>
        <p:blipFill>
          <a:blip r:embed="rId7" cstate="print">
            <a:lum contrast="-100000"/>
          </a:blip>
          <a:stretch>
            <a:fillRect/>
          </a:stretch>
        </p:blipFill>
        <p:spPr>
          <a:xfrm>
            <a:off x="6732588" y="2139928"/>
            <a:ext cx="69850" cy="100030"/>
          </a:xfrm>
          <a:prstGeom prst="rect">
            <a:avLst/>
          </a:prstGeom>
          <a:noFill/>
          <a:ln w="9525">
            <a:noFill/>
          </a:ln>
        </p:spPr>
      </p:pic>
      <p:pic>
        <p:nvPicPr>
          <p:cNvPr id="56336" name="Picture 45" descr="light_white"/>
          <p:cNvPicPr>
            <a:picLocks noChangeAspect="1"/>
          </p:cNvPicPr>
          <p:nvPr userDrawn="1"/>
        </p:nvPicPr>
        <p:blipFill>
          <a:blip r:embed="rId7" cstate="print">
            <a:lum contrast="-60001"/>
          </a:blip>
          <a:stretch>
            <a:fillRect/>
          </a:stretch>
        </p:blipFill>
        <p:spPr>
          <a:xfrm>
            <a:off x="7270750" y="2318553"/>
            <a:ext cx="69850" cy="100030"/>
          </a:xfrm>
          <a:prstGeom prst="rect">
            <a:avLst/>
          </a:prstGeom>
          <a:noFill/>
          <a:ln w="9525">
            <a:noFill/>
          </a:ln>
        </p:spPr>
      </p:pic>
      <p:pic>
        <p:nvPicPr>
          <p:cNvPr id="56337" name="Picture 46" descr="light_white"/>
          <p:cNvPicPr>
            <a:picLocks noChangeAspect="1"/>
          </p:cNvPicPr>
          <p:nvPr userDrawn="1"/>
        </p:nvPicPr>
        <p:blipFill>
          <a:blip r:embed="rId7" cstate="print">
            <a:lum contrast="-60001"/>
          </a:blip>
          <a:stretch>
            <a:fillRect/>
          </a:stretch>
        </p:blipFill>
        <p:spPr>
          <a:xfrm>
            <a:off x="8513763" y="2055378"/>
            <a:ext cx="69850" cy="100030"/>
          </a:xfrm>
          <a:prstGeom prst="rect">
            <a:avLst/>
          </a:prstGeom>
          <a:noFill/>
          <a:ln w="9525">
            <a:noFill/>
          </a:ln>
        </p:spPr>
      </p:pic>
      <p:pic>
        <p:nvPicPr>
          <p:cNvPr id="56338" name="Picture 47" descr="light_white"/>
          <p:cNvPicPr>
            <a:picLocks noChangeAspect="1"/>
          </p:cNvPicPr>
          <p:nvPr userDrawn="1"/>
        </p:nvPicPr>
        <p:blipFill>
          <a:blip r:embed="rId7" cstate="print">
            <a:lum contrast="-30000"/>
          </a:blip>
          <a:stretch>
            <a:fillRect/>
          </a:stretch>
        </p:blipFill>
        <p:spPr>
          <a:xfrm>
            <a:off x="8675688" y="1707655"/>
            <a:ext cx="69850" cy="79786"/>
          </a:xfrm>
          <a:prstGeom prst="rect">
            <a:avLst/>
          </a:prstGeom>
          <a:noFill/>
          <a:ln w="9525">
            <a:noFill/>
          </a:ln>
        </p:spPr>
      </p:pic>
      <p:pic>
        <p:nvPicPr>
          <p:cNvPr id="56339" name="Picture 48" descr="light_white"/>
          <p:cNvPicPr>
            <a:picLocks noChangeAspect="1"/>
          </p:cNvPicPr>
          <p:nvPr userDrawn="1"/>
        </p:nvPicPr>
        <p:blipFill>
          <a:blip r:embed="rId7" cstate="print"/>
          <a:stretch>
            <a:fillRect/>
          </a:stretch>
        </p:blipFill>
        <p:spPr>
          <a:xfrm>
            <a:off x="7308850" y="1762433"/>
            <a:ext cx="69850" cy="86931"/>
          </a:xfrm>
          <a:prstGeom prst="rect">
            <a:avLst/>
          </a:prstGeom>
          <a:noFill/>
          <a:ln w="9525">
            <a:noFill/>
          </a:ln>
        </p:spPr>
      </p:pic>
      <p:pic>
        <p:nvPicPr>
          <p:cNvPr id="56340" name="Picture 49" descr="light_white"/>
          <p:cNvPicPr>
            <a:picLocks noChangeAspect="1"/>
          </p:cNvPicPr>
          <p:nvPr userDrawn="1"/>
        </p:nvPicPr>
        <p:blipFill>
          <a:blip r:embed="rId7" cstate="print">
            <a:grayscl/>
            <a:lum contrast="-53999"/>
          </a:blip>
          <a:stretch>
            <a:fillRect/>
          </a:stretch>
        </p:blipFill>
        <p:spPr>
          <a:xfrm>
            <a:off x="6497638" y="1414710"/>
            <a:ext cx="69850" cy="136946"/>
          </a:xfrm>
          <a:prstGeom prst="rect">
            <a:avLst/>
          </a:prstGeom>
          <a:noFill/>
          <a:ln w="9525">
            <a:noFill/>
          </a:ln>
        </p:spPr>
      </p:pic>
      <p:sp>
        <p:nvSpPr>
          <p:cNvPr id="4102" name="Rectangle 6"/>
          <p:cNvSpPr>
            <a:spLocks noGrp="1" noChangeArrowheads="1"/>
          </p:cNvSpPr>
          <p:nvPr>
            <p:ph type="ctrTitle"/>
          </p:nvPr>
        </p:nvSpPr>
        <p:spPr bwMode="gray">
          <a:xfrm>
            <a:off x="395288" y="1977974"/>
            <a:ext cx="5616575" cy="628760"/>
          </a:xfrm>
        </p:spPr>
        <p:txBody>
          <a:bodyPr/>
          <a:lstStyle>
            <a:lvl1pPr algn="ctr">
              <a:defRPr sz="3300">
                <a:solidFill>
                  <a:schemeClr val="tx1"/>
                </a:solidFill>
              </a:defRPr>
            </a:lvl1pPr>
          </a:lstStyle>
          <a:p>
            <a:r>
              <a:rPr lang="zh-CN" altLang="en-US"/>
              <a:t>单击此处编辑母版标题样式</a:t>
            </a:r>
            <a:endParaRPr lang="zh-CN" altLang="en-US"/>
          </a:p>
        </p:txBody>
      </p:sp>
    </p:spTree>
  </p:cSld>
  <p:clrMapOvr>
    <a:masterClrMapping/>
  </p:clrMapOvr>
  <p:transition>
    <p:cu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175"/>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lgn="just">
              <a:defRPr baseline="0">
                <a:solidFill>
                  <a:srgbClr val="002A7E"/>
                </a:solidFill>
                <a:latin typeface="华文楷体" pitchFamily="2" charset="-122"/>
                <a:ea typeface="华文楷体" pitchFamily="2" charset="-122"/>
              </a:defRPr>
            </a:lvl1pPr>
            <a:lvl2pPr algn="just">
              <a:defRPr/>
            </a:lvl2pPr>
            <a:lvl3pPr algn="just">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753"/>
            <a:ext cx="7772400" cy="1021735"/>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416"/>
            <a:ext cx="7772400" cy="112533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8035" indent="0">
              <a:buNone/>
              <a:defRPr sz="1050"/>
            </a:lvl7pPr>
            <a:lvl8pPr marL="2400935" indent="0">
              <a:buNone/>
              <a:defRPr sz="1050"/>
            </a:lvl8pPr>
            <a:lvl9pPr marL="2743835" indent="0">
              <a:buNone/>
              <a:defRPr sz="105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735935"/>
            <a:ext cx="4038600" cy="4001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735935"/>
            <a:ext cx="4038600" cy="4001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015"/>
            <a:ext cx="8229600" cy="8574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536"/>
            <a:ext cx="4040188" cy="47990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442"/>
            <a:ext cx="4040188" cy="29639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1536"/>
            <a:ext cx="4041775" cy="47990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442"/>
            <a:ext cx="4041775" cy="29639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823"/>
            <a:ext cx="3008313" cy="871690"/>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823"/>
            <a:ext cx="5111750" cy="43906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513"/>
            <a:ext cx="3008313" cy="351891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080"/>
            <a:ext cx="5486400" cy="425128"/>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662"/>
            <a:ext cx="5486400" cy="308664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4026208"/>
            <a:ext cx="5486400" cy="60375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8600" y="141710"/>
            <a:ext cx="2108200" cy="45954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0825" y="141710"/>
            <a:ext cx="6175375" cy="45954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Tree>
  </p:cSld>
  <p:clrMapOvr>
    <a:masterClrMapping/>
  </p:clrMapOvr>
  <p:transition>
    <p:cu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0825" y="141684"/>
            <a:ext cx="7416800" cy="42267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735806"/>
            <a:ext cx="4038600" cy="40005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735806"/>
            <a:ext cx="4038600" cy="40005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ftr" sz="quarter" idx="10"/>
          </p:nvPr>
        </p:nvSpPr>
        <p:spPr/>
        <p:txBody>
          <a:bodyPr/>
          <a:lstStyle>
            <a:lvl1pPr>
              <a:defRPr/>
            </a:lvl1pPr>
          </a:lstStyle>
          <a:p>
            <a:pPr>
              <a:defRPr/>
            </a:pPr>
            <a:r>
              <a:rPr lang="en-US" altLang="zh-CN"/>
              <a:t>Principle of Mobile Communication</a:t>
            </a:r>
            <a:endParaRPr lang="en-US" altLang="zh-CN"/>
          </a:p>
        </p:txBody>
      </p:sp>
    </p:spTree>
  </p:cSld>
  <p:clrMapOvr>
    <a:masterClrMapping/>
  </p:clrMapOvr>
  <p:transition>
    <p:cu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825" y="141684"/>
            <a:ext cx="7416800" cy="42267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735806"/>
            <a:ext cx="8229600" cy="4000500"/>
          </a:xfrm>
        </p:spPr>
        <p:txBody>
          <a:bodyPr/>
          <a:lstStyle/>
          <a:p>
            <a:pPr lvl="0"/>
            <a:endParaRPr lang="zh-CN" altLang="en-US" noProof="0" smtClean="0"/>
          </a:p>
        </p:txBody>
      </p:sp>
      <p:sp>
        <p:nvSpPr>
          <p:cNvPr id="4" name="Rectangle 4"/>
          <p:cNvSpPr>
            <a:spLocks noGrp="1" noChangeArrowheads="1"/>
          </p:cNvSpPr>
          <p:nvPr>
            <p:ph type="ftr" sz="quarter" idx="10"/>
          </p:nvPr>
        </p:nvSpPr>
        <p:spPr/>
        <p:txBody>
          <a:bodyPr/>
          <a:lstStyle>
            <a:lvl1pPr>
              <a:defRPr/>
            </a:lvl1pPr>
          </a:lstStyle>
          <a:p>
            <a:pPr>
              <a:defRPr/>
            </a:pPr>
            <a:r>
              <a:rPr lang="en-US" altLang="zh-CN"/>
              <a:t>Principle of Mobile Communication</a:t>
            </a:r>
            <a:endParaRPr lang="en-US" altLang="zh-CN"/>
          </a:p>
        </p:txBody>
      </p:sp>
    </p:spTree>
  </p:cSld>
  <p:clrMapOvr>
    <a:masterClrMapping/>
  </p:clrMapOvr>
  <p:transition>
    <p:cu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gray">
          <a:xfrm>
            <a:off x="0" y="8336"/>
            <a:ext cx="9064625" cy="619233"/>
          </a:xfrm>
          <a:prstGeom prst="rect">
            <a:avLst/>
          </a:prstGeom>
          <a:gradFill rotWithShape="1">
            <a:gsLst>
              <a:gs pos="0">
                <a:schemeClr val="tx2"/>
              </a:gs>
              <a:gs pos="100000">
                <a:schemeClr val="tx2">
                  <a:gamma/>
                  <a:shade val="66667"/>
                  <a:invGamma/>
                </a:schemeClr>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ChangeArrowheads="1"/>
          </p:cNvSpPr>
          <p:nvPr/>
        </p:nvSpPr>
        <p:spPr bwMode="ltGray">
          <a:xfrm>
            <a:off x="0" y="4840737"/>
            <a:ext cx="9129713" cy="303662"/>
          </a:xfrm>
          <a:prstGeom prst="rect">
            <a:avLst/>
          </a:prstGeom>
          <a:solidFill>
            <a:schemeClr va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ChangeArrowheads="1"/>
          </p:cNvSpPr>
          <p:nvPr>
            <p:ph type="ftr" sz="quarter" idx="3"/>
          </p:nvPr>
        </p:nvSpPr>
        <p:spPr bwMode="auto">
          <a:xfrm>
            <a:off x="1331913" y="4870508"/>
            <a:ext cx="4135438" cy="240548"/>
          </a:xfrm>
          <a:prstGeom prst="rect">
            <a:avLst/>
          </a:prstGeom>
          <a:noFill/>
          <a:ln w="9525">
            <a:noFill/>
            <a:miter lim="800000"/>
          </a:ln>
          <a:effectLst/>
        </p:spPr>
        <p:txBody>
          <a:bodyPr vert="horz" wrap="square" lIns="91440" tIns="45720" rIns="91440" bIns="45720" numCol="1" anchor="t" anchorCtr="0" compatLnSpc="1"/>
          <a:lstStyle>
            <a:lvl1pPr algn="ctr">
              <a:defRPr sz="900" b="1" i="1">
                <a:solidFill>
                  <a:schemeClr val="bg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1" i="1" u="none" strike="noStrike" kern="1200" cap="none" spc="0" normalizeH="0" baseline="0" noProof="0" smtClean="0">
                <a:ln>
                  <a:noFill/>
                </a:ln>
                <a:solidFill>
                  <a:schemeClr val="bg1"/>
                </a:solidFill>
                <a:effectLst/>
                <a:uLnTx/>
                <a:uFillTx/>
                <a:latin typeface="+mn-lt"/>
                <a:ea typeface="宋体" panose="02010600030101010101" pitchFamily="2" charset="-122"/>
                <a:cs typeface="+mn-cs"/>
              </a:rPr>
              <a:t>Principle of Mobile Communication</a:t>
            </a:r>
            <a:endParaRPr kumimoji="0" lang="en-US" altLang="zh-CN" sz="1200" b="1" i="1" u="none" strike="noStrike" kern="1200" cap="none" spc="0" normalizeH="0" baseline="0" noProof="0">
              <a:ln>
                <a:noFill/>
              </a:ln>
              <a:solidFill>
                <a:schemeClr val="bg1"/>
              </a:solidFill>
              <a:effectLst/>
              <a:uLnTx/>
              <a:uFillTx/>
              <a:latin typeface="+mn-lt"/>
              <a:ea typeface="宋体" panose="02010600030101010101" pitchFamily="2" charset="-122"/>
              <a:cs typeface="+mn-cs"/>
            </a:endParaRPr>
          </a:p>
        </p:txBody>
      </p:sp>
      <p:sp>
        <p:nvSpPr>
          <p:cNvPr id="55301" name="Rectangle 6"/>
          <p:cNvSpPr>
            <a:spLocks noGrp="1"/>
          </p:cNvSpPr>
          <p:nvPr>
            <p:ph type="title"/>
          </p:nvPr>
        </p:nvSpPr>
        <p:spPr>
          <a:xfrm>
            <a:off x="250825" y="141710"/>
            <a:ext cx="7416800" cy="422745"/>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3079" name="Rectangle 7"/>
          <p:cNvSpPr>
            <a:spLocks noChangeArrowheads="1"/>
          </p:cNvSpPr>
          <p:nvPr/>
        </p:nvSpPr>
        <p:spPr bwMode="gray">
          <a:xfrm>
            <a:off x="0" y="627569"/>
            <a:ext cx="8964613" cy="75022"/>
          </a:xfrm>
          <a:prstGeom prst="rect">
            <a:avLst/>
          </a:prstGeom>
          <a:gradFill rotWithShape="1">
            <a:gsLst>
              <a:gs pos="0">
                <a:schemeClr val="bg2"/>
              </a:gs>
              <a:gs pos="100000">
                <a:schemeClr val="bg2">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303" name="Rectangle 8"/>
          <p:cNvSpPr>
            <a:spLocks noGrp="1"/>
          </p:cNvSpPr>
          <p:nvPr>
            <p:ph type="body" idx="1"/>
          </p:nvPr>
        </p:nvSpPr>
        <p:spPr>
          <a:xfrm>
            <a:off x="457200" y="735935"/>
            <a:ext cx="8229600" cy="4001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55304" name="Group 10"/>
          <p:cNvGrpSpPr/>
          <p:nvPr/>
        </p:nvGrpSpPr>
        <p:grpSpPr>
          <a:xfrm>
            <a:off x="-15875" y="0"/>
            <a:ext cx="9166225" cy="5145591"/>
            <a:chOff x="0" y="0"/>
            <a:chExt cx="5764" cy="4321"/>
          </a:xfrm>
        </p:grpSpPr>
        <p:sp>
          <p:nvSpPr>
            <p:cNvPr id="3083" name="AutoShape 11"/>
            <p:cNvSpPr>
              <a:spLocks noChangeArrowheads="1"/>
            </p:cNvSpPr>
            <p:nvPr/>
          </p:nvSpPr>
          <p:spPr bwMode="gray">
            <a:xfrm>
              <a:off x="27" y="24"/>
              <a:ext cx="5712" cy="4274"/>
            </a:xfrm>
            <a:prstGeom prst="roundRect">
              <a:avLst>
                <a:gd name="adj" fmla="val 6227"/>
              </a:avLst>
            </a:prstGeom>
            <a:noFill/>
            <a:ln w="76200">
              <a:solidFill>
                <a:schemeClr val="bg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4" name="Freeform 12"/>
            <p:cNvSpPr/>
            <p:nvPr/>
          </p:nvSpPr>
          <p:spPr bwMode="gray">
            <a:xfrm>
              <a:off x="0" y="0"/>
              <a:ext cx="288" cy="282"/>
            </a:xfrm>
            <a:custGeom>
              <a:avLst/>
              <a:gdLst/>
              <a:ahLst/>
              <a:cxnLst>
                <a:cxn ang="0">
                  <a:pos x="2" y="282"/>
                </a:cxn>
                <a:cxn ang="0">
                  <a:pos x="82" y="144"/>
                </a:cxn>
                <a:cxn ang="0">
                  <a:pos x="165" y="36"/>
                </a:cxn>
                <a:cxn ang="0">
                  <a:pos x="288" y="0"/>
                </a:cxn>
                <a:cxn ang="0">
                  <a:pos x="0" y="0"/>
                </a:cxn>
              </a:cxnLst>
              <a:rect l="0" t="0" r="r" b="b"/>
              <a:pathLst>
                <a:path w="288" h="282">
                  <a:moveTo>
                    <a:pt x="2" y="282"/>
                  </a:moveTo>
                  <a:lnTo>
                    <a:pt x="82" y="144"/>
                  </a:lnTo>
                  <a:lnTo>
                    <a:pt x="165" y="36"/>
                  </a:lnTo>
                  <a:lnTo>
                    <a:pt x="288" y="0"/>
                  </a:lnTo>
                  <a:lnTo>
                    <a:pt x="0" y="0"/>
                  </a:lnTo>
                </a:path>
              </a:pathLst>
            </a:custGeom>
            <a:solidFill>
              <a:schemeClr val="bg1"/>
            </a:soli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5" name="Freeform 13"/>
            <p:cNvSpPr/>
            <p:nvPr/>
          </p:nvSpPr>
          <p:spPr bwMode="gray">
            <a:xfrm>
              <a:off x="5" y="3985"/>
              <a:ext cx="244" cy="336"/>
            </a:xfrm>
            <a:custGeom>
              <a:avLst/>
              <a:gdLst/>
              <a:ahLst/>
              <a:cxnLst>
                <a:cxn ang="0">
                  <a:pos x="243" y="335"/>
                </a:cxn>
                <a:cxn ang="0">
                  <a:pos x="122" y="239"/>
                </a:cxn>
                <a:cxn ang="0">
                  <a:pos x="30" y="144"/>
                </a:cxn>
                <a:cxn ang="0">
                  <a:pos x="0" y="0"/>
                </a:cxn>
                <a:cxn ang="0">
                  <a:pos x="1" y="336"/>
                </a:cxn>
              </a:cxnLst>
              <a:rect l="0" t="0" r="r" b="b"/>
              <a:pathLst>
                <a:path w="243" h="336">
                  <a:moveTo>
                    <a:pt x="243" y="335"/>
                  </a:moveTo>
                  <a:lnTo>
                    <a:pt x="122" y="239"/>
                  </a:lnTo>
                  <a:lnTo>
                    <a:pt x="30" y="144"/>
                  </a:lnTo>
                  <a:lnTo>
                    <a:pt x="0" y="0"/>
                  </a:lnTo>
                  <a:lnTo>
                    <a:pt x="1" y="336"/>
                  </a:lnTo>
                </a:path>
              </a:pathLst>
            </a:custGeom>
            <a:solidFill>
              <a:schemeClr val="bg1"/>
            </a:soli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6" name="Freeform 14"/>
            <p:cNvSpPr/>
            <p:nvPr/>
          </p:nvSpPr>
          <p:spPr bwMode="gray">
            <a:xfrm>
              <a:off x="5511" y="4029"/>
              <a:ext cx="253" cy="290"/>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87" name="Freeform 15"/>
            <p:cNvSpPr/>
            <p:nvPr/>
          </p:nvSpPr>
          <p:spPr bwMode="gray">
            <a:xfrm>
              <a:off x="5472" y="0"/>
              <a:ext cx="288" cy="288"/>
            </a:xfrm>
            <a:custGeom>
              <a:avLst/>
              <a:gdLst/>
              <a:ahLst/>
              <a:cxnLst>
                <a:cxn ang="0">
                  <a:pos x="0" y="0"/>
                </a:cxn>
                <a:cxn ang="0">
                  <a:pos x="144" y="82"/>
                </a:cxn>
                <a:cxn ang="0">
                  <a:pos x="252" y="165"/>
                </a:cxn>
                <a:cxn ang="0">
                  <a:pos x="288" y="288"/>
                </a:cxn>
                <a:cxn ang="0">
                  <a:pos x="288" y="0"/>
                </a:cxn>
              </a:cxnLst>
              <a:rect l="0" t="0" r="r" b="b"/>
              <a:pathLst>
                <a:path w="288" h="288">
                  <a:moveTo>
                    <a:pt x="0" y="0"/>
                  </a:moveTo>
                  <a:lnTo>
                    <a:pt x="144" y="82"/>
                  </a:lnTo>
                  <a:lnTo>
                    <a:pt x="252" y="165"/>
                  </a:lnTo>
                  <a:lnTo>
                    <a:pt x="288" y="288"/>
                  </a:lnTo>
                  <a:lnTo>
                    <a:pt x="288" y="0"/>
                  </a:lnTo>
                </a:path>
              </a:pathLst>
            </a:custGeom>
            <a:solidFill>
              <a:schemeClr val="bg1"/>
            </a:solidFill>
            <a:ln w="9525">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55305" name="Group 16"/>
          <p:cNvGrpSpPr/>
          <p:nvPr/>
        </p:nvGrpSpPr>
        <p:grpSpPr>
          <a:xfrm>
            <a:off x="8172450" y="33343"/>
            <a:ext cx="838200" cy="628760"/>
            <a:chOff x="18" y="144"/>
            <a:chExt cx="510" cy="480"/>
          </a:xfrm>
        </p:grpSpPr>
        <p:sp>
          <p:nvSpPr>
            <p:cNvPr id="3089" name="AutoShape 17"/>
            <p:cNvSpPr>
              <a:spLocks noChangeArrowheads="1"/>
            </p:cNvSpPr>
            <p:nvPr/>
          </p:nvSpPr>
          <p:spPr bwMode="gray">
            <a:xfrm>
              <a:off x="18" y="258"/>
              <a:ext cx="288" cy="240"/>
            </a:xfrm>
            <a:prstGeom prst="hexagon">
              <a:avLst>
                <a:gd name="adj" fmla="val 30000"/>
                <a:gd name="vf" fmla="val 115470"/>
              </a:avLst>
            </a:prstGeom>
            <a:solidFill>
              <a:schemeClr val="hlink"/>
            </a:solidFill>
            <a:ln w="28575">
              <a:solidFill>
                <a:schemeClr val="bg1"/>
              </a:solidFill>
              <a:miter lim="800000"/>
            </a:ln>
            <a:effectLst>
              <a:outerShdw dist="56796" dir="1593903" algn="ctr" rotWithShape="0">
                <a:srgbClr val="6666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90" name="AutoShape 18"/>
            <p:cNvSpPr>
              <a:spLocks noChangeArrowheads="1"/>
            </p:cNvSpPr>
            <p:nvPr/>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ln>
            <a:effectLst>
              <a:outerShdw dist="56796" dir="1593903" algn="ctr" rotWithShape="0">
                <a:srgbClr val="6666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91" name="AutoShape 19"/>
            <p:cNvSpPr>
              <a:spLocks noChangeArrowheads="1"/>
            </p:cNvSpPr>
            <p:nvPr/>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ln>
            <a:effectLst>
              <a:outerShdw dist="56796" dir="1593903" algn="ctr" rotWithShape="0">
                <a:srgbClr val="666633">
                  <a:alpha val="50000"/>
                </a:srgb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3092" name="AutoShape 20"/>
          <p:cNvSpPr>
            <a:spLocks noChangeArrowheads="1"/>
          </p:cNvSpPr>
          <p:nvPr/>
        </p:nvSpPr>
        <p:spPr bwMode="gray">
          <a:xfrm>
            <a:off x="0" y="4529930"/>
            <a:ext cx="609600" cy="400120"/>
          </a:xfrm>
          <a:prstGeom prst="hexagon">
            <a:avLst>
              <a:gd name="adj" fmla="val 28571"/>
              <a:gd name="vf" fmla="val 115470"/>
            </a:avLst>
          </a:prstGeom>
          <a:solidFill>
            <a:schemeClr val="bg2">
              <a:alpha val="35001"/>
            </a:schemeClr>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93" name="AutoShape 21"/>
          <p:cNvSpPr>
            <a:spLocks noChangeArrowheads="1"/>
          </p:cNvSpPr>
          <p:nvPr/>
        </p:nvSpPr>
        <p:spPr bwMode="gray">
          <a:xfrm>
            <a:off x="533400" y="4301290"/>
            <a:ext cx="609600" cy="400120"/>
          </a:xfrm>
          <a:prstGeom prst="hexagon">
            <a:avLst>
              <a:gd name="adj" fmla="val 28571"/>
              <a:gd name="vf" fmla="val 115470"/>
            </a:avLst>
          </a:prstGeom>
          <a:solidFill>
            <a:schemeClr val="bg2">
              <a:alpha val="35001"/>
            </a:schemeClr>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94" name="AutoShape 22"/>
          <p:cNvSpPr>
            <a:spLocks noChangeArrowheads="1"/>
          </p:cNvSpPr>
          <p:nvPr/>
        </p:nvSpPr>
        <p:spPr bwMode="gray">
          <a:xfrm>
            <a:off x="523875" y="4744280"/>
            <a:ext cx="609600" cy="400120"/>
          </a:xfrm>
          <a:prstGeom prst="hexagon">
            <a:avLst>
              <a:gd name="adj" fmla="val 28571"/>
              <a:gd name="vf" fmla="val 115470"/>
            </a:avLst>
          </a:prstGeom>
          <a:solidFill>
            <a:schemeClr val="bg2">
              <a:alpha val="35001"/>
            </a:schemeClr>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95" name="Rectangle 23"/>
          <p:cNvSpPr>
            <a:spLocks noChangeArrowheads="1"/>
          </p:cNvSpPr>
          <p:nvPr/>
        </p:nvSpPr>
        <p:spPr bwMode="gray">
          <a:xfrm>
            <a:off x="7929563" y="4930050"/>
            <a:ext cx="695325" cy="127419"/>
          </a:xfrm>
          <a:prstGeom prst="rect">
            <a:avLst/>
          </a:prstGeom>
          <a:noFill/>
          <a:ln w="9525">
            <a:noFill/>
            <a:miter lim="800000"/>
          </a:ln>
          <a:effectLst/>
        </p:spPr>
        <p:txBody>
          <a:bodyPr/>
          <a:lstStyle/>
          <a:p>
            <a:pPr lvl="0" algn="r" eaLnBrk="1" hangingPunct="1">
              <a:buNone/>
            </a:pPr>
            <a:fld id="{9A0DB2DC-4C9A-4742-B13C-FB6460FD3503}" type="slidenum">
              <a:rPr lang="ko-KR" altLang="en-US" sz="750" dirty="0">
                <a:solidFill>
                  <a:schemeClr val="bg1"/>
                </a:solidFill>
                <a:latin typeface="Verdana" panose="020B0604030504040204" pitchFamily="34" charset="0"/>
                <a:ea typeface="Gulim" panose="020B0600000101010101" pitchFamily="34" charset="-127"/>
              </a:rPr>
            </a:fld>
            <a:endParaRPr lang="ko-KR" altLang="en-US" sz="750" dirty="0">
              <a:solidFill>
                <a:schemeClr val="bg1"/>
              </a:solidFill>
              <a:latin typeface="Verdana" panose="020B0604030504040204" pitchFamily="34" charset="0"/>
              <a:ea typeface="Gulim" panose="020B0600000101010101" pitchFamily="34" charset="-127"/>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cut/>
  </p:transition>
  <p:timing>
    <p:tnLst>
      <p:par>
        <p:cTn id="1" dur="indefinite" restart="never" nodeType="tmRoot"/>
      </p:par>
    </p:tnLst>
  </p:timing>
  <p:hf sldNum="0" hdr="0" ftr="0" dt="0"/>
  <p:txStyles>
    <p:titleStyle>
      <a:lvl1pPr algn="l" rtl="0" eaLnBrk="0" fontAlgn="base" hangingPunct="0">
        <a:spcBef>
          <a:spcPct val="0"/>
        </a:spcBef>
        <a:spcAft>
          <a:spcPct val="0"/>
        </a:spcAft>
        <a:defRPr sz="27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chemeClr val="hlink"/>
        </a:buClr>
        <a:buFont typeface="Wingdings" panose="05000000000000000000" pitchFamily="2" charset="2"/>
        <a:buChar char="v"/>
        <a:defRPr sz="1800" b="1">
          <a:solidFill>
            <a:schemeClr val="tx2"/>
          </a:solidFill>
          <a:latin typeface="+mn-lt"/>
          <a:ea typeface="+mn-ea"/>
          <a:cs typeface="+mn-cs"/>
        </a:defRPr>
      </a:lvl1pPr>
      <a:lvl2pPr marL="557530" indent="-214630" algn="l" rtl="0" eaLnBrk="0" fontAlgn="base" hangingPunct="0">
        <a:spcBef>
          <a:spcPct val="15000"/>
        </a:spcBef>
        <a:spcAft>
          <a:spcPct val="0"/>
        </a:spcAft>
        <a:buClr>
          <a:schemeClr val="accent1"/>
        </a:buClr>
        <a:buFont typeface="Wingdings" panose="05000000000000000000" pitchFamily="2" charset="2"/>
        <a:buChar char="§"/>
        <a:defRPr sz="1800">
          <a:solidFill>
            <a:schemeClr val="tx1"/>
          </a:solidFill>
          <a:latin typeface="+mj-lt"/>
          <a:ea typeface="+mn-ea"/>
        </a:defRPr>
      </a:lvl2pPr>
      <a:lvl3pPr marL="857250" indent="-171450" algn="l" rtl="0" eaLnBrk="0" fontAlgn="base" hangingPunct="0">
        <a:spcBef>
          <a:spcPct val="15000"/>
        </a:spcBef>
        <a:spcAft>
          <a:spcPct val="0"/>
        </a:spcAft>
        <a:buClr>
          <a:schemeClr val="tx1"/>
        </a:buClr>
        <a:buChar char="•"/>
        <a:defRPr sz="1800">
          <a:solidFill>
            <a:schemeClr val="tx1"/>
          </a:solidFill>
          <a:latin typeface="+mj-lt"/>
          <a:ea typeface="+mn-ea"/>
        </a:defRPr>
      </a:lvl3pPr>
      <a:lvl4pPr marL="1200150" indent="-171450" algn="l" rtl="0" eaLnBrk="0" fontAlgn="base" hangingPunct="0">
        <a:spcBef>
          <a:spcPct val="15000"/>
        </a:spcBef>
        <a:spcAft>
          <a:spcPct val="0"/>
        </a:spcAft>
        <a:buChar char="–"/>
        <a:defRPr sz="1500">
          <a:solidFill>
            <a:schemeClr val="tx1"/>
          </a:solidFill>
          <a:latin typeface="+mj-lt"/>
          <a:ea typeface="+mn-ea"/>
        </a:defRPr>
      </a:lvl4pPr>
      <a:lvl5pPr marL="1543050" indent="-171450" algn="l" rtl="0" eaLnBrk="0" fontAlgn="base" hangingPunct="0">
        <a:spcBef>
          <a:spcPct val="15000"/>
        </a:spcBef>
        <a:spcAft>
          <a:spcPct val="0"/>
        </a:spcAft>
        <a:buChar char="»"/>
        <a:defRPr sz="1500">
          <a:solidFill>
            <a:schemeClr val="tx1"/>
          </a:solidFill>
          <a:latin typeface="+mj-lt"/>
          <a:ea typeface="+mn-ea"/>
        </a:defRPr>
      </a:lvl5pPr>
      <a:lvl6pPr marL="1886585" indent="-171450" algn="l" rtl="0" fontAlgn="base">
        <a:spcBef>
          <a:spcPct val="15000"/>
        </a:spcBef>
        <a:spcAft>
          <a:spcPct val="0"/>
        </a:spcAft>
        <a:buChar char="»"/>
        <a:defRPr sz="1500">
          <a:solidFill>
            <a:schemeClr val="tx1"/>
          </a:solidFill>
          <a:latin typeface="+mj-lt"/>
          <a:ea typeface="+mn-ea"/>
        </a:defRPr>
      </a:lvl6pPr>
      <a:lvl7pPr marL="2229485" indent="-171450" algn="l" rtl="0" fontAlgn="base">
        <a:spcBef>
          <a:spcPct val="15000"/>
        </a:spcBef>
        <a:spcAft>
          <a:spcPct val="0"/>
        </a:spcAft>
        <a:buChar char="»"/>
        <a:defRPr sz="1500">
          <a:solidFill>
            <a:schemeClr val="tx1"/>
          </a:solidFill>
          <a:latin typeface="+mj-lt"/>
          <a:ea typeface="+mn-ea"/>
        </a:defRPr>
      </a:lvl7pPr>
      <a:lvl8pPr marL="2572385" indent="-171450" algn="l" rtl="0" fontAlgn="base">
        <a:spcBef>
          <a:spcPct val="15000"/>
        </a:spcBef>
        <a:spcAft>
          <a:spcPct val="0"/>
        </a:spcAft>
        <a:buChar char="»"/>
        <a:defRPr sz="1500">
          <a:solidFill>
            <a:schemeClr val="tx1"/>
          </a:solidFill>
          <a:latin typeface="+mj-lt"/>
          <a:ea typeface="+mn-ea"/>
        </a:defRPr>
      </a:lvl8pPr>
      <a:lvl9pPr marL="2915285" indent="-171450" algn="l" rtl="0" fontAlgn="base">
        <a:spcBef>
          <a:spcPct val="15000"/>
        </a:spcBef>
        <a:spcAft>
          <a:spcPct val="0"/>
        </a:spcAft>
        <a:buChar char="»"/>
        <a:defRPr sz="1500">
          <a:solidFill>
            <a:schemeClr val="tx1"/>
          </a:solidFill>
          <a:latin typeface="+mj-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GIF"/></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2" Type="http://schemas.openxmlformats.org/officeDocument/2006/relationships/slideLayout" Target="../slideLayouts/slideLayout2.xml"/><Relationship Id="rId31" Type="http://schemas.openxmlformats.org/officeDocument/2006/relationships/image" Target="../media/image7.GIF"/><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GIF"/><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GIF"/><Relationship Id="rId2" Type="http://schemas.openxmlformats.org/officeDocument/2006/relationships/image" Target="../media/image9.emf"/><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GIF"/><Relationship Id="rId2" Type="http://schemas.openxmlformats.org/officeDocument/2006/relationships/image" Target="../media/image8.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GIF"/><Relationship Id="rId2" Type="http://schemas.openxmlformats.org/officeDocument/2006/relationships/image" Target="../media/image8.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9" Type="http://schemas.openxmlformats.org/officeDocument/2006/relationships/image" Target="../media/image7.GIF"/><Relationship Id="rId8" Type="http://schemas.openxmlformats.org/officeDocument/2006/relationships/image" Target="../media/image14.wmf"/><Relationship Id="rId7" Type="http://schemas.openxmlformats.org/officeDocument/2006/relationships/oleObject" Target="../embeddings/oleObject4.bin"/><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image" Target="../media/image12.wmf"/><Relationship Id="rId3" Type="http://schemas.openxmlformats.org/officeDocument/2006/relationships/oleObject" Target="../embeddings/oleObject2.bin"/><Relationship Id="rId2" Type="http://schemas.openxmlformats.org/officeDocument/2006/relationships/image" Target="../media/image11.wmf"/><Relationship Id="rId11" Type="http://schemas.openxmlformats.org/officeDocument/2006/relationships/vmlDrawing" Target="../drawings/vmlDrawing1.vml"/><Relationship Id="rId10" Type="http://schemas.openxmlformats.org/officeDocument/2006/relationships/slideLayout" Target="../slideLayouts/slideLayout2.xml"/><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7.GIF"/><Relationship Id="rId6" Type="http://schemas.openxmlformats.org/officeDocument/2006/relationships/image" Target="../media/image11.wmf"/><Relationship Id="rId5" Type="http://schemas.openxmlformats.org/officeDocument/2006/relationships/oleObject" Target="../embeddings/oleObject7.bin"/><Relationship Id="rId4" Type="http://schemas.openxmlformats.org/officeDocument/2006/relationships/image" Target="../media/image16.wmf"/><Relationship Id="rId3" Type="http://schemas.openxmlformats.org/officeDocument/2006/relationships/oleObject" Target="../embeddings/oleObject6.bin"/><Relationship Id="rId2" Type="http://schemas.openxmlformats.org/officeDocument/2006/relationships/image" Target="../media/image15.w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9.wmf"/><Relationship Id="rId7" Type="http://schemas.openxmlformats.org/officeDocument/2006/relationships/oleObject" Target="../embeddings/oleObject10.bin"/><Relationship Id="rId6" Type="http://schemas.openxmlformats.org/officeDocument/2006/relationships/image" Target="../media/image18.wmf"/><Relationship Id="rId5" Type="http://schemas.openxmlformats.org/officeDocument/2006/relationships/oleObject" Target="../embeddings/oleObject9.bin"/><Relationship Id="rId4" Type="http://schemas.openxmlformats.org/officeDocument/2006/relationships/image" Target="../media/image17.wmf"/><Relationship Id="rId3" Type="http://schemas.openxmlformats.org/officeDocument/2006/relationships/oleObject" Target="../embeddings/oleObject8.bin"/><Relationship Id="rId2" Type="http://schemas.openxmlformats.org/officeDocument/2006/relationships/image" Target="../media/image9.emf"/><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20.wmf"/><Relationship Id="rId1" Type="http://schemas.openxmlformats.org/officeDocument/2006/relationships/image" Target="../media/image7.GIF"/></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2.wmf"/><Relationship Id="rId7" Type="http://schemas.openxmlformats.org/officeDocument/2006/relationships/oleObject" Target="../embeddings/oleObject14.bin"/><Relationship Id="rId6" Type="http://schemas.openxmlformats.org/officeDocument/2006/relationships/image" Target="../media/image21.wmf"/><Relationship Id="rId5" Type="http://schemas.openxmlformats.org/officeDocument/2006/relationships/oleObject" Target="../embeddings/oleObject13.bin"/><Relationship Id="rId4" Type="http://schemas.openxmlformats.org/officeDocument/2006/relationships/image" Target="../media/image20.wmf"/><Relationship Id="rId3" Type="http://schemas.openxmlformats.org/officeDocument/2006/relationships/oleObject" Target="../embeddings/oleObject12.bin"/><Relationship Id="rId2" Type="http://schemas.openxmlformats.org/officeDocument/2006/relationships/image" Target="../media/image8.png"/><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23.wmf"/><Relationship Id="rId1" Type="http://schemas.openxmlformats.org/officeDocument/2006/relationships/image" Target="../media/image7.GIF"/></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GIF"/><Relationship Id="rId2" Type="http://schemas.openxmlformats.org/officeDocument/2006/relationships/image" Target="../media/image24.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7.GIF"/></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7.GIF"/></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GIF"/><Relationship Id="rId3" Type="http://schemas.openxmlformats.org/officeDocument/2006/relationships/image" Target="../media/image25.jpeg"/><Relationship Id="rId2" Type="http://schemas.openxmlformats.org/officeDocument/2006/relationships/image" Target="../media/image8.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GI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GIF"/><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GIF"/><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GIF"/><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GIF"/><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GIF"/><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GIF"/><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GIF"/></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7.GIF"/><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7.GI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30.wmf"/><Relationship Id="rId2" Type="http://schemas.openxmlformats.org/officeDocument/2006/relationships/oleObject" Target="../embeddings/oleObject16.bin"/><Relationship Id="rId1" Type="http://schemas.openxmlformats.org/officeDocument/2006/relationships/image" Target="../media/image7.GIF"/></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image" Target="../media/image32.wmf"/><Relationship Id="rId4" Type="http://schemas.openxmlformats.org/officeDocument/2006/relationships/oleObject" Target="../embeddings/oleObject18.bin"/><Relationship Id="rId3" Type="http://schemas.openxmlformats.org/officeDocument/2006/relationships/image" Target="../media/image31.wmf"/><Relationship Id="rId2" Type="http://schemas.openxmlformats.org/officeDocument/2006/relationships/oleObject" Target="../embeddings/oleObject17.bin"/><Relationship Id="rId1" Type="http://schemas.openxmlformats.org/officeDocument/2006/relationships/image" Target="../media/image7.GI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50.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7.GIF"/><Relationship Id="rId2" Type="http://schemas.openxmlformats.org/officeDocument/2006/relationships/image" Target="../media/image33.wmf"/><Relationship Id="rId1" Type="http://schemas.openxmlformats.org/officeDocument/2006/relationships/oleObject" Target="../embeddings/oleObject19.bin"/></Relationships>
</file>

<file path=ppt/slides/_rels/slide51.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7.xml"/><Relationship Id="rId3" Type="http://schemas.openxmlformats.org/officeDocument/2006/relationships/image" Target="../media/image7.GIF"/><Relationship Id="rId2" Type="http://schemas.openxmlformats.org/officeDocument/2006/relationships/image" Target="../media/image34.wmf"/><Relationship Id="rId1" Type="http://schemas.openxmlformats.org/officeDocument/2006/relationships/oleObject" Target="../embeddings/oleObject20.bin"/></Relationships>
</file>

<file path=ppt/slides/_rels/slide52.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image" Target="../media/image7.GIF"/><Relationship Id="rId2" Type="http://schemas.openxmlformats.org/officeDocument/2006/relationships/image" Target="../media/image35.emf"/><Relationship Id="rId1" Type="http://schemas.openxmlformats.org/officeDocument/2006/relationships/oleObject" Target="../embeddings/oleObject21.bin"/></Relationships>
</file>

<file path=ppt/slides/_rels/slide53.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7.xml"/><Relationship Id="rId3" Type="http://schemas.openxmlformats.org/officeDocument/2006/relationships/image" Target="../media/image7.GIF"/><Relationship Id="rId2" Type="http://schemas.openxmlformats.org/officeDocument/2006/relationships/image" Target="../media/image36.wmf"/><Relationship Id="rId1" Type="http://schemas.openxmlformats.org/officeDocument/2006/relationships/oleObject" Target="../embeddings/oleObject22.bin"/></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7.xml"/><Relationship Id="rId3" Type="http://schemas.openxmlformats.org/officeDocument/2006/relationships/image" Target="../media/image37.wmf"/><Relationship Id="rId2" Type="http://schemas.openxmlformats.org/officeDocument/2006/relationships/oleObject" Target="../embeddings/oleObject23.bin"/><Relationship Id="rId1" Type="http://schemas.openxmlformats.org/officeDocument/2006/relationships/image" Target="../media/image7.GI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7.GI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GI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611189" y="303610"/>
            <a:ext cx="5616575" cy="594122"/>
          </a:xfrm>
        </p:spPr>
        <p:txBody>
          <a:bodyPr/>
          <a:lstStyle/>
          <a:p>
            <a:pPr eaLnBrk="1" hangingPunct="1"/>
            <a:r>
              <a:rPr lang="zh-CN" altLang="en-US" sz="4000" smtClean="0">
                <a:solidFill>
                  <a:schemeClr val="bg1"/>
                </a:solidFill>
              </a:rPr>
              <a:t>移动通信原理</a:t>
            </a:r>
            <a:endParaRPr lang="zh-CN" altLang="en-US" sz="4000" smtClean="0">
              <a:solidFill>
                <a:schemeClr val="bg1"/>
              </a:solidFill>
            </a:endParaRPr>
          </a:p>
        </p:txBody>
      </p:sp>
      <p:sp>
        <p:nvSpPr>
          <p:cNvPr id="49155" name="Text Box 7"/>
          <p:cNvSpPr txBox="1">
            <a:spLocks noChangeArrowheads="1"/>
          </p:cNvSpPr>
          <p:nvPr/>
        </p:nvSpPr>
        <p:spPr bwMode="auto">
          <a:xfrm>
            <a:off x="1598614" y="2185988"/>
            <a:ext cx="2541587" cy="369332"/>
          </a:xfrm>
          <a:prstGeom prst="rect">
            <a:avLst/>
          </a:prstGeom>
          <a:noFill/>
          <a:ln w="9525">
            <a:noFill/>
            <a:miter lim="800000"/>
          </a:ln>
        </p:spPr>
        <p:txBody>
          <a:bodyPr>
            <a:spAutoFit/>
          </a:bodyPr>
          <a:lstStyle/>
          <a:p>
            <a:pPr>
              <a:spcBef>
                <a:spcPct val="50000"/>
              </a:spcBef>
            </a:pPr>
            <a:endParaRPr lang="zh-CN" altLang="zh-CN"/>
          </a:p>
        </p:txBody>
      </p:sp>
      <p:sp>
        <p:nvSpPr>
          <p:cNvPr id="49156" name="Rectangle 9"/>
          <p:cNvSpPr>
            <a:spLocks noChangeArrowheads="1"/>
          </p:cNvSpPr>
          <p:nvPr/>
        </p:nvSpPr>
        <p:spPr bwMode="gray">
          <a:xfrm>
            <a:off x="611189" y="2409825"/>
            <a:ext cx="5616575" cy="809625"/>
          </a:xfrm>
          <a:prstGeom prst="rect">
            <a:avLst/>
          </a:prstGeom>
          <a:noFill/>
          <a:ln w="9525">
            <a:noFill/>
            <a:miter lim="800000"/>
          </a:ln>
        </p:spPr>
        <p:txBody>
          <a:bodyPr anchor="ctr"/>
          <a:lstStyle/>
          <a:p>
            <a:pPr algn="ctr"/>
            <a:r>
              <a:rPr lang="zh-CN" altLang="en-US" sz="4000" b="1" dirty="0"/>
              <a:t>第</a:t>
            </a:r>
            <a:r>
              <a:rPr lang="en-US" altLang="zh-CN" sz="4000" b="1" dirty="0"/>
              <a:t>5</a:t>
            </a:r>
            <a:r>
              <a:rPr lang="zh-CN" altLang="en-US" sz="4000" b="1" dirty="0"/>
              <a:t>章 蜂窝组网技术</a:t>
            </a:r>
            <a:r>
              <a:rPr lang="zh-CN" altLang="en-US" dirty="0"/>
              <a:t> </a:t>
            </a:r>
            <a:r>
              <a:rPr lang="zh-CN" altLang="en-US" sz="4000" dirty="0"/>
              <a:t> </a:t>
            </a:r>
            <a:endParaRPr lang="zh-CN" altLang="en-US" sz="4000" dirty="0"/>
          </a:p>
        </p:txBody>
      </p:sp>
      <p:pic>
        <p:nvPicPr>
          <p:cNvPr id="5" name="图片 4" descr="5bc6fc52-b49d-4298-b410-192e1f0ef3a5.gif"/>
          <p:cNvPicPr>
            <a:picLocks noChangeAspect="1"/>
          </p:cNvPicPr>
          <p:nvPr/>
        </p:nvPicPr>
        <p:blipFill>
          <a:blip r:embed="rId1" cstate="print"/>
          <a:srcRect l="14589" t="33821" r="11138" b="38327"/>
          <a:stretch>
            <a:fillRect/>
          </a:stretch>
        </p:blipFill>
        <p:spPr>
          <a:xfrm>
            <a:off x="3203848" y="4299942"/>
            <a:ext cx="2592288" cy="648072"/>
          </a:xfrm>
          <a:prstGeom prst="rect">
            <a:avLst/>
          </a:prstGeom>
        </p:spPr>
      </p:pic>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页脚占位符 3"/>
          <p:cNvSpPr>
            <a:spLocks noGrp="1"/>
          </p:cNvSpPr>
          <p:nvPr>
            <p:ph type="ftr" sz="quarter" idx="10"/>
          </p:nvPr>
        </p:nvSpPr>
        <p:spPr/>
        <p:txBody>
          <a:bodyPr/>
          <a:lstStyle/>
          <a:p>
            <a:pPr>
              <a:defRPr/>
            </a:pPr>
            <a:r>
              <a:rPr lang="en-US" altLang="zh-CN"/>
              <a:t>Principle of Mobile Communication</a:t>
            </a:r>
            <a:endParaRPr lang="en-US" altLang="zh-CN"/>
          </a:p>
        </p:txBody>
      </p:sp>
      <p:grpSp>
        <p:nvGrpSpPr>
          <p:cNvPr id="2" name="Group 3"/>
          <p:cNvGrpSpPr/>
          <p:nvPr>
            <p:custDataLst>
              <p:tags r:id="rId1"/>
            </p:custDataLst>
          </p:nvPr>
        </p:nvGrpSpPr>
        <p:grpSpPr bwMode="auto">
          <a:xfrm>
            <a:off x="2124075" y="681037"/>
            <a:ext cx="4724400" cy="535781"/>
            <a:chOff x="1296" y="1824"/>
            <a:chExt cx="2976" cy="450"/>
          </a:xfrm>
        </p:grpSpPr>
        <p:sp>
          <p:nvSpPr>
            <p:cNvPr id="145412" name="AutoShape 4"/>
            <p:cNvSpPr>
              <a:spLocks noChangeArrowheads="1"/>
            </p:cNvSpPr>
            <p:nvPr>
              <p:custDataLst>
                <p:tags r:id="rId2"/>
              </p:custDataLst>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defRPr/>
              </a:pPr>
              <a:endParaRPr lang="zh-CN" altLang="en-US">
                <a:latin typeface="Arial" panose="020B0604020202020204" pitchFamily="34" charset="0"/>
              </a:endParaRPr>
            </a:p>
          </p:txBody>
        </p:sp>
        <p:sp>
          <p:nvSpPr>
            <p:cNvPr id="50217" name="AutoShape 5"/>
            <p:cNvSpPr>
              <a:spLocks noChangeArrowheads="1"/>
            </p:cNvSpPr>
            <p:nvPr>
              <p:custDataLst>
                <p:tags r:id="rId3"/>
              </p:custDataLst>
            </p:nvPr>
          </p:nvSpPr>
          <p:spPr bwMode="gray">
            <a:xfrm>
              <a:off x="1296" y="1824"/>
              <a:ext cx="432" cy="432"/>
            </a:xfrm>
            <a:prstGeom prst="diamond">
              <a:avLst/>
            </a:prstGeom>
            <a:solidFill>
              <a:schemeClr val="accent2"/>
            </a:solidFill>
            <a:ln w="25400" algn="ctr">
              <a:solidFill>
                <a:schemeClr val="bg1"/>
              </a:solidFill>
              <a:miter lim="800000"/>
            </a:ln>
          </p:spPr>
          <p:txBody>
            <a:bodyPr wrap="none" anchor="ctr"/>
            <a:lstStyle/>
            <a:p>
              <a:endParaRPr lang="zh-CN" altLang="en-US"/>
            </a:p>
          </p:txBody>
        </p:sp>
        <p:sp>
          <p:nvSpPr>
            <p:cNvPr id="50218" name="Text Box 6"/>
            <p:cNvSpPr txBox="1">
              <a:spLocks noChangeArrowheads="1"/>
            </p:cNvSpPr>
            <p:nvPr>
              <p:custDataLst>
                <p:tags r:id="rId4"/>
              </p:custDataLst>
            </p:nvPr>
          </p:nvSpPr>
          <p:spPr bwMode="gray">
            <a:xfrm>
              <a:off x="1680" y="1934"/>
              <a:ext cx="2160" cy="310"/>
            </a:xfrm>
            <a:prstGeom prst="rect">
              <a:avLst/>
            </a:prstGeom>
            <a:noFill/>
            <a:ln w="9525" algn="ctr">
              <a:noFill/>
              <a:miter lim="800000"/>
            </a:ln>
          </p:spPr>
          <p:txBody>
            <a:bodyPr>
              <a:spAutoFit/>
            </a:bodyPr>
            <a:lstStyle/>
            <a:p>
              <a:pPr algn="ctr" eaLnBrk="0" hangingPunct="0"/>
              <a:r>
                <a:rPr lang="zh-CN" altLang="en-US" b="1"/>
                <a:t>移动通信网的基本概念</a:t>
              </a:r>
              <a:r>
                <a:rPr lang="zh-CN" altLang="en-US"/>
                <a:t> </a:t>
              </a:r>
              <a:endParaRPr lang="zh-CN" altLang="en-US"/>
            </a:p>
          </p:txBody>
        </p:sp>
        <p:sp>
          <p:nvSpPr>
            <p:cNvPr id="50219" name="Text Box 7"/>
            <p:cNvSpPr txBox="1">
              <a:spLocks noChangeArrowheads="1"/>
            </p:cNvSpPr>
            <p:nvPr>
              <p:custDataLst>
                <p:tags r:id="rId5"/>
              </p:custDataLst>
            </p:nvPr>
          </p:nvSpPr>
          <p:spPr bwMode="gray">
            <a:xfrm>
              <a:off x="1313" y="1886"/>
              <a:ext cx="386" cy="388"/>
            </a:xfrm>
            <a:prstGeom prst="rect">
              <a:avLst/>
            </a:prstGeom>
            <a:noFill/>
            <a:ln w="9525" algn="ctr">
              <a:noFill/>
              <a:miter lim="800000"/>
            </a:ln>
          </p:spPr>
          <p:txBody>
            <a:bodyPr wrap="none">
              <a:spAutoFit/>
            </a:bodyPr>
            <a:lstStyle/>
            <a:p>
              <a:pPr algn="ctr" eaLnBrk="0" hangingPunct="0"/>
              <a:r>
                <a:rPr lang="en-US" altLang="zh-CN" sz="2400">
                  <a:solidFill>
                    <a:schemeClr val="bg1"/>
                  </a:solidFill>
                </a:rPr>
                <a:t>5.1</a:t>
              </a:r>
              <a:endParaRPr lang="en-US" altLang="zh-CN" sz="2400">
                <a:solidFill>
                  <a:schemeClr val="bg1"/>
                </a:solidFill>
              </a:endParaRPr>
            </a:p>
          </p:txBody>
        </p:sp>
      </p:grpSp>
      <p:grpSp>
        <p:nvGrpSpPr>
          <p:cNvPr id="3" name="Group 8"/>
          <p:cNvGrpSpPr/>
          <p:nvPr>
            <p:custDataLst>
              <p:tags r:id="rId6"/>
            </p:custDataLst>
          </p:nvPr>
        </p:nvGrpSpPr>
        <p:grpSpPr bwMode="auto">
          <a:xfrm>
            <a:off x="2124075" y="1383269"/>
            <a:ext cx="4724400" cy="514350"/>
            <a:chOff x="1296" y="1824"/>
            <a:chExt cx="2976" cy="432"/>
          </a:xfrm>
        </p:grpSpPr>
        <p:sp>
          <p:nvSpPr>
            <p:cNvPr id="145417" name="AutoShape 9"/>
            <p:cNvSpPr>
              <a:spLocks noChangeArrowheads="1"/>
            </p:cNvSpPr>
            <p:nvPr>
              <p:custDataLst>
                <p:tags r:id="rId7"/>
              </p:custDataLst>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defRPr/>
              </a:pPr>
              <a:endParaRPr lang="zh-CN" altLang="en-US">
                <a:latin typeface="Arial" panose="020B0604020202020204" pitchFamily="34" charset="0"/>
              </a:endParaRPr>
            </a:p>
          </p:txBody>
        </p:sp>
        <p:sp>
          <p:nvSpPr>
            <p:cNvPr id="50213" name="AutoShape 10"/>
            <p:cNvSpPr>
              <a:spLocks noChangeArrowheads="1"/>
            </p:cNvSpPr>
            <p:nvPr>
              <p:custDataLst>
                <p:tags r:id="rId8"/>
              </p:custDataLst>
            </p:nvPr>
          </p:nvSpPr>
          <p:spPr bwMode="gray">
            <a:xfrm>
              <a:off x="1296" y="1824"/>
              <a:ext cx="432" cy="432"/>
            </a:xfrm>
            <a:prstGeom prst="diamond">
              <a:avLst/>
            </a:prstGeom>
            <a:solidFill>
              <a:schemeClr val="accent1"/>
            </a:solidFill>
            <a:ln w="25400" algn="ctr">
              <a:solidFill>
                <a:schemeClr val="bg1"/>
              </a:solidFill>
              <a:miter lim="800000"/>
            </a:ln>
          </p:spPr>
          <p:txBody>
            <a:bodyPr wrap="none" anchor="ctr"/>
            <a:lstStyle/>
            <a:p>
              <a:endParaRPr lang="zh-CN" altLang="en-US"/>
            </a:p>
          </p:txBody>
        </p:sp>
        <p:sp>
          <p:nvSpPr>
            <p:cNvPr id="50214" name="Text Box 11"/>
            <p:cNvSpPr txBox="1">
              <a:spLocks noChangeArrowheads="1"/>
            </p:cNvSpPr>
            <p:nvPr>
              <p:custDataLst>
                <p:tags r:id="rId9"/>
              </p:custDataLst>
            </p:nvPr>
          </p:nvSpPr>
          <p:spPr bwMode="gray">
            <a:xfrm>
              <a:off x="1680" y="1934"/>
              <a:ext cx="2160" cy="310"/>
            </a:xfrm>
            <a:prstGeom prst="rect">
              <a:avLst/>
            </a:prstGeom>
            <a:noFill/>
            <a:ln w="9525" algn="ctr">
              <a:noFill/>
              <a:miter lim="800000"/>
            </a:ln>
          </p:spPr>
          <p:txBody>
            <a:bodyPr>
              <a:spAutoFit/>
            </a:bodyPr>
            <a:lstStyle/>
            <a:p>
              <a:pPr algn="ctr" eaLnBrk="0" hangingPunct="0"/>
              <a:r>
                <a:rPr lang="zh-CN" altLang="en-US" b="1"/>
                <a:t>频率复用和蜂窝技术 </a:t>
              </a:r>
              <a:r>
                <a:rPr lang="zh-CN" altLang="en-US"/>
                <a:t> </a:t>
              </a:r>
              <a:endParaRPr lang="zh-CN" altLang="en-US"/>
            </a:p>
          </p:txBody>
        </p:sp>
        <p:sp>
          <p:nvSpPr>
            <p:cNvPr id="50215" name="Text Box 12"/>
            <p:cNvSpPr txBox="1">
              <a:spLocks noChangeArrowheads="1"/>
            </p:cNvSpPr>
            <p:nvPr>
              <p:custDataLst>
                <p:tags r:id="rId10"/>
              </p:custDataLst>
            </p:nvPr>
          </p:nvSpPr>
          <p:spPr bwMode="gray">
            <a:xfrm>
              <a:off x="1335" y="1916"/>
              <a:ext cx="340" cy="336"/>
            </a:xfrm>
            <a:prstGeom prst="rect">
              <a:avLst/>
            </a:prstGeom>
            <a:noFill/>
            <a:ln w="9525" algn="ctr">
              <a:noFill/>
              <a:miter lim="800000"/>
            </a:ln>
          </p:spPr>
          <p:txBody>
            <a:bodyPr wrap="none">
              <a:spAutoFit/>
            </a:bodyPr>
            <a:lstStyle/>
            <a:p>
              <a:pPr algn="ctr" eaLnBrk="0" hangingPunct="0"/>
              <a:r>
                <a:rPr lang="en-US" altLang="zh-CN" sz="2000">
                  <a:solidFill>
                    <a:schemeClr val="bg1"/>
                  </a:solidFill>
                </a:rPr>
                <a:t>5.2</a:t>
              </a:r>
              <a:endParaRPr lang="en-US" altLang="zh-CN" sz="2000">
                <a:solidFill>
                  <a:schemeClr val="bg1"/>
                </a:solidFill>
              </a:endParaRPr>
            </a:p>
          </p:txBody>
        </p:sp>
      </p:grpSp>
      <p:grpSp>
        <p:nvGrpSpPr>
          <p:cNvPr id="4" name="Group 13"/>
          <p:cNvGrpSpPr/>
          <p:nvPr>
            <p:custDataLst>
              <p:tags r:id="rId11"/>
            </p:custDataLst>
          </p:nvPr>
        </p:nvGrpSpPr>
        <p:grpSpPr bwMode="auto">
          <a:xfrm>
            <a:off x="2124075" y="2084309"/>
            <a:ext cx="4724400" cy="514350"/>
            <a:chOff x="1296" y="1824"/>
            <a:chExt cx="2976" cy="432"/>
          </a:xfrm>
        </p:grpSpPr>
        <p:sp>
          <p:nvSpPr>
            <p:cNvPr id="145422" name="AutoShape 14"/>
            <p:cNvSpPr>
              <a:spLocks noChangeArrowheads="1"/>
            </p:cNvSpPr>
            <p:nvPr>
              <p:custDataLst>
                <p:tags r:id="rId12"/>
              </p:custDataLst>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defRPr/>
              </a:pPr>
              <a:endParaRPr lang="zh-CN" altLang="en-US">
                <a:latin typeface="Arial" panose="020B0604020202020204" pitchFamily="34" charset="0"/>
              </a:endParaRPr>
            </a:p>
          </p:txBody>
        </p:sp>
        <p:sp>
          <p:nvSpPr>
            <p:cNvPr id="50209" name="AutoShape 15"/>
            <p:cNvSpPr>
              <a:spLocks noChangeArrowheads="1"/>
            </p:cNvSpPr>
            <p:nvPr>
              <p:custDataLst>
                <p:tags r:id="rId13"/>
              </p:custDataLst>
            </p:nvPr>
          </p:nvSpPr>
          <p:spPr bwMode="gray">
            <a:xfrm>
              <a:off x="1296" y="1824"/>
              <a:ext cx="432" cy="432"/>
            </a:xfrm>
            <a:prstGeom prst="diamond">
              <a:avLst/>
            </a:prstGeom>
            <a:solidFill>
              <a:schemeClr val="hlink"/>
            </a:solidFill>
            <a:ln w="25400" algn="ctr">
              <a:solidFill>
                <a:schemeClr val="bg1"/>
              </a:solidFill>
              <a:miter lim="800000"/>
            </a:ln>
          </p:spPr>
          <p:txBody>
            <a:bodyPr wrap="none" anchor="ctr"/>
            <a:lstStyle/>
            <a:p>
              <a:endParaRPr lang="zh-CN" altLang="en-US"/>
            </a:p>
          </p:txBody>
        </p:sp>
        <p:sp>
          <p:nvSpPr>
            <p:cNvPr id="50210" name="Text Box 16"/>
            <p:cNvSpPr txBox="1">
              <a:spLocks noChangeArrowheads="1"/>
            </p:cNvSpPr>
            <p:nvPr>
              <p:custDataLst>
                <p:tags r:id="rId14"/>
              </p:custDataLst>
            </p:nvPr>
          </p:nvSpPr>
          <p:spPr bwMode="gray">
            <a:xfrm>
              <a:off x="1680" y="1934"/>
              <a:ext cx="2160" cy="310"/>
            </a:xfrm>
            <a:prstGeom prst="rect">
              <a:avLst/>
            </a:prstGeom>
            <a:noFill/>
            <a:ln w="9525" algn="ctr">
              <a:noFill/>
              <a:miter lim="800000"/>
            </a:ln>
          </p:spPr>
          <p:txBody>
            <a:bodyPr>
              <a:spAutoFit/>
            </a:bodyPr>
            <a:lstStyle/>
            <a:p>
              <a:pPr algn="ctr" eaLnBrk="0" hangingPunct="0"/>
              <a:r>
                <a:rPr lang="zh-CN" altLang="en-US" b="1"/>
                <a:t>多址接入技术</a:t>
              </a:r>
              <a:endParaRPr lang="zh-CN" altLang="en-US"/>
            </a:p>
          </p:txBody>
        </p:sp>
        <p:sp>
          <p:nvSpPr>
            <p:cNvPr id="50211" name="Text Box 17"/>
            <p:cNvSpPr txBox="1">
              <a:spLocks noChangeArrowheads="1"/>
            </p:cNvSpPr>
            <p:nvPr>
              <p:custDataLst>
                <p:tags r:id="rId15"/>
              </p:custDataLst>
            </p:nvPr>
          </p:nvSpPr>
          <p:spPr bwMode="gray">
            <a:xfrm>
              <a:off x="1335" y="1916"/>
              <a:ext cx="340" cy="336"/>
            </a:xfrm>
            <a:prstGeom prst="rect">
              <a:avLst/>
            </a:prstGeom>
            <a:noFill/>
            <a:ln w="9525" algn="ctr">
              <a:noFill/>
              <a:miter lim="800000"/>
            </a:ln>
          </p:spPr>
          <p:txBody>
            <a:bodyPr wrap="none">
              <a:spAutoFit/>
            </a:bodyPr>
            <a:lstStyle/>
            <a:p>
              <a:pPr algn="ctr" eaLnBrk="0" hangingPunct="0"/>
              <a:r>
                <a:rPr lang="en-US" altLang="zh-CN" sz="2000">
                  <a:solidFill>
                    <a:schemeClr val="bg1"/>
                  </a:solidFill>
                </a:rPr>
                <a:t>5.3</a:t>
              </a:r>
              <a:endParaRPr lang="en-US" altLang="zh-CN" sz="2000">
                <a:solidFill>
                  <a:schemeClr val="bg1"/>
                </a:solidFill>
              </a:endParaRPr>
            </a:p>
          </p:txBody>
        </p:sp>
      </p:grpSp>
      <p:grpSp>
        <p:nvGrpSpPr>
          <p:cNvPr id="7" name="Group 28"/>
          <p:cNvGrpSpPr/>
          <p:nvPr>
            <p:custDataLst>
              <p:tags r:id="rId16"/>
            </p:custDataLst>
          </p:nvPr>
        </p:nvGrpSpPr>
        <p:grpSpPr bwMode="auto">
          <a:xfrm>
            <a:off x="2133600" y="2752011"/>
            <a:ext cx="4724400" cy="514350"/>
            <a:chOff x="1296" y="1824"/>
            <a:chExt cx="2976" cy="432"/>
          </a:xfrm>
        </p:grpSpPr>
        <p:sp>
          <p:nvSpPr>
            <p:cNvPr id="145437" name="AutoShape 29"/>
            <p:cNvSpPr>
              <a:spLocks noChangeArrowheads="1"/>
            </p:cNvSpPr>
            <p:nvPr>
              <p:custDataLst>
                <p:tags r:id="rId17"/>
              </p:custDataLst>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defRPr/>
              </a:pPr>
              <a:endParaRPr lang="zh-CN" altLang="en-US">
                <a:latin typeface="Arial" panose="020B0604020202020204" pitchFamily="34" charset="0"/>
              </a:endParaRPr>
            </a:p>
          </p:txBody>
        </p:sp>
        <p:sp>
          <p:nvSpPr>
            <p:cNvPr id="50197" name="AutoShape 30"/>
            <p:cNvSpPr>
              <a:spLocks noChangeArrowheads="1"/>
            </p:cNvSpPr>
            <p:nvPr>
              <p:custDataLst>
                <p:tags r:id="rId18"/>
              </p:custDataLst>
            </p:nvPr>
          </p:nvSpPr>
          <p:spPr bwMode="gray">
            <a:xfrm>
              <a:off x="1296" y="1824"/>
              <a:ext cx="432" cy="432"/>
            </a:xfrm>
            <a:prstGeom prst="diamond">
              <a:avLst/>
            </a:prstGeom>
            <a:solidFill>
              <a:schemeClr val="accent1"/>
            </a:solidFill>
            <a:ln w="25400" algn="ctr">
              <a:solidFill>
                <a:schemeClr val="bg1"/>
              </a:solidFill>
              <a:miter lim="800000"/>
            </a:ln>
          </p:spPr>
          <p:txBody>
            <a:bodyPr wrap="none" anchor="ctr"/>
            <a:lstStyle/>
            <a:p>
              <a:endParaRPr lang="zh-CN" altLang="en-US"/>
            </a:p>
          </p:txBody>
        </p:sp>
        <p:sp>
          <p:nvSpPr>
            <p:cNvPr id="50198" name="Text Box 31"/>
            <p:cNvSpPr txBox="1">
              <a:spLocks noChangeArrowheads="1"/>
            </p:cNvSpPr>
            <p:nvPr>
              <p:custDataLst>
                <p:tags r:id="rId19"/>
              </p:custDataLst>
            </p:nvPr>
          </p:nvSpPr>
          <p:spPr bwMode="gray">
            <a:xfrm>
              <a:off x="1680" y="1934"/>
              <a:ext cx="2160" cy="310"/>
            </a:xfrm>
            <a:prstGeom prst="rect">
              <a:avLst/>
            </a:prstGeom>
            <a:noFill/>
            <a:ln w="9525" algn="ctr">
              <a:noFill/>
              <a:miter lim="800000"/>
            </a:ln>
          </p:spPr>
          <p:txBody>
            <a:bodyPr>
              <a:spAutoFit/>
            </a:bodyPr>
            <a:lstStyle/>
            <a:p>
              <a:pPr algn="ctr" eaLnBrk="0" hangingPunct="0"/>
              <a:r>
                <a:rPr lang="zh-CN" altLang="en-US" b="1"/>
                <a:t>切换、位置更新</a:t>
              </a:r>
              <a:endParaRPr lang="zh-CN" altLang="en-US"/>
            </a:p>
          </p:txBody>
        </p:sp>
        <p:sp>
          <p:nvSpPr>
            <p:cNvPr id="50199" name="Text Box 32"/>
            <p:cNvSpPr txBox="1">
              <a:spLocks noChangeArrowheads="1"/>
            </p:cNvSpPr>
            <p:nvPr>
              <p:custDataLst>
                <p:tags r:id="rId20"/>
              </p:custDataLst>
            </p:nvPr>
          </p:nvSpPr>
          <p:spPr bwMode="gray">
            <a:xfrm>
              <a:off x="1337" y="1916"/>
              <a:ext cx="337" cy="335"/>
            </a:xfrm>
            <a:prstGeom prst="rect">
              <a:avLst/>
            </a:prstGeom>
            <a:noFill/>
            <a:ln w="9525" algn="ctr">
              <a:noFill/>
              <a:miter lim="800000"/>
            </a:ln>
          </p:spPr>
          <p:txBody>
            <a:bodyPr wrap="none">
              <a:spAutoFit/>
            </a:bodyPr>
            <a:lstStyle/>
            <a:p>
              <a:pPr algn="ctr" eaLnBrk="0" hangingPunct="0"/>
              <a:r>
                <a:rPr lang="en-US" altLang="zh-CN" sz="2000">
                  <a:solidFill>
                    <a:schemeClr val="bg1"/>
                  </a:solidFill>
                </a:rPr>
                <a:t>5.4</a:t>
              </a:r>
              <a:endParaRPr lang="en-US" altLang="zh-CN" sz="2000">
                <a:solidFill>
                  <a:schemeClr val="bg1"/>
                </a:solidFill>
              </a:endParaRPr>
            </a:p>
          </p:txBody>
        </p:sp>
      </p:grpSp>
      <p:grpSp>
        <p:nvGrpSpPr>
          <p:cNvPr id="8" name="Group 33"/>
          <p:cNvGrpSpPr/>
          <p:nvPr>
            <p:custDataLst>
              <p:tags r:id="rId21"/>
            </p:custDataLst>
          </p:nvPr>
        </p:nvGrpSpPr>
        <p:grpSpPr bwMode="auto">
          <a:xfrm>
            <a:off x="2143125" y="3450432"/>
            <a:ext cx="4724400" cy="514350"/>
            <a:chOff x="1296" y="1644"/>
            <a:chExt cx="2976" cy="432"/>
          </a:xfrm>
        </p:grpSpPr>
        <p:sp>
          <p:nvSpPr>
            <p:cNvPr id="145442" name="AutoShape 34"/>
            <p:cNvSpPr>
              <a:spLocks noChangeArrowheads="1"/>
            </p:cNvSpPr>
            <p:nvPr>
              <p:custDataLst>
                <p:tags r:id="rId22"/>
              </p:custDataLst>
            </p:nvPr>
          </p:nvSpPr>
          <p:spPr bwMode="gray">
            <a:xfrm>
              <a:off x="1536" y="171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defRPr/>
              </a:pPr>
              <a:endParaRPr lang="zh-CN" altLang="en-US">
                <a:latin typeface="Arial" panose="020B0604020202020204" pitchFamily="34" charset="0"/>
              </a:endParaRPr>
            </a:p>
          </p:txBody>
        </p:sp>
        <p:sp>
          <p:nvSpPr>
            <p:cNvPr id="50193" name="AutoShape 35"/>
            <p:cNvSpPr>
              <a:spLocks noChangeArrowheads="1"/>
            </p:cNvSpPr>
            <p:nvPr>
              <p:custDataLst>
                <p:tags r:id="rId23"/>
              </p:custDataLst>
            </p:nvPr>
          </p:nvSpPr>
          <p:spPr bwMode="gray">
            <a:xfrm>
              <a:off x="1296" y="1644"/>
              <a:ext cx="432" cy="432"/>
            </a:xfrm>
            <a:prstGeom prst="diamond">
              <a:avLst/>
            </a:prstGeom>
            <a:solidFill>
              <a:schemeClr val="hlink"/>
            </a:solidFill>
            <a:ln w="25400" algn="ctr">
              <a:solidFill>
                <a:schemeClr val="bg1"/>
              </a:solidFill>
              <a:miter lim="800000"/>
            </a:ln>
          </p:spPr>
          <p:txBody>
            <a:bodyPr wrap="none" anchor="ctr"/>
            <a:lstStyle/>
            <a:p>
              <a:endParaRPr lang="zh-CN" altLang="en-US"/>
            </a:p>
          </p:txBody>
        </p:sp>
        <p:sp>
          <p:nvSpPr>
            <p:cNvPr id="50194" name="Text Box 36"/>
            <p:cNvSpPr txBox="1">
              <a:spLocks noChangeArrowheads="1"/>
            </p:cNvSpPr>
            <p:nvPr>
              <p:custDataLst>
                <p:tags r:id="rId24"/>
              </p:custDataLst>
            </p:nvPr>
          </p:nvSpPr>
          <p:spPr bwMode="gray">
            <a:xfrm>
              <a:off x="1680" y="1754"/>
              <a:ext cx="2160" cy="310"/>
            </a:xfrm>
            <a:prstGeom prst="rect">
              <a:avLst/>
            </a:prstGeom>
            <a:noFill/>
            <a:ln w="9525" algn="ctr">
              <a:noFill/>
              <a:miter lim="800000"/>
            </a:ln>
          </p:spPr>
          <p:txBody>
            <a:bodyPr>
              <a:spAutoFit/>
            </a:bodyPr>
            <a:lstStyle/>
            <a:p>
              <a:pPr algn="ctr" eaLnBrk="0" hangingPunct="0"/>
              <a:r>
                <a:rPr lang="zh-CN" altLang="en-US" b="1"/>
                <a:t>无线资源管理技术</a:t>
              </a:r>
              <a:endParaRPr lang="zh-CN" altLang="en-US" b="1"/>
            </a:p>
          </p:txBody>
        </p:sp>
        <p:sp>
          <p:nvSpPr>
            <p:cNvPr id="50195" name="Text Box 37"/>
            <p:cNvSpPr txBox="1">
              <a:spLocks noChangeArrowheads="1"/>
            </p:cNvSpPr>
            <p:nvPr>
              <p:custDataLst>
                <p:tags r:id="rId25"/>
              </p:custDataLst>
            </p:nvPr>
          </p:nvSpPr>
          <p:spPr bwMode="gray">
            <a:xfrm>
              <a:off x="1337" y="1736"/>
              <a:ext cx="337" cy="335"/>
            </a:xfrm>
            <a:prstGeom prst="rect">
              <a:avLst/>
            </a:prstGeom>
            <a:noFill/>
            <a:ln w="9525" algn="ctr">
              <a:noFill/>
              <a:miter lim="800000"/>
            </a:ln>
          </p:spPr>
          <p:txBody>
            <a:bodyPr wrap="none">
              <a:spAutoFit/>
            </a:bodyPr>
            <a:lstStyle/>
            <a:p>
              <a:pPr algn="ctr" eaLnBrk="0" hangingPunct="0"/>
              <a:r>
                <a:rPr lang="en-US" altLang="zh-CN" sz="2000">
                  <a:solidFill>
                    <a:schemeClr val="bg1"/>
                  </a:solidFill>
                </a:rPr>
                <a:t>5.5</a:t>
              </a:r>
              <a:endParaRPr lang="en-US" altLang="zh-CN" sz="2000">
                <a:solidFill>
                  <a:schemeClr val="bg1"/>
                </a:solidFill>
              </a:endParaRPr>
            </a:p>
          </p:txBody>
        </p:sp>
      </p:grpSp>
      <p:grpSp>
        <p:nvGrpSpPr>
          <p:cNvPr id="9" name="Group 68"/>
          <p:cNvGrpSpPr/>
          <p:nvPr>
            <p:custDataLst>
              <p:tags r:id="rId26"/>
            </p:custDataLst>
          </p:nvPr>
        </p:nvGrpSpPr>
        <p:grpSpPr bwMode="auto">
          <a:xfrm>
            <a:off x="2143125" y="4179094"/>
            <a:ext cx="4724400" cy="514350"/>
            <a:chOff x="1296" y="1824"/>
            <a:chExt cx="2976" cy="432"/>
          </a:xfrm>
        </p:grpSpPr>
        <p:sp>
          <p:nvSpPr>
            <p:cNvPr id="145477" name="AutoShape 69"/>
            <p:cNvSpPr>
              <a:spLocks noChangeArrowheads="1"/>
            </p:cNvSpPr>
            <p:nvPr>
              <p:custDataLst>
                <p:tags r:id="rId27"/>
              </p:custDataLst>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defRPr/>
              </a:pPr>
              <a:endParaRPr lang="zh-CN" altLang="en-US">
                <a:latin typeface="Arial" panose="020B0604020202020204" pitchFamily="34" charset="0"/>
              </a:endParaRPr>
            </a:p>
          </p:txBody>
        </p:sp>
        <p:sp>
          <p:nvSpPr>
            <p:cNvPr id="50189" name="AutoShape 70"/>
            <p:cNvSpPr>
              <a:spLocks noChangeArrowheads="1"/>
            </p:cNvSpPr>
            <p:nvPr>
              <p:custDataLst>
                <p:tags r:id="rId28"/>
              </p:custDataLst>
            </p:nvPr>
          </p:nvSpPr>
          <p:spPr bwMode="gray">
            <a:xfrm>
              <a:off x="1296" y="1824"/>
              <a:ext cx="432" cy="432"/>
            </a:xfrm>
            <a:prstGeom prst="diamond">
              <a:avLst/>
            </a:prstGeom>
            <a:solidFill>
              <a:schemeClr val="folHlink"/>
            </a:solidFill>
            <a:ln w="25400" algn="ctr">
              <a:solidFill>
                <a:schemeClr val="bg1"/>
              </a:solidFill>
              <a:miter lim="800000"/>
            </a:ln>
          </p:spPr>
          <p:txBody>
            <a:bodyPr wrap="none" anchor="ctr"/>
            <a:lstStyle/>
            <a:p>
              <a:endParaRPr lang="zh-CN" altLang="en-US"/>
            </a:p>
          </p:txBody>
        </p:sp>
        <p:sp>
          <p:nvSpPr>
            <p:cNvPr id="50190" name="Text Box 71"/>
            <p:cNvSpPr txBox="1">
              <a:spLocks noChangeArrowheads="1"/>
            </p:cNvSpPr>
            <p:nvPr>
              <p:custDataLst>
                <p:tags r:id="rId29"/>
              </p:custDataLst>
            </p:nvPr>
          </p:nvSpPr>
          <p:spPr bwMode="gray">
            <a:xfrm>
              <a:off x="1680" y="1934"/>
              <a:ext cx="2160" cy="310"/>
            </a:xfrm>
            <a:prstGeom prst="rect">
              <a:avLst/>
            </a:prstGeom>
            <a:noFill/>
            <a:ln w="9525" algn="ctr">
              <a:noFill/>
              <a:miter lim="800000"/>
            </a:ln>
          </p:spPr>
          <p:txBody>
            <a:bodyPr>
              <a:spAutoFit/>
            </a:bodyPr>
            <a:lstStyle/>
            <a:p>
              <a:pPr algn="ctr" eaLnBrk="0" hangingPunct="0"/>
              <a:r>
                <a:rPr lang="zh-CN" altLang="en-US" b="1"/>
                <a:t>移动通信网络结构</a:t>
              </a:r>
              <a:endParaRPr lang="zh-CN" altLang="en-US"/>
            </a:p>
          </p:txBody>
        </p:sp>
        <p:sp>
          <p:nvSpPr>
            <p:cNvPr id="50191" name="Text Box 72"/>
            <p:cNvSpPr txBox="1">
              <a:spLocks noChangeArrowheads="1"/>
            </p:cNvSpPr>
            <p:nvPr>
              <p:custDataLst>
                <p:tags r:id="rId30"/>
              </p:custDataLst>
            </p:nvPr>
          </p:nvSpPr>
          <p:spPr bwMode="gray">
            <a:xfrm>
              <a:off x="1337" y="1916"/>
              <a:ext cx="337" cy="335"/>
            </a:xfrm>
            <a:prstGeom prst="rect">
              <a:avLst/>
            </a:prstGeom>
            <a:noFill/>
            <a:ln w="9525" algn="ctr">
              <a:noFill/>
              <a:miter lim="800000"/>
            </a:ln>
          </p:spPr>
          <p:txBody>
            <a:bodyPr wrap="none">
              <a:spAutoFit/>
            </a:bodyPr>
            <a:lstStyle/>
            <a:p>
              <a:pPr algn="ctr" eaLnBrk="0" hangingPunct="0"/>
              <a:r>
                <a:rPr lang="en-US" altLang="zh-CN" sz="2000">
                  <a:solidFill>
                    <a:schemeClr val="bg1"/>
                  </a:solidFill>
                </a:rPr>
                <a:t>5.6</a:t>
              </a:r>
              <a:endParaRPr lang="en-US" altLang="zh-CN" sz="2000">
                <a:solidFill>
                  <a:schemeClr val="bg1"/>
                </a:solidFill>
              </a:endParaRPr>
            </a:p>
          </p:txBody>
        </p:sp>
      </p:grpSp>
      <p:sp>
        <p:nvSpPr>
          <p:cNvPr id="44" name="Rectangle 2"/>
          <p:cNvSpPr txBox="1"/>
          <p:nvPr/>
        </p:nvSpPr>
        <p:spPr>
          <a:xfrm>
            <a:off x="900311" y="141710"/>
            <a:ext cx="4247753" cy="422745"/>
          </a:xfrm>
          <a:prstGeom prst="rect">
            <a:avLst/>
          </a:prstGeom>
          <a:noFill/>
          <a:ln w="9525">
            <a:noFill/>
          </a:ln>
        </p:spPr>
        <p:txBody>
          <a:bodyPr vert="horz" wrap="square" lIns="68591" tIns="34295" rIns="68591" bIns="34295"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smtClean="0">
                <a:ln>
                  <a:noFill/>
                </a:ln>
                <a:solidFill>
                  <a:schemeClr val="bg1"/>
                </a:solidFill>
                <a:effectLst/>
                <a:uLnTx/>
                <a:uFillTx/>
                <a:latin typeface="+mj-lt"/>
                <a:ea typeface="+mj-ea"/>
                <a:cs typeface="+mj-cs"/>
              </a:rPr>
              <a:t>目 录</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45" name="图片 44" descr="5bc6fc52-b49d-4298-b410-192e1f0ef3a5.gif"/>
          <p:cNvPicPr>
            <a:picLocks noChangeAspect="1"/>
          </p:cNvPicPr>
          <p:nvPr/>
        </p:nvPicPr>
        <p:blipFill>
          <a:blip r:embed="rId31" cstate="print"/>
          <a:srcRect l="36267" t="33821" r="11138" b="38327"/>
          <a:stretch>
            <a:fillRect/>
          </a:stretch>
        </p:blipFill>
        <p:spPr>
          <a:xfrm>
            <a:off x="7308304" y="4495428"/>
            <a:ext cx="1835696" cy="648072"/>
          </a:xfrm>
          <a:prstGeom prst="rect">
            <a:avLst/>
          </a:prstGeom>
        </p:spPr>
      </p:pic>
      <p:pic>
        <p:nvPicPr>
          <p:cNvPr id="46" name="图片 45" descr="5bc6fc52-b49d-4298-b410-192e1f0ef3a5.gif"/>
          <p:cNvPicPr>
            <a:picLocks noChangeAspect="1"/>
          </p:cNvPicPr>
          <p:nvPr/>
        </p:nvPicPr>
        <p:blipFill>
          <a:blip r:embed="rId31"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44" name="Rectangle 2"/>
          <p:cNvSpPr txBox="1"/>
          <p:nvPr/>
        </p:nvSpPr>
        <p:spPr>
          <a:xfrm>
            <a:off x="900311" y="141710"/>
            <a:ext cx="4247753" cy="422745"/>
          </a:xfrm>
          <a:prstGeom prst="rect">
            <a:avLst/>
          </a:prstGeom>
          <a:noFill/>
          <a:ln w="9525">
            <a:noFill/>
          </a:ln>
        </p:spPr>
        <p:txBody>
          <a:bodyPr vert="horz" wrap="square" lIns="68591" tIns="34295" rIns="68591" bIns="34295"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smtClean="0">
                <a:ln>
                  <a:noFill/>
                </a:ln>
                <a:solidFill>
                  <a:schemeClr val="bg1"/>
                </a:solidFill>
                <a:effectLst/>
                <a:uLnTx/>
                <a:uFillTx/>
                <a:latin typeface="+mj-lt"/>
                <a:ea typeface="+mj-ea"/>
                <a:cs typeface="+mj-cs"/>
              </a:rPr>
              <a:t>学习内容</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45" name="图片 44"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46" name="图片 45"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47" name="TextBox 46"/>
          <p:cNvSpPr txBox="1"/>
          <p:nvPr/>
        </p:nvSpPr>
        <p:spPr>
          <a:xfrm>
            <a:off x="827584" y="1275606"/>
            <a:ext cx="6768752" cy="3138170"/>
          </a:xfrm>
          <a:prstGeom prst="rect">
            <a:avLst/>
          </a:prstGeom>
          <a:noFill/>
        </p:spPr>
        <p:txBody>
          <a:bodyPr wrap="square" rtlCol="0">
            <a:spAutoFit/>
          </a:bodyPr>
          <a:lstStyle/>
          <a:p>
            <a:pPr>
              <a:lnSpc>
                <a:spcPct val="150000"/>
              </a:lnSpc>
            </a:pPr>
            <a:r>
              <a:rPr lang="zh-CN" altLang="en-US" sz="2200" dirty="0" smtClean="0"/>
              <a:t>（</a:t>
            </a:r>
            <a:r>
              <a:rPr lang="en-US" altLang="zh-CN" sz="2200" dirty="0" smtClean="0"/>
              <a:t>1</a:t>
            </a:r>
            <a:r>
              <a:rPr lang="zh-CN" altLang="en-US" sz="2200" dirty="0" smtClean="0"/>
              <a:t>）掌握移动通信网的概念和特点；</a:t>
            </a:r>
            <a:endParaRPr lang="en-US" altLang="zh-CN" sz="2200" dirty="0" smtClean="0"/>
          </a:p>
          <a:p>
            <a:pPr>
              <a:lnSpc>
                <a:spcPct val="150000"/>
              </a:lnSpc>
            </a:pPr>
            <a:r>
              <a:rPr lang="zh-CN" altLang="en-US" sz="2200" dirty="0" smtClean="0"/>
              <a:t>（</a:t>
            </a:r>
            <a:r>
              <a:rPr lang="en-US" altLang="zh-CN" sz="2200" dirty="0" smtClean="0"/>
              <a:t>2</a:t>
            </a:r>
            <a:r>
              <a:rPr lang="zh-CN" altLang="en-US" sz="2200" dirty="0" smtClean="0"/>
              <a:t>）掌握蜂窝小区的原理及相关技术；</a:t>
            </a:r>
            <a:endParaRPr lang="en-US" altLang="zh-CN" sz="2200" dirty="0" smtClean="0"/>
          </a:p>
          <a:p>
            <a:pPr>
              <a:lnSpc>
                <a:spcPct val="150000"/>
              </a:lnSpc>
            </a:pPr>
            <a:r>
              <a:rPr lang="zh-CN" altLang="en-US" sz="2200" dirty="0" smtClean="0"/>
              <a:t>（</a:t>
            </a:r>
            <a:r>
              <a:rPr lang="en-US" altLang="zh-CN" sz="2200" dirty="0" smtClean="0"/>
              <a:t>3</a:t>
            </a:r>
            <a:r>
              <a:rPr lang="zh-CN" altLang="en-US" sz="2200" dirty="0" smtClean="0"/>
              <a:t>）掌握多址接入的概念和原理；</a:t>
            </a:r>
            <a:endParaRPr lang="zh-CN" altLang="en-US" sz="2200" dirty="0" smtClean="0"/>
          </a:p>
          <a:p>
            <a:pPr>
              <a:lnSpc>
                <a:spcPct val="150000"/>
              </a:lnSpc>
            </a:pPr>
            <a:r>
              <a:rPr lang="zh-CN" altLang="en-US" sz="2200" dirty="0" smtClean="0"/>
              <a:t>（</a:t>
            </a:r>
            <a:r>
              <a:rPr lang="en-US" altLang="zh-CN" sz="2200" dirty="0" smtClean="0"/>
              <a:t>4</a:t>
            </a:r>
            <a:r>
              <a:rPr lang="zh-CN" altLang="en-US" sz="2200" dirty="0" smtClean="0"/>
              <a:t>）理解无线资源管理和控制的基本概念及原理；</a:t>
            </a:r>
            <a:endParaRPr lang="zh-CN" altLang="en-US" sz="2200" dirty="0" smtClean="0"/>
          </a:p>
          <a:p>
            <a:pPr>
              <a:lnSpc>
                <a:spcPct val="150000"/>
              </a:lnSpc>
            </a:pPr>
            <a:r>
              <a:rPr lang="zh-CN" altLang="en-US" sz="2200" dirty="0" smtClean="0"/>
              <a:t>（</a:t>
            </a:r>
            <a:r>
              <a:rPr lang="en-US" altLang="zh-CN" sz="2200" dirty="0" smtClean="0"/>
              <a:t>5</a:t>
            </a:r>
            <a:r>
              <a:rPr lang="zh-CN" altLang="en-US" sz="2200" dirty="0" smtClean="0"/>
              <a:t>）理解移动通信网络的组成；</a:t>
            </a:r>
            <a:endParaRPr lang="zh-CN" altLang="en-US" sz="2200" dirty="0" smtClean="0"/>
          </a:p>
          <a:p>
            <a:pPr>
              <a:lnSpc>
                <a:spcPct val="150000"/>
              </a:lnSpc>
            </a:pPr>
            <a:r>
              <a:rPr lang="zh-CN" altLang="en-US" sz="2200" dirty="0"/>
              <a:t>（</a:t>
            </a:r>
            <a:r>
              <a:rPr lang="en-US" altLang="zh-CN" sz="2200" dirty="0"/>
              <a:t>6</a:t>
            </a:r>
            <a:r>
              <a:rPr lang="zh-CN" altLang="en-US" sz="2200" dirty="0"/>
              <a:t>）理解无线网络安全的基本概念</a:t>
            </a:r>
            <a:endParaRPr lang="zh-CN" altLang="en-US" sz="2200" dirty="0"/>
          </a:p>
        </p:txBody>
      </p:sp>
    </p:spTree>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dirty="0"/>
              <a:t>Principle of Mobile Communication</a:t>
            </a:r>
            <a:endParaRPr lang="en-US" altLang="zh-CN" dirty="0"/>
          </a:p>
        </p:txBody>
      </p:sp>
      <p:sp>
        <p:nvSpPr>
          <p:cNvPr id="51204" name="Rectangle 3"/>
          <p:cNvSpPr>
            <a:spLocks noGrp="1" noChangeArrowheads="1"/>
          </p:cNvSpPr>
          <p:nvPr>
            <p:ph type="body" idx="1"/>
          </p:nvPr>
        </p:nvSpPr>
        <p:spPr>
          <a:xfrm>
            <a:off x="395536" y="987574"/>
            <a:ext cx="8458200" cy="3086100"/>
          </a:xfrm>
        </p:spPr>
        <p:txBody>
          <a:bodyPr/>
          <a:lstStyle/>
          <a:p>
            <a:pPr eaLnBrk="1" hangingPunct="1">
              <a:lnSpc>
                <a:spcPct val="150000"/>
              </a:lnSpc>
              <a:buFont typeface="Wingdings" panose="05000000000000000000" pitchFamily="2" charset="2"/>
              <a:buNone/>
            </a:pPr>
            <a:r>
              <a:rPr lang="en-US" altLang="zh-CN" sz="2600" b="0" dirty="0" smtClean="0">
                <a:latin typeface="宋体" panose="02010600030101010101" pitchFamily="2" charset="-122"/>
                <a:ea typeface="宋体" panose="02010600030101010101" pitchFamily="2" charset="-122"/>
                <a:cs typeface="宋体" panose="02010600030101010101" pitchFamily="2" charset="-122"/>
              </a:rPr>
              <a:t>    </a:t>
            </a:r>
            <a:r>
              <a:rPr lang="zh-CN" altLang="en-US" sz="2600" b="0" dirty="0" smtClean="0">
                <a:latin typeface="宋体" panose="02010600030101010101" pitchFamily="2" charset="-122"/>
                <a:ea typeface="宋体" panose="02010600030101010101" pitchFamily="2" charset="-122"/>
                <a:cs typeface="宋体" panose="02010600030101010101" pitchFamily="2" charset="-122"/>
              </a:rPr>
              <a:t>实现系统在其覆盖区内良好的语音和数据通信，这样的通信网就是</a:t>
            </a:r>
            <a:r>
              <a:rPr lang="zh-CN" altLang="en-US" sz="2600" b="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移动通信网</a:t>
            </a:r>
            <a:endParaRPr lang="zh-CN" altLang="en-US" sz="2600" b="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buFont typeface="Wingdings" panose="05000000000000000000" pitchFamily="2" charset="2"/>
              <a:buNone/>
            </a:pPr>
            <a:r>
              <a:rPr lang="zh-CN" altLang="en-US" sz="2600" b="0" dirty="0" smtClean="0">
                <a:latin typeface="宋体" panose="02010600030101010101" pitchFamily="2" charset="-122"/>
                <a:ea typeface="宋体" panose="02010600030101010101" pitchFamily="2" charset="-122"/>
                <a:cs typeface="宋体" panose="02010600030101010101" pitchFamily="2" charset="-122"/>
              </a:rPr>
              <a:t>一般来说，移动通信网由两部分组成：</a:t>
            </a:r>
            <a:r>
              <a:rPr lang="zh-CN" altLang="en-US" sz="2600" b="0" dirty="0" smtClean="0">
                <a:solidFill>
                  <a:srgbClr val="0000FE"/>
                </a:solidFill>
                <a:latin typeface="宋体" panose="02010600030101010101" pitchFamily="2" charset="-122"/>
                <a:ea typeface="宋体" panose="02010600030101010101" pitchFamily="2" charset="-122"/>
                <a:cs typeface="宋体" panose="02010600030101010101" pitchFamily="2" charset="-122"/>
              </a:rPr>
              <a:t>空中网络</a:t>
            </a:r>
            <a:r>
              <a:rPr lang="zh-CN" altLang="en-US" sz="2600" b="0" dirty="0" smtClean="0">
                <a:latin typeface="宋体" panose="02010600030101010101" pitchFamily="2" charset="-122"/>
                <a:ea typeface="宋体" panose="02010600030101010101" pitchFamily="2" charset="-122"/>
                <a:cs typeface="宋体" panose="02010600030101010101" pitchFamily="2" charset="-122"/>
              </a:rPr>
              <a:t>部分和</a:t>
            </a:r>
            <a:r>
              <a:rPr lang="zh-CN" altLang="en-US" sz="2600" b="0" dirty="0" smtClean="0">
                <a:solidFill>
                  <a:srgbClr val="0000FE"/>
                </a:solidFill>
                <a:latin typeface="宋体" panose="02010600030101010101" pitchFamily="2" charset="-122"/>
                <a:ea typeface="宋体" panose="02010600030101010101" pitchFamily="2" charset="-122"/>
                <a:cs typeface="宋体" panose="02010600030101010101" pitchFamily="2" charset="-122"/>
              </a:rPr>
              <a:t>地面网络</a:t>
            </a:r>
            <a:r>
              <a:rPr lang="zh-CN" altLang="en-US" sz="2600" b="0" dirty="0" smtClean="0">
                <a:latin typeface="宋体" panose="02010600030101010101" pitchFamily="2" charset="-122"/>
                <a:ea typeface="宋体" panose="02010600030101010101" pitchFamily="2" charset="-122"/>
                <a:cs typeface="宋体" panose="02010600030101010101" pitchFamily="2" charset="-122"/>
              </a:rPr>
              <a:t>部分</a:t>
            </a:r>
            <a:endParaRPr lang="zh-CN" altLang="en-US" sz="2600" b="0" dirty="0" smtClean="0">
              <a:latin typeface="宋体" panose="02010600030101010101" pitchFamily="2" charset="-122"/>
              <a:ea typeface="宋体" panose="02010600030101010101" pitchFamily="2" charset="-122"/>
              <a:cs typeface="宋体" panose="02010600030101010101" pitchFamily="2" charset="-122"/>
            </a:endParaRPr>
          </a:p>
        </p:txBody>
      </p:sp>
      <p:sp>
        <p:nvSpPr>
          <p:cNvPr id="7"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smtClean="0">
                <a:ln>
                  <a:noFill/>
                </a:ln>
                <a:solidFill>
                  <a:schemeClr val="bg1"/>
                </a:solidFill>
                <a:effectLst/>
                <a:uLnTx/>
                <a:uFillTx/>
                <a:latin typeface="+mj-lt"/>
                <a:ea typeface="+mj-ea"/>
                <a:cs typeface="+mj-cs"/>
              </a:rPr>
              <a:t>5.1 </a:t>
            </a:r>
            <a:r>
              <a:rPr kumimoji="0" lang="zh-CN" altLang="en-US" sz="3200" b="1" i="0" u="none" strike="noStrike" kern="0" cap="none" spc="0" normalizeH="0" baseline="0" noProof="0" dirty="0" smtClean="0">
                <a:ln>
                  <a:noFill/>
                </a:ln>
                <a:solidFill>
                  <a:schemeClr val="bg1"/>
                </a:solidFill>
                <a:effectLst/>
                <a:uLnTx/>
                <a:uFillTx/>
                <a:latin typeface="+mj-lt"/>
                <a:ea typeface="+mj-ea"/>
                <a:cs typeface="+mj-cs"/>
              </a:rPr>
              <a:t>移动通信网的基本概念</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 name="图片 7"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9" name="图片 8"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14"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smtClean="0">
                <a:ln>
                  <a:noFill/>
                </a:ln>
                <a:solidFill>
                  <a:schemeClr val="bg1"/>
                </a:solidFill>
                <a:effectLst/>
                <a:uLnTx/>
                <a:uFillTx/>
                <a:latin typeface="+mj-lt"/>
                <a:ea typeface="+mj-ea"/>
                <a:cs typeface="+mj-cs"/>
              </a:rPr>
              <a:t>5.1 </a:t>
            </a:r>
            <a:r>
              <a:rPr kumimoji="0" lang="zh-CN" altLang="en-US" sz="3200" b="1" i="0" u="none" strike="noStrike" kern="0" cap="none" spc="0" normalizeH="0" baseline="0" noProof="0" dirty="0" smtClean="0">
                <a:ln>
                  <a:noFill/>
                </a:ln>
                <a:solidFill>
                  <a:schemeClr val="bg1"/>
                </a:solidFill>
                <a:effectLst/>
                <a:uLnTx/>
                <a:uFillTx/>
                <a:latin typeface="+mj-lt"/>
                <a:ea typeface="+mj-ea"/>
                <a:cs typeface="+mj-cs"/>
              </a:rPr>
              <a:t>移动通信网的基本概念</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5" name="图片 14"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16" name="图片 15"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7" name="TextBox 16"/>
          <p:cNvSpPr txBox="1"/>
          <p:nvPr/>
        </p:nvSpPr>
        <p:spPr>
          <a:xfrm>
            <a:off x="179512" y="771550"/>
            <a:ext cx="3456384" cy="430887"/>
          </a:xfrm>
          <a:prstGeom prst="rect">
            <a:avLst/>
          </a:prstGeom>
          <a:noFill/>
        </p:spPr>
        <p:txBody>
          <a:bodyPr wrap="square" rtlCol="0">
            <a:spAutoFit/>
          </a:bodyPr>
          <a:lstStyle/>
          <a:p>
            <a:r>
              <a:rPr lang="en-US" altLang="zh-CN" sz="2200" b="1" dirty="0" smtClean="0"/>
              <a:t>1. </a:t>
            </a:r>
            <a:r>
              <a:rPr lang="zh-CN" altLang="en-US" sz="2200" b="1" dirty="0" smtClean="0">
                <a:solidFill>
                  <a:srgbClr val="0000FE"/>
                </a:solidFill>
              </a:rPr>
              <a:t>空中网络</a:t>
            </a:r>
            <a:endParaRPr lang="zh-CN" altLang="en-US" sz="2200" b="1" dirty="0">
              <a:solidFill>
                <a:srgbClr val="0000FE"/>
              </a:solidFill>
            </a:endParaRPr>
          </a:p>
        </p:txBody>
      </p:sp>
      <p:sp>
        <p:nvSpPr>
          <p:cNvPr id="18" name="TextBox 17"/>
          <p:cNvSpPr txBox="1"/>
          <p:nvPr/>
        </p:nvSpPr>
        <p:spPr>
          <a:xfrm>
            <a:off x="251520" y="1131590"/>
            <a:ext cx="8640960" cy="3784600"/>
          </a:xfrm>
          <a:prstGeom prst="rect">
            <a:avLst/>
          </a:prstGeom>
          <a:noFill/>
        </p:spPr>
        <p:txBody>
          <a:bodyPr wrap="square" rtlCol="0">
            <a:spAutoFit/>
          </a:bodyPr>
          <a:lstStyle/>
          <a:p>
            <a:pPr>
              <a:lnSpc>
                <a:spcPts val="3200"/>
              </a:lnSpc>
            </a:pPr>
            <a:r>
              <a:rPr lang="zh-CN" altLang="en-US" sz="2200" dirty="0" smtClean="0">
                <a:solidFill>
                  <a:srgbClr val="0000FE"/>
                </a:solidFill>
                <a:latin typeface="宋体" panose="02010600030101010101" pitchFamily="2" charset="-122"/>
                <a:cs typeface="宋体" panose="02010600030101010101" pitchFamily="2" charset="-122"/>
              </a:rPr>
              <a:t>（一）多址接入；</a:t>
            </a:r>
            <a:endParaRPr lang="en-US" altLang="zh-CN" sz="2200" dirty="0" smtClean="0">
              <a:solidFill>
                <a:srgbClr val="0000FE"/>
              </a:solidFill>
              <a:latin typeface="宋体" panose="02010600030101010101" pitchFamily="2" charset="-122"/>
              <a:cs typeface="宋体" panose="02010600030101010101" pitchFamily="2" charset="-122"/>
            </a:endParaRPr>
          </a:p>
          <a:p>
            <a:pPr>
              <a:lnSpc>
                <a:spcPts val="3200"/>
              </a:lnSpc>
            </a:pPr>
            <a:r>
              <a:rPr lang="zh-CN" altLang="en-US" sz="2200" dirty="0" smtClean="0">
                <a:solidFill>
                  <a:srgbClr val="0000FE"/>
                </a:solidFill>
                <a:latin typeface="宋体" panose="02010600030101010101" pitchFamily="2" charset="-122"/>
                <a:cs typeface="宋体" panose="02010600030101010101" pitchFamily="2" charset="-122"/>
              </a:rPr>
              <a:t>（二）频率复用和蜂窝小区</a:t>
            </a:r>
            <a:endParaRPr lang="en-US" altLang="zh-CN" sz="2200" dirty="0" smtClean="0">
              <a:solidFill>
                <a:srgbClr val="0000FE"/>
              </a:solidFill>
              <a:latin typeface="宋体" panose="02010600030101010101" pitchFamily="2" charset="-122"/>
              <a:cs typeface="宋体" panose="02010600030101010101" pitchFamily="2" charset="-122"/>
            </a:endParaRPr>
          </a:p>
          <a:p>
            <a:pPr>
              <a:lnSpc>
                <a:spcPts val="3200"/>
              </a:lnSpc>
            </a:pPr>
            <a:r>
              <a:rPr lang="zh-CN" altLang="en-US" sz="2200" dirty="0" smtClean="0">
                <a:solidFill>
                  <a:srgbClr val="0000FE"/>
                </a:solidFill>
                <a:latin typeface="宋体" panose="02010600030101010101" pitchFamily="2" charset="-122"/>
                <a:cs typeface="宋体" panose="02010600030101010101" pitchFamily="2" charset="-122"/>
              </a:rPr>
              <a:t>（</a:t>
            </a:r>
            <a:r>
              <a:rPr lang="en-US" altLang="zh-CN" sz="2200" dirty="0" smtClean="0">
                <a:solidFill>
                  <a:srgbClr val="0000FE"/>
                </a:solidFill>
                <a:latin typeface="宋体" panose="02010600030101010101" pitchFamily="2" charset="-122"/>
                <a:cs typeface="宋体" panose="02010600030101010101" pitchFamily="2" charset="-122"/>
              </a:rPr>
              <a:t>1</a:t>
            </a:r>
            <a:r>
              <a:rPr lang="zh-CN" altLang="en-US" sz="2200" dirty="0" smtClean="0">
                <a:solidFill>
                  <a:srgbClr val="0000FE"/>
                </a:solidFill>
                <a:latin typeface="宋体" panose="02010600030101010101" pitchFamily="2" charset="-122"/>
                <a:cs typeface="宋体" panose="02010600030101010101" pitchFamily="2" charset="-122"/>
              </a:rPr>
              <a:t>）无线蜂窝式小区覆盖：</a:t>
            </a:r>
            <a:r>
              <a:rPr lang="zh-CN" altLang="en-US" sz="2200" dirty="0" smtClean="0">
                <a:solidFill>
                  <a:srgbClr val="002A7E"/>
                </a:solidFill>
                <a:latin typeface="宋体" panose="02010600030101010101" pitchFamily="2" charset="-122"/>
                <a:cs typeface="宋体" panose="02010600030101010101" pitchFamily="2" charset="-122"/>
              </a:rPr>
              <a:t>将一个移动通信服务区划分成许多以正六边形为基本几何图形的覆盖区域。小功率发射： 一个较低功率的发射机服务一个蜂窝小区，在较小的区域内设置相当数量的用户。</a:t>
            </a:r>
            <a:endParaRPr lang="en-US" altLang="zh-CN" sz="2200" dirty="0" smtClean="0">
              <a:solidFill>
                <a:srgbClr val="002A7E"/>
              </a:solidFill>
              <a:latin typeface="宋体" panose="02010600030101010101" pitchFamily="2" charset="-122"/>
              <a:cs typeface="宋体" panose="02010600030101010101" pitchFamily="2" charset="-122"/>
            </a:endParaRPr>
          </a:p>
          <a:p>
            <a:pPr>
              <a:lnSpc>
                <a:spcPts val="3200"/>
              </a:lnSpc>
            </a:pPr>
            <a:r>
              <a:rPr lang="zh-CN" altLang="en-US" sz="2200" dirty="0" smtClean="0">
                <a:solidFill>
                  <a:srgbClr val="0000FE"/>
                </a:solidFill>
                <a:latin typeface="宋体" panose="02010600030101010101" pitchFamily="2" charset="-122"/>
                <a:cs typeface="宋体" panose="02010600030101010101" pitchFamily="2" charset="-122"/>
              </a:rPr>
              <a:t>（</a:t>
            </a:r>
            <a:r>
              <a:rPr lang="en-US" altLang="zh-CN" sz="2200" dirty="0" smtClean="0">
                <a:solidFill>
                  <a:srgbClr val="0000FE"/>
                </a:solidFill>
                <a:latin typeface="宋体" panose="02010600030101010101" pitchFamily="2" charset="-122"/>
                <a:cs typeface="宋体" panose="02010600030101010101" pitchFamily="2" charset="-122"/>
              </a:rPr>
              <a:t>2</a:t>
            </a:r>
            <a:r>
              <a:rPr lang="zh-CN" altLang="en-US" sz="2200" dirty="0" smtClean="0">
                <a:solidFill>
                  <a:srgbClr val="0000FE"/>
                </a:solidFill>
                <a:latin typeface="宋体" panose="02010600030101010101" pitchFamily="2" charset="-122"/>
                <a:cs typeface="宋体" panose="02010600030101010101" pitchFamily="2" charset="-122"/>
              </a:rPr>
              <a:t>）频率复用</a:t>
            </a:r>
            <a:endParaRPr lang="zh-CN" altLang="en-US" sz="2200" dirty="0" smtClean="0">
              <a:solidFill>
                <a:srgbClr val="0000FE"/>
              </a:solidFill>
              <a:latin typeface="宋体" panose="02010600030101010101" pitchFamily="2" charset="-122"/>
              <a:cs typeface="宋体" panose="02010600030101010101" pitchFamily="2" charset="-122"/>
            </a:endParaRPr>
          </a:p>
          <a:p>
            <a:pPr>
              <a:lnSpc>
                <a:spcPts val="3200"/>
              </a:lnSpc>
            </a:pPr>
            <a:r>
              <a:rPr lang="zh-CN" altLang="en-US" sz="2200" dirty="0" smtClean="0">
                <a:latin typeface="宋体" panose="02010600030101010101" pitchFamily="2" charset="-122"/>
                <a:cs typeface="宋体" panose="02010600030101010101" pitchFamily="2" charset="-122"/>
              </a:rPr>
              <a:t>蜂窝系统的基站工作频率，由于传播损耗提供足够的隔离度，在相隔一定距离的另一个基站可以重复使用同一组工作频率。</a:t>
            </a:r>
            <a:endParaRPr lang="en-US" altLang="zh-CN" sz="2200" dirty="0" smtClean="0">
              <a:latin typeface="宋体" panose="02010600030101010101" pitchFamily="2" charset="-122"/>
              <a:cs typeface="宋体" panose="02010600030101010101" pitchFamily="2" charset="-122"/>
            </a:endParaRPr>
          </a:p>
          <a:p>
            <a:pPr>
              <a:lnSpc>
                <a:spcPts val="3200"/>
              </a:lnSpc>
            </a:pPr>
            <a:r>
              <a:rPr lang="zh-CN" altLang="en-US" sz="2200" dirty="0" smtClean="0">
                <a:solidFill>
                  <a:srgbClr val="FF0000"/>
                </a:solidFill>
                <a:latin typeface="宋体" panose="02010600030101010101" pitchFamily="2" charset="-122"/>
                <a:cs typeface="宋体" panose="02010600030101010101" pitchFamily="2" charset="-122"/>
              </a:rPr>
              <a:t>优点</a:t>
            </a:r>
            <a:r>
              <a:rPr lang="zh-CN" altLang="en-US" sz="2200" dirty="0" smtClean="0">
                <a:latin typeface="宋体" panose="02010600030101010101" pitchFamily="2" charset="-122"/>
                <a:cs typeface="宋体" panose="02010600030101010101" pitchFamily="2" charset="-122"/>
              </a:rPr>
              <a:t>：缓解了频率资源紧缺，增加了系统容量；</a:t>
            </a:r>
            <a:r>
              <a:rPr lang="zh-CN" altLang="en-US" sz="2200" dirty="0" smtClean="0">
                <a:solidFill>
                  <a:schemeClr val="accent1"/>
                </a:solidFill>
                <a:latin typeface="宋体" panose="02010600030101010101" pitchFamily="2" charset="-122"/>
                <a:cs typeface="宋体" panose="02010600030101010101" pitchFamily="2" charset="-122"/>
              </a:rPr>
              <a:t>缺点</a:t>
            </a:r>
            <a:r>
              <a:rPr lang="zh-CN" altLang="en-US" sz="2200" dirty="0" smtClean="0">
                <a:latin typeface="宋体" panose="02010600030101010101" pitchFamily="2" charset="-122"/>
                <a:cs typeface="宋体" panose="02010600030101010101" pitchFamily="2" charset="-122"/>
              </a:rPr>
              <a:t>：同频干扰</a:t>
            </a:r>
            <a:endParaRPr lang="zh-CN" altLang="en-US" sz="2200" dirty="0">
              <a:solidFill>
                <a:srgbClr val="002A7E"/>
              </a:solidFill>
              <a:latin typeface="宋体" panose="02010600030101010101" pitchFamily="2" charset="-122"/>
              <a:cs typeface="宋体" panose="02010600030101010101" pitchFamily="2" charset="-122"/>
            </a:endParaRPr>
          </a:p>
        </p:txBody>
      </p:sp>
    </p:spTree>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53252" name="Rectangle 3"/>
          <p:cNvSpPr>
            <a:spLocks noGrp="1" noChangeArrowheads="1"/>
          </p:cNvSpPr>
          <p:nvPr>
            <p:ph type="body" idx="1"/>
          </p:nvPr>
        </p:nvSpPr>
        <p:spPr>
          <a:xfrm>
            <a:off x="395289" y="1185689"/>
            <a:ext cx="8353425" cy="3618309"/>
          </a:xfrm>
        </p:spPr>
        <p:txBody>
          <a:bodyPr/>
          <a:lstStyle/>
          <a:p>
            <a:pPr eaLnBrk="1" hangingPunct="1">
              <a:lnSpc>
                <a:spcPct val="150000"/>
              </a:lnSpc>
              <a:buNone/>
            </a:pPr>
            <a:r>
              <a:rPr lang="zh-CN" altLang="en-US" sz="2200" b="0" dirty="0" smtClean="0">
                <a:solidFill>
                  <a:srgbClr val="FF00FF"/>
                </a:solidFill>
                <a:latin typeface="华文楷体" pitchFamily="2" charset="-122"/>
                <a:ea typeface="华文楷体" pitchFamily="2" charset="-122"/>
              </a:rPr>
              <a:t>（</a:t>
            </a:r>
            <a:r>
              <a:rPr lang="en-US" altLang="zh-CN" sz="2200" b="0" dirty="0" smtClean="0">
                <a:solidFill>
                  <a:srgbClr val="FF00FF"/>
                </a:solidFill>
                <a:latin typeface="华文楷体" pitchFamily="2" charset="-122"/>
                <a:ea typeface="华文楷体" pitchFamily="2" charset="-122"/>
              </a:rPr>
              <a:t>3</a:t>
            </a:r>
            <a:r>
              <a:rPr lang="zh-CN" altLang="en-US" sz="2200" b="0" dirty="0" smtClean="0">
                <a:solidFill>
                  <a:srgbClr val="FF00FF"/>
                </a:solidFill>
                <a:latin typeface="华文楷体" pitchFamily="2" charset="-122"/>
                <a:ea typeface="华文楷体" pitchFamily="2" charset="-122"/>
              </a:rPr>
              <a:t>）多信道共用：</a:t>
            </a:r>
            <a:r>
              <a:rPr lang="zh-CN" altLang="en-US" sz="2200" b="0" dirty="0" smtClean="0">
                <a:latin typeface="华文楷体" pitchFamily="2" charset="-122"/>
                <a:ea typeface="华文楷体" pitchFamily="2" charset="-122"/>
              </a:rPr>
              <a:t>由若干无线信道组成的移动通信系统，为大量的用户共同使用并且仍能满足服务质量的信道利用技术。</a:t>
            </a:r>
            <a:endParaRPr lang="zh-CN" altLang="en-US" sz="2200" b="0" dirty="0" smtClean="0">
              <a:latin typeface="华文楷体" pitchFamily="2" charset="-122"/>
              <a:ea typeface="华文楷体" pitchFamily="2" charset="-122"/>
            </a:endParaRPr>
          </a:p>
          <a:p>
            <a:pPr eaLnBrk="1" hangingPunct="1">
              <a:lnSpc>
                <a:spcPct val="150000"/>
              </a:lnSpc>
              <a:buNone/>
            </a:pPr>
            <a:r>
              <a:rPr lang="zh-CN" altLang="en-US" sz="2200" b="0" dirty="0" smtClean="0">
                <a:solidFill>
                  <a:srgbClr val="FF00FF"/>
                </a:solidFill>
                <a:latin typeface="华文楷体" pitchFamily="2" charset="-122"/>
                <a:ea typeface="华文楷体" pitchFamily="2" charset="-122"/>
              </a:rPr>
              <a:t>  越区切换：</a:t>
            </a:r>
            <a:r>
              <a:rPr lang="zh-CN" altLang="en-US" sz="2200" b="0" dirty="0" smtClean="0">
                <a:latin typeface="华文楷体" pitchFamily="2" charset="-122"/>
                <a:ea typeface="华文楷体" pitchFamily="2" charset="-122"/>
              </a:rPr>
              <a:t>当正在通话的移动台进入相邻无线小区时，业务信道自动切换到相邻小区基站，从而不中断通信过程。</a:t>
            </a:r>
            <a:endParaRPr lang="en-US" altLang="zh-CN" sz="2200" b="0" dirty="0" smtClean="0">
              <a:latin typeface="华文楷体" pitchFamily="2" charset="-122"/>
              <a:ea typeface="华文楷体" pitchFamily="2" charset="-122"/>
            </a:endParaRPr>
          </a:p>
          <a:p>
            <a:pPr eaLnBrk="1" hangingPunct="1">
              <a:lnSpc>
                <a:spcPct val="150000"/>
              </a:lnSpc>
              <a:buNone/>
            </a:pPr>
            <a:r>
              <a:rPr lang="zh-CN" altLang="en-US" sz="2200" b="0" dirty="0" smtClean="0"/>
              <a:t>（三）切换和位置更新</a:t>
            </a:r>
            <a:endParaRPr lang="en-US" altLang="zh-CN" sz="2200" b="0" dirty="0" smtClean="0"/>
          </a:p>
          <a:p>
            <a:pPr eaLnBrk="1" hangingPunct="1">
              <a:lnSpc>
                <a:spcPct val="150000"/>
              </a:lnSpc>
              <a:buNone/>
            </a:pPr>
            <a:endParaRPr lang="zh-CN" altLang="en-US" sz="2200" b="0" dirty="0" smtClean="0">
              <a:latin typeface="华文楷体" pitchFamily="2" charset="-122"/>
              <a:ea typeface="华文楷体" pitchFamily="2" charset="-122"/>
            </a:endParaRPr>
          </a:p>
        </p:txBody>
      </p:sp>
      <p:sp>
        <p:nvSpPr>
          <p:cNvPr id="6"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smtClean="0">
                <a:ln>
                  <a:noFill/>
                </a:ln>
                <a:solidFill>
                  <a:schemeClr val="bg1"/>
                </a:solidFill>
                <a:effectLst/>
                <a:uLnTx/>
                <a:uFillTx/>
                <a:latin typeface="+mj-lt"/>
                <a:ea typeface="+mj-ea"/>
                <a:cs typeface="+mj-cs"/>
              </a:rPr>
              <a:t>5.1 </a:t>
            </a:r>
            <a:r>
              <a:rPr kumimoji="0" lang="zh-CN" altLang="en-US" sz="3200" b="1" i="0" u="none" strike="noStrike" kern="0" cap="none" spc="0" normalizeH="0" baseline="0" noProof="0" dirty="0" smtClean="0">
                <a:ln>
                  <a:noFill/>
                </a:ln>
                <a:solidFill>
                  <a:schemeClr val="bg1"/>
                </a:solidFill>
                <a:effectLst/>
                <a:uLnTx/>
                <a:uFillTx/>
                <a:latin typeface="+mj-lt"/>
                <a:ea typeface="+mj-ea"/>
                <a:cs typeface="+mj-cs"/>
              </a:rPr>
              <a:t>移动通信网的基本概念</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8" name="图片 7"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9" name="TextBox 8"/>
          <p:cNvSpPr txBox="1"/>
          <p:nvPr/>
        </p:nvSpPr>
        <p:spPr>
          <a:xfrm>
            <a:off x="179512" y="771550"/>
            <a:ext cx="3456384" cy="430887"/>
          </a:xfrm>
          <a:prstGeom prst="rect">
            <a:avLst/>
          </a:prstGeom>
          <a:noFill/>
        </p:spPr>
        <p:txBody>
          <a:bodyPr wrap="square" rtlCol="0">
            <a:spAutoFit/>
          </a:bodyPr>
          <a:lstStyle/>
          <a:p>
            <a:r>
              <a:rPr lang="en-US" altLang="zh-CN" sz="2200" b="1" dirty="0" smtClean="0"/>
              <a:t>1. </a:t>
            </a:r>
            <a:r>
              <a:rPr lang="zh-CN" altLang="en-US" sz="2200" b="1" dirty="0" smtClean="0">
                <a:solidFill>
                  <a:srgbClr val="0000FE"/>
                </a:solidFill>
              </a:rPr>
              <a:t>空中网络</a:t>
            </a:r>
            <a:endParaRPr lang="zh-CN" altLang="en-US" sz="2200" b="1" dirty="0">
              <a:solidFill>
                <a:srgbClr val="0000FE"/>
              </a:solidFill>
            </a:endParaRPr>
          </a:p>
        </p:txBody>
      </p:sp>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53252" name="Rectangle 3"/>
          <p:cNvSpPr>
            <a:spLocks noGrp="1" noChangeArrowheads="1"/>
          </p:cNvSpPr>
          <p:nvPr>
            <p:ph type="body" idx="1"/>
          </p:nvPr>
        </p:nvSpPr>
        <p:spPr>
          <a:xfrm>
            <a:off x="395289" y="1185689"/>
            <a:ext cx="8353425" cy="3618309"/>
          </a:xfrm>
        </p:spPr>
        <p:txBody>
          <a:bodyPr/>
          <a:lstStyle/>
          <a:p>
            <a:pPr eaLnBrk="1" hangingPunct="1">
              <a:lnSpc>
                <a:spcPct val="150000"/>
              </a:lnSpc>
              <a:buNone/>
            </a:pPr>
            <a:r>
              <a:rPr lang="zh-CN" altLang="en-US" sz="2200" b="0" dirty="0" smtClean="0">
                <a:latin typeface="华文楷体" pitchFamily="2" charset="-122"/>
                <a:ea typeface="华文楷体" pitchFamily="2" charset="-122"/>
              </a:rPr>
              <a:t>地面网络部分主要包括：</a:t>
            </a:r>
            <a:endParaRPr lang="en-US" altLang="zh-CN" sz="2200" b="0" dirty="0" smtClean="0">
              <a:latin typeface="华文楷体" pitchFamily="2" charset="-122"/>
              <a:ea typeface="华文楷体" pitchFamily="2" charset="-122"/>
            </a:endParaRPr>
          </a:p>
          <a:p>
            <a:pPr eaLnBrk="1" hangingPunct="1">
              <a:lnSpc>
                <a:spcPct val="150000"/>
              </a:lnSpc>
              <a:buNone/>
            </a:pPr>
            <a:r>
              <a:rPr lang="zh-CN" altLang="en-US" sz="2200" b="0" dirty="0" smtClean="0"/>
              <a:t>（</a:t>
            </a:r>
            <a:r>
              <a:rPr lang="en-US" altLang="zh-CN" sz="2200" b="0" dirty="0" smtClean="0"/>
              <a:t>1</a:t>
            </a:r>
            <a:r>
              <a:rPr lang="zh-CN" altLang="en-US" sz="2200" b="0" dirty="0" smtClean="0"/>
              <a:t>）服务区内各个基站的相互连接；</a:t>
            </a:r>
            <a:endParaRPr lang="en-US" altLang="zh-CN" sz="2200" b="0" dirty="0" smtClean="0"/>
          </a:p>
          <a:p>
            <a:pPr eaLnBrk="1" hangingPunct="1">
              <a:lnSpc>
                <a:spcPct val="150000"/>
              </a:lnSpc>
              <a:buNone/>
            </a:pP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2</a:t>
            </a:r>
            <a:r>
              <a:rPr lang="zh-CN" altLang="en-US" sz="2200" b="0" dirty="0" smtClean="0">
                <a:latin typeface="华文楷体" pitchFamily="2" charset="-122"/>
                <a:ea typeface="华文楷体" pitchFamily="2" charset="-122"/>
              </a:rPr>
              <a:t>）基站与固定网络（</a:t>
            </a:r>
            <a:r>
              <a:rPr lang="en-US" altLang="zh-CN" sz="2200" b="0" dirty="0" smtClean="0">
                <a:latin typeface="华文楷体" pitchFamily="2" charset="-122"/>
                <a:ea typeface="华文楷体" pitchFamily="2" charset="-122"/>
              </a:rPr>
              <a:t>PSTN</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ISDN</a:t>
            </a:r>
            <a:r>
              <a:rPr lang="zh-CN" altLang="en-US" sz="2200" b="0" dirty="0" smtClean="0">
                <a:latin typeface="华文楷体" pitchFamily="2" charset="-122"/>
                <a:ea typeface="华文楷体" pitchFamily="2" charset="-122"/>
              </a:rPr>
              <a:t>，数据网等）的相互连接。</a:t>
            </a:r>
            <a:endParaRPr lang="zh-CN" altLang="en-US" sz="2200" b="0" dirty="0" smtClean="0">
              <a:latin typeface="华文楷体" pitchFamily="2" charset="-122"/>
              <a:ea typeface="华文楷体" pitchFamily="2" charset="-122"/>
            </a:endParaRPr>
          </a:p>
        </p:txBody>
      </p:sp>
      <p:sp>
        <p:nvSpPr>
          <p:cNvPr id="6"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smtClean="0">
                <a:ln>
                  <a:noFill/>
                </a:ln>
                <a:solidFill>
                  <a:schemeClr val="bg1"/>
                </a:solidFill>
                <a:effectLst/>
                <a:uLnTx/>
                <a:uFillTx/>
                <a:latin typeface="+mj-lt"/>
                <a:ea typeface="+mj-ea"/>
                <a:cs typeface="+mj-cs"/>
              </a:rPr>
              <a:t>5.1 </a:t>
            </a:r>
            <a:r>
              <a:rPr kumimoji="0" lang="zh-CN" altLang="en-US" sz="3200" b="1" i="0" u="none" strike="noStrike" kern="0" cap="none" spc="0" normalizeH="0" baseline="0" noProof="0" dirty="0" smtClean="0">
                <a:ln>
                  <a:noFill/>
                </a:ln>
                <a:solidFill>
                  <a:schemeClr val="bg1"/>
                </a:solidFill>
                <a:effectLst/>
                <a:uLnTx/>
                <a:uFillTx/>
                <a:latin typeface="+mj-lt"/>
                <a:ea typeface="+mj-ea"/>
                <a:cs typeface="+mj-cs"/>
              </a:rPr>
              <a:t>移动通信网的基本概念</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8" name="图片 7"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9" name="TextBox 8"/>
          <p:cNvSpPr txBox="1"/>
          <p:nvPr/>
        </p:nvSpPr>
        <p:spPr>
          <a:xfrm>
            <a:off x="179512" y="771550"/>
            <a:ext cx="3456384" cy="430887"/>
          </a:xfrm>
          <a:prstGeom prst="rect">
            <a:avLst/>
          </a:prstGeom>
          <a:noFill/>
        </p:spPr>
        <p:txBody>
          <a:bodyPr wrap="square" rtlCol="0">
            <a:spAutoFit/>
          </a:bodyPr>
          <a:lstStyle/>
          <a:p>
            <a:r>
              <a:rPr lang="en-US" altLang="zh-CN" sz="2200" b="1" dirty="0" smtClean="0"/>
              <a:t>2. </a:t>
            </a:r>
            <a:r>
              <a:rPr lang="zh-CN" altLang="en-US" sz="2200" b="1" dirty="0" smtClean="0"/>
              <a:t>地面网络部分</a:t>
            </a:r>
            <a:endParaRPr lang="zh-CN" altLang="en-US" sz="2200" b="1" dirty="0">
              <a:solidFill>
                <a:srgbClr val="0000FE"/>
              </a:solidFill>
            </a:endParaRPr>
          </a:p>
        </p:txBody>
      </p:sp>
    </p:spTree>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54276" name="Rectangle 3"/>
          <p:cNvSpPr>
            <a:spLocks noGrp="1" noChangeArrowheads="1"/>
          </p:cNvSpPr>
          <p:nvPr>
            <p:ph type="body" idx="1"/>
          </p:nvPr>
        </p:nvSpPr>
        <p:spPr>
          <a:xfrm>
            <a:off x="251520" y="915566"/>
            <a:ext cx="8568952" cy="4012431"/>
          </a:xfrm>
        </p:spPr>
        <p:txBody>
          <a:bodyPr/>
          <a:lstStyle/>
          <a:p>
            <a:pPr eaLnBrk="1" hangingPunct="1">
              <a:lnSpc>
                <a:spcPts val="3500"/>
              </a:lnSpc>
              <a:buFont typeface="Wingdings" panose="05000000000000000000" pitchFamily="2" charset="2"/>
              <a:buNone/>
            </a:pPr>
            <a:r>
              <a:rPr lang="zh-CN" altLang="en-US" sz="2200" b="0" dirty="0" smtClean="0">
                <a:latin typeface="华文楷体" pitchFamily="2" charset="-122"/>
                <a:ea typeface="华文楷体" pitchFamily="2" charset="-122"/>
              </a:rPr>
              <a:t>频率复用和蜂窝小区的设计是与移动网的区域覆盖和容量需求紧密相连的，主要是用来解决频率资源有限和用户容量问题。</a:t>
            </a:r>
            <a:endParaRPr lang="zh-CN" altLang="en-US" sz="2200" b="0" dirty="0" smtClean="0">
              <a:latin typeface="华文楷体" pitchFamily="2" charset="-122"/>
              <a:ea typeface="华文楷体" pitchFamily="2" charset="-122"/>
            </a:endParaRPr>
          </a:p>
          <a:p>
            <a:pPr eaLnBrk="1" hangingPunct="1">
              <a:lnSpc>
                <a:spcPts val="3500"/>
              </a:lnSpc>
              <a:buNone/>
            </a:pPr>
            <a:r>
              <a:rPr lang="zh-CN" altLang="en-US" sz="2200" b="0" dirty="0" smtClean="0">
                <a:solidFill>
                  <a:srgbClr val="C00000"/>
                </a:solidFill>
              </a:rPr>
              <a:t>移动通信网的</a:t>
            </a:r>
            <a:r>
              <a:rPr lang="zh-CN" altLang="en-US" sz="2200" b="0" dirty="0" smtClean="0">
                <a:solidFill>
                  <a:srgbClr val="C00000"/>
                </a:solidFill>
                <a:latin typeface="华文楷体" pitchFamily="2" charset="-122"/>
                <a:ea typeface="华文楷体" pitchFamily="2" charset="-122"/>
              </a:rPr>
              <a:t>区域覆盖方式：</a:t>
            </a:r>
            <a:endParaRPr lang="en-US" altLang="zh-CN" sz="2200" b="0" dirty="0" smtClean="0">
              <a:solidFill>
                <a:srgbClr val="C00000"/>
              </a:solidFill>
            </a:endParaRPr>
          </a:p>
          <a:p>
            <a:pPr eaLnBrk="1" hangingPunct="1">
              <a:lnSpc>
                <a:spcPts val="3500"/>
              </a:lnSpc>
              <a:buNone/>
            </a:pPr>
            <a:r>
              <a:rPr lang="en-US" altLang="zh-CN" sz="2200" b="0" dirty="0" smtClean="0">
                <a:latin typeface="华文楷体" pitchFamily="2" charset="-122"/>
                <a:ea typeface="华文楷体" pitchFamily="2" charset="-122"/>
              </a:rPr>
              <a:t>1.</a:t>
            </a:r>
            <a:r>
              <a:rPr lang="zh-CN" altLang="en-US" sz="2200" b="0" dirty="0" smtClean="0">
                <a:latin typeface="华文楷体" pitchFamily="2" charset="-122"/>
                <a:ea typeface="华文楷体" pitchFamily="2" charset="-122"/>
              </a:rPr>
              <a:t>小容量的大区制：一个基站覆盖整个服务区。发射功率要大；需要利用分集接收等技术来保证上行链路的通信质量；只能适用于小容量的通信网。</a:t>
            </a:r>
            <a:endParaRPr lang="en-US" altLang="zh-CN" sz="2200" b="0" dirty="0" smtClean="0"/>
          </a:p>
        </p:txBody>
      </p:sp>
      <p:sp>
        <p:nvSpPr>
          <p:cNvPr id="5"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6" name="图片 5"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55300" name="Rectangle 3"/>
          <p:cNvSpPr>
            <a:spLocks noGrp="1" noChangeArrowheads="1"/>
          </p:cNvSpPr>
          <p:nvPr>
            <p:ph type="body" idx="1"/>
          </p:nvPr>
        </p:nvSpPr>
        <p:spPr>
          <a:xfrm>
            <a:off x="395536" y="735806"/>
            <a:ext cx="8424936" cy="4157663"/>
          </a:xfrm>
        </p:spPr>
        <p:txBody>
          <a:bodyPr/>
          <a:lstStyle/>
          <a:p>
            <a:pPr eaLnBrk="1" hangingPunct="1">
              <a:lnSpc>
                <a:spcPts val="3500"/>
              </a:lnSpc>
              <a:buNone/>
            </a:pPr>
            <a:r>
              <a:rPr lang="en-US" altLang="zh-CN" sz="2200" dirty="0" smtClean="0"/>
              <a:t>2.</a:t>
            </a:r>
            <a:r>
              <a:rPr lang="zh-CN" altLang="en-US" sz="2200" dirty="0" smtClean="0"/>
              <a:t>大容量的小区制</a:t>
            </a:r>
            <a:endParaRPr lang="en-US" altLang="zh-CN" sz="2200" dirty="0" smtClean="0"/>
          </a:p>
          <a:p>
            <a:pPr eaLnBrk="1" hangingPunct="1">
              <a:lnSpc>
                <a:spcPts val="3500"/>
              </a:lnSpc>
              <a:buNone/>
            </a:pPr>
            <a:r>
              <a:rPr lang="zh-CN" altLang="en-US" sz="2200" dirty="0" smtClean="0"/>
              <a:t>根据频率复用和覆盖方式可分为两种：</a:t>
            </a:r>
            <a:r>
              <a:rPr lang="zh-CN" altLang="en-US" sz="2200" b="1" dirty="0" smtClean="0">
                <a:ea typeface="华文楷体" pitchFamily="2" charset="-122"/>
              </a:rPr>
              <a:t>带状服务覆盖区和面状服务覆盖区</a:t>
            </a:r>
            <a:endParaRPr lang="en-US" altLang="zh-CN" sz="2200" b="1" dirty="0" smtClean="0">
              <a:ea typeface="华文楷体" pitchFamily="2" charset="-122"/>
            </a:endParaRPr>
          </a:p>
          <a:p>
            <a:pPr eaLnBrk="1" hangingPunct="1">
              <a:lnSpc>
                <a:spcPts val="3500"/>
              </a:lnSpc>
              <a:buNone/>
            </a:pPr>
            <a:r>
              <a:rPr lang="zh-CN" altLang="en-US" sz="2200" dirty="0" smtClean="0"/>
              <a:t>（</a:t>
            </a:r>
            <a:r>
              <a:rPr lang="en-US" altLang="zh-CN" sz="2200" dirty="0" smtClean="0"/>
              <a:t>1</a:t>
            </a:r>
            <a:r>
              <a:rPr lang="zh-CN" altLang="en-US" sz="2200" dirty="0" smtClean="0"/>
              <a:t>）带状服务覆盖区：</a:t>
            </a:r>
            <a:endParaRPr lang="en-US" altLang="zh-CN" sz="2200" dirty="0" smtClean="0"/>
          </a:p>
          <a:p>
            <a:pPr lvl="0" eaLnBrk="1" hangingPunct="1">
              <a:buBlip>
                <a:blip r:embed="rId1"/>
              </a:buBlip>
              <a:defRPr/>
            </a:pPr>
            <a:r>
              <a:rPr lang="zh-CN" altLang="en-US" sz="2200" b="0" dirty="0" smtClean="0">
                <a:solidFill>
                  <a:srgbClr val="003300"/>
                </a:solidFill>
              </a:rPr>
              <a:t>双频组</a:t>
            </a:r>
            <a:r>
              <a:rPr lang="zh-CN" altLang="en-US" sz="2200" b="0" dirty="0" smtClean="0"/>
              <a:t>频率配置</a:t>
            </a:r>
            <a:endParaRPr lang="zh-CN" altLang="en-US" sz="2200" b="0" dirty="0" smtClean="0"/>
          </a:p>
          <a:p>
            <a:pPr lvl="0" eaLnBrk="1" hangingPunct="1">
              <a:buBlip>
                <a:blip r:embed="rId1"/>
              </a:buBlip>
              <a:defRPr/>
            </a:pPr>
            <a:endParaRPr lang="zh-CN" altLang="en-US" sz="2200" b="0" dirty="0" smtClean="0"/>
          </a:p>
          <a:p>
            <a:pPr lvl="0" eaLnBrk="1" hangingPunct="1">
              <a:buBlip>
                <a:blip r:embed="rId1"/>
              </a:buBlip>
              <a:defRPr/>
            </a:pPr>
            <a:endParaRPr lang="zh-CN" altLang="en-US" sz="2200" b="0" dirty="0" smtClean="0"/>
          </a:p>
          <a:p>
            <a:pPr lvl="0" eaLnBrk="1" hangingPunct="1">
              <a:buBlip>
                <a:blip r:embed="rId1"/>
              </a:buBlip>
              <a:defRPr/>
            </a:pPr>
            <a:r>
              <a:rPr lang="zh-CN" altLang="en-US" sz="2200" b="0" dirty="0" smtClean="0">
                <a:solidFill>
                  <a:srgbClr val="003300"/>
                </a:solidFill>
              </a:rPr>
              <a:t>三频组</a:t>
            </a:r>
            <a:r>
              <a:rPr lang="zh-CN" altLang="en-US" sz="2200" b="0" dirty="0" smtClean="0"/>
              <a:t>频率配置</a:t>
            </a:r>
            <a:endParaRPr lang="zh-CN" altLang="en-US" sz="2200" b="1" dirty="0" smtClean="0">
              <a:ea typeface="华文楷体" pitchFamily="2" charset="-122"/>
            </a:endParaRPr>
          </a:p>
        </p:txBody>
      </p:sp>
      <p:sp>
        <p:nvSpPr>
          <p:cNvPr id="6"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pic>
        <p:nvPicPr>
          <p:cNvPr id="8" name="图片 7"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grpSp>
        <p:nvGrpSpPr>
          <p:cNvPr id="10" name="Group 4"/>
          <p:cNvGrpSpPr>
            <a:grpSpLocks noChangeAspect="1"/>
          </p:cNvGrpSpPr>
          <p:nvPr/>
        </p:nvGrpSpPr>
        <p:grpSpPr bwMode="auto">
          <a:xfrm>
            <a:off x="2051051" y="3063483"/>
            <a:ext cx="4177133" cy="660395"/>
            <a:chOff x="1609" y="1760"/>
            <a:chExt cx="2723" cy="574"/>
          </a:xfrm>
        </p:grpSpPr>
        <p:sp>
          <p:nvSpPr>
            <p:cNvPr id="11" name="AutoShape 5"/>
            <p:cNvSpPr>
              <a:spLocks noChangeAspect="1" noChangeArrowheads="1" noTextEdit="1"/>
            </p:cNvSpPr>
            <p:nvPr/>
          </p:nvSpPr>
          <p:spPr bwMode="auto">
            <a:xfrm>
              <a:off x="1609" y="1760"/>
              <a:ext cx="2723" cy="574"/>
            </a:xfrm>
            <a:prstGeom prst="rect">
              <a:avLst/>
            </a:prstGeom>
            <a:noFill/>
            <a:ln w="9525">
              <a:noFill/>
              <a:miter lim="800000"/>
            </a:ln>
          </p:spPr>
          <p:txBody>
            <a:bodyPr/>
            <a:lstStyle/>
            <a:p>
              <a:endParaRPr lang="zh-CN" altLang="en-US"/>
            </a:p>
          </p:txBody>
        </p:sp>
        <p:sp>
          <p:nvSpPr>
            <p:cNvPr id="12" name="Rectangle 6"/>
            <p:cNvSpPr>
              <a:spLocks noChangeArrowheads="1"/>
            </p:cNvSpPr>
            <p:nvPr/>
          </p:nvSpPr>
          <p:spPr bwMode="auto">
            <a:xfrm>
              <a:off x="1609" y="1781"/>
              <a:ext cx="26" cy="168"/>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300">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13" name="Freeform 7"/>
            <p:cNvSpPr/>
            <p:nvPr/>
          </p:nvSpPr>
          <p:spPr bwMode="auto">
            <a:xfrm>
              <a:off x="1623" y="1774"/>
              <a:ext cx="363" cy="543"/>
            </a:xfrm>
            <a:custGeom>
              <a:avLst/>
              <a:gdLst>
                <a:gd name="T0" fmla="*/ 163 w 363"/>
                <a:gd name="T1" fmla="*/ 2 h 543"/>
                <a:gd name="T2" fmla="*/ 136 w 363"/>
                <a:gd name="T3" fmla="*/ 9 h 543"/>
                <a:gd name="T4" fmla="*/ 110 w 363"/>
                <a:gd name="T5" fmla="*/ 22 h 543"/>
                <a:gd name="T6" fmla="*/ 88 w 363"/>
                <a:gd name="T7" fmla="*/ 40 h 543"/>
                <a:gd name="T8" fmla="*/ 66 w 363"/>
                <a:gd name="T9" fmla="*/ 62 h 543"/>
                <a:gd name="T10" fmla="*/ 47 w 363"/>
                <a:gd name="T11" fmla="*/ 90 h 543"/>
                <a:gd name="T12" fmla="*/ 31 w 363"/>
                <a:gd name="T13" fmla="*/ 120 h 543"/>
                <a:gd name="T14" fmla="*/ 18 w 363"/>
                <a:gd name="T15" fmla="*/ 154 h 543"/>
                <a:gd name="T16" fmla="*/ 9 w 363"/>
                <a:gd name="T17" fmla="*/ 191 h 543"/>
                <a:gd name="T18" fmla="*/ 3 w 363"/>
                <a:gd name="T19" fmla="*/ 231 h 543"/>
                <a:gd name="T20" fmla="*/ 0 w 363"/>
                <a:gd name="T21" fmla="*/ 272 h 543"/>
                <a:gd name="T22" fmla="*/ 3 w 363"/>
                <a:gd name="T23" fmla="*/ 313 h 543"/>
                <a:gd name="T24" fmla="*/ 9 w 363"/>
                <a:gd name="T25" fmla="*/ 352 h 543"/>
                <a:gd name="T26" fmla="*/ 18 w 363"/>
                <a:gd name="T27" fmla="*/ 389 h 543"/>
                <a:gd name="T28" fmla="*/ 31 w 363"/>
                <a:gd name="T29" fmla="*/ 424 h 543"/>
                <a:gd name="T30" fmla="*/ 47 w 363"/>
                <a:gd name="T31" fmla="*/ 455 h 543"/>
                <a:gd name="T32" fmla="*/ 66 w 363"/>
                <a:gd name="T33" fmla="*/ 481 h 543"/>
                <a:gd name="T34" fmla="*/ 88 w 363"/>
                <a:gd name="T35" fmla="*/ 504 h 543"/>
                <a:gd name="T36" fmla="*/ 110 w 363"/>
                <a:gd name="T37" fmla="*/ 522 h 543"/>
                <a:gd name="T38" fmla="*/ 136 w 363"/>
                <a:gd name="T39" fmla="*/ 535 h 543"/>
                <a:gd name="T40" fmla="*/ 163 w 363"/>
                <a:gd name="T41" fmla="*/ 542 h 543"/>
                <a:gd name="T42" fmla="*/ 191 w 363"/>
                <a:gd name="T43" fmla="*/ 543 h 543"/>
                <a:gd name="T44" fmla="*/ 218 w 363"/>
                <a:gd name="T45" fmla="*/ 537 h 543"/>
                <a:gd name="T46" fmla="*/ 243 w 363"/>
                <a:gd name="T47" fmla="*/ 527 h 543"/>
                <a:gd name="T48" fmla="*/ 267 w 363"/>
                <a:gd name="T49" fmla="*/ 511 h 543"/>
                <a:gd name="T50" fmla="*/ 290 w 363"/>
                <a:gd name="T51" fmla="*/ 490 h 543"/>
                <a:gd name="T52" fmla="*/ 309 w 363"/>
                <a:gd name="T53" fmla="*/ 463 h 543"/>
                <a:gd name="T54" fmla="*/ 326 w 363"/>
                <a:gd name="T55" fmla="*/ 435 h 543"/>
                <a:gd name="T56" fmla="*/ 340 w 363"/>
                <a:gd name="T57" fmla="*/ 401 h 543"/>
                <a:gd name="T58" fmla="*/ 351 w 363"/>
                <a:gd name="T59" fmla="*/ 365 h 543"/>
                <a:gd name="T60" fmla="*/ 358 w 363"/>
                <a:gd name="T61" fmla="*/ 326 h 543"/>
                <a:gd name="T62" fmla="*/ 362 w 363"/>
                <a:gd name="T63" fmla="*/ 286 h 543"/>
                <a:gd name="T64" fmla="*/ 362 w 363"/>
                <a:gd name="T65" fmla="*/ 244 h 543"/>
                <a:gd name="T66" fmla="*/ 357 w 363"/>
                <a:gd name="T67" fmla="*/ 204 h 543"/>
                <a:gd name="T68" fmla="*/ 349 w 363"/>
                <a:gd name="T69" fmla="*/ 166 h 543"/>
                <a:gd name="T70" fmla="*/ 337 w 363"/>
                <a:gd name="T71" fmla="*/ 132 h 543"/>
                <a:gd name="T72" fmla="*/ 321 w 363"/>
                <a:gd name="T73" fmla="*/ 99 h 543"/>
                <a:gd name="T74" fmla="*/ 303 w 363"/>
                <a:gd name="T75" fmla="*/ 71 h 543"/>
                <a:gd name="T76" fmla="*/ 283 w 363"/>
                <a:gd name="T77" fmla="*/ 47 h 543"/>
                <a:gd name="T78" fmla="*/ 260 w 363"/>
                <a:gd name="T79" fmla="*/ 27 h 543"/>
                <a:gd name="T80" fmla="*/ 235 w 363"/>
                <a:gd name="T81" fmla="*/ 12 h 543"/>
                <a:gd name="T82" fmla="*/ 209 w 363"/>
                <a:gd name="T83" fmla="*/ 4 h 543"/>
                <a:gd name="T84" fmla="*/ 181 w 363"/>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3"/>
                <a:gd name="T130" fmla="*/ 0 h 543"/>
                <a:gd name="T131" fmla="*/ 363 w 363"/>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3" h="543">
                  <a:moveTo>
                    <a:pt x="181" y="0"/>
                  </a:moveTo>
                  <a:lnTo>
                    <a:pt x="172" y="0"/>
                  </a:lnTo>
                  <a:lnTo>
                    <a:pt x="163" y="2"/>
                  </a:lnTo>
                  <a:lnTo>
                    <a:pt x="154" y="4"/>
                  </a:lnTo>
                  <a:lnTo>
                    <a:pt x="145" y="6"/>
                  </a:lnTo>
                  <a:lnTo>
                    <a:pt x="136" y="9"/>
                  </a:lnTo>
                  <a:lnTo>
                    <a:pt x="127" y="12"/>
                  </a:lnTo>
                  <a:lnTo>
                    <a:pt x="119" y="17"/>
                  </a:lnTo>
                  <a:lnTo>
                    <a:pt x="110" y="22"/>
                  </a:lnTo>
                  <a:lnTo>
                    <a:pt x="103" y="27"/>
                  </a:lnTo>
                  <a:lnTo>
                    <a:pt x="95" y="33"/>
                  </a:lnTo>
                  <a:lnTo>
                    <a:pt x="88" y="40"/>
                  </a:lnTo>
                  <a:lnTo>
                    <a:pt x="81" y="47"/>
                  </a:lnTo>
                  <a:lnTo>
                    <a:pt x="73" y="54"/>
                  </a:lnTo>
                  <a:lnTo>
                    <a:pt x="66" y="62"/>
                  </a:lnTo>
                  <a:lnTo>
                    <a:pt x="60" y="71"/>
                  </a:lnTo>
                  <a:lnTo>
                    <a:pt x="53" y="80"/>
                  </a:lnTo>
                  <a:lnTo>
                    <a:pt x="47" y="90"/>
                  </a:lnTo>
                  <a:lnTo>
                    <a:pt x="42" y="99"/>
                  </a:lnTo>
                  <a:lnTo>
                    <a:pt x="36" y="109"/>
                  </a:lnTo>
                  <a:lnTo>
                    <a:pt x="31" y="120"/>
                  </a:lnTo>
                  <a:lnTo>
                    <a:pt x="27" y="132"/>
                  </a:lnTo>
                  <a:lnTo>
                    <a:pt x="22" y="142"/>
                  </a:lnTo>
                  <a:lnTo>
                    <a:pt x="18" y="154"/>
                  </a:lnTo>
                  <a:lnTo>
                    <a:pt x="15" y="166"/>
                  </a:lnTo>
                  <a:lnTo>
                    <a:pt x="11" y="178"/>
                  </a:lnTo>
                  <a:lnTo>
                    <a:pt x="9" y="191"/>
                  </a:lnTo>
                  <a:lnTo>
                    <a:pt x="6" y="204"/>
                  </a:lnTo>
                  <a:lnTo>
                    <a:pt x="4" y="218"/>
                  </a:lnTo>
                  <a:lnTo>
                    <a:pt x="3" y="231"/>
                  </a:lnTo>
                  <a:lnTo>
                    <a:pt x="2" y="244"/>
                  </a:lnTo>
                  <a:lnTo>
                    <a:pt x="0" y="258"/>
                  </a:lnTo>
                  <a:lnTo>
                    <a:pt x="0" y="272"/>
                  </a:lnTo>
                  <a:lnTo>
                    <a:pt x="0" y="286"/>
                  </a:lnTo>
                  <a:lnTo>
                    <a:pt x="2" y="300"/>
                  </a:lnTo>
                  <a:lnTo>
                    <a:pt x="3" y="313"/>
                  </a:lnTo>
                  <a:lnTo>
                    <a:pt x="4" y="326"/>
                  </a:lnTo>
                  <a:lnTo>
                    <a:pt x="6" y="339"/>
                  </a:lnTo>
                  <a:lnTo>
                    <a:pt x="9" y="352"/>
                  </a:lnTo>
                  <a:lnTo>
                    <a:pt x="11" y="365"/>
                  </a:lnTo>
                  <a:lnTo>
                    <a:pt x="15" y="377"/>
                  </a:lnTo>
                  <a:lnTo>
                    <a:pt x="18" y="389"/>
                  </a:lnTo>
                  <a:lnTo>
                    <a:pt x="22" y="401"/>
                  </a:lnTo>
                  <a:lnTo>
                    <a:pt x="27" y="413"/>
                  </a:lnTo>
                  <a:lnTo>
                    <a:pt x="31" y="424"/>
                  </a:lnTo>
                  <a:lnTo>
                    <a:pt x="36" y="435"/>
                  </a:lnTo>
                  <a:lnTo>
                    <a:pt x="42" y="444"/>
                  </a:lnTo>
                  <a:lnTo>
                    <a:pt x="47" y="455"/>
                  </a:lnTo>
                  <a:lnTo>
                    <a:pt x="53" y="463"/>
                  </a:lnTo>
                  <a:lnTo>
                    <a:pt x="60" y="473"/>
                  </a:lnTo>
                  <a:lnTo>
                    <a:pt x="66" y="481"/>
                  </a:lnTo>
                  <a:lnTo>
                    <a:pt x="73" y="490"/>
                  </a:lnTo>
                  <a:lnTo>
                    <a:pt x="81" y="497"/>
                  </a:lnTo>
                  <a:lnTo>
                    <a:pt x="88" y="504"/>
                  </a:lnTo>
                  <a:lnTo>
                    <a:pt x="95" y="511"/>
                  </a:lnTo>
                  <a:lnTo>
                    <a:pt x="103" y="517"/>
                  </a:lnTo>
                  <a:lnTo>
                    <a:pt x="110" y="522"/>
                  </a:lnTo>
                  <a:lnTo>
                    <a:pt x="119" y="527"/>
                  </a:lnTo>
                  <a:lnTo>
                    <a:pt x="127" y="531"/>
                  </a:lnTo>
                  <a:lnTo>
                    <a:pt x="136" y="535"/>
                  </a:lnTo>
                  <a:lnTo>
                    <a:pt x="145" y="537"/>
                  </a:lnTo>
                  <a:lnTo>
                    <a:pt x="154" y="540"/>
                  </a:lnTo>
                  <a:lnTo>
                    <a:pt x="163" y="542"/>
                  </a:lnTo>
                  <a:lnTo>
                    <a:pt x="172" y="543"/>
                  </a:lnTo>
                  <a:lnTo>
                    <a:pt x="181" y="543"/>
                  </a:lnTo>
                  <a:lnTo>
                    <a:pt x="191" y="543"/>
                  </a:lnTo>
                  <a:lnTo>
                    <a:pt x="200" y="542"/>
                  </a:lnTo>
                  <a:lnTo>
                    <a:pt x="209" y="540"/>
                  </a:lnTo>
                  <a:lnTo>
                    <a:pt x="218" y="537"/>
                  </a:lnTo>
                  <a:lnTo>
                    <a:pt x="227" y="535"/>
                  </a:lnTo>
                  <a:lnTo>
                    <a:pt x="235" y="531"/>
                  </a:lnTo>
                  <a:lnTo>
                    <a:pt x="243" y="527"/>
                  </a:lnTo>
                  <a:lnTo>
                    <a:pt x="252" y="522"/>
                  </a:lnTo>
                  <a:lnTo>
                    <a:pt x="260" y="517"/>
                  </a:lnTo>
                  <a:lnTo>
                    <a:pt x="267" y="511"/>
                  </a:lnTo>
                  <a:lnTo>
                    <a:pt x="276" y="504"/>
                  </a:lnTo>
                  <a:lnTo>
                    <a:pt x="283" y="497"/>
                  </a:lnTo>
                  <a:lnTo>
                    <a:pt x="290" y="490"/>
                  </a:lnTo>
                  <a:lnTo>
                    <a:pt x="297" y="481"/>
                  </a:lnTo>
                  <a:lnTo>
                    <a:pt x="303" y="473"/>
                  </a:lnTo>
                  <a:lnTo>
                    <a:pt x="309" y="463"/>
                  </a:lnTo>
                  <a:lnTo>
                    <a:pt x="315" y="455"/>
                  </a:lnTo>
                  <a:lnTo>
                    <a:pt x="321" y="444"/>
                  </a:lnTo>
                  <a:lnTo>
                    <a:pt x="326" y="435"/>
                  </a:lnTo>
                  <a:lnTo>
                    <a:pt x="332" y="424"/>
                  </a:lnTo>
                  <a:lnTo>
                    <a:pt x="337" y="413"/>
                  </a:lnTo>
                  <a:lnTo>
                    <a:pt x="340" y="401"/>
                  </a:lnTo>
                  <a:lnTo>
                    <a:pt x="345" y="389"/>
                  </a:lnTo>
                  <a:lnTo>
                    <a:pt x="349" y="377"/>
                  </a:lnTo>
                  <a:lnTo>
                    <a:pt x="351" y="365"/>
                  </a:lnTo>
                  <a:lnTo>
                    <a:pt x="355" y="352"/>
                  </a:lnTo>
                  <a:lnTo>
                    <a:pt x="357" y="339"/>
                  </a:lnTo>
                  <a:lnTo>
                    <a:pt x="358" y="326"/>
                  </a:lnTo>
                  <a:lnTo>
                    <a:pt x="361" y="313"/>
                  </a:lnTo>
                  <a:lnTo>
                    <a:pt x="362" y="300"/>
                  </a:lnTo>
                  <a:lnTo>
                    <a:pt x="362" y="286"/>
                  </a:lnTo>
                  <a:lnTo>
                    <a:pt x="363" y="272"/>
                  </a:lnTo>
                  <a:lnTo>
                    <a:pt x="362" y="258"/>
                  </a:lnTo>
                  <a:lnTo>
                    <a:pt x="362" y="244"/>
                  </a:lnTo>
                  <a:lnTo>
                    <a:pt x="361" y="231"/>
                  </a:lnTo>
                  <a:lnTo>
                    <a:pt x="358" y="218"/>
                  </a:lnTo>
                  <a:lnTo>
                    <a:pt x="357" y="204"/>
                  </a:lnTo>
                  <a:lnTo>
                    <a:pt x="355" y="191"/>
                  </a:lnTo>
                  <a:lnTo>
                    <a:pt x="351" y="178"/>
                  </a:lnTo>
                  <a:lnTo>
                    <a:pt x="349" y="166"/>
                  </a:lnTo>
                  <a:lnTo>
                    <a:pt x="345" y="154"/>
                  </a:lnTo>
                  <a:lnTo>
                    <a:pt x="340" y="142"/>
                  </a:lnTo>
                  <a:lnTo>
                    <a:pt x="337" y="132"/>
                  </a:lnTo>
                  <a:lnTo>
                    <a:pt x="332" y="120"/>
                  </a:lnTo>
                  <a:lnTo>
                    <a:pt x="326" y="109"/>
                  </a:lnTo>
                  <a:lnTo>
                    <a:pt x="321" y="99"/>
                  </a:lnTo>
                  <a:lnTo>
                    <a:pt x="315" y="90"/>
                  </a:lnTo>
                  <a:lnTo>
                    <a:pt x="309" y="80"/>
                  </a:lnTo>
                  <a:lnTo>
                    <a:pt x="303" y="71"/>
                  </a:lnTo>
                  <a:lnTo>
                    <a:pt x="297" y="62"/>
                  </a:lnTo>
                  <a:lnTo>
                    <a:pt x="290" y="54"/>
                  </a:lnTo>
                  <a:lnTo>
                    <a:pt x="283" y="47"/>
                  </a:lnTo>
                  <a:lnTo>
                    <a:pt x="276" y="40"/>
                  </a:lnTo>
                  <a:lnTo>
                    <a:pt x="267" y="33"/>
                  </a:lnTo>
                  <a:lnTo>
                    <a:pt x="260" y="27"/>
                  </a:lnTo>
                  <a:lnTo>
                    <a:pt x="252" y="22"/>
                  </a:lnTo>
                  <a:lnTo>
                    <a:pt x="243" y="17"/>
                  </a:lnTo>
                  <a:lnTo>
                    <a:pt x="235" y="12"/>
                  </a:lnTo>
                  <a:lnTo>
                    <a:pt x="227" y="9"/>
                  </a:lnTo>
                  <a:lnTo>
                    <a:pt x="218" y="6"/>
                  </a:lnTo>
                  <a:lnTo>
                    <a:pt x="209" y="4"/>
                  </a:lnTo>
                  <a:lnTo>
                    <a:pt x="200" y="2"/>
                  </a:lnTo>
                  <a:lnTo>
                    <a:pt x="191" y="0"/>
                  </a:lnTo>
                  <a:lnTo>
                    <a:pt x="181" y="0"/>
                  </a:lnTo>
                </a:path>
              </a:pathLst>
            </a:custGeom>
            <a:solidFill>
              <a:srgbClr val="0099FF"/>
            </a:solidFill>
            <a:ln w="47625">
              <a:solidFill>
                <a:srgbClr val="4F8AFF"/>
              </a:solidFill>
              <a:round/>
            </a:ln>
          </p:spPr>
          <p:txBody>
            <a:bodyPr/>
            <a:lstStyle/>
            <a:p>
              <a:endParaRPr lang="zh-CN" altLang="en-US"/>
            </a:p>
          </p:txBody>
        </p:sp>
        <p:sp>
          <p:nvSpPr>
            <p:cNvPr id="14" name="Rectangle 8"/>
            <p:cNvSpPr>
              <a:spLocks noChangeArrowheads="1"/>
            </p:cNvSpPr>
            <p:nvPr/>
          </p:nvSpPr>
          <p:spPr bwMode="auto">
            <a:xfrm>
              <a:off x="1744"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15" name="Rectangle 9"/>
            <p:cNvSpPr>
              <a:spLocks noChangeArrowheads="1"/>
            </p:cNvSpPr>
            <p:nvPr/>
          </p:nvSpPr>
          <p:spPr bwMode="auto">
            <a:xfrm>
              <a:off x="1799"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dirty="0">
                  <a:solidFill>
                    <a:srgbClr val="000000"/>
                  </a:solidFill>
                  <a:latin typeface="Times New Roman" panose="02020603050405020304" pitchFamily="18" charset="0"/>
                </a:rPr>
                <a:t>1</a:t>
              </a:r>
              <a:endParaRPr lang="en-US" altLang="zh-CN" sz="2400" b="1" dirty="0">
                <a:effectLst>
                  <a:outerShdw blurRad="38100" dist="38100" dir="2700000" algn="tl">
                    <a:srgbClr val="C0C0C0"/>
                  </a:outerShdw>
                </a:effectLst>
                <a:latin typeface="Times New Roman" panose="02020603050405020304" pitchFamily="18" charset="0"/>
              </a:endParaRPr>
            </a:p>
          </p:txBody>
        </p:sp>
        <p:sp>
          <p:nvSpPr>
            <p:cNvPr id="16" name="Rectangle 10"/>
            <p:cNvSpPr>
              <a:spLocks noChangeArrowheads="1"/>
            </p:cNvSpPr>
            <p:nvPr/>
          </p:nvSpPr>
          <p:spPr bwMode="auto">
            <a:xfrm>
              <a:off x="1864" y="1937"/>
              <a:ext cx="50"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17" name="Freeform 11"/>
            <p:cNvSpPr/>
            <p:nvPr/>
          </p:nvSpPr>
          <p:spPr bwMode="auto">
            <a:xfrm>
              <a:off x="2012" y="1774"/>
              <a:ext cx="363" cy="543"/>
            </a:xfrm>
            <a:custGeom>
              <a:avLst/>
              <a:gdLst>
                <a:gd name="T0" fmla="*/ 163 w 363"/>
                <a:gd name="T1" fmla="*/ 2 h 543"/>
                <a:gd name="T2" fmla="*/ 137 w 363"/>
                <a:gd name="T3" fmla="*/ 9 h 543"/>
                <a:gd name="T4" fmla="*/ 112 w 363"/>
                <a:gd name="T5" fmla="*/ 22 h 543"/>
                <a:gd name="T6" fmla="*/ 88 w 363"/>
                <a:gd name="T7" fmla="*/ 40 h 543"/>
                <a:gd name="T8" fmla="*/ 67 w 363"/>
                <a:gd name="T9" fmla="*/ 62 h 543"/>
                <a:gd name="T10" fmla="*/ 48 w 363"/>
                <a:gd name="T11" fmla="*/ 90 h 543"/>
                <a:gd name="T12" fmla="*/ 31 w 363"/>
                <a:gd name="T13" fmla="*/ 120 h 543"/>
                <a:gd name="T14" fmla="*/ 18 w 363"/>
                <a:gd name="T15" fmla="*/ 154 h 543"/>
                <a:gd name="T16" fmla="*/ 9 w 363"/>
                <a:gd name="T17" fmla="*/ 191 h 543"/>
                <a:gd name="T18" fmla="*/ 3 w 363"/>
                <a:gd name="T19" fmla="*/ 231 h 543"/>
                <a:gd name="T20" fmla="*/ 0 w 363"/>
                <a:gd name="T21" fmla="*/ 272 h 543"/>
                <a:gd name="T22" fmla="*/ 3 w 363"/>
                <a:gd name="T23" fmla="*/ 313 h 543"/>
                <a:gd name="T24" fmla="*/ 9 w 363"/>
                <a:gd name="T25" fmla="*/ 352 h 543"/>
                <a:gd name="T26" fmla="*/ 18 w 363"/>
                <a:gd name="T27" fmla="*/ 389 h 543"/>
                <a:gd name="T28" fmla="*/ 31 w 363"/>
                <a:gd name="T29" fmla="*/ 424 h 543"/>
                <a:gd name="T30" fmla="*/ 48 w 363"/>
                <a:gd name="T31" fmla="*/ 455 h 543"/>
                <a:gd name="T32" fmla="*/ 67 w 363"/>
                <a:gd name="T33" fmla="*/ 481 h 543"/>
                <a:gd name="T34" fmla="*/ 88 w 363"/>
                <a:gd name="T35" fmla="*/ 504 h 543"/>
                <a:gd name="T36" fmla="*/ 112 w 363"/>
                <a:gd name="T37" fmla="*/ 522 h 543"/>
                <a:gd name="T38" fmla="*/ 137 w 363"/>
                <a:gd name="T39" fmla="*/ 535 h 543"/>
                <a:gd name="T40" fmla="*/ 163 w 363"/>
                <a:gd name="T41" fmla="*/ 542 h 543"/>
                <a:gd name="T42" fmla="*/ 192 w 363"/>
                <a:gd name="T43" fmla="*/ 543 h 543"/>
                <a:gd name="T44" fmla="*/ 218 w 363"/>
                <a:gd name="T45" fmla="*/ 537 h 543"/>
                <a:gd name="T46" fmla="*/ 245 w 363"/>
                <a:gd name="T47" fmla="*/ 527 h 543"/>
                <a:gd name="T48" fmla="*/ 268 w 363"/>
                <a:gd name="T49" fmla="*/ 511 h 543"/>
                <a:gd name="T50" fmla="*/ 290 w 363"/>
                <a:gd name="T51" fmla="*/ 490 h 543"/>
                <a:gd name="T52" fmla="*/ 310 w 363"/>
                <a:gd name="T53" fmla="*/ 463 h 543"/>
                <a:gd name="T54" fmla="*/ 327 w 363"/>
                <a:gd name="T55" fmla="*/ 435 h 543"/>
                <a:gd name="T56" fmla="*/ 341 w 363"/>
                <a:gd name="T57" fmla="*/ 401 h 543"/>
                <a:gd name="T58" fmla="*/ 352 w 363"/>
                <a:gd name="T59" fmla="*/ 365 h 543"/>
                <a:gd name="T60" fmla="*/ 359 w 363"/>
                <a:gd name="T61" fmla="*/ 326 h 543"/>
                <a:gd name="T62" fmla="*/ 363 w 363"/>
                <a:gd name="T63" fmla="*/ 286 h 543"/>
                <a:gd name="T64" fmla="*/ 362 w 363"/>
                <a:gd name="T65" fmla="*/ 244 h 543"/>
                <a:gd name="T66" fmla="*/ 357 w 363"/>
                <a:gd name="T67" fmla="*/ 204 h 543"/>
                <a:gd name="T68" fmla="*/ 349 w 363"/>
                <a:gd name="T69" fmla="*/ 166 h 543"/>
                <a:gd name="T70" fmla="*/ 337 w 363"/>
                <a:gd name="T71" fmla="*/ 132 h 543"/>
                <a:gd name="T72" fmla="*/ 321 w 363"/>
                <a:gd name="T73" fmla="*/ 99 h 543"/>
                <a:gd name="T74" fmla="*/ 303 w 363"/>
                <a:gd name="T75" fmla="*/ 71 h 543"/>
                <a:gd name="T76" fmla="*/ 283 w 363"/>
                <a:gd name="T77" fmla="*/ 47 h 543"/>
                <a:gd name="T78" fmla="*/ 260 w 363"/>
                <a:gd name="T79" fmla="*/ 27 h 543"/>
                <a:gd name="T80" fmla="*/ 236 w 363"/>
                <a:gd name="T81" fmla="*/ 12 h 543"/>
                <a:gd name="T82" fmla="*/ 210 w 363"/>
                <a:gd name="T83" fmla="*/ 4 h 543"/>
                <a:gd name="T84" fmla="*/ 182 w 363"/>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3"/>
                <a:gd name="T130" fmla="*/ 0 h 543"/>
                <a:gd name="T131" fmla="*/ 363 w 363"/>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3" h="543">
                  <a:moveTo>
                    <a:pt x="182" y="0"/>
                  </a:moveTo>
                  <a:lnTo>
                    <a:pt x="173" y="0"/>
                  </a:lnTo>
                  <a:lnTo>
                    <a:pt x="163" y="2"/>
                  </a:lnTo>
                  <a:lnTo>
                    <a:pt x="155" y="4"/>
                  </a:lnTo>
                  <a:lnTo>
                    <a:pt x="145" y="6"/>
                  </a:lnTo>
                  <a:lnTo>
                    <a:pt x="137" y="9"/>
                  </a:lnTo>
                  <a:lnTo>
                    <a:pt x="128" y="12"/>
                  </a:lnTo>
                  <a:lnTo>
                    <a:pt x="120" y="17"/>
                  </a:lnTo>
                  <a:lnTo>
                    <a:pt x="112" y="22"/>
                  </a:lnTo>
                  <a:lnTo>
                    <a:pt x="103" y="27"/>
                  </a:lnTo>
                  <a:lnTo>
                    <a:pt x="96" y="33"/>
                  </a:lnTo>
                  <a:lnTo>
                    <a:pt x="88" y="40"/>
                  </a:lnTo>
                  <a:lnTo>
                    <a:pt x="81" y="47"/>
                  </a:lnTo>
                  <a:lnTo>
                    <a:pt x="73" y="54"/>
                  </a:lnTo>
                  <a:lnTo>
                    <a:pt x="67" y="62"/>
                  </a:lnTo>
                  <a:lnTo>
                    <a:pt x="60" y="71"/>
                  </a:lnTo>
                  <a:lnTo>
                    <a:pt x="54" y="80"/>
                  </a:lnTo>
                  <a:lnTo>
                    <a:pt x="48" y="90"/>
                  </a:lnTo>
                  <a:lnTo>
                    <a:pt x="42" y="99"/>
                  </a:lnTo>
                  <a:lnTo>
                    <a:pt x="37" y="109"/>
                  </a:lnTo>
                  <a:lnTo>
                    <a:pt x="31" y="120"/>
                  </a:lnTo>
                  <a:lnTo>
                    <a:pt x="27" y="132"/>
                  </a:lnTo>
                  <a:lnTo>
                    <a:pt x="23" y="142"/>
                  </a:lnTo>
                  <a:lnTo>
                    <a:pt x="18" y="154"/>
                  </a:lnTo>
                  <a:lnTo>
                    <a:pt x="15" y="166"/>
                  </a:lnTo>
                  <a:lnTo>
                    <a:pt x="12" y="178"/>
                  </a:lnTo>
                  <a:lnTo>
                    <a:pt x="9" y="191"/>
                  </a:lnTo>
                  <a:lnTo>
                    <a:pt x="6" y="204"/>
                  </a:lnTo>
                  <a:lnTo>
                    <a:pt x="5" y="218"/>
                  </a:lnTo>
                  <a:lnTo>
                    <a:pt x="3" y="231"/>
                  </a:lnTo>
                  <a:lnTo>
                    <a:pt x="2" y="244"/>
                  </a:lnTo>
                  <a:lnTo>
                    <a:pt x="2" y="258"/>
                  </a:lnTo>
                  <a:lnTo>
                    <a:pt x="0" y="272"/>
                  </a:lnTo>
                  <a:lnTo>
                    <a:pt x="2" y="286"/>
                  </a:lnTo>
                  <a:lnTo>
                    <a:pt x="2" y="300"/>
                  </a:lnTo>
                  <a:lnTo>
                    <a:pt x="3" y="313"/>
                  </a:lnTo>
                  <a:lnTo>
                    <a:pt x="5" y="326"/>
                  </a:lnTo>
                  <a:lnTo>
                    <a:pt x="6" y="339"/>
                  </a:lnTo>
                  <a:lnTo>
                    <a:pt x="9" y="352"/>
                  </a:lnTo>
                  <a:lnTo>
                    <a:pt x="12" y="365"/>
                  </a:lnTo>
                  <a:lnTo>
                    <a:pt x="15" y="377"/>
                  </a:lnTo>
                  <a:lnTo>
                    <a:pt x="18" y="389"/>
                  </a:lnTo>
                  <a:lnTo>
                    <a:pt x="23" y="401"/>
                  </a:lnTo>
                  <a:lnTo>
                    <a:pt x="27" y="413"/>
                  </a:lnTo>
                  <a:lnTo>
                    <a:pt x="31" y="424"/>
                  </a:lnTo>
                  <a:lnTo>
                    <a:pt x="37" y="435"/>
                  </a:lnTo>
                  <a:lnTo>
                    <a:pt x="42" y="444"/>
                  </a:lnTo>
                  <a:lnTo>
                    <a:pt x="48" y="455"/>
                  </a:lnTo>
                  <a:lnTo>
                    <a:pt x="54" y="463"/>
                  </a:lnTo>
                  <a:lnTo>
                    <a:pt x="60" y="473"/>
                  </a:lnTo>
                  <a:lnTo>
                    <a:pt x="67" y="481"/>
                  </a:lnTo>
                  <a:lnTo>
                    <a:pt x="73" y="490"/>
                  </a:lnTo>
                  <a:lnTo>
                    <a:pt x="81" y="497"/>
                  </a:lnTo>
                  <a:lnTo>
                    <a:pt x="88" y="504"/>
                  </a:lnTo>
                  <a:lnTo>
                    <a:pt x="96" y="511"/>
                  </a:lnTo>
                  <a:lnTo>
                    <a:pt x="103" y="517"/>
                  </a:lnTo>
                  <a:lnTo>
                    <a:pt x="112" y="522"/>
                  </a:lnTo>
                  <a:lnTo>
                    <a:pt x="120" y="527"/>
                  </a:lnTo>
                  <a:lnTo>
                    <a:pt x="128" y="531"/>
                  </a:lnTo>
                  <a:lnTo>
                    <a:pt x="137" y="535"/>
                  </a:lnTo>
                  <a:lnTo>
                    <a:pt x="145" y="537"/>
                  </a:lnTo>
                  <a:lnTo>
                    <a:pt x="155" y="540"/>
                  </a:lnTo>
                  <a:lnTo>
                    <a:pt x="163" y="542"/>
                  </a:lnTo>
                  <a:lnTo>
                    <a:pt x="173" y="543"/>
                  </a:lnTo>
                  <a:lnTo>
                    <a:pt x="182" y="543"/>
                  </a:lnTo>
                  <a:lnTo>
                    <a:pt x="192" y="543"/>
                  </a:lnTo>
                  <a:lnTo>
                    <a:pt x="200" y="542"/>
                  </a:lnTo>
                  <a:lnTo>
                    <a:pt x="210" y="540"/>
                  </a:lnTo>
                  <a:lnTo>
                    <a:pt x="218" y="537"/>
                  </a:lnTo>
                  <a:lnTo>
                    <a:pt x="228" y="535"/>
                  </a:lnTo>
                  <a:lnTo>
                    <a:pt x="236" y="531"/>
                  </a:lnTo>
                  <a:lnTo>
                    <a:pt x="245" y="527"/>
                  </a:lnTo>
                  <a:lnTo>
                    <a:pt x="253" y="522"/>
                  </a:lnTo>
                  <a:lnTo>
                    <a:pt x="260" y="517"/>
                  </a:lnTo>
                  <a:lnTo>
                    <a:pt x="268" y="511"/>
                  </a:lnTo>
                  <a:lnTo>
                    <a:pt x="276" y="504"/>
                  </a:lnTo>
                  <a:lnTo>
                    <a:pt x="283" y="497"/>
                  </a:lnTo>
                  <a:lnTo>
                    <a:pt x="290" y="490"/>
                  </a:lnTo>
                  <a:lnTo>
                    <a:pt x="297" y="481"/>
                  </a:lnTo>
                  <a:lnTo>
                    <a:pt x="303" y="473"/>
                  </a:lnTo>
                  <a:lnTo>
                    <a:pt x="310" y="463"/>
                  </a:lnTo>
                  <a:lnTo>
                    <a:pt x="316" y="455"/>
                  </a:lnTo>
                  <a:lnTo>
                    <a:pt x="321" y="444"/>
                  </a:lnTo>
                  <a:lnTo>
                    <a:pt x="327" y="435"/>
                  </a:lnTo>
                  <a:lnTo>
                    <a:pt x="332" y="424"/>
                  </a:lnTo>
                  <a:lnTo>
                    <a:pt x="337" y="413"/>
                  </a:lnTo>
                  <a:lnTo>
                    <a:pt x="341" y="401"/>
                  </a:lnTo>
                  <a:lnTo>
                    <a:pt x="345" y="389"/>
                  </a:lnTo>
                  <a:lnTo>
                    <a:pt x="349" y="377"/>
                  </a:lnTo>
                  <a:lnTo>
                    <a:pt x="352" y="365"/>
                  </a:lnTo>
                  <a:lnTo>
                    <a:pt x="355" y="352"/>
                  </a:lnTo>
                  <a:lnTo>
                    <a:pt x="357" y="339"/>
                  </a:lnTo>
                  <a:lnTo>
                    <a:pt x="359" y="326"/>
                  </a:lnTo>
                  <a:lnTo>
                    <a:pt x="361" y="313"/>
                  </a:lnTo>
                  <a:lnTo>
                    <a:pt x="362" y="300"/>
                  </a:lnTo>
                  <a:lnTo>
                    <a:pt x="363" y="286"/>
                  </a:lnTo>
                  <a:lnTo>
                    <a:pt x="363" y="272"/>
                  </a:lnTo>
                  <a:lnTo>
                    <a:pt x="363" y="258"/>
                  </a:lnTo>
                  <a:lnTo>
                    <a:pt x="362" y="244"/>
                  </a:lnTo>
                  <a:lnTo>
                    <a:pt x="361" y="231"/>
                  </a:lnTo>
                  <a:lnTo>
                    <a:pt x="359" y="218"/>
                  </a:lnTo>
                  <a:lnTo>
                    <a:pt x="357" y="204"/>
                  </a:lnTo>
                  <a:lnTo>
                    <a:pt x="355" y="191"/>
                  </a:lnTo>
                  <a:lnTo>
                    <a:pt x="352" y="178"/>
                  </a:lnTo>
                  <a:lnTo>
                    <a:pt x="349" y="166"/>
                  </a:lnTo>
                  <a:lnTo>
                    <a:pt x="345" y="154"/>
                  </a:lnTo>
                  <a:lnTo>
                    <a:pt x="341" y="142"/>
                  </a:lnTo>
                  <a:lnTo>
                    <a:pt x="337" y="132"/>
                  </a:lnTo>
                  <a:lnTo>
                    <a:pt x="332" y="120"/>
                  </a:lnTo>
                  <a:lnTo>
                    <a:pt x="327" y="109"/>
                  </a:lnTo>
                  <a:lnTo>
                    <a:pt x="321" y="99"/>
                  </a:lnTo>
                  <a:lnTo>
                    <a:pt x="316" y="90"/>
                  </a:lnTo>
                  <a:lnTo>
                    <a:pt x="310" y="80"/>
                  </a:lnTo>
                  <a:lnTo>
                    <a:pt x="303" y="71"/>
                  </a:lnTo>
                  <a:lnTo>
                    <a:pt x="297" y="62"/>
                  </a:lnTo>
                  <a:lnTo>
                    <a:pt x="290" y="54"/>
                  </a:lnTo>
                  <a:lnTo>
                    <a:pt x="283" y="47"/>
                  </a:lnTo>
                  <a:lnTo>
                    <a:pt x="276" y="40"/>
                  </a:lnTo>
                  <a:lnTo>
                    <a:pt x="268" y="33"/>
                  </a:lnTo>
                  <a:lnTo>
                    <a:pt x="260" y="27"/>
                  </a:lnTo>
                  <a:lnTo>
                    <a:pt x="253" y="22"/>
                  </a:lnTo>
                  <a:lnTo>
                    <a:pt x="245" y="17"/>
                  </a:lnTo>
                  <a:lnTo>
                    <a:pt x="236" y="12"/>
                  </a:lnTo>
                  <a:lnTo>
                    <a:pt x="228" y="9"/>
                  </a:lnTo>
                  <a:lnTo>
                    <a:pt x="218" y="6"/>
                  </a:lnTo>
                  <a:lnTo>
                    <a:pt x="210" y="4"/>
                  </a:lnTo>
                  <a:lnTo>
                    <a:pt x="200" y="2"/>
                  </a:lnTo>
                  <a:lnTo>
                    <a:pt x="192" y="0"/>
                  </a:lnTo>
                  <a:lnTo>
                    <a:pt x="182" y="0"/>
                  </a:lnTo>
                </a:path>
              </a:pathLst>
            </a:custGeom>
            <a:solidFill>
              <a:srgbClr val="FF4F4F"/>
            </a:solidFill>
            <a:ln w="47625">
              <a:solidFill>
                <a:srgbClr val="FF4F4F"/>
              </a:solidFill>
              <a:round/>
            </a:ln>
          </p:spPr>
          <p:txBody>
            <a:bodyPr/>
            <a:lstStyle/>
            <a:p>
              <a:endParaRPr lang="zh-CN" altLang="en-US"/>
            </a:p>
          </p:txBody>
        </p:sp>
        <p:sp>
          <p:nvSpPr>
            <p:cNvPr id="18" name="Rectangle 12"/>
            <p:cNvSpPr>
              <a:spLocks noChangeArrowheads="1"/>
            </p:cNvSpPr>
            <p:nvPr/>
          </p:nvSpPr>
          <p:spPr bwMode="auto">
            <a:xfrm>
              <a:off x="2134"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19" name="Rectangle 13"/>
            <p:cNvSpPr>
              <a:spLocks noChangeArrowheads="1"/>
            </p:cNvSpPr>
            <p:nvPr/>
          </p:nvSpPr>
          <p:spPr bwMode="auto">
            <a:xfrm>
              <a:off x="2190"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0" name="Rectangle 14"/>
            <p:cNvSpPr>
              <a:spLocks noChangeArrowheads="1"/>
            </p:cNvSpPr>
            <p:nvPr/>
          </p:nvSpPr>
          <p:spPr bwMode="auto">
            <a:xfrm>
              <a:off x="2254" y="2029"/>
              <a:ext cx="32"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1" name="Freeform 15"/>
            <p:cNvSpPr/>
            <p:nvPr/>
          </p:nvSpPr>
          <p:spPr bwMode="auto">
            <a:xfrm>
              <a:off x="2401" y="1774"/>
              <a:ext cx="362" cy="543"/>
            </a:xfrm>
            <a:custGeom>
              <a:avLst/>
              <a:gdLst>
                <a:gd name="T0" fmla="*/ 162 w 362"/>
                <a:gd name="T1" fmla="*/ 2 h 543"/>
                <a:gd name="T2" fmla="*/ 136 w 362"/>
                <a:gd name="T3" fmla="*/ 9 h 543"/>
                <a:gd name="T4" fmla="*/ 110 w 362"/>
                <a:gd name="T5" fmla="*/ 22 h 543"/>
                <a:gd name="T6" fmla="*/ 87 w 362"/>
                <a:gd name="T7" fmla="*/ 40 h 543"/>
                <a:gd name="T8" fmla="*/ 66 w 362"/>
                <a:gd name="T9" fmla="*/ 62 h 543"/>
                <a:gd name="T10" fmla="*/ 47 w 362"/>
                <a:gd name="T11" fmla="*/ 90 h 543"/>
                <a:gd name="T12" fmla="*/ 30 w 362"/>
                <a:gd name="T13" fmla="*/ 120 h 543"/>
                <a:gd name="T14" fmla="*/ 18 w 362"/>
                <a:gd name="T15" fmla="*/ 154 h 543"/>
                <a:gd name="T16" fmla="*/ 8 w 362"/>
                <a:gd name="T17" fmla="*/ 191 h 543"/>
                <a:gd name="T18" fmla="*/ 2 w 362"/>
                <a:gd name="T19" fmla="*/ 231 h 543"/>
                <a:gd name="T20" fmla="*/ 0 w 362"/>
                <a:gd name="T21" fmla="*/ 272 h 543"/>
                <a:gd name="T22" fmla="*/ 2 w 362"/>
                <a:gd name="T23" fmla="*/ 313 h 543"/>
                <a:gd name="T24" fmla="*/ 8 w 362"/>
                <a:gd name="T25" fmla="*/ 352 h 543"/>
                <a:gd name="T26" fmla="*/ 18 w 362"/>
                <a:gd name="T27" fmla="*/ 389 h 543"/>
                <a:gd name="T28" fmla="*/ 30 w 362"/>
                <a:gd name="T29" fmla="*/ 424 h 543"/>
                <a:gd name="T30" fmla="*/ 47 w 362"/>
                <a:gd name="T31" fmla="*/ 455 h 543"/>
                <a:gd name="T32" fmla="*/ 66 w 362"/>
                <a:gd name="T33" fmla="*/ 481 h 543"/>
                <a:gd name="T34" fmla="*/ 87 w 362"/>
                <a:gd name="T35" fmla="*/ 504 h 543"/>
                <a:gd name="T36" fmla="*/ 110 w 362"/>
                <a:gd name="T37" fmla="*/ 522 h 543"/>
                <a:gd name="T38" fmla="*/ 136 w 362"/>
                <a:gd name="T39" fmla="*/ 535 h 543"/>
                <a:gd name="T40" fmla="*/ 162 w 362"/>
                <a:gd name="T41" fmla="*/ 542 h 543"/>
                <a:gd name="T42" fmla="*/ 191 w 362"/>
                <a:gd name="T43" fmla="*/ 543 h 543"/>
                <a:gd name="T44" fmla="*/ 217 w 362"/>
                <a:gd name="T45" fmla="*/ 537 h 543"/>
                <a:gd name="T46" fmla="*/ 243 w 362"/>
                <a:gd name="T47" fmla="*/ 527 h 543"/>
                <a:gd name="T48" fmla="*/ 267 w 362"/>
                <a:gd name="T49" fmla="*/ 511 h 543"/>
                <a:gd name="T50" fmla="*/ 289 w 362"/>
                <a:gd name="T51" fmla="*/ 490 h 543"/>
                <a:gd name="T52" fmla="*/ 309 w 362"/>
                <a:gd name="T53" fmla="*/ 463 h 543"/>
                <a:gd name="T54" fmla="*/ 326 w 362"/>
                <a:gd name="T55" fmla="*/ 435 h 543"/>
                <a:gd name="T56" fmla="*/ 340 w 362"/>
                <a:gd name="T57" fmla="*/ 401 h 543"/>
                <a:gd name="T58" fmla="*/ 351 w 362"/>
                <a:gd name="T59" fmla="*/ 365 h 543"/>
                <a:gd name="T60" fmla="*/ 358 w 362"/>
                <a:gd name="T61" fmla="*/ 326 h 543"/>
                <a:gd name="T62" fmla="*/ 362 w 362"/>
                <a:gd name="T63" fmla="*/ 286 h 543"/>
                <a:gd name="T64" fmla="*/ 361 w 362"/>
                <a:gd name="T65" fmla="*/ 244 h 543"/>
                <a:gd name="T66" fmla="*/ 356 w 362"/>
                <a:gd name="T67" fmla="*/ 204 h 543"/>
                <a:gd name="T68" fmla="*/ 347 w 362"/>
                <a:gd name="T69" fmla="*/ 166 h 543"/>
                <a:gd name="T70" fmla="*/ 336 w 362"/>
                <a:gd name="T71" fmla="*/ 132 h 543"/>
                <a:gd name="T72" fmla="*/ 321 w 362"/>
                <a:gd name="T73" fmla="*/ 99 h 543"/>
                <a:gd name="T74" fmla="*/ 303 w 362"/>
                <a:gd name="T75" fmla="*/ 71 h 543"/>
                <a:gd name="T76" fmla="*/ 282 w 362"/>
                <a:gd name="T77" fmla="*/ 47 h 543"/>
                <a:gd name="T78" fmla="*/ 259 w 362"/>
                <a:gd name="T79" fmla="*/ 27 h 543"/>
                <a:gd name="T80" fmla="*/ 235 w 362"/>
                <a:gd name="T81" fmla="*/ 12 h 543"/>
                <a:gd name="T82" fmla="*/ 209 w 362"/>
                <a:gd name="T83" fmla="*/ 4 h 543"/>
                <a:gd name="T84" fmla="*/ 181 w 362"/>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2"/>
                <a:gd name="T130" fmla="*/ 0 h 543"/>
                <a:gd name="T131" fmla="*/ 362 w 362"/>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2" h="543">
                  <a:moveTo>
                    <a:pt x="181" y="0"/>
                  </a:moveTo>
                  <a:lnTo>
                    <a:pt x="172" y="0"/>
                  </a:lnTo>
                  <a:lnTo>
                    <a:pt x="162" y="2"/>
                  </a:lnTo>
                  <a:lnTo>
                    <a:pt x="154" y="4"/>
                  </a:lnTo>
                  <a:lnTo>
                    <a:pt x="144" y="6"/>
                  </a:lnTo>
                  <a:lnTo>
                    <a:pt x="136" y="9"/>
                  </a:lnTo>
                  <a:lnTo>
                    <a:pt x="127" y="12"/>
                  </a:lnTo>
                  <a:lnTo>
                    <a:pt x="119" y="17"/>
                  </a:lnTo>
                  <a:lnTo>
                    <a:pt x="110" y="22"/>
                  </a:lnTo>
                  <a:lnTo>
                    <a:pt x="102" y="27"/>
                  </a:lnTo>
                  <a:lnTo>
                    <a:pt x="95" y="33"/>
                  </a:lnTo>
                  <a:lnTo>
                    <a:pt x="87" y="40"/>
                  </a:lnTo>
                  <a:lnTo>
                    <a:pt x="79" y="47"/>
                  </a:lnTo>
                  <a:lnTo>
                    <a:pt x="72" y="54"/>
                  </a:lnTo>
                  <a:lnTo>
                    <a:pt x="66" y="62"/>
                  </a:lnTo>
                  <a:lnTo>
                    <a:pt x="59" y="71"/>
                  </a:lnTo>
                  <a:lnTo>
                    <a:pt x="53" y="80"/>
                  </a:lnTo>
                  <a:lnTo>
                    <a:pt x="47" y="90"/>
                  </a:lnTo>
                  <a:lnTo>
                    <a:pt x="41" y="99"/>
                  </a:lnTo>
                  <a:lnTo>
                    <a:pt x="36" y="109"/>
                  </a:lnTo>
                  <a:lnTo>
                    <a:pt x="30" y="120"/>
                  </a:lnTo>
                  <a:lnTo>
                    <a:pt x="27" y="132"/>
                  </a:lnTo>
                  <a:lnTo>
                    <a:pt x="22" y="142"/>
                  </a:lnTo>
                  <a:lnTo>
                    <a:pt x="18" y="154"/>
                  </a:lnTo>
                  <a:lnTo>
                    <a:pt x="15" y="166"/>
                  </a:lnTo>
                  <a:lnTo>
                    <a:pt x="11" y="178"/>
                  </a:lnTo>
                  <a:lnTo>
                    <a:pt x="8" y="191"/>
                  </a:lnTo>
                  <a:lnTo>
                    <a:pt x="5" y="204"/>
                  </a:lnTo>
                  <a:lnTo>
                    <a:pt x="4" y="218"/>
                  </a:lnTo>
                  <a:lnTo>
                    <a:pt x="2" y="231"/>
                  </a:lnTo>
                  <a:lnTo>
                    <a:pt x="0" y="244"/>
                  </a:lnTo>
                  <a:lnTo>
                    <a:pt x="0" y="258"/>
                  </a:lnTo>
                  <a:lnTo>
                    <a:pt x="0" y="272"/>
                  </a:lnTo>
                  <a:lnTo>
                    <a:pt x="0" y="286"/>
                  </a:lnTo>
                  <a:lnTo>
                    <a:pt x="0" y="300"/>
                  </a:lnTo>
                  <a:lnTo>
                    <a:pt x="2" y="313"/>
                  </a:lnTo>
                  <a:lnTo>
                    <a:pt x="4" y="326"/>
                  </a:lnTo>
                  <a:lnTo>
                    <a:pt x="5" y="339"/>
                  </a:lnTo>
                  <a:lnTo>
                    <a:pt x="8" y="352"/>
                  </a:lnTo>
                  <a:lnTo>
                    <a:pt x="11" y="365"/>
                  </a:lnTo>
                  <a:lnTo>
                    <a:pt x="15" y="377"/>
                  </a:lnTo>
                  <a:lnTo>
                    <a:pt x="18" y="389"/>
                  </a:lnTo>
                  <a:lnTo>
                    <a:pt x="22" y="401"/>
                  </a:lnTo>
                  <a:lnTo>
                    <a:pt x="27" y="413"/>
                  </a:lnTo>
                  <a:lnTo>
                    <a:pt x="30" y="424"/>
                  </a:lnTo>
                  <a:lnTo>
                    <a:pt x="36" y="435"/>
                  </a:lnTo>
                  <a:lnTo>
                    <a:pt x="41" y="444"/>
                  </a:lnTo>
                  <a:lnTo>
                    <a:pt x="47" y="455"/>
                  </a:lnTo>
                  <a:lnTo>
                    <a:pt x="53" y="463"/>
                  </a:lnTo>
                  <a:lnTo>
                    <a:pt x="59" y="473"/>
                  </a:lnTo>
                  <a:lnTo>
                    <a:pt x="66" y="481"/>
                  </a:lnTo>
                  <a:lnTo>
                    <a:pt x="72" y="490"/>
                  </a:lnTo>
                  <a:lnTo>
                    <a:pt x="79" y="497"/>
                  </a:lnTo>
                  <a:lnTo>
                    <a:pt x="87" y="504"/>
                  </a:lnTo>
                  <a:lnTo>
                    <a:pt x="95" y="511"/>
                  </a:lnTo>
                  <a:lnTo>
                    <a:pt x="102" y="517"/>
                  </a:lnTo>
                  <a:lnTo>
                    <a:pt x="110" y="522"/>
                  </a:lnTo>
                  <a:lnTo>
                    <a:pt x="119" y="527"/>
                  </a:lnTo>
                  <a:lnTo>
                    <a:pt x="127" y="531"/>
                  </a:lnTo>
                  <a:lnTo>
                    <a:pt x="136" y="535"/>
                  </a:lnTo>
                  <a:lnTo>
                    <a:pt x="144" y="537"/>
                  </a:lnTo>
                  <a:lnTo>
                    <a:pt x="154" y="540"/>
                  </a:lnTo>
                  <a:lnTo>
                    <a:pt x="162" y="542"/>
                  </a:lnTo>
                  <a:lnTo>
                    <a:pt x="172" y="543"/>
                  </a:lnTo>
                  <a:lnTo>
                    <a:pt x="181" y="543"/>
                  </a:lnTo>
                  <a:lnTo>
                    <a:pt x="191" y="543"/>
                  </a:lnTo>
                  <a:lnTo>
                    <a:pt x="199" y="542"/>
                  </a:lnTo>
                  <a:lnTo>
                    <a:pt x="209" y="540"/>
                  </a:lnTo>
                  <a:lnTo>
                    <a:pt x="217" y="537"/>
                  </a:lnTo>
                  <a:lnTo>
                    <a:pt x="227" y="535"/>
                  </a:lnTo>
                  <a:lnTo>
                    <a:pt x="235" y="531"/>
                  </a:lnTo>
                  <a:lnTo>
                    <a:pt x="243" y="527"/>
                  </a:lnTo>
                  <a:lnTo>
                    <a:pt x="252" y="522"/>
                  </a:lnTo>
                  <a:lnTo>
                    <a:pt x="259" y="517"/>
                  </a:lnTo>
                  <a:lnTo>
                    <a:pt x="267" y="511"/>
                  </a:lnTo>
                  <a:lnTo>
                    <a:pt x="274" y="504"/>
                  </a:lnTo>
                  <a:lnTo>
                    <a:pt x="282" y="497"/>
                  </a:lnTo>
                  <a:lnTo>
                    <a:pt x="289" y="490"/>
                  </a:lnTo>
                  <a:lnTo>
                    <a:pt x="296" y="481"/>
                  </a:lnTo>
                  <a:lnTo>
                    <a:pt x="303" y="473"/>
                  </a:lnTo>
                  <a:lnTo>
                    <a:pt x="309" y="463"/>
                  </a:lnTo>
                  <a:lnTo>
                    <a:pt x="315" y="455"/>
                  </a:lnTo>
                  <a:lnTo>
                    <a:pt x="321" y="444"/>
                  </a:lnTo>
                  <a:lnTo>
                    <a:pt x="326" y="435"/>
                  </a:lnTo>
                  <a:lnTo>
                    <a:pt x="331" y="424"/>
                  </a:lnTo>
                  <a:lnTo>
                    <a:pt x="336" y="413"/>
                  </a:lnTo>
                  <a:lnTo>
                    <a:pt x="340" y="401"/>
                  </a:lnTo>
                  <a:lnTo>
                    <a:pt x="344" y="389"/>
                  </a:lnTo>
                  <a:lnTo>
                    <a:pt x="347" y="377"/>
                  </a:lnTo>
                  <a:lnTo>
                    <a:pt x="351" y="365"/>
                  </a:lnTo>
                  <a:lnTo>
                    <a:pt x="353" y="352"/>
                  </a:lnTo>
                  <a:lnTo>
                    <a:pt x="356" y="339"/>
                  </a:lnTo>
                  <a:lnTo>
                    <a:pt x="358" y="326"/>
                  </a:lnTo>
                  <a:lnTo>
                    <a:pt x="359" y="313"/>
                  </a:lnTo>
                  <a:lnTo>
                    <a:pt x="361" y="300"/>
                  </a:lnTo>
                  <a:lnTo>
                    <a:pt x="362" y="286"/>
                  </a:lnTo>
                  <a:lnTo>
                    <a:pt x="362" y="272"/>
                  </a:lnTo>
                  <a:lnTo>
                    <a:pt x="362" y="258"/>
                  </a:lnTo>
                  <a:lnTo>
                    <a:pt x="361" y="244"/>
                  </a:lnTo>
                  <a:lnTo>
                    <a:pt x="359" y="231"/>
                  </a:lnTo>
                  <a:lnTo>
                    <a:pt x="358" y="218"/>
                  </a:lnTo>
                  <a:lnTo>
                    <a:pt x="356" y="204"/>
                  </a:lnTo>
                  <a:lnTo>
                    <a:pt x="353" y="191"/>
                  </a:lnTo>
                  <a:lnTo>
                    <a:pt x="351" y="178"/>
                  </a:lnTo>
                  <a:lnTo>
                    <a:pt x="347" y="166"/>
                  </a:lnTo>
                  <a:lnTo>
                    <a:pt x="344" y="154"/>
                  </a:lnTo>
                  <a:lnTo>
                    <a:pt x="340" y="142"/>
                  </a:lnTo>
                  <a:lnTo>
                    <a:pt x="336" y="132"/>
                  </a:lnTo>
                  <a:lnTo>
                    <a:pt x="331" y="120"/>
                  </a:lnTo>
                  <a:lnTo>
                    <a:pt x="326" y="109"/>
                  </a:lnTo>
                  <a:lnTo>
                    <a:pt x="321" y="99"/>
                  </a:lnTo>
                  <a:lnTo>
                    <a:pt x="315" y="90"/>
                  </a:lnTo>
                  <a:lnTo>
                    <a:pt x="309" y="80"/>
                  </a:lnTo>
                  <a:lnTo>
                    <a:pt x="303" y="71"/>
                  </a:lnTo>
                  <a:lnTo>
                    <a:pt x="296" y="62"/>
                  </a:lnTo>
                  <a:lnTo>
                    <a:pt x="289" y="54"/>
                  </a:lnTo>
                  <a:lnTo>
                    <a:pt x="282" y="47"/>
                  </a:lnTo>
                  <a:lnTo>
                    <a:pt x="274" y="40"/>
                  </a:lnTo>
                  <a:lnTo>
                    <a:pt x="267" y="33"/>
                  </a:lnTo>
                  <a:lnTo>
                    <a:pt x="259" y="27"/>
                  </a:lnTo>
                  <a:lnTo>
                    <a:pt x="252" y="22"/>
                  </a:lnTo>
                  <a:lnTo>
                    <a:pt x="243" y="17"/>
                  </a:lnTo>
                  <a:lnTo>
                    <a:pt x="235" y="12"/>
                  </a:lnTo>
                  <a:lnTo>
                    <a:pt x="227" y="9"/>
                  </a:lnTo>
                  <a:lnTo>
                    <a:pt x="217" y="6"/>
                  </a:lnTo>
                  <a:lnTo>
                    <a:pt x="209" y="4"/>
                  </a:lnTo>
                  <a:lnTo>
                    <a:pt x="199" y="2"/>
                  </a:lnTo>
                  <a:lnTo>
                    <a:pt x="191" y="0"/>
                  </a:lnTo>
                  <a:lnTo>
                    <a:pt x="181" y="0"/>
                  </a:lnTo>
                </a:path>
              </a:pathLst>
            </a:custGeom>
            <a:solidFill>
              <a:srgbClr val="0099FF"/>
            </a:solidFill>
            <a:ln w="47625">
              <a:solidFill>
                <a:srgbClr val="4F8AFF"/>
              </a:solidFill>
              <a:round/>
            </a:ln>
          </p:spPr>
          <p:txBody>
            <a:bodyPr/>
            <a:lstStyle/>
            <a:p>
              <a:endParaRPr lang="zh-CN" altLang="en-US"/>
            </a:p>
          </p:txBody>
        </p:sp>
        <p:sp>
          <p:nvSpPr>
            <p:cNvPr id="22" name="Rectangle 16"/>
            <p:cNvSpPr>
              <a:spLocks noChangeArrowheads="1"/>
            </p:cNvSpPr>
            <p:nvPr/>
          </p:nvSpPr>
          <p:spPr bwMode="auto">
            <a:xfrm>
              <a:off x="2522"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3" name="Rectangle 17"/>
            <p:cNvSpPr>
              <a:spLocks noChangeArrowheads="1"/>
            </p:cNvSpPr>
            <p:nvPr/>
          </p:nvSpPr>
          <p:spPr bwMode="auto">
            <a:xfrm>
              <a:off x="2577"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4" name="Rectangle 18"/>
            <p:cNvSpPr>
              <a:spLocks noChangeArrowheads="1"/>
            </p:cNvSpPr>
            <p:nvPr/>
          </p:nvSpPr>
          <p:spPr bwMode="auto">
            <a:xfrm>
              <a:off x="2642" y="2029"/>
              <a:ext cx="32"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5" name="Freeform 19"/>
            <p:cNvSpPr/>
            <p:nvPr/>
          </p:nvSpPr>
          <p:spPr bwMode="auto">
            <a:xfrm>
              <a:off x="2789" y="1774"/>
              <a:ext cx="363" cy="543"/>
            </a:xfrm>
            <a:custGeom>
              <a:avLst/>
              <a:gdLst>
                <a:gd name="T0" fmla="*/ 163 w 363"/>
                <a:gd name="T1" fmla="*/ 2 h 543"/>
                <a:gd name="T2" fmla="*/ 137 w 363"/>
                <a:gd name="T3" fmla="*/ 9 h 543"/>
                <a:gd name="T4" fmla="*/ 111 w 363"/>
                <a:gd name="T5" fmla="*/ 22 h 543"/>
                <a:gd name="T6" fmla="*/ 88 w 363"/>
                <a:gd name="T7" fmla="*/ 40 h 543"/>
                <a:gd name="T8" fmla="*/ 66 w 363"/>
                <a:gd name="T9" fmla="*/ 62 h 543"/>
                <a:gd name="T10" fmla="*/ 48 w 363"/>
                <a:gd name="T11" fmla="*/ 90 h 543"/>
                <a:gd name="T12" fmla="*/ 31 w 363"/>
                <a:gd name="T13" fmla="*/ 120 h 543"/>
                <a:gd name="T14" fmla="*/ 18 w 363"/>
                <a:gd name="T15" fmla="*/ 154 h 543"/>
                <a:gd name="T16" fmla="*/ 9 w 363"/>
                <a:gd name="T17" fmla="*/ 191 h 543"/>
                <a:gd name="T18" fmla="*/ 3 w 363"/>
                <a:gd name="T19" fmla="*/ 231 h 543"/>
                <a:gd name="T20" fmla="*/ 0 w 363"/>
                <a:gd name="T21" fmla="*/ 272 h 543"/>
                <a:gd name="T22" fmla="*/ 3 w 363"/>
                <a:gd name="T23" fmla="*/ 313 h 543"/>
                <a:gd name="T24" fmla="*/ 9 w 363"/>
                <a:gd name="T25" fmla="*/ 352 h 543"/>
                <a:gd name="T26" fmla="*/ 18 w 363"/>
                <a:gd name="T27" fmla="*/ 389 h 543"/>
                <a:gd name="T28" fmla="*/ 31 w 363"/>
                <a:gd name="T29" fmla="*/ 424 h 543"/>
                <a:gd name="T30" fmla="*/ 48 w 363"/>
                <a:gd name="T31" fmla="*/ 455 h 543"/>
                <a:gd name="T32" fmla="*/ 66 w 363"/>
                <a:gd name="T33" fmla="*/ 481 h 543"/>
                <a:gd name="T34" fmla="*/ 88 w 363"/>
                <a:gd name="T35" fmla="*/ 504 h 543"/>
                <a:gd name="T36" fmla="*/ 111 w 363"/>
                <a:gd name="T37" fmla="*/ 522 h 543"/>
                <a:gd name="T38" fmla="*/ 137 w 363"/>
                <a:gd name="T39" fmla="*/ 535 h 543"/>
                <a:gd name="T40" fmla="*/ 163 w 363"/>
                <a:gd name="T41" fmla="*/ 542 h 543"/>
                <a:gd name="T42" fmla="*/ 190 w 363"/>
                <a:gd name="T43" fmla="*/ 543 h 543"/>
                <a:gd name="T44" fmla="*/ 218 w 363"/>
                <a:gd name="T45" fmla="*/ 537 h 543"/>
                <a:gd name="T46" fmla="*/ 243 w 363"/>
                <a:gd name="T47" fmla="*/ 527 h 543"/>
                <a:gd name="T48" fmla="*/ 268 w 363"/>
                <a:gd name="T49" fmla="*/ 511 h 543"/>
                <a:gd name="T50" fmla="*/ 290 w 363"/>
                <a:gd name="T51" fmla="*/ 490 h 543"/>
                <a:gd name="T52" fmla="*/ 309 w 363"/>
                <a:gd name="T53" fmla="*/ 463 h 543"/>
                <a:gd name="T54" fmla="*/ 327 w 363"/>
                <a:gd name="T55" fmla="*/ 435 h 543"/>
                <a:gd name="T56" fmla="*/ 340 w 363"/>
                <a:gd name="T57" fmla="*/ 401 h 543"/>
                <a:gd name="T58" fmla="*/ 352 w 363"/>
                <a:gd name="T59" fmla="*/ 365 h 543"/>
                <a:gd name="T60" fmla="*/ 359 w 363"/>
                <a:gd name="T61" fmla="*/ 326 h 543"/>
                <a:gd name="T62" fmla="*/ 363 w 363"/>
                <a:gd name="T63" fmla="*/ 286 h 543"/>
                <a:gd name="T64" fmla="*/ 362 w 363"/>
                <a:gd name="T65" fmla="*/ 244 h 543"/>
                <a:gd name="T66" fmla="*/ 357 w 363"/>
                <a:gd name="T67" fmla="*/ 204 h 543"/>
                <a:gd name="T68" fmla="*/ 348 w 363"/>
                <a:gd name="T69" fmla="*/ 166 h 543"/>
                <a:gd name="T70" fmla="*/ 337 w 363"/>
                <a:gd name="T71" fmla="*/ 132 h 543"/>
                <a:gd name="T72" fmla="*/ 321 w 363"/>
                <a:gd name="T73" fmla="*/ 99 h 543"/>
                <a:gd name="T74" fmla="*/ 303 w 363"/>
                <a:gd name="T75" fmla="*/ 71 h 543"/>
                <a:gd name="T76" fmla="*/ 283 w 363"/>
                <a:gd name="T77" fmla="*/ 47 h 543"/>
                <a:gd name="T78" fmla="*/ 260 w 363"/>
                <a:gd name="T79" fmla="*/ 27 h 543"/>
                <a:gd name="T80" fmla="*/ 235 w 363"/>
                <a:gd name="T81" fmla="*/ 12 h 543"/>
                <a:gd name="T82" fmla="*/ 210 w 363"/>
                <a:gd name="T83" fmla="*/ 4 h 543"/>
                <a:gd name="T84" fmla="*/ 181 w 363"/>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3"/>
                <a:gd name="T130" fmla="*/ 0 h 543"/>
                <a:gd name="T131" fmla="*/ 363 w 363"/>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3" h="543">
                  <a:moveTo>
                    <a:pt x="181" y="0"/>
                  </a:moveTo>
                  <a:lnTo>
                    <a:pt x="173" y="0"/>
                  </a:lnTo>
                  <a:lnTo>
                    <a:pt x="163" y="2"/>
                  </a:lnTo>
                  <a:lnTo>
                    <a:pt x="153" y="4"/>
                  </a:lnTo>
                  <a:lnTo>
                    <a:pt x="145" y="6"/>
                  </a:lnTo>
                  <a:lnTo>
                    <a:pt x="137" y="9"/>
                  </a:lnTo>
                  <a:lnTo>
                    <a:pt x="128" y="12"/>
                  </a:lnTo>
                  <a:lnTo>
                    <a:pt x="119" y="17"/>
                  </a:lnTo>
                  <a:lnTo>
                    <a:pt x="111" y="22"/>
                  </a:lnTo>
                  <a:lnTo>
                    <a:pt x="103" y="27"/>
                  </a:lnTo>
                  <a:lnTo>
                    <a:pt x="95" y="33"/>
                  </a:lnTo>
                  <a:lnTo>
                    <a:pt x="88" y="40"/>
                  </a:lnTo>
                  <a:lnTo>
                    <a:pt x="80" y="47"/>
                  </a:lnTo>
                  <a:lnTo>
                    <a:pt x="73" y="54"/>
                  </a:lnTo>
                  <a:lnTo>
                    <a:pt x="66" y="62"/>
                  </a:lnTo>
                  <a:lnTo>
                    <a:pt x="60" y="71"/>
                  </a:lnTo>
                  <a:lnTo>
                    <a:pt x="54" y="80"/>
                  </a:lnTo>
                  <a:lnTo>
                    <a:pt x="48" y="90"/>
                  </a:lnTo>
                  <a:lnTo>
                    <a:pt x="42" y="99"/>
                  </a:lnTo>
                  <a:lnTo>
                    <a:pt x="36" y="109"/>
                  </a:lnTo>
                  <a:lnTo>
                    <a:pt x="31" y="120"/>
                  </a:lnTo>
                  <a:lnTo>
                    <a:pt x="26" y="132"/>
                  </a:lnTo>
                  <a:lnTo>
                    <a:pt x="22" y="142"/>
                  </a:lnTo>
                  <a:lnTo>
                    <a:pt x="18" y="154"/>
                  </a:lnTo>
                  <a:lnTo>
                    <a:pt x="15" y="166"/>
                  </a:lnTo>
                  <a:lnTo>
                    <a:pt x="11" y="178"/>
                  </a:lnTo>
                  <a:lnTo>
                    <a:pt x="9" y="191"/>
                  </a:lnTo>
                  <a:lnTo>
                    <a:pt x="6" y="204"/>
                  </a:lnTo>
                  <a:lnTo>
                    <a:pt x="4" y="218"/>
                  </a:lnTo>
                  <a:lnTo>
                    <a:pt x="3" y="231"/>
                  </a:lnTo>
                  <a:lnTo>
                    <a:pt x="1" y="244"/>
                  </a:lnTo>
                  <a:lnTo>
                    <a:pt x="0" y="258"/>
                  </a:lnTo>
                  <a:lnTo>
                    <a:pt x="0" y="272"/>
                  </a:lnTo>
                  <a:lnTo>
                    <a:pt x="0" y="286"/>
                  </a:lnTo>
                  <a:lnTo>
                    <a:pt x="1" y="300"/>
                  </a:lnTo>
                  <a:lnTo>
                    <a:pt x="3" y="313"/>
                  </a:lnTo>
                  <a:lnTo>
                    <a:pt x="4" y="326"/>
                  </a:lnTo>
                  <a:lnTo>
                    <a:pt x="6" y="339"/>
                  </a:lnTo>
                  <a:lnTo>
                    <a:pt x="9" y="352"/>
                  </a:lnTo>
                  <a:lnTo>
                    <a:pt x="11" y="365"/>
                  </a:lnTo>
                  <a:lnTo>
                    <a:pt x="15" y="377"/>
                  </a:lnTo>
                  <a:lnTo>
                    <a:pt x="18" y="389"/>
                  </a:lnTo>
                  <a:lnTo>
                    <a:pt x="22" y="401"/>
                  </a:lnTo>
                  <a:lnTo>
                    <a:pt x="26" y="413"/>
                  </a:lnTo>
                  <a:lnTo>
                    <a:pt x="31" y="424"/>
                  </a:lnTo>
                  <a:lnTo>
                    <a:pt x="36" y="435"/>
                  </a:lnTo>
                  <a:lnTo>
                    <a:pt x="42" y="444"/>
                  </a:lnTo>
                  <a:lnTo>
                    <a:pt x="48" y="455"/>
                  </a:lnTo>
                  <a:lnTo>
                    <a:pt x="54" y="463"/>
                  </a:lnTo>
                  <a:lnTo>
                    <a:pt x="60" y="473"/>
                  </a:lnTo>
                  <a:lnTo>
                    <a:pt x="66" y="481"/>
                  </a:lnTo>
                  <a:lnTo>
                    <a:pt x="73" y="490"/>
                  </a:lnTo>
                  <a:lnTo>
                    <a:pt x="80" y="497"/>
                  </a:lnTo>
                  <a:lnTo>
                    <a:pt x="88" y="504"/>
                  </a:lnTo>
                  <a:lnTo>
                    <a:pt x="95" y="511"/>
                  </a:lnTo>
                  <a:lnTo>
                    <a:pt x="103" y="517"/>
                  </a:lnTo>
                  <a:lnTo>
                    <a:pt x="111" y="522"/>
                  </a:lnTo>
                  <a:lnTo>
                    <a:pt x="119" y="527"/>
                  </a:lnTo>
                  <a:lnTo>
                    <a:pt x="128" y="531"/>
                  </a:lnTo>
                  <a:lnTo>
                    <a:pt x="137" y="535"/>
                  </a:lnTo>
                  <a:lnTo>
                    <a:pt x="145" y="537"/>
                  </a:lnTo>
                  <a:lnTo>
                    <a:pt x="153" y="540"/>
                  </a:lnTo>
                  <a:lnTo>
                    <a:pt x="163" y="542"/>
                  </a:lnTo>
                  <a:lnTo>
                    <a:pt x="173" y="543"/>
                  </a:lnTo>
                  <a:lnTo>
                    <a:pt x="181" y="543"/>
                  </a:lnTo>
                  <a:lnTo>
                    <a:pt x="190" y="543"/>
                  </a:lnTo>
                  <a:lnTo>
                    <a:pt x="200" y="542"/>
                  </a:lnTo>
                  <a:lnTo>
                    <a:pt x="210" y="540"/>
                  </a:lnTo>
                  <a:lnTo>
                    <a:pt x="218" y="537"/>
                  </a:lnTo>
                  <a:lnTo>
                    <a:pt x="226" y="535"/>
                  </a:lnTo>
                  <a:lnTo>
                    <a:pt x="235" y="531"/>
                  </a:lnTo>
                  <a:lnTo>
                    <a:pt x="243" y="527"/>
                  </a:lnTo>
                  <a:lnTo>
                    <a:pt x="252" y="522"/>
                  </a:lnTo>
                  <a:lnTo>
                    <a:pt x="260" y="517"/>
                  </a:lnTo>
                  <a:lnTo>
                    <a:pt x="268" y="511"/>
                  </a:lnTo>
                  <a:lnTo>
                    <a:pt x="275" y="504"/>
                  </a:lnTo>
                  <a:lnTo>
                    <a:pt x="283" y="497"/>
                  </a:lnTo>
                  <a:lnTo>
                    <a:pt x="290" y="490"/>
                  </a:lnTo>
                  <a:lnTo>
                    <a:pt x="297" y="481"/>
                  </a:lnTo>
                  <a:lnTo>
                    <a:pt x="303" y="473"/>
                  </a:lnTo>
                  <a:lnTo>
                    <a:pt x="309" y="463"/>
                  </a:lnTo>
                  <a:lnTo>
                    <a:pt x="315" y="455"/>
                  </a:lnTo>
                  <a:lnTo>
                    <a:pt x="321" y="444"/>
                  </a:lnTo>
                  <a:lnTo>
                    <a:pt x="327" y="435"/>
                  </a:lnTo>
                  <a:lnTo>
                    <a:pt x="332" y="424"/>
                  </a:lnTo>
                  <a:lnTo>
                    <a:pt x="337" y="413"/>
                  </a:lnTo>
                  <a:lnTo>
                    <a:pt x="340" y="401"/>
                  </a:lnTo>
                  <a:lnTo>
                    <a:pt x="345" y="389"/>
                  </a:lnTo>
                  <a:lnTo>
                    <a:pt x="348" y="377"/>
                  </a:lnTo>
                  <a:lnTo>
                    <a:pt x="352" y="365"/>
                  </a:lnTo>
                  <a:lnTo>
                    <a:pt x="354" y="352"/>
                  </a:lnTo>
                  <a:lnTo>
                    <a:pt x="357" y="339"/>
                  </a:lnTo>
                  <a:lnTo>
                    <a:pt x="359" y="326"/>
                  </a:lnTo>
                  <a:lnTo>
                    <a:pt x="360" y="313"/>
                  </a:lnTo>
                  <a:lnTo>
                    <a:pt x="362" y="300"/>
                  </a:lnTo>
                  <a:lnTo>
                    <a:pt x="363" y="286"/>
                  </a:lnTo>
                  <a:lnTo>
                    <a:pt x="363" y="272"/>
                  </a:lnTo>
                  <a:lnTo>
                    <a:pt x="363" y="258"/>
                  </a:lnTo>
                  <a:lnTo>
                    <a:pt x="362" y="244"/>
                  </a:lnTo>
                  <a:lnTo>
                    <a:pt x="360" y="231"/>
                  </a:lnTo>
                  <a:lnTo>
                    <a:pt x="359" y="218"/>
                  </a:lnTo>
                  <a:lnTo>
                    <a:pt x="357" y="204"/>
                  </a:lnTo>
                  <a:lnTo>
                    <a:pt x="354" y="191"/>
                  </a:lnTo>
                  <a:lnTo>
                    <a:pt x="352" y="178"/>
                  </a:lnTo>
                  <a:lnTo>
                    <a:pt x="348" y="166"/>
                  </a:lnTo>
                  <a:lnTo>
                    <a:pt x="345" y="154"/>
                  </a:lnTo>
                  <a:lnTo>
                    <a:pt x="340" y="142"/>
                  </a:lnTo>
                  <a:lnTo>
                    <a:pt x="337" y="132"/>
                  </a:lnTo>
                  <a:lnTo>
                    <a:pt x="332" y="120"/>
                  </a:lnTo>
                  <a:lnTo>
                    <a:pt x="327" y="109"/>
                  </a:lnTo>
                  <a:lnTo>
                    <a:pt x="321" y="99"/>
                  </a:lnTo>
                  <a:lnTo>
                    <a:pt x="315" y="90"/>
                  </a:lnTo>
                  <a:lnTo>
                    <a:pt x="309" y="80"/>
                  </a:lnTo>
                  <a:lnTo>
                    <a:pt x="303" y="71"/>
                  </a:lnTo>
                  <a:lnTo>
                    <a:pt x="297" y="62"/>
                  </a:lnTo>
                  <a:lnTo>
                    <a:pt x="290" y="54"/>
                  </a:lnTo>
                  <a:lnTo>
                    <a:pt x="283" y="47"/>
                  </a:lnTo>
                  <a:lnTo>
                    <a:pt x="275" y="40"/>
                  </a:lnTo>
                  <a:lnTo>
                    <a:pt x="268" y="33"/>
                  </a:lnTo>
                  <a:lnTo>
                    <a:pt x="260" y="27"/>
                  </a:lnTo>
                  <a:lnTo>
                    <a:pt x="252" y="22"/>
                  </a:lnTo>
                  <a:lnTo>
                    <a:pt x="243" y="17"/>
                  </a:lnTo>
                  <a:lnTo>
                    <a:pt x="235" y="12"/>
                  </a:lnTo>
                  <a:lnTo>
                    <a:pt x="226" y="9"/>
                  </a:lnTo>
                  <a:lnTo>
                    <a:pt x="218" y="6"/>
                  </a:lnTo>
                  <a:lnTo>
                    <a:pt x="210" y="4"/>
                  </a:lnTo>
                  <a:lnTo>
                    <a:pt x="200" y="2"/>
                  </a:lnTo>
                  <a:lnTo>
                    <a:pt x="190" y="0"/>
                  </a:lnTo>
                  <a:lnTo>
                    <a:pt x="181" y="0"/>
                  </a:lnTo>
                </a:path>
              </a:pathLst>
            </a:custGeom>
            <a:solidFill>
              <a:srgbClr val="FF4F4F"/>
            </a:solidFill>
            <a:ln w="47625">
              <a:solidFill>
                <a:srgbClr val="FF4F4F"/>
              </a:solidFill>
              <a:round/>
            </a:ln>
          </p:spPr>
          <p:txBody>
            <a:bodyPr/>
            <a:lstStyle/>
            <a:p>
              <a:endParaRPr lang="zh-CN" altLang="en-US"/>
            </a:p>
          </p:txBody>
        </p:sp>
        <p:sp>
          <p:nvSpPr>
            <p:cNvPr id="26" name="Rectangle 20"/>
            <p:cNvSpPr>
              <a:spLocks noChangeArrowheads="1"/>
            </p:cNvSpPr>
            <p:nvPr/>
          </p:nvSpPr>
          <p:spPr bwMode="auto">
            <a:xfrm>
              <a:off x="2910"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7" name="Rectangle 21"/>
            <p:cNvSpPr>
              <a:spLocks noChangeArrowheads="1"/>
            </p:cNvSpPr>
            <p:nvPr/>
          </p:nvSpPr>
          <p:spPr bwMode="auto">
            <a:xfrm>
              <a:off x="2965"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8" name="Rectangle 22"/>
            <p:cNvSpPr>
              <a:spLocks noChangeArrowheads="1"/>
            </p:cNvSpPr>
            <p:nvPr/>
          </p:nvSpPr>
          <p:spPr bwMode="auto">
            <a:xfrm>
              <a:off x="3030" y="2029"/>
              <a:ext cx="32"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29" name="Freeform 23"/>
            <p:cNvSpPr/>
            <p:nvPr/>
          </p:nvSpPr>
          <p:spPr bwMode="auto">
            <a:xfrm>
              <a:off x="3178" y="1774"/>
              <a:ext cx="362" cy="543"/>
            </a:xfrm>
            <a:custGeom>
              <a:avLst/>
              <a:gdLst>
                <a:gd name="T0" fmla="*/ 163 w 362"/>
                <a:gd name="T1" fmla="*/ 2 h 543"/>
                <a:gd name="T2" fmla="*/ 135 w 362"/>
                <a:gd name="T3" fmla="*/ 9 h 543"/>
                <a:gd name="T4" fmla="*/ 110 w 362"/>
                <a:gd name="T5" fmla="*/ 22 h 543"/>
                <a:gd name="T6" fmla="*/ 88 w 362"/>
                <a:gd name="T7" fmla="*/ 40 h 543"/>
                <a:gd name="T8" fmla="*/ 66 w 362"/>
                <a:gd name="T9" fmla="*/ 62 h 543"/>
                <a:gd name="T10" fmla="*/ 47 w 362"/>
                <a:gd name="T11" fmla="*/ 90 h 543"/>
                <a:gd name="T12" fmla="*/ 31 w 362"/>
                <a:gd name="T13" fmla="*/ 120 h 543"/>
                <a:gd name="T14" fmla="*/ 18 w 362"/>
                <a:gd name="T15" fmla="*/ 154 h 543"/>
                <a:gd name="T16" fmla="*/ 9 w 362"/>
                <a:gd name="T17" fmla="*/ 191 h 543"/>
                <a:gd name="T18" fmla="*/ 3 w 362"/>
                <a:gd name="T19" fmla="*/ 231 h 543"/>
                <a:gd name="T20" fmla="*/ 0 w 362"/>
                <a:gd name="T21" fmla="*/ 272 h 543"/>
                <a:gd name="T22" fmla="*/ 3 w 362"/>
                <a:gd name="T23" fmla="*/ 313 h 543"/>
                <a:gd name="T24" fmla="*/ 9 w 362"/>
                <a:gd name="T25" fmla="*/ 352 h 543"/>
                <a:gd name="T26" fmla="*/ 18 w 362"/>
                <a:gd name="T27" fmla="*/ 389 h 543"/>
                <a:gd name="T28" fmla="*/ 31 w 362"/>
                <a:gd name="T29" fmla="*/ 424 h 543"/>
                <a:gd name="T30" fmla="*/ 47 w 362"/>
                <a:gd name="T31" fmla="*/ 455 h 543"/>
                <a:gd name="T32" fmla="*/ 66 w 362"/>
                <a:gd name="T33" fmla="*/ 481 h 543"/>
                <a:gd name="T34" fmla="*/ 88 w 362"/>
                <a:gd name="T35" fmla="*/ 504 h 543"/>
                <a:gd name="T36" fmla="*/ 110 w 362"/>
                <a:gd name="T37" fmla="*/ 522 h 543"/>
                <a:gd name="T38" fmla="*/ 135 w 362"/>
                <a:gd name="T39" fmla="*/ 535 h 543"/>
                <a:gd name="T40" fmla="*/ 163 w 362"/>
                <a:gd name="T41" fmla="*/ 542 h 543"/>
                <a:gd name="T42" fmla="*/ 190 w 362"/>
                <a:gd name="T43" fmla="*/ 543 h 543"/>
                <a:gd name="T44" fmla="*/ 218 w 362"/>
                <a:gd name="T45" fmla="*/ 537 h 543"/>
                <a:gd name="T46" fmla="*/ 243 w 362"/>
                <a:gd name="T47" fmla="*/ 527 h 543"/>
                <a:gd name="T48" fmla="*/ 267 w 362"/>
                <a:gd name="T49" fmla="*/ 511 h 543"/>
                <a:gd name="T50" fmla="*/ 290 w 362"/>
                <a:gd name="T51" fmla="*/ 490 h 543"/>
                <a:gd name="T52" fmla="*/ 309 w 362"/>
                <a:gd name="T53" fmla="*/ 463 h 543"/>
                <a:gd name="T54" fmla="*/ 326 w 362"/>
                <a:gd name="T55" fmla="*/ 435 h 543"/>
                <a:gd name="T56" fmla="*/ 340 w 362"/>
                <a:gd name="T57" fmla="*/ 401 h 543"/>
                <a:gd name="T58" fmla="*/ 351 w 362"/>
                <a:gd name="T59" fmla="*/ 365 h 543"/>
                <a:gd name="T60" fmla="*/ 358 w 362"/>
                <a:gd name="T61" fmla="*/ 326 h 543"/>
                <a:gd name="T62" fmla="*/ 362 w 362"/>
                <a:gd name="T63" fmla="*/ 286 h 543"/>
                <a:gd name="T64" fmla="*/ 360 w 362"/>
                <a:gd name="T65" fmla="*/ 244 h 543"/>
                <a:gd name="T66" fmla="*/ 357 w 362"/>
                <a:gd name="T67" fmla="*/ 204 h 543"/>
                <a:gd name="T68" fmla="*/ 347 w 362"/>
                <a:gd name="T69" fmla="*/ 166 h 543"/>
                <a:gd name="T70" fmla="*/ 335 w 362"/>
                <a:gd name="T71" fmla="*/ 132 h 543"/>
                <a:gd name="T72" fmla="*/ 321 w 362"/>
                <a:gd name="T73" fmla="*/ 99 h 543"/>
                <a:gd name="T74" fmla="*/ 303 w 362"/>
                <a:gd name="T75" fmla="*/ 71 h 543"/>
                <a:gd name="T76" fmla="*/ 283 w 362"/>
                <a:gd name="T77" fmla="*/ 47 h 543"/>
                <a:gd name="T78" fmla="*/ 260 w 362"/>
                <a:gd name="T79" fmla="*/ 27 h 543"/>
                <a:gd name="T80" fmla="*/ 235 w 362"/>
                <a:gd name="T81" fmla="*/ 12 h 543"/>
                <a:gd name="T82" fmla="*/ 208 w 362"/>
                <a:gd name="T83" fmla="*/ 4 h 543"/>
                <a:gd name="T84" fmla="*/ 181 w 362"/>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2"/>
                <a:gd name="T130" fmla="*/ 0 h 543"/>
                <a:gd name="T131" fmla="*/ 362 w 362"/>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2" h="543">
                  <a:moveTo>
                    <a:pt x="181" y="0"/>
                  </a:moveTo>
                  <a:lnTo>
                    <a:pt x="171" y="0"/>
                  </a:lnTo>
                  <a:lnTo>
                    <a:pt x="163" y="2"/>
                  </a:lnTo>
                  <a:lnTo>
                    <a:pt x="153" y="4"/>
                  </a:lnTo>
                  <a:lnTo>
                    <a:pt x="145" y="6"/>
                  </a:lnTo>
                  <a:lnTo>
                    <a:pt x="135" y="9"/>
                  </a:lnTo>
                  <a:lnTo>
                    <a:pt x="127" y="12"/>
                  </a:lnTo>
                  <a:lnTo>
                    <a:pt x="119" y="17"/>
                  </a:lnTo>
                  <a:lnTo>
                    <a:pt x="110" y="22"/>
                  </a:lnTo>
                  <a:lnTo>
                    <a:pt x="102" y="27"/>
                  </a:lnTo>
                  <a:lnTo>
                    <a:pt x="95" y="33"/>
                  </a:lnTo>
                  <a:lnTo>
                    <a:pt x="88" y="40"/>
                  </a:lnTo>
                  <a:lnTo>
                    <a:pt x="79" y="47"/>
                  </a:lnTo>
                  <a:lnTo>
                    <a:pt x="73" y="54"/>
                  </a:lnTo>
                  <a:lnTo>
                    <a:pt x="66" y="62"/>
                  </a:lnTo>
                  <a:lnTo>
                    <a:pt x="59" y="71"/>
                  </a:lnTo>
                  <a:lnTo>
                    <a:pt x="53" y="80"/>
                  </a:lnTo>
                  <a:lnTo>
                    <a:pt x="47" y="90"/>
                  </a:lnTo>
                  <a:lnTo>
                    <a:pt x="41" y="99"/>
                  </a:lnTo>
                  <a:lnTo>
                    <a:pt x="36" y="109"/>
                  </a:lnTo>
                  <a:lnTo>
                    <a:pt x="31" y="120"/>
                  </a:lnTo>
                  <a:lnTo>
                    <a:pt x="26" y="132"/>
                  </a:lnTo>
                  <a:lnTo>
                    <a:pt x="22" y="142"/>
                  </a:lnTo>
                  <a:lnTo>
                    <a:pt x="18" y="154"/>
                  </a:lnTo>
                  <a:lnTo>
                    <a:pt x="15" y="166"/>
                  </a:lnTo>
                  <a:lnTo>
                    <a:pt x="11" y="178"/>
                  </a:lnTo>
                  <a:lnTo>
                    <a:pt x="9" y="191"/>
                  </a:lnTo>
                  <a:lnTo>
                    <a:pt x="6" y="204"/>
                  </a:lnTo>
                  <a:lnTo>
                    <a:pt x="4" y="218"/>
                  </a:lnTo>
                  <a:lnTo>
                    <a:pt x="3" y="231"/>
                  </a:lnTo>
                  <a:lnTo>
                    <a:pt x="1" y="244"/>
                  </a:lnTo>
                  <a:lnTo>
                    <a:pt x="0" y="258"/>
                  </a:lnTo>
                  <a:lnTo>
                    <a:pt x="0" y="272"/>
                  </a:lnTo>
                  <a:lnTo>
                    <a:pt x="0" y="286"/>
                  </a:lnTo>
                  <a:lnTo>
                    <a:pt x="1" y="300"/>
                  </a:lnTo>
                  <a:lnTo>
                    <a:pt x="3" y="313"/>
                  </a:lnTo>
                  <a:lnTo>
                    <a:pt x="4" y="326"/>
                  </a:lnTo>
                  <a:lnTo>
                    <a:pt x="6" y="339"/>
                  </a:lnTo>
                  <a:lnTo>
                    <a:pt x="9" y="352"/>
                  </a:lnTo>
                  <a:lnTo>
                    <a:pt x="11" y="365"/>
                  </a:lnTo>
                  <a:lnTo>
                    <a:pt x="15" y="377"/>
                  </a:lnTo>
                  <a:lnTo>
                    <a:pt x="18" y="389"/>
                  </a:lnTo>
                  <a:lnTo>
                    <a:pt x="22" y="401"/>
                  </a:lnTo>
                  <a:lnTo>
                    <a:pt x="26" y="413"/>
                  </a:lnTo>
                  <a:lnTo>
                    <a:pt x="31" y="424"/>
                  </a:lnTo>
                  <a:lnTo>
                    <a:pt x="36" y="435"/>
                  </a:lnTo>
                  <a:lnTo>
                    <a:pt x="41" y="444"/>
                  </a:lnTo>
                  <a:lnTo>
                    <a:pt x="47" y="455"/>
                  </a:lnTo>
                  <a:lnTo>
                    <a:pt x="53" y="463"/>
                  </a:lnTo>
                  <a:lnTo>
                    <a:pt x="59" y="473"/>
                  </a:lnTo>
                  <a:lnTo>
                    <a:pt x="66" y="481"/>
                  </a:lnTo>
                  <a:lnTo>
                    <a:pt x="73" y="490"/>
                  </a:lnTo>
                  <a:lnTo>
                    <a:pt x="79" y="497"/>
                  </a:lnTo>
                  <a:lnTo>
                    <a:pt x="88" y="504"/>
                  </a:lnTo>
                  <a:lnTo>
                    <a:pt x="95" y="511"/>
                  </a:lnTo>
                  <a:lnTo>
                    <a:pt x="102" y="517"/>
                  </a:lnTo>
                  <a:lnTo>
                    <a:pt x="110" y="522"/>
                  </a:lnTo>
                  <a:lnTo>
                    <a:pt x="119" y="527"/>
                  </a:lnTo>
                  <a:lnTo>
                    <a:pt x="127" y="531"/>
                  </a:lnTo>
                  <a:lnTo>
                    <a:pt x="135" y="535"/>
                  </a:lnTo>
                  <a:lnTo>
                    <a:pt x="145" y="537"/>
                  </a:lnTo>
                  <a:lnTo>
                    <a:pt x="153" y="540"/>
                  </a:lnTo>
                  <a:lnTo>
                    <a:pt x="163" y="542"/>
                  </a:lnTo>
                  <a:lnTo>
                    <a:pt x="171" y="543"/>
                  </a:lnTo>
                  <a:lnTo>
                    <a:pt x="181" y="543"/>
                  </a:lnTo>
                  <a:lnTo>
                    <a:pt x="190" y="543"/>
                  </a:lnTo>
                  <a:lnTo>
                    <a:pt x="199" y="542"/>
                  </a:lnTo>
                  <a:lnTo>
                    <a:pt x="208" y="540"/>
                  </a:lnTo>
                  <a:lnTo>
                    <a:pt x="218" y="537"/>
                  </a:lnTo>
                  <a:lnTo>
                    <a:pt x="226" y="535"/>
                  </a:lnTo>
                  <a:lnTo>
                    <a:pt x="235" y="531"/>
                  </a:lnTo>
                  <a:lnTo>
                    <a:pt x="243" y="527"/>
                  </a:lnTo>
                  <a:lnTo>
                    <a:pt x="252" y="522"/>
                  </a:lnTo>
                  <a:lnTo>
                    <a:pt x="260" y="517"/>
                  </a:lnTo>
                  <a:lnTo>
                    <a:pt x="267" y="511"/>
                  </a:lnTo>
                  <a:lnTo>
                    <a:pt x="274" y="504"/>
                  </a:lnTo>
                  <a:lnTo>
                    <a:pt x="283" y="497"/>
                  </a:lnTo>
                  <a:lnTo>
                    <a:pt x="290" y="490"/>
                  </a:lnTo>
                  <a:lnTo>
                    <a:pt x="296" y="481"/>
                  </a:lnTo>
                  <a:lnTo>
                    <a:pt x="303" y="473"/>
                  </a:lnTo>
                  <a:lnTo>
                    <a:pt x="309" y="463"/>
                  </a:lnTo>
                  <a:lnTo>
                    <a:pt x="315" y="455"/>
                  </a:lnTo>
                  <a:lnTo>
                    <a:pt x="321" y="444"/>
                  </a:lnTo>
                  <a:lnTo>
                    <a:pt x="326" y="435"/>
                  </a:lnTo>
                  <a:lnTo>
                    <a:pt x="331" y="424"/>
                  </a:lnTo>
                  <a:lnTo>
                    <a:pt x="335" y="413"/>
                  </a:lnTo>
                  <a:lnTo>
                    <a:pt x="340" y="401"/>
                  </a:lnTo>
                  <a:lnTo>
                    <a:pt x="344" y="389"/>
                  </a:lnTo>
                  <a:lnTo>
                    <a:pt x="347" y="377"/>
                  </a:lnTo>
                  <a:lnTo>
                    <a:pt x="351" y="365"/>
                  </a:lnTo>
                  <a:lnTo>
                    <a:pt x="353" y="352"/>
                  </a:lnTo>
                  <a:lnTo>
                    <a:pt x="357" y="339"/>
                  </a:lnTo>
                  <a:lnTo>
                    <a:pt x="358" y="326"/>
                  </a:lnTo>
                  <a:lnTo>
                    <a:pt x="360" y="313"/>
                  </a:lnTo>
                  <a:lnTo>
                    <a:pt x="360" y="300"/>
                  </a:lnTo>
                  <a:lnTo>
                    <a:pt x="362" y="286"/>
                  </a:lnTo>
                  <a:lnTo>
                    <a:pt x="362" y="272"/>
                  </a:lnTo>
                  <a:lnTo>
                    <a:pt x="362" y="258"/>
                  </a:lnTo>
                  <a:lnTo>
                    <a:pt x="360" y="244"/>
                  </a:lnTo>
                  <a:lnTo>
                    <a:pt x="360" y="231"/>
                  </a:lnTo>
                  <a:lnTo>
                    <a:pt x="358" y="218"/>
                  </a:lnTo>
                  <a:lnTo>
                    <a:pt x="357" y="204"/>
                  </a:lnTo>
                  <a:lnTo>
                    <a:pt x="353" y="191"/>
                  </a:lnTo>
                  <a:lnTo>
                    <a:pt x="351" y="178"/>
                  </a:lnTo>
                  <a:lnTo>
                    <a:pt x="347" y="166"/>
                  </a:lnTo>
                  <a:lnTo>
                    <a:pt x="344" y="154"/>
                  </a:lnTo>
                  <a:lnTo>
                    <a:pt x="340" y="142"/>
                  </a:lnTo>
                  <a:lnTo>
                    <a:pt x="335" y="132"/>
                  </a:lnTo>
                  <a:lnTo>
                    <a:pt x="331" y="120"/>
                  </a:lnTo>
                  <a:lnTo>
                    <a:pt x="326" y="109"/>
                  </a:lnTo>
                  <a:lnTo>
                    <a:pt x="321" y="99"/>
                  </a:lnTo>
                  <a:lnTo>
                    <a:pt x="315" y="90"/>
                  </a:lnTo>
                  <a:lnTo>
                    <a:pt x="309" y="80"/>
                  </a:lnTo>
                  <a:lnTo>
                    <a:pt x="303" y="71"/>
                  </a:lnTo>
                  <a:lnTo>
                    <a:pt x="296" y="62"/>
                  </a:lnTo>
                  <a:lnTo>
                    <a:pt x="290" y="54"/>
                  </a:lnTo>
                  <a:lnTo>
                    <a:pt x="283" y="47"/>
                  </a:lnTo>
                  <a:lnTo>
                    <a:pt x="274" y="40"/>
                  </a:lnTo>
                  <a:lnTo>
                    <a:pt x="267" y="33"/>
                  </a:lnTo>
                  <a:lnTo>
                    <a:pt x="260" y="27"/>
                  </a:lnTo>
                  <a:lnTo>
                    <a:pt x="252" y="22"/>
                  </a:lnTo>
                  <a:lnTo>
                    <a:pt x="243" y="17"/>
                  </a:lnTo>
                  <a:lnTo>
                    <a:pt x="235" y="12"/>
                  </a:lnTo>
                  <a:lnTo>
                    <a:pt x="226" y="9"/>
                  </a:lnTo>
                  <a:lnTo>
                    <a:pt x="218" y="6"/>
                  </a:lnTo>
                  <a:lnTo>
                    <a:pt x="208" y="4"/>
                  </a:lnTo>
                  <a:lnTo>
                    <a:pt x="199" y="2"/>
                  </a:lnTo>
                  <a:lnTo>
                    <a:pt x="190" y="0"/>
                  </a:lnTo>
                  <a:lnTo>
                    <a:pt x="181" y="0"/>
                  </a:lnTo>
                </a:path>
              </a:pathLst>
            </a:custGeom>
            <a:solidFill>
              <a:srgbClr val="0099FF"/>
            </a:solidFill>
            <a:ln w="47625">
              <a:solidFill>
                <a:srgbClr val="4F8AFF"/>
              </a:solidFill>
              <a:round/>
            </a:ln>
          </p:spPr>
          <p:txBody>
            <a:bodyPr/>
            <a:lstStyle/>
            <a:p>
              <a:endParaRPr lang="zh-CN" altLang="en-US"/>
            </a:p>
          </p:txBody>
        </p:sp>
        <p:sp>
          <p:nvSpPr>
            <p:cNvPr id="30" name="Rectangle 24"/>
            <p:cNvSpPr>
              <a:spLocks noChangeArrowheads="1"/>
            </p:cNvSpPr>
            <p:nvPr/>
          </p:nvSpPr>
          <p:spPr bwMode="auto">
            <a:xfrm>
              <a:off x="3299"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 name="Rectangle 25"/>
            <p:cNvSpPr>
              <a:spLocks noChangeArrowheads="1"/>
            </p:cNvSpPr>
            <p:nvPr/>
          </p:nvSpPr>
          <p:spPr bwMode="auto">
            <a:xfrm>
              <a:off x="3354"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2" name="Rectangle 26"/>
            <p:cNvSpPr>
              <a:spLocks noChangeArrowheads="1"/>
            </p:cNvSpPr>
            <p:nvPr/>
          </p:nvSpPr>
          <p:spPr bwMode="auto">
            <a:xfrm>
              <a:off x="3419" y="2029"/>
              <a:ext cx="32"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3" name="Freeform 27"/>
            <p:cNvSpPr/>
            <p:nvPr/>
          </p:nvSpPr>
          <p:spPr bwMode="auto">
            <a:xfrm>
              <a:off x="3567" y="1774"/>
              <a:ext cx="362" cy="543"/>
            </a:xfrm>
            <a:custGeom>
              <a:avLst/>
              <a:gdLst>
                <a:gd name="T0" fmla="*/ 163 w 362"/>
                <a:gd name="T1" fmla="*/ 2 h 543"/>
                <a:gd name="T2" fmla="*/ 135 w 362"/>
                <a:gd name="T3" fmla="*/ 9 h 543"/>
                <a:gd name="T4" fmla="*/ 110 w 362"/>
                <a:gd name="T5" fmla="*/ 22 h 543"/>
                <a:gd name="T6" fmla="*/ 88 w 362"/>
                <a:gd name="T7" fmla="*/ 40 h 543"/>
                <a:gd name="T8" fmla="*/ 66 w 362"/>
                <a:gd name="T9" fmla="*/ 62 h 543"/>
                <a:gd name="T10" fmla="*/ 47 w 362"/>
                <a:gd name="T11" fmla="*/ 90 h 543"/>
                <a:gd name="T12" fmla="*/ 31 w 362"/>
                <a:gd name="T13" fmla="*/ 120 h 543"/>
                <a:gd name="T14" fmla="*/ 18 w 362"/>
                <a:gd name="T15" fmla="*/ 154 h 543"/>
                <a:gd name="T16" fmla="*/ 9 w 362"/>
                <a:gd name="T17" fmla="*/ 191 h 543"/>
                <a:gd name="T18" fmla="*/ 3 w 362"/>
                <a:gd name="T19" fmla="*/ 231 h 543"/>
                <a:gd name="T20" fmla="*/ 0 w 362"/>
                <a:gd name="T21" fmla="*/ 272 h 543"/>
                <a:gd name="T22" fmla="*/ 3 w 362"/>
                <a:gd name="T23" fmla="*/ 313 h 543"/>
                <a:gd name="T24" fmla="*/ 9 w 362"/>
                <a:gd name="T25" fmla="*/ 352 h 543"/>
                <a:gd name="T26" fmla="*/ 18 w 362"/>
                <a:gd name="T27" fmla="*/ 389 h 543"/>
                <a:gd name="T28" fmla="*/ 31 w 362"/>
                <a:gd name="T29" fmla="*/ 424 h 543"/>
                <a:gd name="T30" fmla="*/ 47 w 362"/>
                <a:gd name="T31" fmla="*/ 455 h 543"/>
                <a:gd name="T32" fmla="*/ 66 w 362"/>
                <a:gd name="T33" fmla="*/ 481 h 543"/>
                <a:gd name="T34" fmla="*/ 88 w 362"/>
                <a:gd name="T35" fmla="*/ 504 h 543"/>
                <a:gd name="T36" fmla="*/ 110 w 362"/>
                <a:gd name="T37" fmla="*/ 522 h 543"/>
                <a:gd name="T38" fmla="*/ 135 w 362"/>
                <a:gd name="T39" fmla="*/ 535 h 543"/>
                <a:gd name="T40" fmla="*/ 163 w 362"/>
                <a:gd name="T41" fmla="*/ 542 h 543"/>
                <a:gd name="T42" fmla="*/ 190 w 362"/>
                <a:gd name="T43" fmla="*/ 543 h 543"/>
                <a:gd name="T44" fmla="*/ 218 w 362"/>
                <a:gd name="T45" fmla="*/ 537 h 543"/>
                <a:gd name="T46" fmla="*/ 243 w 362"/>
                <a:gd name="T47" fmla="*/ 527 h 543"/>
                <a:gd name="T48" fmla="*/ 267 w 362"/>
                <a:gd name="T49" fmla="*/ 511 h 543"/>
                <a:gd name="T50" fmla="*/ 290 w 362"/>
                <a:gd name="T51" fmla="*/ 490 h 543"/>
                <a:gd name="T52" fmla="*/ 309 w 362"/>
                <a:gd name="T53" fmla="*/ 463 h 543"/>
                <a:gd name="T54" fmla="*/ 326 w 362"/>
                <a:gd name="T55" fmla="*/ 435 h 543"/>
                <a:gd name="T56" fmla="*/ 340 w 362"/>
                <a:gd name="T57" fmla="*/ 401 h 543"/>
                <a:gd name="T58" fmla="*/ 351 w 362"/>
                <a:gd name="T59" fmla="*/ 365 h 543"/>
                <a:gd name="T60" fmla="*/ 358 w 362"/>
                <a:gd name="T61" fmla="*/ 326 h 543"/>
                <a:gd name="T62" fmla="*/ 362 w 362"/>
                <a:gd name="T63" fmla="*/ 286 h 543"/>
                <a:gd name="T64" fmla="*/ 360 w 362"/>
                <a:gd name="T65" fmla="*/ 244 h 543"/>
                <a:gd name="T66" fmla="*/ 357 w 362"/>
                <a:gd name="T67" fmla="*/ 204 h 543"/>
                <a:gd name="T68" fmla="*/ 347 w 362"/>
                <a:gd name="T69" fmla="*/ 166 h 543"/>
                <a:gd name="T70" fmla="*/ 335 w 362"/>
                <a:gd name="T71" fmla="*/ 132 h 543"/>
                <a:gd name="T72" fmla="*/ 321 w 362"/>
                <a:gd name="T73" fmla="*/ 99 h 543"/>
                <a:gd name="T74" fmla="*/ 303 w 362"/>
                <a:gd name="T75" fmla="*/ 71 h 543"/>
                <a:gd name="T76" fmla="*/ 283 w 362"/>
                <a:gd name="T77" fmla="*/ 47 h 543"/>
                <a:gd name="T78" fmla="*/ 260 w 362"/>
                <a:gd name="T79" fmla="*/ 27 h 543"/>
                <a:gd name="T80" fmla="*/ 235 w 362"/>
                <a:gd name="T81" fmla="*/ 12 h 543"/>
                <a:gd name="T82" fmla="*/ 208 w 362"/>
                <a:gd name="T83" fmla="*/ 4 h 543"/>
                <a:gd name="T84" fmla="*/ 181 w 362"/>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2"/>
                <a:gd name="T130" fmla="*/ 0 h 543"/>
                <a:gd name="T131" fmla="*/ 362 w 362"/>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2" h="543">
                  <a:moveTo>
                    <a:pt x="181" y="0"/>
                  </a:moveTo>
                  <a:lnTo>
                    <a:pt x="171" y="0"/>
                  </a:lnTo>
                  <a:lnTo>
                    <a:pt x="163" y="2"/>
                  </a:lnTo>
                  <a:lnTo>
                    <a:pt x="153" y="4"/>
                  </a:lnTo>
                  <a:lnTo>
                    <a:pt x="145" y="6"/>
                  </a:lnTo>
                  <a:lnTo>
                    <a:pt x="135" y="9"/>
                  </a:lnTo>
                  <a:lnTo>
                    <a:pt x="127" y="12"/>
                  </a:lnTo>
                  <a:lnTo>
                    <a:pt x="119" y="17"/>
                  </a:lnTo>
                  <a:lnTo>
                    <a:pt x="110" y="22"/>
                  </a:lnTo>
                  <a:lnTo>
                    <a:pt x="102" y="27"/>
                  </a:lnTo>
                  <a:lnTo>
                    <a:pt x="95" y="33"/>
                  </a:lnTo>
                  <a:lnTo>
                    <a:pt x="88" y="40"/>
                  </a:lnTo>
                  <a:lnTo>
                    <a:pt x="79" y="47"/>
                  </a:lnTo>
                  <a:lnTo>
                    <a:pt x="73" y="54"/>
                  </a:lnTo>
                  <a:lnTo>
                    <a:pt x="66" y="62"/>
                  </a:lnTo>
                  <a:lnTo>
                    <a:pt x="59" y="71"/>
                  </a:lnTo>
                  <a:lnTo>
                    <a:pt x="53" y="80"/>
                  </a:lnTo>
                  <a:lnTo>
                    <a:pt x="47" y="90"/>
                  </a:lnTo>
                  <a:lnTo>
                    <a:pt x="41" y="99"/>
                  </a:lnTo>
                  <a:lnTo>
                    <a:pt x="36" y="109"/>
                  </a:lnTo>
                  <a:lnTo>
                    <a:pt x="31" y="120"/>
                  </a:lnTo>
                  <a:lnTo>
                    <a:pt x="26" y="132"/>
                  </a:lnTo>
                  <a:lnTo>
                    <a:pt x="22" y="142"/>
                  </a:lnTo>
                  <a:lnTo>
                    <a:pt x="18" y="154"/>
                  </a:lnTo>
                  <a:lnTo>
                    <a:pt x="15" y="166"/>
                  </a:lnTo>
                  <a:lnTo>
                    <a:pt x="11" y="178"/>
                  </a:lnTo>
                  <a:lnTo>
                    <a:pt x="9" y="191"/>
                  </a:lnTo>
                  <a:lnTo>
                    <a:pt x="6" y="204"/>
                  </a:lnTo>
                  <a:lnTo>
                    <a:pt x="4" y="218"/>
                  </a:lnTo>
                  <a:lnTo>
                    <a:pt x="3" y="231"/>
                  </a:lnTo>
                  <a:lnTo>
                    <a:pt x="1" y="244"/>
                  </a:lnTo>
                  <a:lnTo>
                    <a:pt x="0" y="258"/>
                  </a:lnTo>
                  <a:lnTo>
                    <a:pt x="0" y="272"/>
                  </a:lnTo>
                  <a:lnTo>
                    <a:pt x="0" y="286"/>
                  </a:lnTo>
                  <a:lnTo>
                    <a:pt x="1" y="300"/>
                  </a:lnTo>
                  <a:lnTo>
                    <a:pt x="3" y="313"/>
                  </a:lnTo>
                  <a:lnTo>
                    <a:pt x="4" y="326"/>
                  </a:lnTo>
                  <a:lnTo>
                    <a:pt x="6" y="339"/>
                  </a:lnTo>
                  <a:lnTo>
                    <a:pt x="9" y="352"/>
                  </a:lnTo>
                  <a:lnTo>
                    <a:pt x="11" y="365"/>
                  </a:lnTo>
                  <a:lnTo>
                    <a:pt x="15" y="377"/>
                  </a:lnTo>
                  <a:lnTo>
                    <a:pt x="18" y="389"/>
                  </a:lnTo>
                  <a:lnTo>
                    <a:pt x="22" y="401"/>
                  </a:lnTo>
                  <a:lnTo>
                    <a:pt x="26" y="413"/>
                  </a:lnTo>
                  <a:lnTo>
                    <a:pt x="31" y="424"/>
                  </a:lnTo>
                  <a:lnTo>
                    <a:pt x="36" y="435"/>
                  </a:lnTo>
                  <a:lnTo>
                    <a:pt x="41" y="444"/>
                  </a:lnTo>
                  <a:lnTo>
                    <a:pt x="47" y="455"/>
                  </a:lnTo>
                  <a:lnTo>
                    <a:pt x="53" y="463"/>
                  </a:lnTo>
                  <a:lnTo>
                    <a:pt x="59" y="473"/>
                  </a:lnTo>
                  <a:lnTo>
                    <a:pt x="66" y="481"/>
                  </a:lnTo>
                  <a:lnTo>
                    <a:pt x="73" y="490"/>
                  </a:lnTo>
                  <a:lnTo>
                    <a:pt x="79" y="497"/>
                  </a:lnTo>
                  <a:lnTo>
                    <a:pt x="88" y="504"/>
                  </a:lnTo>
                  <a:lnTo>
                    <a:pt x="95" y="511"/>
                  </a:lnTo>
                  <a:lnTo>
                    <a:pt x="102" y="517"/>
                  </a:lnTo>
                  <a:lnTo>
                    <a:pt x="110" y="522"/>
                  </a:lnTo>
                  <a:lnTo>
                    <a:pt x="119" y="527"/>
                  </a:lnTo>
                  <a:lnTo>
                    <a:pt x="127" y="531"/>
                  </a:lnTo>
                  <a:lnTo>
                    <a:pt x="135" y="535"/>
                  </a:lnTo>
                  <a:lnTo>
                    <a:pt x="145" y="537"/>
                  </a:lnTo>
                  <a:lnTo>
                    <a:pt x="153" y="540"/>
                  </a:lnTo>
                  <a:lnTo>
                    <a:pt x="163" y="542"/>
                  </a:lnTo>
                  <a:lnTo>
                    <a:pt x="171" y="543"/>
                  </a:lnTo>
                  <a:lnTo>
                    <a:pt x="181" y="543"/>
                  </a:lnTo>
                  <a:lnTo>
                    <a:pt x="190" y="543"/>
                  </a:lnTo>
                  <a:lnTo>
                    <a:pt x="199" y="542"/>
                  </a:lnTo>
                  <a:lnTo>
                    <a:pt x="208" y="540"/>
                  </a:lnTo>
                  <a:lnTo>
                    <a:pt x="218" y="537"/>
                  </a:lnTo>
                  <a:lnTo>
                    <a:pt x="226" y="535"/>
                  </a:lnTo>
                  <a:lnTo>
                    <a:pt x="235" y="531"/>
                  </a:lnTo>
                  <a:lnTo>
                    <a:pt x="243" y="527"/>
                  </a:lnTo>
                  <a:lnTo>
                    <a:pt x="252" y="522"/>
                  </a:lnTo>
                  <a:lnTo>
                    <a:pt x="260" y="517"/>
                  </a:lnTo>
                  <a:lnTo>
                    <a:pt x="267" y="511"/>
                  </a:lnTo>
                  <a:lnTo>
                    <a:pt x="274" y="504"/>
                  </a:lnTo>
                  <a:lnTo>
                    <a:pt x="283" y="497"/>
                  </a:lnTo>
                  <a:lnTo>
                    <a:pt x="290" y="490"/>
                  </a:lnTo>
                  <a:lnTo>
                    <a:pt x="296" y="481"/>
                  </a:lnTo>
                  <a:lnTo>
                    <a:pt x="303" y="473"/>
                  </a:lnTo>
                  <a:lnTo>
                    <a:pt x="309" y="463"/>
                  </a:lnTo>
                  <a:lnTo>
                    <a:pt x="315" y="455"/>
                  </a:lnTo>
                  <a:lnTo>
                    <a:pt x="321" y="444"/>
                  </a:lnTo>
                  <a:lnTo>
                    <a:pt x="326" y="435"/>
                  </a:lnTo>
                  <a:lnTo>
                    <a:pt x="331" y="424"/>
                  </a:lnTo>
                  <a:lnTo>
                    <a:pt x="335" y="413"/>
                  </a:lnTo>
                  <a:lnTo>
                    <a:pt x="340" y="401"/>
                  </a:lnTo>
                  <a:lnTo>
                    <a:pt x="344" y="389"/>
                  </a:lnTo>
                  <a:lnTo>
                    <a:pt x="347" y="377"/>
                  </a:lnTo>
                  <a:lnTo>
                    <a:pt x="351" y="365"/>
                  </a:lnTo>
                  <a:lnTo>
                    <a:pt x="353" y="352"/>
                  </a:lnTo>
                  <a:lnTo>
                    <a:pt x="357" y="339"/>
                  </a:lnTo>
                  <a:lnTo>
                    <a:pt x="358" y="326"/>
                  </a:lnTo>
                  <a:lnTo>
                    <a:pt x="360" y="313"/>
                  </a:lnTo>
                  <a:lnTo>
                    <a:pt x="360" y="300"/>
                  </a:lnTo>
                  <a:lnTo>
                    <a:pt x="362" y="286"/>
                  </a:lnTo>
                  <a:lnTo>
                    <a:pt x="362" y="272"/>
                  </a:lnTo>
                  <a:lnTo>
                    <a:pt x="362" y="258"/>
                  </a:lnTo>
                  <a:lnTo>
                    <a:pt x="360" y="244"/>
                  </a:lnTo>
                  <a:lnTo>
                    <a:pt x="360" y="231"/>
                  </a:lnTo>
                  <a:lnTo>
                    <a:pt x="358" y="218"/>
                  </a:lnTo>
                  <a:lnTo>
                    <a:pt x="357" y="204"/>
                  </a:lnTo>
                  <a:lnTo>
                    <a:pt x="353" y="191"/>
                  </a:lnTo>
                  <a:lnTo>
                    <a:pt x="351" y="178"/>
                  </a:lnTo>
                  <a:lnTo>
                    <a:pt x="347" y="166"/>
                  </a:lnTo>
                  <a:lnTo>
                    <a:pt x="344" y="154"/>
                  </a:lnTo>
                  <a:lnTo>
                    <a:pt x="340" y="142"/>
                  </a:lnTo>
                  <a:lnTo>
                    <a:pt x="335" y="132"/>
                  </a:lnTo>
                  <a:lnTo>
                    <a:pt x="331" y="120"/>
                  </a:lnTo>
                  <a:lnTo>
                    <a:pt x="326" y="109"/>
                  </a:lnTo>
                  <a:lnTo>
                    <a:pt x="321" y="99"/>
                  </a:lnTo>
                  <a:lnTo>
                    <a:pt x="315" y="90"/>
                  </a:lnTo>
                  <a:lnTo>
                    <a:pt x="309" y="80"/>
                  </a:lnTo>
                  <a:lnTo>
                    <a:pt x="303" y="71"/>
                  </a:lnTo>
                  <a:lnTo>
                    <a:pt x="296" y="62"/>
                  </a:lnTo>
                  <a:lnTo>
                    <a:pt x="290" y="54"/>
                  </a:lnTo>
                  <a:lnTo>
                    <a:pt x="283" y="47"/>
                  </a:lnTo>
                  <a:lnTo>
                    <a:pt x="274" y="40"/>
                  </a:lnTo>
                  <a:lnTo>
                    <a:pt x="267" y="33"/>
                  </a:lnTo>
                  <a:lnTo>
                    <a:pt x="260" y="27"/>
                  </a:lnTo>
                  <a:lnTo>
                    <a:pt x="252" y="22"/>
                  </a:lnTo>
                  <a:lnTo>
                    <a:pt x="243" y="17"/>
                  </a:lnTo>
                  <a:lnTo>
                    <a:pt x="235" y="12"/>
                  </a:lnTo>
                  <a:lnTo>
                    <a:pt x="226" y="9"/>
                  </a:lnTo>
                  <a:lnTo>
                    <a:pt x="218" y="6"/>
                  </a:lnTo>
                  <a:lnTo>
                    <a:pt x="208" y="4"/>
                  </a:lnTo>
                  <a:lnTo>
                    <a:pt x="199" y="2"/>
                  </a:lnTo>
                  <a:lnTo>
                    <a:pt x="190" y="0"/>
                  </a:lnTo>
                  <a:lnTo>
                    <a:pt x="181" y="0"/>
                  </a:lnTo>
                </a:path>
              </a:pathLst>
            </a:custGeom>
            <a:solidFill>
              <a:srgbClr val="FF4F4F"/>
            </a:solidFill>
            <a:ln w="47625">
              <a:solidFill>
                <a:srgbClr val="FF4F4F"/>
              </a:solidFill>
              <a:round/>
            </a:ln>
          </p:spPr>
          <p:txBody>
            <a:bodyPr/>
            <a:lstStyle/>
            <a:p>
              <a:endParaRPr lang="zh-CN" altLang="en-US"/>
            </a:p>
          </p:txBody>
        </p:sp>
        <p:sp>
          <p:nvSpPr>
            <p:cNvPr id="34" name="Rectangle 28"/>
            <p:cNvSpPr>
              <a:spLocks noChangeArrowheads="1"/>
            </p:cNvSpPr>
            <p:nvPr/>
          </p:nvSpPr>
          <p:spPr bwMode="auto">
            <a:xfrm>
              <a:off x="3688"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5" name="Rectangle 29"/>
            <p:cNvSpPr>
              <a:spLocks noChangeArrowheads="1"/>
            </p:cNvSpPr>
            <p:nvPr/>
          </p:nvSpPr>
          <p:spPr bwMode="auto">
            <a:xfrm>
              <a:off x="3743"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6" name="Rectangle 30"/>
            <p:cNvSpPr>
              <a:spLocks noChangeArrowheads="1"/>
            </p:cNvSpPr>
            <p:nvPr/>
          </p:nvSpPr>
          <p:spPr bwMode="auto">
            <a:xfrm>
              <a:off x="3808" y="2029"/>
              <a:ext cx="32"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7" name="Freeform 31"/>
            <p:cNvSpPr/>
            <p:nvPr/>
          </p:nvSpPr>
          <p:spPr bwMode="auto">
            <a:xfrm>
              <a:off x="3955" y="1774"/>
              <a:ext cx="361" cy="543"/>
            </a:xfrm>
            <a:custGeom>
              <a:avLst/>
              <a:gdLst>
                <a:gd name="T0" fmla="*/ 162 w 361"/>
                <a:gd name="T1" fmla="*/ 2 h 543"/>
                <a:gd name="T2" fmla="*/ 135 w 361"/>
                <a:gd name="T3" fmla="*/ 9 h 543"/>
                <a:gd name="T4" fmla="*/ 110 w 361"/>
                <a:gd name="T5" fmla="*/ 22 h 543"/>
                <a:gd name="T6" fmla="*/ 86 w 361"/>
                <a:gd name="T7" fmla="*/ 40 h 543"/>
                <a:gd name="T8" fmla="*/ 66 w 361"/>
                <a:gd name="T9" fmla="*/ 62 h 543"/>
                <a:gd name="T10" fmla="*/ 47 w 361"/>
                <a:gd name="T11" fmla="*/ 90 h 543"/>
                <a:gd name="T12" fmla="*/ 30 w 361"/>
                <a:gd name="T13" fmla="*/ 120 h 543"/>
                <a:gd name="T14" fmla="*/ 17 w 361"/>
                <a:gd name="T15" fmla="*/ 154 h 543"/>
                <a:gd name="T16" fmla="*/ 7 w 361"/>
                <a:gd name="T17" fmla="*/ 191 h 543"/>
                <a:gd name="T18" fmla="*/ 1 w 361"/>
                <a:gd name="T19" fmla="*/ 231 h 543"/>
                <a:gd name="T20" fmla="*/ 0 w 361"/>
                <a:gd name="T21" fmla="*/ 272 h 543"/>
                <a:gd name="T22" fmla="*/ 1 w 361"/>
                <a:gd name="T23" fmla="*/ 313 h 543"/>
                <a:gd name="T24" fmla="*/ 7 w 361"/>
                <a:gd name="T25" fmla="*/ 352 h 543"/>
                <a:gd name="T26" fmla="*/ 17 w 361"/>
                <a:gd name="T27" fmla="*/ 389 h 543"/>
                <a:gd name="T28" fmla="*/ 30 w 361"/>
                <a:gd name="T29" fmla="*/ 424 h 543"/>
                <a:gd name="T30" fmla="*/ 47 w 361"/>
                <a:gd name="T31" fmla="*/ 455 h 543"/>
                <a:gd name="T32" fmla="*/ 66 w 361"/>
                <a:gd name="T33" fmla="*/ 481 h 543"/>
                <a:gd name="T34" fmla="*/ 86 w 361"/>
                <a:gd name="T35" fmla="*/ 504 h 543"/>
                <a:gd name="T36" fmla="*/ 110 w 361"/>
                <a:gd name="T37" fmla="*/ 522 h 543"/>
                <a:gd name="T38" fmla="*/ 135 w 361"/>
                <a:gd name="T39" fmla="*/ 535 h 543"/>
                <a:gd name="T40" fmla="*/ 162 w 361"/>
                <a:gd name="T41" fmla="*/ 542 h 543"/>
                <a:gd name="T42" fmla="*/ 190 w 361"/>
                <a:gd name="T43" fmla="*/ 543 h 543"/>
                <a:gd name="T44" fmla="*/ 217 w 361"/>
                <a:gd name="T45" fmla="*/ 537 h 543"/>
                <a:gd name="T46" fmla="*/ 243 w 361"/>
                <a:gd name="T47" fmla="*/ 527 h 543"/>
                <a:gd name="T48" fmla="*/ 267 w 361"/>
                <a:gd name="T49" fmla="*/ 511 h 543"/>
                <a:gd name="T50" fmla="*/ 288 w 361"/>
                <a:gd name="T51" fmla="*/ 490 h 543"/>
                <a:gd name="T52" fmla="*/ 309 w 361"/>
                <a:gd name="T53" fmla="*/ 463 h 543"/>
                <a:gd name="T54" fmla="*/ 326 w 361"/>
                <a:gd name="T55" fmla="*/ 435 h 543"/>
                <a:gd name="T56" fmla="*/ 340 w 361"/>
                <a:gd name="T57" fmla="*/ 401 h 543"/>
                <a:gd name="T58" fmla="*/ 351 w 361"/>
                <a:gd name="T59" fmla="*/ 365 h 543"/>
                <a:gd name="T60" fmla="*/ 358 w 361"/>
                <a:gd name="T61" fmla="*/ 326 h 543"/>
                <a:gd name="T62" fmla="*/ 361 w 361"/>
                <a:gd name="T63" fmla="*/ 286 h 543"/>
                <a:gd name="T64" fmla="*/ 360 w 361"/>
                <a:gd name="T65" fmla="*/ 244 h 543"/>
                <a:gd name="T66" fmla="*/ 355 w 361"/>
                <a:gd name="T67" fmla="*/ 204 h 543"/>
                <a:gd name="T68" fmla="*/ 347 w 361"/>
                <a:gd name="T69" fmla="*/ 166 h 543"/>
                <a:gd name="T70" fmla="*/ 335 w 361"/>
                <a:gd name="T71" fmla="*/ 132 h 543"/>
                <a:gd name="T72" fmla="*/ 321 w 361"/>
                <a:gd name="T73" fmla="*/ 99 h 543"/>
                <a:gd name="T74" fmla="*/ 303 w 361"/>
                <a:gd name="T75" fmla="*/ 71 h 543"/>
                <a:gd name="T76" fmla="*/ 281 w 361"/>
                <a:gd name="T77" fmla="*/ 47 h 543"/>
                <a:gd name="T78" fmla="*/ 259 w 361"/>
                <a:gd name="T79" fmla="*/ 27 h 543"/>
                <a:gd name="T80" fmla="*/ 235 w 361"/>
                <a:gd name="T81" fmla="*/ 12 h 543"/>
                <a:gd name="T82" fmla="*/ 208 w 361"/>
                <a:gd name="T83" fmla="*/ 4 h 543"/>
                <a:gd name="T84" fmla="*/ 181 w 361"/>
                <a:gd name="T85" fmla="*/ 0 h 54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1"/>
                <a:gd name="T130" fmla="*/ 0 h 543"/>
                <a:gd name="T131" fmla="*/ 361 w 361"/>
                <a:gd name="T132" fmla="*/ 543 h 54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1" h="543">
                  <a:moveTo>
                    <a:pt x="181" y="0"/>
                  </a:moveTo>
                  <a:lnTo>
                    <a:pt x="171" y="0"/>
                  </a:lnTo>
                  <a:lnTo>
                    <a:pt x="162" y="2"/>
                  </a:lnTo>
                  <a:lnTo>
                    <a:pt x="153" y="4"/>
                  </a:lnTo>
                  <a:lnTo>
                    <a:pt x="144" y="6"/>
                  </a:lnTo>
                  <a:lnTo>
                    <a:pt x="135" y="9"/>
                  </a:lnTo>
                  <a:lnTo>
                    <a:pt x="127" y="12"/>
                  </a:lnTo>
                  <a:lnTo>
                    <a:pt x="118" y="17"/>
                  </a:lnTo>
                  <a:lnTo>
                    <a:pt x="110" y="22"/>
                  </a:lnTo>
                  <a:lnTo>
                    <a:pt x="102" y="27"/>
                  </a:lnTo>
                  <a:lnTo>
                    <a:pt x="95" y="33"/>
                  </a:lnTo>
                  <a:lnTo>
                    <a:pt x="86" y="40"/>
                  </a:lnTo>
                  <a:lnTo>
                    <a:pt x="79" y="47"/>
                  </a:lnTo>
                  <a:lnTo>
                    <a:pt x="72" y="54"/>
                  </a:lnTo>
                  <a:lnTo>
                    <a:pt x="66" y="62"/>
                  </a:lnTo>
                  <a:lnTo>
                    <a:pt x="59" y="71"/>
                  </a:lnTo>
                  <a:lnTo>
                    <a:pt x="53" y="80"/>
                  </a:lnTo>
                  <a:lnTo>
                    <a:pt x="47" y="90"/>
                  </a:lnTo>
                  <a:lnTo>
                    <a:pt x="41" y="99"/>
                  </a:lnTo>
                  <a:lnTo>
                    <a:pt x="36" y="109"/>
                  </a:lnTo>
                  <a:lnTo>
                    <a:pt x="30" y="120"/>
                  </a:lnTo>
                  <a:lnTo>
                    <a:pt x="25" y="132"/>
                  </a:lnTo>
                  <a:lnTo>
                    <a:pt x="22" y="142"/>
                  </a:lnTo>
                  <a:lnTo>
                    <a:pt x="17" y="154"/>
                  </a:lnTo>
                  <a:lnTo>
                    <a:pt x="13" y="166"/>
                  </a:lnTo>
                  <a:lnTo>
                    <a:pt x="11" y="178"/>
                  </a:lnTo>
                  <a:lnTo>
                    <a:pt x="7" y="191"/>
                  </a:lnTo>
                  <a:lnTo>
                    <a:pt x="5" y="204"/>
                  </a:lnTo>
                  <a:lnTo>
                    <a:pt x="4" y="218"/>
                  </a:lnTo>
                  <a:lnTo>
                    <a:pt x="1" y="231"/>
                  </a:lnTo>
                  <a:lnTo>
                    <a:pt x="0" y="244"/>
                  </a:lnTo>
                  <a:lnTo>
                    <a:pt x="0" y="258"/>
                  </a:lnTo>
                  <a:lnTo>
                    <a:pt x="0" y="272"/>
                  </a:lnTo>
                  <a:lnTo>
                    <a:pt x="0" y="286"/>
                  </a:lnTo>
                  <a:lnTo>
                    <a:pt x="0" y="300"/>
                  </a:lnTo>
                  <a:lnTo>
                    <a:pt x="1" y="313"/>
                  </a:lnTo>
                  <a:lnTo>
                    <a:pt x="4" y="326"/>
                  </a:lnTo>
                  <a:lnTo>
                    <a:pt x="5" y="339"/>
                  </a:lnTo>
                  <a:lnTo>
                    <a:pt x="7" y="352"/>
                  </a:lnTo>
                  <a:lnTo>
                    <a:pt x="11" y="365"/>
                  </a:lnTo>
                  <a:lnTo>
                    <a:pt x="13" y="377"/>
                  </a:lnTo>
                  <a:lnTo>
                    <a:pt x="17" y="389"/>
                  </a:lnTo>
                  <a:lnTo>
                    <a:pt x="22" y="401"/>
                  </a:lnTo>
                  <a:lnTo>
                    <a:pt x="25" y="413"/>
                  </a:lnTo>
                  <a:lnTo>
                    <a:pt x="30" y="424"/>
                  </a:lnTo>
                  <a:lnTo>
                    <a:pt x="36" y="435"/>
                  </a:lnTo>
                  <a:lnTo>
                    <a:pt x="41" y="444"/>
                  </a:lnTo>
                  <a:lnTo>
                    <a:pt x="47" y="455"/>
                  </a:lnTo>
                  <a:lnTo>
                    <a:pt x="53" y="463"/>
                  </a:lnTo>
                  <a:lnTo>
                    <a:pt x="59" y="473"/>
                  </a:lnTo>
                  <a:lnTo>
                    <a:pt x="66" y="481"/>
                  </a:lnTo>
                  <a:lnTo>
                    <a:pt x="72" y="490"/>
                  </a:lnTo>
                  <a:lnTo>
                    <a:pt x="79" y="497"/>
                  </a:lnTo>
                  <a:lnTo>
                    <a:pt x="86" y="504"/>
                  </a:lnTo>
                  <a:lnTo>
                    <a:pt x="95" y="511"/>
                  </a:lnTo>
                  <a:lnTo>
                    <a:pt x="102" y="517"/>
                  </a:lnTo>
                  <a:lnTo>
                    <a:pt x="110" y="522"/>
                  </a:lnTo>
                  <a:lnTo>
                    <a:pt x="118" y="527"/>
                  </a:lnTo>
                  <a:lnTo>
                    <a:pt x="127" y="531"/>
                  </a:lnTo>
                  <a:lnTo>
                    <a:pt x="135" y="535"/>
                  </a:lnTo>
                  <a:lnTo>
                    <a:pt x="144" y="537"/>
                  </a:lnTo>
                  <a:lnTo>
                    <a:pt x="153" y="540"/>
                  </a:lnTo>
                  <a:lnTo>
                    <a:pt x="162" y="542"/>
                  </a:lnTo>
                  <a:lnTo>
                    <a:pt x="171" y="543"/>
                  </a:lnTo>
                  <a:lnTo>
                    <a:pt x="181" y="543"/>
                  </a:lnTo>
                  <a:lnTo>
                    <a:pt x="190" y="543"/>
                  </a:lnTo>
                  <a:lnTo>
                    <a:pt x="199" y="542"/>
                  </a:lnTo>
                  <a:lnTo>
                    <a:pt x="208" y="540"/>
                  </a:lnTo>
                  <a:lnTo>
                    <a:pt x="217" y="537"/>
                  </a:lnTo>
                  <a:lnTo>
                    <a:pt x="226" y="535"/>
                  </a:lnTo>
                  <a:lnTo>
                    <a:pt x="235" y="531"/>
                  </a:lnTo>
                  <a:lnTo>
                    <a:pt x="243" y="527"/>
                  </a:lnTo>
                  <a:lnTo>
                    <a:pt x="251" y="522"/>
                  </a:lnTo>
                  <a:lnTo>
                    <a:pt x="259" y="517"/>
                  </a:lnTo>
                  <a:lnTo>
                    <a:pt x="267" y="511"/>
                  </a:lnTo>
                  <a:lnTo>
                    <a:pt x="274" y="504"/>
                  </a:lnTo>
                  <a:lnTo>
                    <a:pt x="281" y="497"/>
                  </a:lnTo>
                  <a:lnTo>
                    <a:pt x="288" y="490"/>
                  </a:lnTo>
                  <a:lnTo>
                    <a:pt x="296" y="481"/>
                  </a:lnTo>
                  <a:lnTo>
                    <a:pt x="303" y="473"/>
                  </a:lnTo>
                  <a:lnTo>
                    <a:pt x="309" y="463"/>
                  </a:lnTo>
                  <a:lnTo>
                    <a:pt x="315" y="455"/>
                  </a:lnTo>
                  <a:lnTo>
                    <a:pt x="321" y="444"/>
                  </a:lnTo>
                  <a:lnTo>
                    <a:pt x="326" y="435"/>
                  </a:lnTo>
                  <a:lnTo>
                    <a:pt x="330" y="424"/>
                  </a:lnTo>
                  <a:lnTo>
                    <a:pt x="335" y="413"/>
                  </a:lnTo>
                  <a:lnTo>
                    <a:pt x="340" y="401"/>
                  </a:lnTo>
                  <a:lnTo>
                    <a:pt x="343" y="389"/>
                  </a:lnTo>
                  <a:lnTo>
                    <a:pt x="347" y="377"/>
                  </a:lnTo>
                  <a:lnTo>
                    <a:pt x="351" y="365"/>
                  </a:lnTo>
                  <a:lnTo>
                    <a:pt x="353" y="352"/>
                  </a:lnTo>
                  <a:lnTo>
                    <a:pt x="355" y="339"/>
                  </a:lnTo>
                  <a:lnTo>
                    <a:pt x="358" y="326"/>
                  </a:lnTo>
                  <a:lnTo>
                    <a:pt x="359" y="313"/>
                  </a:lnTo>
                  <a:lnTo>
                    <a:pt x="360" y="300"/>
                  </a:lnTo>
                  <a:lnTo>
                    <a:pt x="361" y="286"/>
                  </a:lnTo>
                  <a:lnTo>
                    <a:pt x="361" y="272"/>
                  </a:lnTo>
                  <a:lnTo>
                    <a:pt x="361" y="258"/>
                  </a:lnTo>
                  <a:lnTo>
                    <a:pt x="360" y="244"/>
                  </a:lnTo>
                  <a:lnTo>
                    <a:pt x="359" y="231"/>
                  </a:lnTo>
                  <a:lnTo>
                    <a:pt x="358" y="218"/>
                  </a:lnTo>
                  <a:lnTo>
                    <a:pt x="355" y="204"/>
                  </a:lnTo>
                  <a:lnTo>
                    <a:pt x="353" y="191"/>
                  </a:lnTo>
                  <a:lnTo>
                    <a:pt x="351" y="178"/>
                  </a:lnTo>
                  <a:lnTo>
                    <a:pt x="347" y="166"/>
                  </a:lnTo>
                  <a:lnTo>
                    <a:pt x="343" y="154"/>
                  </a:lnTo>
                  <a:lnTo>
                    <a:pt x="340" y="142"/>
                  </a:lnTo>
                  <a:lnTo>
                    <a:pt x="335" y="132"/>
                  </a:lnTo>
                  <a:lnTo>
                    <a:pt x="330" y="120"/>
                  </a:lnTo>
                  <a:lnTo>
                    <a:pt x="326" y="109"/>
                  </a:lnTo>
                  <a:lnTo>
                    <a:pt x="321" y="99"/>
                  </a:lnTo>
                  <a:lnTo>
                    <a:pt x="315" y="90"/>
                  </a:lnTo>
                  <a:lnTo>
                    <a:pt x="309" y="80"/>
                  </a:lnTo>
                  <a:lnTo>
                    <a:pt x="303" y="71"/>
                  </a:lnTo>
                  <a:lnTo>
                    <a:pt x="296" y="62"/>
                  </a:lnTo>
                  <a:lnTo>
                    <a:pt x="288" y="54"/>
                  </a:lnTo>
                  <a:lnTo>
                    <a:pt x="281" y="47"/>
                  </a:lnTo>
                  <a:lnTo>
                    <a:pt x="274" y="40"/>
                  </a:lnTo>
                  <a:lnTo>
                    <a:pt x="267" y="33"/>
                  </a:lnTo>
                  <a:lnTo>
                    <a:pt x="259" y="27"/>
                  </a:lnTo>
                  <a:lnTo>
                    <a:pt x="251" y="22"/>
                  </a:lnTo>
                  <a:lnTo>
                    <a:pt x="243" y="17"/>
                  </a:lnTo>
                  <a:lnTo>
                    <a:pt x="235" y="12"/>
                  </a:lnTo>
                  <a:lnTo>
                    <a:pt x="226" y="9"/>
                  </a:lnTo>
                  <a:lnTo>
                    <a:pt x="217" y="6"/>
                  </a:lnTo>
                  <a:lnTo>
                    <a:pt x="208" y="4"/>
                  </a:lnTo>
                  <a:lnTo>
                    <a:pt x="199" y="2"/>
                  </a:lnTo>
                  <a:lnTo>
                    <a:pt x="190" y="0"/>
                  </a:lnTo>
                  <a:lnTo>
                    <a:pt x="181" y="0"/>
                  </a:lnTo>
                </a:path>
              </a:pathLst>
            </a:custGeom>
            <a:solidFill>
              <a:srgbClr val="0099FF"/>
            </a:solidFill>
            <a:ln w="47625">
              <a:solidFill>
                <a:srgbClr val="4F8AFF"/>
              </a:solidFill>
              <a:round/>
            </a:ln>
          </p:spPr>
          <p:txBody>
            <a:bodyPr/>
            <a:lstStyle/>
            <a:p>
              <a:endParaRPr lang="zh-CN" altLang="en-US"/>
            </a:p>
          </p:txBody>
        </p:sp>
        <p:sp>
          <p:nvSpPr>
            <p:cNvPr id="38" name="Rectangle 32"/>
            <p:cNvSpPr>
              <a:spLocks noChangeArrowheads="1"/>
            </p:cNvSpPr>
            <p:nvPr/>
          </p:nvSpPr>
          <p:spPr bwMode="auto">
            <a:xfrm>
              <a:off x="4076" y="1937"/>
              <a:ext cx="57" cy="323"/>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25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9" name="Rectangle 33"/>
            <p:cNvSpPr>
              <a:spLocks noChangeArrowheads="1"/>
            </p:cNvSpPr>
            <p:nvPr/>
          </p:nvSpPr>
          <p:spPr bwMode="auto">
            <a:xfrm>
              <a:off x="4131" y="2029"/>
              <a:ext cx="65"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40" name="Rectangle 34"/>
            <p:cNvSpPr>
              <a:spLocks noChangeArrowheads="1"/>
            </p:cNvSpPr>
            <p:nvPr/>
          </p:nvSpPr>
          <p:spPr bwMode="auto">
            <a:xfrm>
              <a:off x="4196" y="2029"/>
              <a:ext cx="32" cy="207"/>
            </a:xfrm>
            <a:prstGeom prst="rect">
              <a:avLst/>
            </a:prstGeom>
            <a:noFill/>
            <a:ln w="9525">
              <a:noFill/>
              <a:miter lim="800000"/>
            </a:ln>
          </p:spPr>
          <p:txBody>
            <a:bodyPr wrap="none" lIns="0" tIns="0" rIns="0" bIns="0">
              <a:spAutoFit/>
            </a:bodyPr>
            <a:lstStyle/>
            <a:p>
              <a:pPr marL="342900" indent="-342900">
                <a:spcBef>
                  <a:spcPct val="20000"/>
                </a:spcBef>
                <a:buClr>
                  <a:schemeClr val="hlink"/>
                </a:buClr>
                <a:defRPr/>
              </a:pPr>
              <a:r>
                <a:rPr lang="en-US" altLang="zh-CN" sz="16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grpSp>
      <p:grpSp>
        <p:nvGrpSpPr>
          <p:cNvPr id="41" name="Group 35"/>
          <p:cNvGrpSpPr>
            <a:grpSpLocks noChangeAspect="1"/>
          </p:cNvGrpSpPr>
          <p:nvPr/>
        </p:nvGrpSpPr>
        <p:grpSpPr bwMode="auto">
          <a:xfrm>
            <a:off x="2051050" y="4182389"/>
            <a:ext cx="4105126" cy="693617"/>
            <a:chOff x="1611" y="3113"/>
            <a:chExt cx="2721" cy="613"/>
          </a:xfrm>
        </p:grpSpPr>
        <p:sp>
          <p:nvSpPr>
            <p:cNvPr id="42" name="AutoShape 36"/>
            <p:cNvSpPr>
              <a:spLocks noChangeAspect="1" noChangeArrowheads="1" noTextEdit="1"/>
            </p:cNvSpPr>
            <p:nvPr/>
          </p:nvSpPr>
          <p:spPr bwMode="auto">
            <a:xfrm>
              <a:off x="1611" y="3113"/>
              <a:ext cx="2721" cy="613"/>
            </a:xfrm>
            <a:prstGeom prst="rect">
              <a:avLst/>
            </a:prstGeom>
            <a:noFill/>
            <a:ln w="9525">
              <a:noFill/>
              <a:miter lim="800000"/>
            </a:ln>
          </p:spPr>
          <p:txBody>
            <a:bodyPr/>
            <a:lstStyle/>
            <a:p>
              <a:endParaRPr lang="zh-CN" altLang="en-US"/>
            </a:p>
          </p:txBody>
        </p:sp>
        <p:sp>
          <p:nvSpPr>
            <p:cNvPr id="43" name="Rectangle 37"/>
            <p:cNvSpPr>
              <a:spLocks noChangeArrowheads="1"/>
            </p:cNvSpPr>
            <p:nvPr/>
          </p:nvSpPr>
          <p:spPr bwMode="auto">
            <a:xfrm>
              <a:off x="1628" y="3134"/>
              <a:ext cx="28" cy="181"/>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44" name="Freeform 38"/>
            <p:cNvSpPr/>
            <p:nvPr/>
          </p:nvSpPr>
          <p:spPr bwMode="auto">
            <a:xfrm>
              <a:off x="1626" y="3128"/>
              <a:ext cx="368" cy="580"/>
            </a:xfrm>
            <a:custGeom>
              <a:avLst/>
              <a:gdLst>
                <a:gd name="T0" fmla="*/ 166 w 368"/>
                <a:gd name="T1" fmla="*/ 3 h 580"/>
                <a:gd name="T2" fmla="*/ 138 w 368"/>
                <a:gd name="T3" fmla="*/ 10 h 580"/>
                <a:gd name="T4" fmla="*/ 112 w 368"/>
                <a:gd name="T5" fmla="*/ 23 h 580"/>
                <a:gd name="T6" fmla="*/ 89 w 368"/>
                <a:gd name="T7" fmla="*/ 42 h 580"/>
                <a:gd name="T8" fmla="*/ 68 w 368"/>
                <a:gd name="T9" fmla="*/ 67 h 580"/>
                <a:gd name="T10" fmla="*/ 49 w 368"/>
                <a:gd name="T11" fmla="*/ 96 h 580"/>
                <a:gd name="T12" fmla="*/ 32 w 368"/>
                <a:gd name="T13" fmla="*/ 129 h 580"/>
                <a:gd name="T14" fmla="*/ 18 w 368"/>
                <a:gd name="T15" fmla="*/ 165 h 580"/>
                <a:gd name="T16" fmla="*/ 9 w 368"/>
                <a:gd name="T17" fmla="*/ 204 h 580"/>
                <a:gd name="T18" fmla="*/ 3 w 368"/>
                <a:gd name="T19" fmla="*/ 246 h 580"/>
                <a:gd name="T20" fmla="*/ 0 w 368"/>
                <a:gd name="T21" fmla="*/ 291 h 580"/>
                <a:gd name="T22" fmla="*/ 3 w 368"/>
                <a:gd name="T23" fmla="*/ 334 h 580"/>
                <a:gd name="T24" fmla="*/ 9 w 368"/>
                <a:gd name="T25" fmla="*/ 376 h 580"/>
                <a:gd name="T26" fmla="*/ 18 w 368"/>
                <a:gd name="T27" fmla="*/ 416 h 580"/>
                <a:gd name="T28" fmla="*/ 32 w 368"/>
                <a:gd name="T29" fmla="*/ 453 h 580"/>
                <a:gd name="T30" fmla="*/ 49 w 368"/>
                <a:gd name="T31" fmla="*/ 485 h 580"/>
                <a:gd name="T32" fmla="*/ 68 w 368"/>
                <a:gd name="T33" fmla="*/ 514 h 580"/>
                <a:gd name="T34" fmla="*/ 89 w 368"/>
                <a:gd name="T35" fmla="*/ 538 h 580"/>
                <a:gd name="T36" fmla="*/ 112 w 368"/>
                <a:gd name="T37" fmla="*/ 557 h 580"/>
                <a:gd name="T38" fmla="*/ 138 w 368"/>
                <a:gd name="T39" fmla="*/ 570 h 580"/>
                <a:gd name="T40" fmla="*/ 166 w 368"/>
                <a:gd name="T41" fmla="*/ 578 h 580"/>
                <a:gd name="T42" fmla="*/ 194 w 368"/>
                <a:gd name="T43" fmla="*/ 579 h 580"/>
                <a:gd name="T44" fmla="*/ 220 w 368"/>
                <a:gd name="T45" fmla="*/ 574 h 580"/>
                <a:gd name="T46" fmla="*/ 247 w 368"/>
                <a:gd name="T47" fmla="*/ 562 h 580"/>
                <a:gd name="T48" fmla="*/ 271 w 368"/>
                <a:gd name="T49" fmla="*/ 544 h 580"/>
                <a:gd name="T50" fmla="*/ 294 w 368"/>
                <a:gd name="T51" fmla="*/ 523 h 580"/>
                <a:gd name="T52" fmla="*/ 313 w 368"/>
                <a:gd name="T53" fmla="*/ 495 h 580"/>
                <a:gd name="T54" fmla="*/ 331 w 368"/>
                <a:gd name="T55" fmla="*/ 463 h 580"/>
                <a:gd name="T56" fmla="*/ 345 w 368"/>
                <a:gd name="T57" fmla="*/ 429 h 580"/>
                <a:gd name="T58" fmla="*/ 357 w 368"/>
                <a:gd name="T59" fmla="*/ 390 h 580"/>
                <a:gd name="T60" fmla="*/ 364 w 368"/>
                <a:gd name="T61" fmla="*/ 348 h 580"/>
                <a:gd name="T62" fmla="*/ 367 w 368"/>
                <a:gd name="T63" fmla="*/ 305 h 580"/>
                <a:gd name="T64" fmla="*/ 367 w 368"/>
                <a:gd name="T65" fmla="*/ 260 h 580"/>
                <a:gd name="T66" fmla="*/ 362 w 368"/>
                <a:gd name="T67" fmla="*/ 218 h 580"/>
                <a:gd name="T68" fmla="*/ 353 w 368"/>
                <a:gd name="T69" fmla="*/ 177 h 580"/>
                <a:gd name="T70" fmla="*/ 341 w 368"/>
                <a:gd name="T71" fmla="*/ 140 h 580"/>
                <a:gd name="T72" fmla="*/ 326 w 368"/>
                <a:gd name="T73" fmla="*/ 106 h 580"/>
                <a:gd name="T74" fmla="*/ 307 w 368"/>
                <a:gd name="T75" fmla="*/ 75 h 580"/>
                <a:gd name="T76" fmla="*/ 287 w 368"/>
                <a:gd name="T77" fmla="*/ 50 h 580"/>
                <a:gd name="T78" fmla="*/ 264 w 368"/>
                <a:gd name="T79" fmla="*/ 30 h 580"/>
                <a:gd name="T80" fmla="*/ 238 w 368"/>
                <a:gd name="T81" fmla="*/ 14 h 580"/>
                <a:gd name="T82" fmla="*/ 212 w 368"/>
                <a:gd name="T83" fmla="*/ 4 h 580"/>
                <a:gd name="T84" fmla="*/ 184 w 368"/>
                <a:gd name="T85" fmla="*/ 0 h 5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8"/>
                <a:gd name="T130" fmla="*/ 0 h 580"/>
                <a:gd name="T131" fmla="*/ 368 w 368"/>
                <a:gd name="T132" fmla="*/ 580 h 58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8" h="580">
                  <a:moveTo>
                    <a:pt x="184" y="0"/>
                  </a:moveTo>
                  <a:lnTo>
                    <a:pt x="175" y="2"/>
                  </a:lnTo>
                  <a:lnTo>
                    <a:pt x="166" y="3"/>
                  </a:lnTo>
                  <a:lnTo>
                    <a:pt x="156" y="4"/>
                  </a:lnTo>
                  <a:lnTo>
                    <a:pt x="147" y="7"/>
                  </a:lnTo>
                  <a:lnTo>
                    <a:pt x="138" y="10"/>
                  </a:lnTo>
                  <a:lnTo>
                    <a:pt x="130" y="14"/>
                  </a:lnTo>
                  <a:lnTo>
                    <a:pt x="121" y="18"/>
                  </a:lnTo>
                  <a:lnTo>
                    <a:pt x="112" y="23"/>
                  </a:lnTo>
                  <a:lnTo>
                    <a:pt x="105" y="30"/>
                  </a:lnTo>
                  <a:lnTo>
                    <a:pt x="97" y="36"/>
                  </a:lnTo>
                  <a:lnTo>
                    <a:pt x="89" y="42"/>
                  </a:lnTo>
                  <a:lnTo>
                    <a:pt x="82" y="50"/>
                  </a:lnTo>
                  <a:lnTo>
                    <a:pt x="74" y="59"/>
                  </a:lnTo>
                  <a:lnTo>
                    <a:pt x="68" y="67"/>
                  </a:lnTo>
                  <a:lnTo>
                    <a:pt x="60" y="75"/>
                  </a:lnTo>
                  <a:lnTo>
                    <a:pt x="54" y="86"/>
                  </a:lnTo>
                  <a:lnTo>
                    <a:pt x="49" y="96"/>
                  </a:lnTo>
                  <a:lnTo>
                    <a:pt x="42" y="106"/>
                  </a:lnTo>
                  <a:lnTo>
                    <a:pt x="37" y="118"/>
                  </a:lnTo>
                  <a:lnTo>
                    <a:pt x="32" y="129"/>
                  </a:lnTo>
                  <a:lnTo>
                    <a:pt x="27" y="140"/>
                  </a:lnTo>
                  <a:lnTo>
                    <a:pt x="23" y="152"/>
                  </a:lnTo>
                  <a:lnTo>
                    <a:pt x="18" y="165"/>
                  </a:lnTo>
                  <a:lnTo>
                    <a:pt x="16" y="177"/>
                  </a:lnTo>
                  <a:lnTo>
                    <a:pt x="12" y="190"/>
                  </a:lnTo>
                  <a:lnTo>
                    <a:pt x="9" y="204"/>
                  </a:lnTo>
                  <a:lnTo>
                    <a:pt x="7" y="218"/>
                  </a:lnTo>
                  <a:lnTo>
                    <a:pt x="4" y="232"/>
                  </a:lnTo>
                  <a:lnTo>
                    <a:pt x="3" y="246"/>
                  </a:lnTo>
                  <a:lnTo>
                    <a:pt x="2" y="260"/>
                  </a:lnTo>
                  <a:lnTo>
                    <a:pt x="0" y="276"/>
                  </a:lnTo>
                  <a:lnTo>
                    <a:pt x="0" y="291"/>
                  </a:lnTo>
                  <a:lnTo>
                    <a:pt x="0" y="305"/>
                  </a:lnTo>
                  <a:lnTo>
                    <a:pt x="2" y="320"/>
                  </a:lnTo>
                  <a:lnTo>
                    <a:pt x="3" y="334"/>
                  </a:lnTo>
                  <a:lnTo>
                    <a:pt x="4" y="348"/>
                  </a:lnTo>
                  <a:lnTo>
                    <a:pt x="7" y="362"/>
                  </a:lnTo>
                  <a:lnTo>
                    <a:pt x="9" y="376"/>
                  </a:lnTo>
                  <a:lnTo>
                    <a:pt x="12" y="390"/>
                  </a:lnTo>
                  <a:lnTo>
                    <a:pt x="16" y="403"/>
                  </a:lnTo>
                  <a:lnTo>
                    <a:pt x="18" y="416"/>
                  </a:lnTo>
                  <a:lnTo>
                    <a:pt x="23" y="429"/>
                  </a:lnTo>
                  <a:lnTo>
                    <a:pt x="27" y="440"/>
                  </a:lnTo>
                  <a:lnTo>
                    <a:pt x="32" y="453"/>
                  </a:lnTo>
                  <a:lnTo>
                    <a:pt x="37" y="463"/>
                  </a:lnTo>
                  <a:lnTo>
                    <a:pt x="42" y="474"/>
                  </a:lnTo>
                  <a:lnTo>
                    <a:pt x="49" y="485"/>
                  </a:lnTo>
                  <a:lnTo>
                    <a:pt x="54" y="495"/>
                  </a:lnTo>
                  <a:lnTo>
                    <a:pt x="60" y="505"/>
                  </a:lnTo>
                  <a:lnTo>
                    <a:pt x="68" y="514"/>
                  </a:lnTo>
                  <a:lnTo>
                    <a:pt x="74" y="523"/>
                  </a:lnTo>
                  <a:lnTo>
                    <a:pt x="82" y="530"/>
                  </a:lnTo>
                  <a:lnTo>
                    <a:pt x="89" y="538"/>
                  </a:lnTo>
                  <a:lnTo>
                    <a:pt x="97" y="544"/>
                  </a:lnTo>
                  <a:lnTo>
                    <a:pt x="105" y="551"/>
                  </a:lnTo>
                  <a:lnTo>
                    <a:pt x="112" y="557"/>
                  </a:lnTo>
                  <a:lnTo>
                    <a:pt x="121" y="562"/>
                  </a:lnTo>
                  <a:lnTo>
                    <a:pt x="130" y="566"/>
                  </a:lnTo>
                  <a:lnTo>
                    <a:pt x="138" y="570"/>
                  </a:lnTo>
                  <a:lnTo>
                    <a:pt x="147" y="574"/>
                  </a:lnTo>
                  <a:lnTo>
                    <a:pt x="156" y="576"/>
                  </a:lnTo>
                  <a:lnTo>
                    <a:pt x="166" y="578"/>
                  </a:lnTo>
                  <a:lnTo>
                    <a:pt x="175" y="579"/>
                  </a:lnTo>
                  <a:lnTo>
                    <a:pt x="184" y="580"/>
                  </a:lnTo>
                  <a:lnTo>
                    <a:pt x="194" y="579"/>
                  </a:lnTo>
                  <a:lnTo>
                    <a:pt x="203" y="578"/>
                  </a:lnTo>
                  <a:lnTo>
                    <a:pt x="212" y="576"/>
                  </a:lnTo>
                  <a:lnTo>
                    <a:pt x="220" y="574"/>
                  </a:lnTo>
                  <a:lnTo>
                    <a:pt x="229" y="570"/>
                  </a:lnTo>
                  <a:lnTo>
                    <a:pt x="238" y="566"/>
                  </a:lnTo>
                  <a:lnTo>
                    <a:pt x="247" y="562"/>
                  </a:lnTo>
                  <a:lnTo>
                    <a:pt x="256" y="557"/>
                  </a:lnTo>
                  <a:lnTo>
                    <a:pt x="264" y="551"/>
                  </a:lnTo>
                  <a:lnTo>
                    <a:pt x="271" y="544"/>
                  </a:lnTo>
                  <a:lnTo>
                    <a:pt x="279" y="538"/>
                  </a:lnTo>
                  <a:lnTo>
                    <a:pt x="287" y="530"/>
                  </a:lnTo>
                  <a:lnTo>
                    <a:pt x="294" y="523"/>
                  </a:lnTo>
                  <a:lnTo>
                    <a:pt x="301" y="514"/>
                  </a:lnTo>
                  <a:lnTo>
                    <a:pt x="307" y="505"/>
                  </a:lnTo>
                  <a:lnTo>
                    <a:pt x="313" y="495"/>
                  </a:lnTo>
                  <a:lnTo>
                    <a:pt x="320" y="485"/>
                  </a:lnTo>
                  <a:lnTo>
                    <a:pt x="326" y="474"/>
                  </a:lnTo>
                  <a:lnTo>
                    <a:pt x="331" y="463"/>
                  </a:lnTo>
                  <a:lnTo>
                    <a:pt x="336" y="453"/>
                  </a:lnTo>
                  <a:lnTo>
                    <a:pt x="341" y="440"/>
                  </a:lnTo>
                  <a:lnTo>
                    <a:pt x="345" y="429"/>
                  </a:lnTo>
                  <a:lnTo>
                    <a:pt x="349" y="416"/>
                  </a:lnTo>
                  <a:lnTo>
                    <a:pt x="353" y="403"/>
                  </a:lnTo>
                  <a:lnTo>
                    <a:pt x="357" y="390"/>
                  </a:lnTo>
                  <a:lnTo>
                    <a:pt x="359" y="376"/>
                  </a:lnTo>
                  <a:lnTo>
                    <a:pt x="362" y="362"/>
                  </a:lnTo>
                  <a:lnTo>
                    <a:pt x="364" y="348"/>
                  </a:lnTo>
                  <a:lnTo>
                    <a:pt x="366" y="334"/>
                  </a:lnTo>
                  <a:lnTo>
                    <a:pt x="367" y="320"/>
                  </a:lnTo>
                  <a:lnTo>
                    <a:pt x="367" y="305"/>
                  </a:lnTo>
                  <a:lnTo>
                    <a:pt x="368" y="291"/>
                  </a:lnTo>
                  <a:lnTo>
                    <a:pt x="367" y="276"/>
                  </a:lnTo>
                  <a:lnTo>
                    <a:pt x="367" y="260"/>
                  </a:lnTo>
                  <a:lnTo>
                    <a:pt x="366" y="246"/>
                  </a:lnTo>
                  <a:lnTo>
                    <a:pt x="364" y="232"/>
                  </a:lnTo>
                  <a:lnTo>
                    <a:pt x="362" y="218"/>
                  </a:lnTo>
                  <a:lnTo>
                    <a:pt x="359" y="204"/>
                  </a:lnTo>
                  <a:lnTo>
                    <a:pt x="357" y="190"/>
                  </a:lnTo>
                  <a:lnTo>
                    <a:pt x="353" y="177"/>
                  </a:lnTo>
                  <a:lnTo>
                    <a:pt x="349" y="165"/>
                  </a:lnTo>
                  <a:lnTo>
                    <a:pt x="345" y="152"/>
                  </a:lnTo>
                  <a:lnTo>
                    <a:pt x="341" y="140"/>
                  </a:lnTo>
                  <a:lnTo>
                    <a:pt x="336" y="129"/>
                  </a:lnTo>
                  <a:lnTo>
                    <a:pt x="331" y="118"/>
                  </a:lnTo>
                  <a:lnTo>
                    <a:pt x="326" y="106"/>
                  </a:lnTo>
                  <a:lnTo>
                    <a:pt x="320" y="96"/>
                  </a:lnTo>
                  <a:lnTo>
                    <a:pt x="313" y="86"/>
                  </a:lnTo>
                  <a:lnTo>
                    <a:pt x="307" y="75"/>
                  </a:lnTo>
                  <a:lnTo>
                    <a:pt x="301" y="67"/>
                  </a:lnTo>
                  <a:lnTo>
                    <a:pt x="294" y="59"/>
                  </a:lnTo>
                  <a:lnTo>
                    <a:pt x="287" y="50"/>
                  </a:lnTo>
                  <a:lnTo>
                    <a:pt x="279" y="42"/>
                  </a:lnTo>
                  <a:lnTo>
                    <a:pt x="271" y="36"/>
                  </a:lnTo>
                  <a:lnTo>
                    <a:pt x="264" y="30"/>
                  </a:lnTo>
                  <a:lnTo>
                    <a:pt x="256" y="23"/>
                  </a:lnTo>
                  <a:lnTo>
                    <a:pt x="247" y="18"/>
                  </a:lnTo>
                  <a:lnTo>
                    <a:pt x="238" y="14"/>
                  </a:lnTo>
                  <a:lnTo>
                    <a:pt x="229" y="10"/>
                  </a:lnTo>
                  <a:lnTo>
                    <a:pt x="220" y="7"/>
                  </a:lnTo>
                  <a:lnTo>
                    <a:pt x="212" y="4"/>
                  </a:lnTo>
                  <a:lnTo>
                    <a:pt x="203" y="3"/>
                  </a:lnTo>
                  <a:lnTo>
                    <a:pt x="194" y="2"/>
                  </a:lnTo>
                  <a:lnTo>
                    <a:pt x="184" y="0"/>
                  </a:lnTo>
                </a:path>
              </a:pathLst>
            </a:custGeom>
            <a:solidFill>
              <a:srgbClr val="0099FF"/>
            </a:solidFill>
            <a:ln w="50800">
              <a:solidFill>
                <a:srgbClr val="4F8AFF"/>
              </a:solidFill>
              <a:round/>
            </a:ln>
          </p:spPr>
          <p:txBody>
            <a:bodyPr/>
            <a:lstStyle/>
            <a:p>
              <a:endParaRPr lang="zh-CN" altLang="en-US"/>
            </a:p>
          </p:txBody>
        </p:sp>
        <p:sp>
          <p:nvSpPr>
            <p:cNvPr id="45" name="Rectangle 39"/>
            <p:cNvSpPr>
              <a:spLocks noChangeArrowheads="1"/>
            </p:cNvSpPr>
            <p:nvPr/>
          </p:nvSpPr>
          <p:spPr bwMode="auto">
            <a:xfrm>
              <a:off x="1789"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46" name="Rectangle 40"/>
            <p:cNvSpPr>
              <a:spLocks noChangeArrowheads="1"/>
            </p:cNvSpPr>
            <p:nvPr/>
          </p:nvSpPr>
          <p:spPr bwMode="auto">
            <a:xfrm>
              <a:off x="1835"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47" name="Rectangle 41"/>
            <p:cNvSpPr>
              <a:spLocks noChangeArrowheads="1"/>
            </p:cNvSpPr>
            <p:nvPr/>
          </p:nvSpPr>
          <p:spPr bwMode="auto">
            <a:xfrm>
              <a:off x="1916" y="3302"/>
              <a:ext cx="55"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48" name="Freeform 42"/>
            <p:cNvSpPr/>
            <p:nvPr/>
          </p:nvSpPr>
          <p:spPr bwMode="auto">
            <a:xfrm>
              <a:off x="2014" y="3128"/>
              <a:ext cx="367" cy="580"/>
            </a:xfrm>
            <a:custGeom>
              <a:avLst/>
              <a:gdLst>
                <a:gd name="T0" fmla="*/ 165 w 367"/>
                <a:gd name="T1" fmla="*/ 3 h 580"/>
                <a:gd name="T2" fmla="*/ 138 w 367"/>
                <a:gd name="T3" fmla="*/ 10 h 580"/>
                <a:gd name="T4" fmla="*/ 112 w 367"/>
                <a:gd name="T5" fmla="*/ 23 h 580"/>
                <a:gd name="T6" fmla="*/ 88 w 367"/>
                <a:gd name="T7" fmla="*/ 42 h 580"/>
                <a:gd name="T8" fmla="*/ 67 w 367"/>
                <a:gd name="T9" fmla="*/ 67 h 580"/>
                <a:gd name="T10" fmla="*/ 48 w 367"/>
                <a:gd name="T11" fmla="*/ 96 h 580"/>
                <a:gd name="T12" fmla="*/ 31 w 367"/>
                <a:gd name="T13" fmla="*/ 129 h 580"/>
                <a:gd name="T14" fmla="*/ 18 w 367"/>
                <a:gd name="T15" fmla="*/ 165 h 580"/>
                <a:gd name="T16" fmla="*/ 8 w 367"/>
                <a:gd name="T17" fmla="*/ 204 h 580"/>
                <a:gd name="T18" fmla="*/ 2 w 367"/>
                <a:gd name="T19" fmla="*/ 246 h 580"/>
                <a:gd name="T20" fmla="*/ 0 w 367"/>
                <a:gd name="T21" fmla="*/ 291 h 580"/>
                <a:gd name="T22" fmla="*/ 2 w 367"/>
                <a:gd name="T23" fmla="*/ 334 h 580"/>
                <a:gd name="T24" fmla="*/ 8 w 367"/>
                <a:gd name="T25" fmla="*/ 376 h 580"/>
                <a:gd name="T26" fmla="*/ 18 w 367"/>
                <a:gd name="T27" fmla="*/ 416 h 580"/>
                <a:gd name="T28" fmla="*/ 31 w 367"/>
                <a:gd name="T29" fmla="*/ 453 h 580"/>
                <a:gd name="T30" fmla="*/ 48 w 367"/>
                <a:gd name="T31" fmla="*/ 485 h 580"/>
                <a:gd name="T32" fmla="*/ 67 w 367"/>
                <a:gd name="T33" fmla="*/ 514 h 580"/>
                <a:gd name="T34" fmla="*/ 88 w 367"/>
                <a:gd name="T35" fmla="*/ 538 h 580"/>
                <a:gd name="T36" fmla="*/ 112 w 367"/>
                <a:gd name="T37" fmla="*/ 557 h 580"/>
                <a:gd name="T38" fmla="*/ 138 w 367"/>
                <a:gd name="T39" fmla="*/ 570 h 580"/>
                <a:gd name="T40" fmla="*/ 165 w 367"/>
                <a:gd name="T41" fmla="*/ 578 h 580"/>
                <a:gd name="T42" fmla="*/ 193 w 367"/>
                <a:gd name="T43" fmla="*/ 579 h 580"/>
                <a:gd name="T44" fmla="*/ 221 w 367"/>
                <a:gd name="T45" fmla="*/ 574 h 580"/>
                <a:gd name="T46" fmla="*/ 247 w 367"/>
                <a:gd name="T47" fmla="*/ 562 h 580"/>
                <a:gd name="T48" fmla="*/ 272 w 367"/>
                <a:gd name="T49" fmla="*/ 544 h 580"/>
                <a:gd name="T50" fmla="*/ 293 w 367"/>
                <a:gd name="T51" fmla="*/ 523 h 580"/>
                <a:gd name="T52" fmla="*/ 314 w 367"/>
                <a:gd name="T53" fmla="*/ 495 h 580"/>
                <a:gd name="T54" fmla="*/ 331 w 367"/>
                <a:gd name="T55" fmla="*/ 463 h 580"/>
                <a:gd name="T56" fmla="*/ 345 w 367"/>
                <a:gd name="T57" fmla="*/ 429 h 580"/>
                <a:gd name="T58" fmla="*/ 356 w 367"/>
                <a:gd name="T59" fmla="*/ 390 h 580"/>
                <a:gd name="T60" fmla="*/ 363 w 367"/>
                <a:gd name="T61" fmla="*/ 348 h 580"/>
                <a:gd name="T62" fmla="*/ 367 w 367"/>
                <a:gd name="T63" fmla="*/ 305 h 580"/>
                <a:gd name="T64" fmla="*/ 366 w 367"/>
                <a:gd name="T65" fmla="*/ 260 h 580"/>
                <a:gd name="T66" fmla="*/ 362 w 367"/>
                <a:gd name="T67" fmla="*/ 218 h 580"/>
                <a:gd name="T68" fmla="*/ 353 w 367"/>
                <a:gd name="T69" fmla="*/ 177 h 580"/>
                <a:gd name="T70" fmla="*/ 340 w 367"/>
                <a:gd name="T71" fmla="*/ 140 h 580"/>
                <a:gd name="T72" fmla="*/ 325 w 367"/>
                <a:gd name="T73" fmla="*/ 106 h 580"/>
                <a:gd name="T74" fmla="*/ 307 w 367"/>
                <a:gd name="T75" fmla="*/ 75 h 580"/>
                <a:gd name="T76" fmla="*/ 287 w 367"/>
                <a:gd name="T77" fmla="*/ 50 h 580"/>
                <a:gd name="T78" fmla="*/ 263 w 367"/>
                <a:gd name="T79" fmla="*/ 30 h 580"/>
                <a:gd name="T80" fmla="*/ 238 w 367"/>
                <a:gd name="T81" fmla="*/ 14 h 580"/>
                <a:gd name="T82" fmla="*/ 212 w 367"/>
                <a:gd name="T83" fmla="*/ 4 h 580"/>
                <a:gd name="T84" fmla="*/ 184 w 367"/>
                <a:gd name="T85" fmla="*/ 0 h 5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7"/>
                <a:gd name="T130" fmla="*/ 0 h 580"/>
                <a:gd name="T131" fmla="*/ 367 w 367"/>
                <a:gd name="T132" fmla="*/ 580 h 58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7" h="580">
                  <a:moveTo>
                    <a:pt x="184" y="0"/>
                  </a:moveTo>
                  <a:lnTo>
                    <a:pt x="175" y="2"/>
                  </a:lnTo>
                  <a:lnTo>
                    <a:pt x="165" y="3"/>
                  </a:lnTo>
                  <a:lnTo>
                    <a:pt x="156" y="4"/>
                  </a:lnTo>
                  <a:lnTo>
                    <a:pt x="147" y="7"/>
                  </a:lnTo>
                  <a:lnTo>
                    <a:pt x="138" y="10"/>
                  </a:lnTo>
                  <a:lnTo>
                    <a:pt x="129" y="14"/>
                  </a:lnTo>
                  <a:lnTo>
                    <a:pt x="120" y="18"/>
                  </a:lnTo>
                  <a:lnTo>
                    <a:pt x="112" y="23"/>
                  </a:lnTo>
                  <a:lnTo>
                    <a:pt x="104" y="30"/>
                  </a:lnTo>
                  <a:lnTo>
                    <a:pt x="96" y="36"/>
                  </a:lnTo>
                  <a:lnTo>
                    <a:pt x="88" y="42"/>
                  </a:lnTo>
                  <a:lnTo>
                    <a:pt x="81" y="50"/>
                  </a:lnTo>
                  <a:lnTo>
                    <a:pt x="74" y="59"/>
                  </a:lnTo>
                  <a:lnTo>
                    <a:pt x="67" y="67"/>
                  </a:lnTo>
                  <a:lnTo>
                    <a:pt x="60" y="75"/>
                  </a:lnTo>
                  <a:lnTo>
                    <a:pt x="54" y="86"/>
                  </a:lnTo>
                  <a:lnTo>
                    <a:pt x="48" y="96"/>
                  </a:lnTo>
                  <a:lnTo>
                    <a:pt x="42" y="106"/>
                  </a:lnTo>
                  <a:lnTo>
                    <a:pt x="36" y="118"/>
                  </a:lnTo>
                  <a:lnTo>
                    <a:pt x="31" y="129"/>
                  </a:lnTo>
                  <a:lnTo>
                    <a:pt x="27" y="140"/>
                  </a:lnTo>
                  <a:lnTo>
                    <a:pt x="22" y="152"/>
                  </a:lnTo>
                  <a:lnTo>
                    <a:pt x="18" y="165"/>
                  </a:lnTo>
                  <a:lnTo>
                    <a:pt x="14" y="177"/>
                  </a:lnTo>
                  <a:lnTo>
                    <a:pt x="12" y="190"/>
                  </a:lnTo>
                  <a:lnTo>
                    <a:pt x="8" y="204"/>
                  </a:lnTo>
                  <a:lnTo>
                    <a:pt x="6" y="218"/>
                  </a:lnTo>
                  <a:lnTo>
                    <a:pt x="4" y="232"/>
                  </a:lnTo>
                  <a:lnTo>
                    <a:pt x="2" y="246"/>
                  </a:lnTo>
                  <a:lnTo>
                    <a:pt x="2" y="260"/>
                  </a:lnTo>
                  <a:lnTo>
                    <a:pt x="0" y="276"/>
                  </a:lnTo>
                  <a:lnTo>
                    <a:pt x="0" y="291"/>
                  </a:lnTo>
                  <a:lnTo>
                    <a:pt x="0" y="305"/>
                  </a:lnTo>
                  <a:lnTo>
                    <a:pt x="2" y="320"/>
                  </a:lnTo>
                  <a:lnTo>
                    <a:pt x="2" y="334"/>
                  </a:lnTo>
                  <a:lnTo>
                    <a:pt x="4" y="348"/>
                  </a:lnTo>
                  <a:lnTo>
                    <a:pt x="6" y="362"/>
                  </a:lnTo>
                  <a:lnTo>
                    <a:pt x="8" y="376"/>
                  </a:lnTo>
                  <a:lnTo>
                    <a:pt x="12" y="390"/>
                  </a:lnTo>
                  <a:lnTo>
                    <a:pt x="14" y="403"/>
                  </a:lnTo>
                  <a:lnTo>
                    <a:pt x="18" y="416"/>
                  </a:lnTo>
                  <a:lnTo>
                    <a:pt x="22" y="429"/>
                  </a:lnTo>
                  <a:lnTo>
                    <a:pt x="27" y="440"/>
                  </a:lnTo>
                  <a:lnTo>
                    <a:pt x="31" y="453"/>
                  </a:lnTo>
                  <a:lnTo>
                    <a:pt x="36" y="463"/>
                  </a:lnTo>
                  <a:lnTo>
                    <a:pt x="42" y="474"/>
                  </a:lnTo>
                  <a:lnTo>
                    <a:pt x="48" y="485"/>
                  </a:lnTo>
                  <a:lnTo>
                    <a:pt x="54" y="495"/>
                  </a:lnTo>
                  <a:lnTo>
                    <a:pt x="60" y="505"/>
                  </a:lnTo>
                  <a:lnTo>
                    <a:pt x="67" y="514"/>
                  </a:lnTo>
                  <a:lnTo>
                    <a:pt x="74" y="523"/>
                  </a:lnTo>
                  <a:lnTo>
                    <a:pt x="81" y="530"/>
                  </a:lnTo>
                  <a:lnTo>
                    <a:pt x="88" y="538"/>
                  </a:lnTo>
                  <a:lnTo>
                    <a:pt x="96" y="544"/>
                  </a:lnTo>
                  <a:lnTo>
                    <a:pt x="104" y="551"/>
                  </a:lnTo>
                  <a:lnTo>
                    <a:pt x="112" y="557"/>
                  </a:lnTo>
                  <a:lnTo>
                    <a:pt x="120" y="562"/>
                  </a:lnTo>
                  <a:lnTo>
                    <a:pt x="129" y="566"/>
                  </a:lnTo>
                  <a:lnTo>
                    <a:pt x="138" y="570"/>
                  </a:lnTo>
                  <a:lnTo>
                    <a:pt x="147" y="574"/>
                  </a:lnTo>
                  <a:lnTo>
                    <a:pt x="156" y="576"/>
                  </a:lnTo>
                  <a:lnTo>
                    <a:pt x="165" y="578"/>
                  </a:lnTo>
                  <a:lnTo>
                    <a:pt x="175" y="579"/>
                  </a:lnTo>
                  <a:lnTo>
                    <a:pt x="184" y="580"/>
                  </a:lnTo>
                  <a:lnTo>
                    <a:pt x="193" y="579"/>
                  </a:lnTo>
                  <a:lnTo>
                    <a:pt x="203" y="578"/>
                  </a:lnTo>
                  <a:lnTo>
                    <a:pt x="212" y="576"/>
                  </a:lnTo>
                  <a:lnTo>
                    <a:pt x="221" y="574"/>
                  </a:lnTo>
                  <a:lnTo>
                    <a:pt x="230" y="570"/>
                  </a:lnTo>
                  <a:lnTo>
                    <a:pt x="238" y="566"/>
                  </a:lnTo>
                  <a:lnTo>
                    <a:pt x="247" y="562"/>
                  </a:lnTo>
                  <a:lnTo>
                    <a:pt x="255" y="557"/>
                  </a:lnTo>
                  <a:lnTo>
                    <a:pt x="263" y="551"/>
                  </a:lnTo>
                  <a:lnTo>
                    <a:pt x="272" y="544"/>
                  </a:lnTo>
                  <a:lnTo>
                    <a:pt x="279" y="538"/>
                  </a:lnTo>
                  <a:lnTo>
                    <a:pt x="287" y="530"/>
                  </a:lnTo>
                  <a:lnTo>
                    <a:pt x="293" y="523"/>
                  </a:lnTo>
                  <a:lnTo>
                    <a:pt x="301" y="514"/>
                  </a:lnTo>
                  <a:lnTo>
                    <a:pt x="307" y="505"/>
                  </a:lnTo>
                  <a:lnTo>
                    <a:pt x="314" y="495"/>
                  </a:lnTo>
                  <a:lnTo>
                    <a:pt x="320" y="485"/>
                  </a:lnTo>
                  <a:lnTo>
                    <a:pt x="325" y="474"/>
                  </a:lnTo>
                  <a:lnTo>
                    <a:pt x="331" y="463"/>
                  </a:lnTo>
                  <a:lnTo>
                    <a:pt x="336" y="453"/>
                  </a:lnTo>
                  <a:lnTo>
                    <a:pt x="340" y="440"/>
                  </a:lnTo>
                  <a:lnTo>
                    <a:pt x="345" y="429"/>
                  </a:lnTo>
                  <a:lnTo>
                    <a:pt x="349" y="416"/>
                  </a:lnTo>
                  <a:lnTo>
                    <a:pt x="353" y="403"/>
                  </a:lnTo>
                  <a:lnTo>
                    <a:pt x="356" y="390"/>
                  </a:lnTo>
                  <a:lnTo>
                    <a:pt x="359" y="376"/>
                  </a:lnTo>
                  <a:lnTo>
                    <a:pt x="362" y="362"/>
                  </a:lnTo>
                  <a:lnTo>
                    <a:pt x="363" y="348"/>
                  </a:lnTo>
                  <a:lnTo>
                    <a:pt x="364" y="334"/>
                  </a:lnTo>
                  <a:lnTo>
                    <a:pt x="366" y="320"/>
                  </a:lnTo>
                  <a:lnTo>
                    <a:pt x="367" y="305"/>
                  </a:lnTo>
                  <a:lnTo>
                    <a:pt x="367" y="291"/>
                  </a:lnTo>
                  <a:lnTo>
                    <a:pt x="367" y="276"/>
                  </a:lnTo>
                  <a:lnTo>
                    <a:pt x="366" y="260"/>
                  </a:lnTo>
                  <a:lnTo>
                    <a:pt x="364" y="246"/>
                  </a:lnTo>
                  <a:lnTo>
                    <a:pt x="363" y="232"/>
                  </a:lnTo>
                  <a:lnTo>
                    <a:pt x="362" y="218"/>
                  </a:lnTo>
                  <a:lnTo>
                    <a:pt x="359" y="204"/>
                  </a:lnTo>
                  <a:lnTo>
                    <a:pt x="356" y="190"/>
                  </a:lnTo>
                  <a:lnTo>
                    <a:pt x="353" y="177"/>
                  </a:lnTo>
                  <a:lnTo>
                    <a:pt x="349" y="165"/>
                  </a:lnTo>
                  <a:lnTo>
                    <a:pt x="345" y="152"/>
                  </a:lnTo>
                  <a:lnTo>
                    <a:pt x="340" y="140"/>
                  </a:lnTo>
                  <a:lnTo>
                    <a:pt x="336" y="129"/>
                  </a:lnTo>
                  <a:lnTo>
                    <a:pt x="331" y="118"/>
                  </a:lnTo>
                  <a:lnTo>
                    <a:pt x="325" y="106"/>
                  </a:lnTo>
                  <a:lnTo>
                    <a:pt x="320" y="96"/>
                  </a:lnTo>
                  <a:lnTo>
                    <a:pt x="314" y="86"/>
                  </a:lnTo>
                  <a:lnTo>
                    <a:pt x="307" y="75"/>
                  </a:lnTo>
                  <a:lnTo>
                    <a:pt x="301" y="67"/>
                  </a:lnTo>
                  <a:lnTo>
                    <a:pt x="293" y="59"/>
                  </a:lnTo>
                  <a:lnTo>
                    <a:pt x="287" y="50"/>
                  </a:lnTo>
                  <a:lnTo>
                    <a:pt x="279" y="42"/>
                  </a:lnTo>
                  <a:lnTo>
                    <a:pt x="272" y="36"/>
                  </a:lnTo>
                  <a:lnTo>
                    <a:pt x="263" y="30"/>
                  </a:lnTo>
                  <a:lnTo>
                    <a:pt x="255" y="23"/>
                  </a:lnTo>
                  <a:lnTo>
                    <a:pt x="247" y="18"/>
                  </a:lnTo>
                  <a:lnTo>
                    <a:pt x="238" y="14"/>
                  </a:lnTo>
                  <a:lnTo>
                    <a:pt x="230" y="10"/>
                  </a:lnTo>
                  <a:lnTo>
                    <a:pt x="221" y="7"/>
                  </a:lnTo>
                  <a:lnTo>
                    <a:pt x="212" y="4"/>
                  </a:lnTo>
                  <a:lnTo>
                    <a:pt x="203" y="3"/>
                  </a:lnTo>
                  <a:lnTo>
                    <a:pt x="193" y="2"/>
                  </a:lnTo>
                  <a:lnTo>
                    <a:pt x="184" y="0"/>
                  </a:lnTo>
                </a:path>
              </a:pathLst>
            </a:custGeom>
            <a:solidFill>
              <a:srgbClr val="FF4F4F"/>
            </a:solidFill>
            <a:ln w="50800">
              <a:solidFill>
                <a:srgbClr val="FF4F4F"/>
              </a:solidFill>
              <a:round/>
            </a:ln>
          </p:spPr>
          <p:txBody>
            <a:bodyPr/>
            <a:lstStyle/>
            <a:p>
              <a:endParaRPr lang="zh-CN" altLang="en-US"/>
            </a:p>
          </p:txBody>
        </p:sp>
        <p:sp>
          <p:nvSpPr>
            <p:cNvPr id="49" name="Rectangle 43"/>
            <p:cNvSpPr>
              <a:spLocks noChangeArrowheads="1"/>
            </p:cNvSpPr>
            <p:nvPr/>
          </p:nvSpPr>
          <p:spPr bwMode="auto">
            <a:xfrm>
              <a:off x="2177"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0" name="Rectangle 44"/>
            <p:cNvSpPr>
              <a:spLocks noChangeArrowheads="1"/>
            </p:cNvSpPr>
            <p:nvPr/>
          </p:nvSpPr>
          <p:spPr bwMode="auto">
            <a:xfrm>
              <a:off x="2224"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1" name="Rectangle 45"/>
            <p:cNvSpPr>
              <a:spLocks noChangeArrowheads="1"/>
            </p:cNvSpPr>
            <p:nvPr/>
          </p:nvSpPr>
          <p:spPr bwMode="auto">
            <a:xfrm>
              <a:off x="2290" y="3401"/>
              <a:ext cx="34"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2" name="Freeform 46"/>
            <p:cNvSpPr/>
            <p:nvPr/>
          </p:nvSpPr>
          <p:spPr bwMode="auto">
            <a:xfrm>
              <a:off x="2403" y="3128"/>
              <a:ext cx="367" cy="580"/>
            </a:xfrm>
            <a:custGeom>
              <a:avLst/>
              <a:gdLst>
                <a:gd name="T0" fmla="*/ 165 w 367"/>
                <a:gd name="T1" fmla="*/ 3 h 580"/>
                <a:gd name="T2" fmla="*/ 137 w 367"/>
                <a:gd name="T3" fmla="*/ 10 h 580"/>
                <a:gd name="T4" fmla="*/ 112 w 367"/>
                <a:gd name="T5" fmla="*/ 23 h 580"/>
                <a:gd name="T6" fmla="*/ 89 w 367"/>
                <a:gd name="T7" fmla="*/ 42 h 580"/>
                <a:gd name="T8" fmla="*/ 67 w 367"/>
                <a:gd name="T9" fmla="*/ 67 h 580"/>
                <a:gd name="T10" fmla="*/ 48 w 367"/>
                <a:gd name="T11" fmla="*/ 96 h 580"/>
                <a:gd name="T12" fmla="*/ 31 w 367"/>
                <a:gd name="T13" fmla="*/ 129 h 580"/>
                <a:gd name="T14" fmla="*/ 17 w 367"/>
                <a:gd name="T15" fmla="*/ 165 h 580"/>
                <a:gd name="T16" fmla="*/ 9 w 367"/>
                <a:gd name="T17" fmla="*/ 204 h 580"/>
                <a:gd name="T18" fmla="*/ 2 w 367"/>
                <a:gd name="T19" fmla="*/ 246 h 580"/>
                <a:gd name="T20" fmla="*/ 0 w 367"/>
                <a:gd name="T21" fmla="*/ 291 h 580"/>
                <a:gd name="T22" fmla="*/ 2 w 367"/>
                <a:gd name="T23" fmla="*/ 334 h 580"/>
                <a:gd name="T24" fmla="*/ 9 w 367"/>
                <a:gd name="T25" fmla="*/ 376 h 580"/>
                <a:gd name="T26" fmla="*/ 17 w 367"/>
                <a:gd name="T27" fmla="*/ 416 h 580"/>
                <a:gd name="T28" fmla="*/ 31 w 367"/>
                <a:gd name="T29" fmla="*/ 453 h 580"/>
                <a:gd name="T30" fmla="*/ 48 w 367"/>
                <a:gd name="T31" fmla="*/ 485 h 580"/>
                <a:gd name="T32" fmla="*/ 67 w 367"/>
                <a:gd name="T33" fmla="*/ 514 h 580"/>
                <a:gd name="T34" fmla="*/ 89 w 367"/>
                <a:gd name="T35" fmla="*/ 538 h 580"/>
                <a:gd name="T36" fmla="*/ 112 w 367"/>
                <a:gd name="T37" fmla="*/ 557 h 580"/>
                <a:gd name="T38" fmla="*/ 137 w 367"/>
                <a:gd name="T39" fmla="*/ 570 h 580"/>
                <a:gd name="T40" fmla="*/ 165 w 367"/>
                <a:gd name="T41" fmla="*/ 578 h 580"/>
                <a:gd name="T42" fmla="*/ 193 w 367"/>
                <a:gd name="T43" fmla="*/ 579 h 580"/>
                <a:gd name="T44" fmla="*/ 220 w 367"/>
                <a:gd name="T45" fmla="*/ 574 h 580"/>
                <a:gd name="T46" fmla="*/ 247 w 367"/>
                <a:gd name="T47" fmla="*/ 562 h 580"/>
                <a:gd name="T48" fmla="*/ 271 w 367"/>
                <a:gd name="T49" fmla="*/ 544 h 580"/>
                <a:gd name="T50" fmla="*/ 294 w 367"/>
                <a:gd name="T51" fmla="*/ 523 h 580"/>
                <a:gd name="T52" fmla="*/ 313 w 367"/>
                <a:gd name="T53" fmla="*/ 495 h 580"/>
                <a:gd name="T54" fmla="*/ 331 w 367"/>
                <a:gd name="T55" fmla="*/ 463 h 580"/>
                <a:gd name="T56" fmla="*/ 345 w 367"/>
                <a:gd name="T57" fmla="*/ 429 h 580"/>
                <a:gd name="T58" fmla="*/ 356 w 367"/>
                <a:gd name="T59" fmla="*/ 390 h 580"/>
                <a:gd name="T60" fmla="*/ 364 w 367"/>
                <a:gd name="T61" fmla="*/ 348 h 580"/>
                <a:gd name="T62" fmla="*/ 366 w 367"/>
                <a:gd name="T63" fmla="*/ 305 h 580"/>
                <a:gd name="T64" fmla="*/ 366 w 367"/>
                <a:gd name="T65" fmla="*/ 260 h 580"/>
                <a:gd name="T66" fmla="*/ 361 w 367"/>
                <a:gd name="T67" fmla="*/ 218 h 580"/>
                <a:gd name="T68" fmla="*/ 352 w 367"/>
                <a:gd name="T69" fmla="*/ 177 h 580"/>
                <a:gd name="T70" fmla="*/ 341 w 367"/>
                <a:gd name="T71" fmla="*/ 140 h 580"/>
                <a:gd name="T72" fmla="*/ 325 w 367"/>
                <a:gd name="T73" fmla="*/ 106 h 580"/>
                <a:gd name="T74" fmla="*/ 306 w 367"/>
                <a:gd name="T75" fmla="*/ 75 h 580"/>
                <a:gd name="T76" fmla="*/ 286 w 367"/>
                <a:gd name="T77" fmla="*/ 50 h 580"/>
                <a:gd name="T78" fmla="*/ 263 w 367"/>
                <a:gd name="T79" fmla="*/ 30 h 580"/>
                <a:gd name="T80" fmla="*/ 238 w 367"/>
                <a:gd name="T81" fmla="*/ 14 h 580"/>
                <a:gd name="T82" fmla="*/ 211 w 367"/>
                <a:gd name="T83" fmla="*/ 4 h 580"/>
                <a:gd name="T84" fmla="*/ 183 w 367"/>
                <a:gd name="T85" fmla="*/ 0 h 5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7"/>
                <a:gd name="T130" fmla="*/ 0 h 580"/>
                <a:gd name="T131" fmla="*/ 367 w 367"/>
                <a:gd name="T132" fmla="*/ 580 h 58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7" h="580">
                  <a:moveTo>
                    <a:pt x="183" y="0"/>
                  </a:moveTo>
                  <a:lnTo>
                    <a:pt x="174" y="2"/>
                  </a:lnTo>
                  <a:lnTo>
                    <a:pt x="165" y="3"/>
                  </a:lnTo>
                  <a:lnTo>
                    <a:pt x="155" y="4"/>
                  </a:lnTo>
                  <a:lnTo>
                    <a:pt x="146" y="7"/>
                  </a:lnTo>
                  <a:lnTo>
                    <a:pt x="137" y="10"/>
                  </a:lnTo>
                  <a:lnTo>
                    <a:pt x="129" y="14"/>
                  </a:lnTo>
                  <a:lnTo>
                    <a:pt x="121" y="18"/>
                  </a:lnTo>
                  <a:lnTo>
                    <a:pt x="112" y="23"/>
                  </a:lnTo>
                  <a:lnTo>
                    <a:pt x="104" y="30"/>
                  </a:lnTo>
                  <a:lnTo>
                    <a:pt x="96" y="36"/>
                  </a:lnTo>
                  <a:lnTo>
                    <a:pt x="89" y="42"/>
                  </a:lnTo>
                  <a:lnTo>
                    <a:pt x="81" y="50"/>
                  </a:lnTo>
                  <a:lnTo>
                    <a:pt x="73" y="59"/>
                  </a:lnTo>
                  <a:lnTo>
                    <a:pt x="67" y="67"/>
                  </a:lnTo>
                  <a:lnTo>
                    <a:pt x="59" y="75"/>
                  </a:lnTo>
                  <a:lnTo>
                    <a:pt x="53" y="86"/>
                  </a:lnTo>
                  <a:lnTo>
                    <a:pt x="48" y="96"/>
                  </a:lnTo>
                  <a:lnTo>
                    <a:pt x="42" y="106"/>
                  </a:lnTo>
                  <a:lnTo>
                    <a:pt x="37" y="118"/>
                  </a:lnTo>
                  <a:lnTo>
                    <a:pt x="31" y="129"/>
                  </a:lnTo>
                  <a:lnTo>
                    <a:pt x="26" y="140"/>
                  </a:lnTo>
                  <a:lnTo>
                    <a:pt x="23" y="152"/>
                  </a:lnTo>
                  <a:lnTo>
                    <a:pt x="17" y="165"/>
                  </a:lnTo>
                  <a:lnTo>
                    <a:pt x="15" y="177"/>
                  </a:lnTo>
                  <a:lnTo>
                    <a:pt x="11" y="190"/>
                  </a:lnTo>
                  <a:lnTo>
                    <a:pt x="9" y="204"/>
                  </a:lnTo>
                  <a:lnTo>
                    <a:pt x="6" y="218"/>
                  </a:lnTo>
                  <a:lnTo>
                    <a:pt x="3" y="232"/>
                  </a:lnTo>
                  <a:lnTo>
                    <a:pt x="2" y="246"/>
                  </a:lnTo>
                  <a:lnTo>
                    <a:pt x="1" y="260"/>
                  </a:lnTo>
                  <a:lnTo>
                    <a:pt x="0" y="276"/>
                  </a:lnTo>
                  <a:lnTo>
                    <a:pt x="0" y="291"/>
                  </a:lnTo>
                  <a:lnTo>
                    <a:pt x="0" y="305"/>
                  </a:lnTo>
                  <a:lnTo>
                    <a:pt x="1" y="320"/>
                  </a:lnTo>
                  <a:lnTo>
                    <a:pt x="2" y="334"/>
                  </a:lnTo>
                  <a:lnTo>
                    <a:pt x="3" y="348"/>
                  </a:lnTo>
                  <a:lnTo>
                    <a:pt x="6" y="362"/>
                  </a:lnTo>
                  <a:lnTo>
                    <a:pt x="9" y="376"/>
                  </a:lnTo>
                  <a:lnTo>
                    <a:pt x="11" y="390"/>
                  </a:lnTo>
                  <a:lnTo>
                    <a:pt x="15" y="403"/>
                  </a:lnTo>
                  <a:lnTo>
                    <a:pt x="17" y="416"/>
                  </a:lnTo>
                  <a:lnTo>
                    <a:pt x="23" y="429"/>
                  </a:lnTo>
                  <a:lnTo>
                    <a:pt x="26" y="440"/>
                  </a:lnTo>
                  <a:lnTo>
                    <a:pt x="31" y="453"/>
                  </a:lnTo>
                  <a:lnTo>
                    <a:pt x="37" y="463"/>
                  </a:lnTo>
                  <a:lnTo>
                    <a:pt x="42" y="474"/>
                  </a:lnTo>
                  <a:lnTo>
                    <a:pt x="48" y="485"/>
                  </a:lnTo>
                  <a:lnTo>
                    <a:pt x="53" y="495"/>
                  </a:lnTo>
                  <a:lnTo>
                    <a:pt x="59" y="505"/>
                  </a:lnTo>
                  <a:lnTo>
                    <a:pt x="67" y="514"/>
                  </a:lnTo>
                  <a:lnTo>
                    <a:pt x="73" y="523"/>
                  </a:lnTo>
                  <a:lnTo>
                    <a:pt x="81" y="530"/>
                  </a:lnTo>
                  <a:lnTo>
                    <a:pt x="89" y="538"/>
                  </a:lnTo>
                  <a:lnTo>
                    <a:pt x="96" y="544"/>
                  </a:lnTo>
                  <a:lnTo>
                    <a:pt x="104" y="551"/>
                  </a:lnTo>
                  <a:lnTo>
                    <a:pt x="112" y="557"/>
                  </a:lnTo>
                  <a:lnTo>
                    <a:pt x="121" y="562"/>
                  </a:lnTo>
                  <a:lnTo>
                    <a:pt x="129" y="566"/>
                  </a:lnTo>
                  <a:lnTo>
                    <a:pt x="137" y="570"/>
                  </a:lnTo>
                  <a:lnTo>
                    <a:pt x="146" y="574"/>
                  </a:lnTo>
                  <a:lnTo>
                    <a:pt x="155" y="576"/>
                  </a:lnTo>
                  <a:lnTo>
                    <a:pt x="165" y="578"/>
                  </a:lnTo>
                  <a:lnTo>
                    <a:pt x="174" y="579"/>
                  </a:lnTo>
                  <a:lnTo>
                    <a:pt x="183" y="580"/>
                  </a:lnTo>
                  <a:lnTo>
                    <a:pt x="193" y="579"/>
                  </a:lnTo>
                  <a:lnTo>
                    <a:pt x="202" y="578"/>
                  </a:lnTo>
                  <a:lnTo>
                    <a:pt x="211" y="576"/>
                  </a:lnTo>
                  <a:lnTo>
                    <a:pt x="220" y="574"/>
                  </a:lnTo>
                  <a:lnTo>
                    <a:pt x="229" y="570"/>
                  </a:lnTo>
                  <a:lnTo>
                    <a:pt x="238" y="566"/>
                  </a:lnTo>
                  <a:lnTo>
                    <a:pt x="247" y="562"/>
                  </a:lnTo>
                  <a:lnTo>
                    <a:pt x="255" y="557"/>
                  </a:lnTo>
                  <a:lnTo>
                    <a:pt x="263" y="551"/>
                  </a:lnTo>
                  <a:lnTo>
                    <a:pt x="271" y="544"/>
                  </a:lnTo>
                  <a:lnTo>
                    <a:pt x="278" y="538"/>
                  </a:lnTo>
                  <a:lnTo>
                    <a:pt x="286" y="530"/>
                  </a:lnTo>
                  <a:lnTo>
                    <a:pt x="294" y="523"/>
                  </a:lnTo>
                  <a:lnTo>
                    <a:pt x="300" y="514"/>
                  </a:lnTo>
                  <a:lnTo>
                    <a:pt x="306" y="505"/>
                  </a:lnTo>
                  <a:lnTo>
                    <a:pt x="313" y="495"/>
                  </a:lnTo>
                  <a:lnTo>
                    <a:pt x="319" y="485"/>
                  </a:lnTo>
                  <a:lnTo>
                    <a:pt x="325" y="474"/>
                  </a:lnTo>
                  <a:lnTo>
                    <a:pt x="331" y="463"/>
                  </a:lnTo>
                  <a:lnTo>
                    <a:pt x="336" y="453"/>
                  </a:lnTo>
                  <a:lnTo>
                    <a:pt x="341" y="440"/>
                  </a:lnTo>
                  <a:lnTo>
                    <a:pt x="345" y="429"/>
                  </a:lnTo>
                  <a:lnTo>
                    <a:pt x="348" y="416"/>
                  </a:lnTo>
                  <a:lnTo>
                    <a:pt x="352" y="403"/>
                  </a:lnTo>
                  <a:lnTo>
                    <a:pt x="356" y="390"/>
                  </a:lnTo>
                  <a:lnTo>
                    <a:pt x="359" y="376"/>
                  </a:lnTo>
                  <a:lnTo>
                    <a:pt x="361" y="362"/>
                  </a:lnTo>
                  <a:lnTo>
                    <a:pt x="364" y="348"/>
                  </a:lnTo>
                  <a:lnTo>
                    <a:pt x="365" y="334"/>
                  </a:lnTo>
                  <a:lnTo>
                    <a:pt x="366" y="320"/>
                  </a:lnTo>
                  <a:lnTo>
                    <a:pt x="366" y="305"/>
                  </a:lnTo>
                  <a:lnTo>
                    <a:pt x="367" y="291"/>
                  </a:lnTo>
                  <a:lnTo>
                    <a:pt x="366" y="276"/>
                  </a:lnTo>
                  <a:lnTo>
                    <a:pt x="366" y="260"/>
                  </a:lnTo>
                  <a:lnTo>
                    <a:pt x="365" y="246"/>
                  </a:lnTo>
                  <a:lnTo>
                    <a:pt x="364" y="232"/>
                  </a:lnTo>
                  <a:lnTo>
                    <a:pt x="361" y="218"/>
                  </a:lnTo>
                  <a:lnTo>
                    <a:pt x="359" y="204"/>
                  </a:lnTo>
                  <a:lnTo>
                    <a:pt x="356" y="190"/>
                  </a:lnTo>
                  <a:lnTo>
                    <a:pt x="352" y="177"/>
                  </a:lnTo>
                  <a:lnTo>
                    <a:pt x="348" y="165"/>
                  </a:lnTo>
                  <a:lnTo>
                    <a:pt x="345" y="152"/>
                  </a:lnTo>
                  <a:lnTo>
                    <a:pt x="341" y="140"/>
                  </a:lnTo>
                  <a:lnTo>
                    <a:pt x="336" y="129"/>
                  </a:lnTo>
                  <a:lnTo>
                    <a:pt x="331" y="118"/>
                  </a:lnTo>
                  <a:lnTo>
                    <a:pt x="325" y="106"/>
                  </a:lnTo>
                  <a:lnTo>
                    <a:pt x="319" y="96"/>
                  </a:lnTo>
                  <a:lnTo>
                    <a:pt x="313" y="86"/>
                  </a:lnTo>
                  <a:lnTo>
                    <a:pt x="306" y="75"/>
                  </a:lnTo>
                  <a:lnTo>
                    <a:pt x="300" y="67"/>
                  </a:lnTo>
                  <a:lnTo>
                    <a:pt x="294" y="59"/>
                  </a:lnTo>
                  <a:lnTo>
                    <a:pt x="286" y="50"/>
                  </a:lnTo>
                  <a:lnTo>
                    <a:pt x="278" y="42"/>
                  </a:lnTo>
                  <a:lnTo>
                    <a:pt x="271" y="36"/>
                  </a:lnTo>
                  <a:lnTo>
                    <a:pt x="263" y="30"/>
                  </a:lnTo>
                  <a:lnTo>
                    <a:pt x="255" y="23"/>
                  </a:lnTo>
                  <a:lnTo>
                    <a:pt x="247" y="18"/>
                  </a:lnTo>
                  <a:lnTo>
                    <a:pt x="238" y="14"/>
                  </a:lnTo>
                  <a:lnTo>
                    <a:pt x="229" y="10"/>
                  </a:lnTo>
                  <a:lnTo>
                    <a:pt x="220" y="7"/>
                  </a:lnTo>
                  <a:lnTo>
                    <a:pt x="211" y="4"/>
                  </a:lnTo>
                  <a:lnTo>
                    <a:pt x="202" y="3"/>
                  </a:lnTo>
                  <a:lnTo>
                    <a:pt x="193" y="2"/>
                  </a:lnTo>
                  <a:lnTo>
                    <a:pt x="183" y="0"/>
                  </a:lnTo>
                </a:path>
              </a:pathLst>
            </a:custGeom>
            <a:solidFill>
              <a:srgbClr val="FF9933"/>
            </a:solidFill>
            <a:ln w="50800">
              <a:solidFill>
                <a:srgbClr val="FF9933"/>
              </a:solidFill>
              <a:round/>
            </a:ln>
          </p:spPr>
          <p:txBody>
            <a:bodyPr/>
            <a:lstStyle/>
            <a:p>
              <a:endParaRPr lang="zh-CN" altLang="en-US"/>
            </a:p>
          </p:txBody>
        </p:sp>
        <p:sp>
          <p:nvSpPr>
            <p:cNvPr id="53" name="Rectangle 47"/>
            <p:cNvSpPr>
              <a:spLocks noChangeArrowheads="1"/>
            </p:cNvSpPr>
            <p:nvPr/>
          </p:nvSpPr>
          <p:spPr bwMode="auto">
            <a:xfrm>
              <a:off x="2565"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4" name="Rectangle 48"/>
            <p:cNvSpPr>
              <a:spLocks noChangeArrowheads="1"/>
            </p:cNvSpPr>
            <p:nvPr/>
          </p:nvSpPr>
          <p:spPr bwMode="auto">
            <a:xfrm>
              <a:off x="2612"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3</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5" name="Rectangle 49"/>
            <p:cNvSpPr>
              <a:spLocks noChangeArrowheads="1"/>
            </p:cNvSpPr>
            <p:nvPr/>
          </p:nvSpPr>
          <p:spPr bwMode="auto">
            <a:xfrm>
              <a:off x="2679" y="3401"/>
              <a:ext cx="34"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6" name="Freeform 50"/>
            <p:cNvSpPr/>
            <p:nvPr/>
          </p:nvSpPr>
          <p:spPr bwMode="auto">
            <a:xfrm>
              <a:off x="2788" y="3128"/>
              <a:ext cx="367" cy="580"/>
            </a:xfrm>
            <a:custGeom>
              <a:avLst/>
              <a:gdLst>
                <a:gd name="T0" fmla="*/ 166 w 367"/>
                <a:gd name="T1" fmla="*/ 3 h 580"/>
                <a:gd name="T2" fmla="*/ 138 w 367"/>
                <a:gd name="T3" fmla="*/ 10 h 580"/>
                <a:gd name="T4" fmla="*/ 112 w 367"/>
                <a:gd name="T5" fmla="*/ 23 h 580"/>
                <a:gd name="T6" fmla="*/ 89 w 367"/>
                <a:gd name="T7" fmla="*/ 42 h 580"/>
                <a:gd name="T8" fmla="*/ 68 w 367"/>
                <a:gd name="T9" fmla="*/ 67 h 580"/>
                <a:gd name="T10" fmla="*/ 49 w 367"/>
                <a:gd name="T11" fmla="*/ 96 h 580"/>
                <a:gd name="T12" fmla="*/ 32 w 367"/>
                <a:gd name="T13" fmla="*/ 129 h 580"/>
                <a:gd name="T14" fmla="*/ 18 w 367"/>
                <a:gd name="T15" fmla="*/ 165 h 580"/>
                <a:gd name="T16" fmla="*/ 9 w 367"/>
                <a:gd name="T17" fmla="*/ 204 h 580"/>
                <a:gd name="T18" fmla="*/ 3 w 367"/>
                <a:gd name="T19" fmla="*/ 246 h 580"/>
                <a:gd name="T20" fmla="*/ 0 w 367"/>
                <a:gd name="T21" fmla="*/ 291 h 580"/>
                <a:gd name="T22" fmla="*/ 3 w 367"/>
                <a:gd name="T23" fmla="*/ 334 h 580"/>
                <a:gd name="T24" fmla="*/ 9 w 367"/>
                <a:gd name="T25" fmla="*/ 376 h 580"/>
                <a:gd name="T26" fmla="*/ 18 w 367"/>
                <a:gd name="T27" fmla="*/ 416 h 580"/>
                <a:gd name="T28" fmla="*/ 32 w 367"/>
                <a:gd name="T29" fmla="*/ 453 h 580"/>
                <a:gd name="T30" fmla="*/ 49 w 367"/>
                <a:gd name="T31" fmla="*/ 485 h 580"/>
                <a:gd name="T32" fmla="*/ 68 w 367"/>
                <a:gd name="T33" fmla="*/ 514 h 580"/>
                <a:gd name="T34" fmla="*/ 89 w 367"/>
                <a:gd name="T35" fmla="*/ 538 h 580"/>
                <a:gd name="T36" fmla="*/ 112 w 367"/>
                <a:gd name="T37" fmla="*/ 557 h 580"/>
                <a:gd name="T38" fmla="*/ 138 w 367"/>
                <a:gd name="T39" fmla="*/ 570 h 580"/>
                <a:gd name="T40" fmla="*/ 166 w 367"/>
                <a:gd name="T41" fmla="*/ 578 h 580"/>
                <a:gd name="T42" fmla="*/ 194 w 367"/>
                <a:gd name="T43" fmla="*/ 579 h 580"/>
                <a:gd name="T44" fmla="*/ 220 w 367"/>
                <a:gd name="T45" fmla="*/ 574 h 580"/>
                <a:gd name="T46" fmla="*/ 247 w 367"/>
                <a:gd name="T47" fmla="*/ 562 h 580"/>
                <a:gd name="T48" fmla="*/ 271 w 367"/>
                <a:gd name="T49" fmla="*/ 544 h 580"/>
                <a:gd name="T50" fmla="*/ 294 w 367"/>
                <a:gd name="T51" fmla="*/ 523 h 580"/>
                <a:gd name="T52" fmla="*/ 313 w 367"/>
                <a:gd name="T53" fmla="*/ 495 h 580"/>
                <a:gd name="T54" fmla="*/ 331 w 367"/>
                <a:gd name="T55" fmla="*/ 463 h 580"/>
                <a:gd name="T56" fmla="*/ 345 w 367"/>
                <a:gd name="T57" fmla="*/ 429 h 580"/>
                <a:gd name="T58" fmla="*/ 357 w 367"/>
                <a:gd name="T59" fmla="*/ 390 h 580"/>
                <a:gd name="T60" fmla="*/ 364 w 367"/>
                <a:gd name="T61" fmla="*/ 348 h 580"/>
                <a:gd name="T62" fmla="*/ 367 w 367"/>
                <a:gd name="T63" fmla="*/ 305 h 580"/>
                <a:gd name="T64" fmla="*/ 367 w 367"/>
                <a:gd name="T65" fmla="*/ 260 h 580"/>
                <a:gd name="T66" fmla="*/ 362 w 367"/>
                <a:gd name="T67" fmla="*/ 218 h 580"/>
                <a:gd name="T68" fmla="*/ 353 w 367"/>
                <a:gd name="T69" fmla="*/ 177 h 580"/>
                <a:gd name="T70" fmla="*/ 341 w 367"/>
                <a:gd name="T71" fmla="*/ 140 h 580"/>
                <a:gd name="T72" fmla="*/ 326 w 367"/>
                <a:gd name="T73" fmla="*/ 106 h 580"/>
                <a:gd name="T74" fmla="*/ 307 w 367"/>
                <a:gd name="T75" fmla="*/ 75 h 580"/>
                <a:gd name="T76" fmla="*/ 287 w 367"/>
                <a:gd name="T77" fmla="*/ 50 h 580"/>
                <a:gd name="T78" fmla="*/ 264 w 367"/>
                <a:gd name="T79" fmla="*/ 30 h 580"/>
                <a:gd name="T80" fmla="*/ 238 w 367"/>
                <a:gd name="T81" fmla="*/ 14 h 580"/>
                <a:gd name="T82" fmla="*/ 211 w 367"/>
                <a:gd name="T83" fmla="*/ 4 h 580"/>
                <a:gd name="T84" fmla="*/ 184 w 367"/>
                <a:gd name="T85" fmla="*/ 0 h 5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7"/>
                <a:gd name="T130" fmla="*/ 0 h 580"/>
                <a:gd name="T131" fmla="*/ 367 w 367"/>
                <a:gd name="T132" fmla="*/ 580 h 58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7" h="580">
                  <a:moveTo>
                    <a:pt x="184" y="0"/>
                  </a:moveTo>
                  <a:lnTo>
                    <a:pt x="175" y="2"/>
                  </a:lnTo>
                  <a:lnTo>
                    <a:pt x="166" y="3"/>
                  </a:lnTo>
                  <a:lnTo>
                    <a:pt x="156" y="4"/>
                  </a:lnTo>
                  <a:lnTo>
                    <a:pt x="147" y="7"/>
                  </a:lnTo>
                  <a:lnTo>
                    <a:pt x="138" y="10"/>
                  </a:lnTo>
                  <a:lnTo>
                    <a:pt x="129" y="14"/>
                  </a:lnTo>
                  <a:lnTo>
                    <a:pt x="121" y="18"/>
                  </a:lnTo>
                  <a:lnTo>
                    <a:pt x="112" y="23"/>
                  </a:lnTo>
                  <a:lnTo>
                    <a:pt x="105" y="30"/>
                  </a:lnTo>
                  <a:lnTo>
                    <a:pt x="97" y="36"/>
                  </a:lnTo>
                  <a:lnTo>
                    <a:pt x="89" y="42"/>
                  </a:lnTo>
                  <a:lnTo>
                    <a:pt x="82" y="50"/>
                  </a:lnTo>
                  <a:lnTo>
                    <a:pt x="74" y="59"/>
                  </a:lnTo>
                  <a:lnTo>
                    <a:pt x="68" y="67"/>
                  </a:lnTo>
                  <a:lnTo>
                    <a:pt x="60" y="75"/>
                  </a:lnTo>
                  <a:lnTo>
                    <a:pt x="54" y="86"/>
                  </a:lnTo>
                  <a:lnTo>
                    <a:pt x="49" y="96"/>
                  </a:lnTo>
                  <a:lnTo>
                    <a:pt x="42" y="106"/>
                  </a:lnTo>
                  <a:lnTo>
                    <a:pt x="37" y="118"/>
                  </a:lnTo>
                  <a:lnTo>
                    <a:pt x="32" y="129"/>
                  </a:lnTo>
                  <a:lnTo>
                    <a:pt x="27" y="140"/>
                  </a:lnTo>
                  <a:lnTo>
                    <a:pt x="23" y="152"/>
                  </a:lnTo>
                  <a:lnTo>
                    <a:pt x="18" y="165"/>
                  </a:lnTo>
                  <a:lnTo>
                    <a:pt x="14" y="177"/>
                  </a:lnTo>
                  <a:lnTo>
                    <a:pt x="12" y="190"/>
                  </a:lnTo>
                  <a:lnTo>
                    <a:pt x="9" y="204"/>
                  </a:lnTo>
                  <a:lnTo>
                    <a:pt x="7" y="218"/>
                  </a:lnTo>
                  <a:lnTo>
                    <a:pt x="4" y="232"/>
                  </a:lnTo>
                  <a:lnTo>
                    <a:pt x="3" y="246"/>
                  </a:lnTo>
                  <a:lnTo>
                    <a:pt x="2" y="260"/>
                  </a:lnTo>
                  <a:lnTo>
                    <a:pt x="0" y="276"/>
                  </a:lnTo>
                  <a:lnTo>
                    <a:pt x="0" y="291"/>
                  </a:lnTo>
                  <a:lnTo>
                    <a:pt x="0" y="305"/>
                  </a:lnTo>
                  <a:lnTo>
                    <a:pt x="2" y="320"/>
                  </a:lnTo>
                  <a:lnTo>
                    <a:pt x="3" y="334"/>
                  </a:lnTo>
                  <a:lnTo>
                    <a:pt x="4" y="348"/>
                  </a:lnTo>
                  <a:lnTo>
                    <a:pt x="7" y="362"/>
                  </a:lnTo>
                  <a:lnTo>
                    <a:pt x="9" y="376"/>
                  </a:lnTo>
                  <a:lnTo>
                    <a:pt x="12" y="390"/>
                  </a:lnTo>
                  <a:lnTo>
                    <a:pt x="14" y="403"/>
                  </a:lnTo>
                  <a:lnTo>
                    <a:pt x="18" y="416"/>
                  </a:lnTo>
                  <a:lnTo>
                    <a:pt x="23" y="429"/>
                  </a:lnTo>
                  <a:lnTo>
                    <a:pt x="27" y="440"/>
                  </a:lnTo>
                  <a:lnTo>
                    <a:pt x="32" y="453"/>
                  </a:lnTo>
                  <a:lnTo>
                    <a:pt x="37" y="463"/>
                  </a:lnTo>
                  <a:lnTo>
                    <a:pt x="42" y="474"/>
                  </a:lnTo>
                  <a:lnTo>
                    <a:pt x="49" y="485"/>
                  </a:lnTo>
                  <a:lnTo>
                    <a:pt x="54" y="495"/>
                  </a:lnTo>
                  <a:lnTo>
                    <a:pt x="60" y="505"/>
                  </a:lnTo>
                  <a:lnTo>
                    <a:pt x="68" y="514"/>
                  </a:lnTo>
                  <a:lnTo>
                    <a:pt x="74" y="523"/>
                  </a:lnTo>
                  <a:lnTo>
                    <a:pt x="82" y="530"/>
                  </a:lnTo>
                  <a:lnTo>
                    <a:pt x="89" y="538"/>
                  </a:lnTo>
                  <a:lnTo>
                    <a:pt x="97" y="544"/>
                  </a:lnTo>
                  <a:lnTo>
                    <a:pt x="105" y="551"/>
                  </a:lnTo>
                  <a:lnTo>
                    <a:pt x="112" y="557"/>
                  </a:lnTo>
                  <a:lnTo>
                    <a:pt x="121" y="562"/>
                  </a:lnTo>
                  <a:lnTo>
                    <a:pt x="129" y="566"/>
                  </a:lnTo>
                  <a:lnTo>
                    <a:pt x="138" y="570"/>
                  </a:lnTo>
                  <a:lnTo>
                    <a:pt x="147" y="574"/>
                  </a:lnTo>
                  <a:lnTo>
                    <a:pt x="156" y="576"/>
                  </a:lnTo>
                  <a:lnTo>
                    <a:pt x="166" y="578"/>
                  </a:lnTo>
                  <a:lnTo>
                    <a:pt x="175" y="579"/>
                  </a:lnTo>
                  <a:lnTo>
                    <a:pt x="184" y="580"/>
                  </a:lnTo>
                  <a:lnTo>
                    <a:pt x="194" y="579"/>
                  </a:lnTo>
                  <a:lnTo>
                    <a:pt x="203" y="578"/>
                  </a:lnTo>
                  <a:lnTo>
                    <a:pt x="211" y="576"/>
                  </a:lnTo>
                  <a:lnTo>
                    <a:pt x="220" y="574"/>
                  </a:lnTo>
                  <a:lnTo>
                    <a:pt x="229" y="570"/>
                  </a:lnTo>
                  <a:lnTo>
                    <a:pt x="238" y="566"/>
                  </a:lnTo>
                  <a:lnTo>
                    <a:pt x="247" y="562"/>
                  </a:lnTo>
                  <a:lnTo>
                    <a:pt x="255" y="557"/>
                  </a:lnTo>
                  <a:lnTo>
                    <a:pt x="264" y="551"/>
                  </a:lnTo>
                  <a:lnTo>
                    <a:pt x="271" y="544"/>
                  </a:lnTo>
                  <a:lnTo>
                    <a:pt x="279" y="538"/>
                  </a:lnTo>
                  <a:lnTo>
                    <a:pt x="287" y="530"/>
                  </a:lnTo>
                  <a:lnTo>
                    <a:pt x="294" y="523"/>
                  </a:lnTo>
                  <a:lnTo>
                    <a:pt x="301" y="514"/>
                  </a:lnTo>
                  <a:lnTo>
                    <a:pt x="307" y="505"/>
                  </a:lnTo>
                  <a:lnTo>
                    <a:pt x="313" y="495"/>
                  </a:lnTo>
                  <a:lnTo>
                    <a:pt x="320" y="485"/>
                  </a:lnTo>
                  <a:lnTo>
                    <a:pt x="326" y="474"/>
                  </a:lnTo>
                  <a:lnTo>
                    <a:pt x="331" y="463"/>
                  </a:lnTo>
                  <a:lnTo>
                    <a:pt x="336" y="453"/>
                  </a:lnTo>
                  <a:lnTo>
                    <a:pt x="341" y="440"/>
                  </a:lnTo>
                  <a:lnTo>
                    <a:pt x="345" y="429"/>
                  </a:lnTo>
                  <a:lnTo>
                    <a:pt x="349" y="416"/>
                  </a:lnTo>
                  <a:lnTo>
                    <a:pt x="353" y="403"/>
                  </a:lnTo>
                  <a:lnTo>
                    <a:pt x="357" y="390"/>
                  </a:lnTo>
                  <a:lnTo>
                    <a:pt x="359" y="376"/>
                  </a:lnTo>
                  <a:lnTo>
                    <a:pt x="362" y="362"/>
                  </a:lnTo>
                  <a:lnTo>
                    <a:pt x="364" y="348"/>
                  </a:lnTo>
                  <a:lnTo>
                    <a:pt x="365" y="334"/>
                  </a:lnTo>
                  <a:lnTo>
                    <a:pt x="367" y="320"/>
                  </a:lnTo>
                  <a:lnTo>
                    <a:pt x="367" y="305"/>
                  </a:lnTo>
                  <a:lnTo>
                    <a:pt x="367" y="291"/>
                  </a:lnTo>
                  <a:lnTo>
                    <a:pt x="367" y="276"/>
                  </a:lnTo>
                  <a:lnTo>
                    <a:pt x="367" y="260"/>
                  </a:lnTo>
                  <a:lnTo>
                    <a:pt x="365" y="246"/>
                  </a:lnTo>
                  <a:lnTo>
                    <a:pt x="364" y="232"/>
                  </a:lnTo>
                  <a:lnTo>
                    <a:pt x="362" y="218"/>
                  </a:lnTo>
                  <a:lnTo>
                    <a:pt x="359" y="204"/>
                  </a:lnTo>
                  <a:lnTo>
                    <a:pt x="357" y="190"/>
                  </a:lnTo>
                  <a:lnTo>
                    <a:pt x="353" y="177"/>
                  </a:lnTo>
                  <a:lnTo>
                    <a:pt x="349" y="165"/>
                  </a:lnTo>
                  <a:lnTo>
                    <a:pt x="345" y="152"/>
                  </a:lnTo>
                  <a:lnTo>
                    <a:pt x="341" y="140"/>
                  </a:lnTo>
                  <a:lnTo>
                    <a:pt x="336" y="129"/>
                  </a:lnTo>
                  <a:lnTo>
                    <a:pt x="331" y="118"/>
                  </a:lnTo>
                  <a:lnTo>
                    <a:pt x="326" y="106"/>
                  </a:lnTo>
                  <a:lnTo>
                    <a:pt x="320" y="96"/>
                  </a:lnTo>
                  <a:lnTo>
                    <a:pt x="313" y="86"/>
                  </a:lnTo>
                  <a:lnTo>
                    <a:pt x="307" y="75"/>
                  </a:lnTo>
                  <a:lnTo>
                    <a:pt x="301" y="67"/>
                  </a:lnTo>
                  <a:lnTo>
                    <a:pt x="294" y="59"/>
                  </a:lnTo>
                  <a:lnTo>
                    <a:pt x="287" y="50"/>
                  </a:lnTo>
                  <a:lnTo>
                    <a:pt x="279" y="42"/>
                  </a:lnTo>
                  <a:lnTo>
                    <a:pt x="271" y="36"/>
                  </a:lnTo>
                  <a:lnTo>
                    <a:pt x="264" y="30"/>
                  </a:lnTo>
                  <a:lnTo>
                    <a:pt x="255" y="23"/>
                  </a:lnTo>
                  <a:lnTo>
                    <a:pt x="247" y="18"/>
                  </a:lnTo>
                  <a:lnTo>
                    <a:pt x="238" y="14"/>
                  </a:lnTo>
                  <a:lnTo>
                    <a:pt x="229" y="10"/>
                  </a:lnTo>
                  <a:lnTo>
                    <a:pt x="220" y="7"/>
                  </a:lnTo>
                  <a:lnTo>
                    <a:pt x="211" y="4"/>
                  </a:lnTo>
                  <a:lnTo>
                    <a:pt x="203" y="3"/>
                  </a:lnTo>
                  <a:lnTo>
                    <a:pt x="194" y="2"/>
                  </a:lnTo>
                  <a:lnTo>
                    <a:pt x="184" y="0"/>
                  </a:lnTo>
                </a:path>
              </a:pathLst>
            </a:custGeom>
            <a:solidFill>
              <a:srgbClr val="0099FF"/>
            </a:solidFill>
            <a:ln w="50800">
              <a:solidFill>
                <a:srgbClr val="4F8AFF"/>
              </a:solidFill>
              <a:round/>
            </a:ln>
          </p:spPr>
          <p:txBody>
            <a:bodyPr/>
            <a:lstStyle/>
            <a:p>
              <a:endParaRPr lang="zh-CN" altLang="en-US"/>
            </a:p>
          </p:txBody>
        </p:sp>
        <p:sp>
          <p:nvSpPr>
            <p:cNvPr id="57" name="Rectangle 51"/>
            <p:cNvSpPr>
              <a:spLocks noChangeArrowheads="1"/>
            </p:cNvSpPr>
            <p:nvPr/>
          </p:nvSpPr>
          <p:spPr bwMode="auto">
            <a:xfrm>
              <a:off x="2951"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8" name="Rectangle 52"/>
            <p:cNvSpPr>
              <a:spLocks noChangeArrowheads="1"/>
            </p:cNvSpPr>
            <p:nvPr/>
          </p:nvSpPr>
          <p:spPr bwMode="auto">
            <a:xfrm>
              <a:off x="2997"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59" name="Rectangle 53"/>
            <p:cNvSpPr>
              <a:spLocks noChangeArrowheads="1"/>
            </p:cNvSpPr>
            <p:nvPr/>
          </p:nvSpPr>
          <p:spPr bwMode="auto">
            <a:xfrm>
              <a:off x="3064" y="3401"/>
              <a:ext cx="34"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0" name="Freeform 54"/>
            <p:cNvSpPr/>
            <p:nvPr/>
          </p:nvSpPr>
          <p:spPr bwMode="auto">
            <a:xfrm>
              <a:off x="3173" y="3128"/>
              <a:ext cx="366" cy="580"/>
            </a:xfrm>
            <a:custGeom>
              <a:avLst/>
              <a:gdLst>
                <a:gd name="T0" fmla="*/ 164 w 366"/>
                <a:gd name="T1" fmla="*/ 3 h 580"/>
                <a:gd name="T2" fmla="*/ 137 w 366"/>
                <a:gd name="T3" fmla="*/ 10 h 580"/>
                <a:gd name="T4" fmla="*/ 112 w 366"/>
                <a:gd name="T5" fmla="*/ 23 h 580"/>
                <a:gd name="T6" fmla="*/ 87 w 366"/>
                <a:gd name="T7" fmla="*/ 42 h 580"/>
                <a:gd name="T8" fmla="*/ 66 w 366"/>
                <a:gd name="T9" fmla="*/ 67 h 580"/>
                <a:gd name="T10" fmla="*/ 47 w 366"/>
                <a:gd name="T11" fmla="*/ 96 h 580"/>
                <a:gd name="T12" fmla="*/ 30 w 366"/>
                <a:gd name="T13" fmla="*/ 129 h 580"/>
                <a:gd name="T14" fmla="*/ 17 w 366"/>
                <a:gd name="T15" fmla="*/ 165 h 580"/>
                <a:gd name="T16" fmla="*/ 7 w 366"/>
                <a:gd name="T17" fmla="*/ 204 h 580"/>
                <a:gd name="T18" fmla="*/ 1 w 366"/>
                <a:gd name="T19" fmla="*/ 246 h 580"/>
                <a:gd name="T20" fmla="*/ 0 w 366"/>
                <a:gd name="T21" fmla="*/ 291 h 580"/>
                <a:gd name="T22" fmla="*/ 1 w 366"/>
                <a:gd name="T23" fmla="*/ 334 h 580"/>
                <a:gd name="T24" fmla="*/ 7 w 366"/>
                <a:gd name="T25" fmla="*/ 376 h 580"/>
                <a:gd name="T26" fmla="*/ 17 w 366"/>
                <a:gd name="T27" fmla="*/ 416 h 580"/>
                <a:gd name="T28" fmla="*/ 30 w 366"/>
                <a:gd name="T29" fmla="*/ 453 h 580"/>
                <a:gd name="T30" fmla="*/ 47 w 366"/>
                <a:gd name="T31" fmla="*/ 485 h 580"/>
                <a:gd name="T32" fmla="*/ 66 w 366"/>
                <a:gd name="T33" fmla="*/ 514 h 580"/>
                <a:gd name="T34" fmla="*/ 87 w 366"/>
                <a:gd name="T35" fmla="*/ 538 h 580"/>
                <a:gd name="T36" fmla="*/ 112 w 366"/>
                <a:gd name="T37" fmla="*/ 557 h 580"/>
                <a:gd name="T38" fmla="*/ 137 w 366"/>
                <a:gd name="T39" fmla="*/ 570 h 580"/>
                <a:gd name="T40" fmla="*/ 164 w 366"/>
                <a:gd name="T41" fmla="*/ 578 h 580"/>
                <a:gd name="T42" fmla="*/ 192 w 366"/>
                <a:gd name="T43" fmla="*/ 579 h 580"/>
                <a:gd name="T44" fmla="*/ 220 w 366"/>
                <a:gd name="T45" fmla="*/ 574 h 580"/>
                <a:gd name="T46" fmla="*/ 246 w 366"/>
                <a:gd name="T47" fmla="*/ 562 h 580"/>
                <a:gd name="T48" fmla="*/ 271 w 366"/>
                <a:gd name="T49" fmla="*/ 544 h 580"/>
                <a:gd name="T50" fmla="*/ 292 w 366"/>
                <a:gd name="T51" fmla="*/ 523 h 580"/>
                <a:gd name="T52" fmla="*/ 313 w 366"/>
                <a:gd name="T53" fmla="*/ 495 h 580"/>
                <a:gd name="T54" fmla="*/ 330 w 366"/>
                <a:gd name="T55" fmla="*/ 463 h 580"/>
                <a:gd name="T56" fmla="*/ 344 w 366"/>
                <a:gd name="T57" fmla="*/ 429 h 580"/>
                <a:gd name="T58" fmla="*/ 355 w 366"/>
                <a:gd name="T59" fmla="*/ 390 h 580"/>
                <a:gd name="T60" fmla="*/ 362 w 366"/>
                <a:gd name="T61" fmla="*/ 348 h 580"/>
                <a:gd name="T62" fmla="*/ 366 w 366"/>
                <a:gd name="T63" fmla="*/ 305 h 580"/>
                <a:gd name="T64" fmla="*/ 365 w 366"/>
                <a:gd name="T65" fmla="*/ 260 h 580"/>
                <a:gd name="T66" fmla="*/ 361 w 366"/>
                <a:gd name="T67" fmla="*/ 218 h 580"/>
                <a:gd name="T68" fmla="*/ 352 w 366"/>
                <a:gd name="T69" fmla="*/ 177 h 580"/>
                <a:gd name="T70" fmla="*/ 339 w 366"/>
                <a:gd name="T71" fmla="*/ 140 h 580"/>
                <a:gd name="T72" fmla="*/ 324 w 366"/>
                <a:gd name="T73" fmla="*/ 106 h 580"/>
                <a:gd name="T74" fmla="*/ 306 w 366"/>
                <a:gd name="T75" fmla="*/ 75 h 580"/>
                <a:gd name="T76" fmla="*/ 286 w 366"/>
                <a:gd name="T77" fmla="*/ 50 h 580"/>
                <a:gd name="T78" fmla="*/ 262 w 366"/>
                <a:gd name="T79" fmla="*/ 30 h 580"/>
                <a:gd name="T80" fmla="*/ 238 w 366"/>
                <a:gd name="T81" fmla="*/ 14 h 580"/>
                <a:gd name="T82" fmla="*/ 211 w 366"/>
                <a:gd name="T83" fmla="*/ 4 h 580"/>
                <a:gd name="T84" fmla="*/ 183 w 366"/>
                <a:gd name="T85" fmla="*/ 0 h 5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6"/>
                <a:gd name="T130" fmla="*/ 0 h 580"/>
                <a:gd name="T131" fmla="*/ 366 w 366"/>
                <a:gd name="T132" fmla="*/ 580 h 58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6" h="580">
                  <a:moveTo>
                    <a:pt x="183" y="0"/>
                  </a:moveTo>
                  <a:lnTo>
                    <a:pt x="174" y="2"/>
                  </a:lnTo>
                  <a:lnTo>
                    <a:pt x="164" y="3"/>
                  </a:lnTo>
                  <a:lnTo>
                    <a:pt x="155" y="4"/>
                  </a:lnTo>
                  <a:lnTo>
                    <a:pt x="146" y="7"/>
                  </a:lnTo>
                  <a:lnTo>
                    <a:pt x="137" y="10"/>
                  </a:lnTo>
                  <a:lnTo>
                    <a:pt x="128" y="14"/>
                  </a:lnTo>
                  <a:lnTo>
                    <a:pt x="119" y="18"/>
                  </a:lnTo>
                  <a:lnTo>
                    <a:pt x="112" y="23"/>
                  </a:lnTo>
                  <a:lnTo>
                    <a:pt x="103" y="30"/>
                  </a:lnTo>
                  <a:lnTo>
                    <a:pt x="95" y="36"/>
                  </a:lnTo>
                  <a:lnTo>
                    <a:pt x="87" y="42"/>
                  </a:lnTo>
                  <a:lnTo>
                    <a:pt x="80" y="50"/>
                  </a:lnTo>
                  <a:lnTo>
                    <a:pt x="73" y="59"/>
                  </a:lnTo>
                  <a:lnTo>
                    <a:pt x="66" y="67"/>
                  </a:lnTo>
                  <a:lnTo>
                    <a:pt x="59" y="75"/>
                  </a:lnTo>
                  <a:lnTo>
                    <a:pt x="53" y="86"/>
                  </a:lnTo>
                  <a:lnTo>
                    <a:pt x="47" y="96"/>
                  </a:lnTo>
                  <a:lnTo>
                    <a:pt x="42" y="106"/>
                  </a:lnTo>
                  <a:lnTo>
                    <a:pt x="35" y="118"/>
                  </a:lnTo>
                  <a:lnTo>
                    <a:pt x="30" y="129"/>
                  </a:lnTo>
                  <a:lnTo>
                    <a:pt x="26" y="140"/>
                  </a:lnTo>
                  <a:lnTo>
                    <a:pt x="21" y="152"/>
                  </a:lnTo>
                  <a:lnTo>
                    <a:pt x="17" y="165"/>
                  </a:lnTo>
                  <a:lnTo>
                    <a:pt x="14" y="177"/>
                  </a:lnTo>
                  <a:lnTo>
                    <a:pt x="11" y="190"/>
                  </a:lnTo>
                  <a:lnTo>
                    <a:pt x="7" y="204"/>
                  </a:lnTo>
                  <a:lnTo>
                    <a:pt x="5" y="218"/>
                  </a:lnTo>
                  <a:lnTo>
                    <a:pt x="3" y="232"/>
                  </a:lnTo>
                  <a:lnTo>
                    <a:pt x="1" y="246"/>
                  </a:lnTo>
                  <a:lnTo>
                    <a:pt x="1" y="260"/>
                  </a:lnTo>
                  <a:lnTo>
                    <a:pt x="0" y="276"/>
                  </a:lnTo>
                  <a:lnTo>
                    <a:pt x="0" y="291"/>
                  </a:lnTo>
                  <a:lnTo>
                    <a:pt x="0" y="305"/>
                  </a:lnTo>
                  <a:lnTo>
                    <a:pt x="1" y="320"/>
                  </a:lnTo>
                  <a:lnTo>
                    <a:pt x="1" y="334"/>
                  </a:lnTo>
                  <a:lnTo>
                    <a:pt x="3" y="348"/>
                  </a:lnTo>
                  <a:lnTo>
                    <a:pt x="5" y="362"/>
                  </a:lnTo>
                  <a:lnTo>
                    <a:pt x="7" y="376"/>
                  </a:lnTo>
                  <a:lnTo>
                    <a:pt x="11" y="390"/>
                  </a:lnTo>
                  <a:lnTo>
                    <a:pt x="14" y="403"/>
                  </a:lnTo>
                  <a:lnTo>
                    <a:pt x="17" y="416"/>
                  </a:lnTo>
                  <a:lnTo>
                    <a:pt x="21" y="429"/>
                  </a:lnTo>
                  <a:lnTo>
                    <a:pt x="26" y="440"/>
                  </a:lnTo>
                  <a:lnTo>
                    <a:pt x="30" y="453"/>
                  </a:lnTo>
                  <a:lnTo>
                    <a:pt x="35" y="463"/>
                  </a:lnTo>
                  <a:lnTo>
                    <a:pt x="42" y="474"/>
                  </a:lnTo>
                  <a:lnTo>
                    <a:pt x="47" y="485"/>
                  </a:lnTo>
                  <a:lnTo>
                    <a:pt x="53" y="495"/>
                  </a:lnTo>
                  <a:lnTo>
                    <a:pt x="59" y="505"/>
                  </a:lnTo>
                  <a:lnTo>
                    <a:pt x="66" y="514"/>
                  </a:lnTo>
                  <a:lnTo>
                    <a:pt x="73" y="523"/>
                  </a:lnTo>
                  <a:lnTo>
                    <a:pt x="80" y="530"/>
                  </a:lnTo>
                  <a:lnTo>
                    <a:pt x="87" y="538"/>
                  </a:lnTo>
                  <a:lnTo>
                    <a:pt x="95" y="544"/>
                  </a:lnTo>
                  <a:lnTo>
                    <a:pt x="103" y="551"/>
                  </a:lnTo>
                  <a:lnTo>
                    <a:pt x="112" y="557"/>
                  </a:lnTo>
                  <a:lnTo>
                    <a:pt x="119" y="562"/>
                  </a:lnTo>
                  <a:lnTo>
                    <a:pt x="128" y="566"/>
                  </a:lnTo>
                  <a:lnTo>
                    <a:pt x="137" y="570"/>
                  </a:lnTo>
                  <a:lnTo>
                    <a:pt x="146" y="574"/>
                  </a:lnTo>
                  <a:lnTo>
                    <a:pt x="155" y="576"/>
                  </a:lnTo>
                  <a:lnTo>
                    <a:pt x="164" y="578"/>
                  </a:lnTo>
                  <a:lnTo>
                    <a:pt x="174" y="579"/>
                  </a:lnTo>
                  <a:lnTo>
                    <a:pt x="183" y="580"/>
                  </a:lnTo>
                  <a:lnTo>
                    <a:pt x="192" y="579"/>
                  </a:lnTo>
                  <a:lnTo>
                    <a:pt x="202" y="578"/>
                  </a:lnTo>
                  <a:lnTo>
                    <a:pt x="211" y="576"/>
                  </a:lnTo>
                  <a:lnTo>
                    <a:pt x="220" y="574"/>
                  </a:lnTo>
                  <a:lnTo>
                    <a:pt x="229" y="570"/>
                  </a:lnTo>
                  <a:lnTo>
                    <a:pt x="238" y="566"/>
                  </a:lnTo>
                  <a:lnTo>
                    <a:pt x="246" y="562"/>
                  </a:lnTo>
                  <a:lnTo>
                    <a:pt x="254" y="557"/>
                  </a:lnTo>
                  <a:lnTo>
                    <a:pt x="262" y="551"/>
                  </a:lnTo>
                  <a:lnTo>
                    <a:pt x="271" y="544"/>
                  </a:lnTo>
                  <a:lnTo>
                    <a:pt x="278" y="538"/>
                  </a:lnTo>
                  <a:lnTo>
                    <a:pt x="286" y="530"/>
                  </a:lnTo>
                  <a:lnTo>
                    <a:pt x="292" y="523"/>
                  </a:lnTo>
                  <a:lnTo>
                    <a:pt x="300" y="514"/>
                  </a:lnTo>
                  <a:lnTo>
                    <a:pt x="306" y="505"/>
                  </a:lnTo>
                  <a:lnTo>
                    <a:pt x="313" y="495"/>
                  </a:lnTo>
                  <a:lnTo>
                    <a:pt x="319" y="485"/>
                  </a:lnTo>
                  <a:lnTo>
                    <a:pt x="324" y="474"/>
                  </a:lnTo>
                  <a:lnTo>
                    <a:pt x="330" y="463"/>
                  </a:lnTo>
                  <a:lnTo>
                    <a:pt x="336" y="453"/>
                  </a:lnTo>
                  <a:lnTo>
                    <a:pt x="339" y="440"/>
                  </a:lnTo>
                  <a:lnTo>
                    <a:pt x="344" y="429"/>
                  </a:lnTo>
                  <a:lnTo>
                    <a:pt x="348" y="416"/>
                  </a:lnTo>
                  <a:lnTo>
                    <a:pt x="352" y="403"/>
                  </a:lnTo>
                  <a:lnTo>
                    <a:pt x="355" y="390"/>
                  </a:lnTo>
                  <a:lnTo>
                    <a:pt x="358" y="376"/>
                  </a:lnTo>
                  <a:lnTo>
                    <a:pt x="361" y="362"/>
                  </a:lnTo>
                  <a:lnTo>
                    <a:pt x="362" y="348"/>
                  </a:lnTo>
                  <a:lnTo>
                    <a:pt x="364" y="334"/>
                  </a:lnTo>
                  <a:lnTo>
                    <a:pt x="365" y="320"/>
                  </a:lnTo>
                  <a:lnTo>
                    <a:pt x="366" y="305"/>
                  </a:lnTo>
                  <a:lnTo>
                    <a:pt x="366" y="291"/>
                  </a:lnTo>
                  <a:lnTo>
                    <a:pt x="366" y="276"/>
                  </a:lnTo>
                  <a:lnTo>
                    <a:pt x="365" y="260"/>
                  </a:lnTo>
                  <a:lnTo>
                    <a:pt x="364" y="246"/>
                  </a:lnTo>
                  <a:lnTo>
                    <a:pt x="362" y="232"/>
                  </a:lnTo>
                  <a:lnTo>
                    <a:pt x="361" y="218"/>
                  </a:lnTo>
                  <a:lnTo>
                    <a:pt x="358" y="204"/>
                  </a:lnTo>
                  <a:lnTo>
                    <a:pt x="355" y="190"/>
                  </a:lnTo>
                  <a:lnTo>
                    <a:pt x="352" y="177"/>
                  </a:lnTo>
                  <a:lnTo>
                    <a:pt x="348" y="165"/>
                  </a:lnTo>
                  <a:lnTo>
                    <a:pt x="344" y="152"/>
                  </a:lnTo>
                  <a:lnTo>
                    <a:pt x="339" y="140"/>
                  </a:lnTo>
                  <a:lnTo>
                    <a:pt x="336" y="129"/>
                  </a:lnTo>
                  <a:lnTo>
                    <a:pt x="330" y="118"/>
                  </a:lnTo>
                  <a:lnTo>
                    <a:pt x="324" y="106"/>
                  </a:lnTo>
                  <a:lnTo>
                    <a:pt x="319" y="96"/>
                  </a:lnTo>
                  <a:lnTo>
                    <a:pt x="313" y="86"/>
                  </a:lnTo>
                  <a:lnTo>
                    <a:pt x="306" y="75"/>
                  </a:lnTo>
                  <a:lnTo>
                    <a:pt x="300" y="67"/>
                  </a:lnTo>
                  <a:lnTo>
                    <a:pt x="292" y="59"/>
                  </a:lnTo>
                  <a:lnTo>
                    <a:pt x="286" y="50"/>
                  </a:lnTo>
                  <a:lnTo>
                    <a:pt x="278" y="42"/>
                  </a:lnTo>
                  <a:lnTo>
                    <a:pt x="271" y="36"/>
                  </a:lnTo>
                  <a:lnTo>
                    <a:pt x="262" y="30"/>
                  </a:lnTo>
                  <a:lnTo>
                    <a:pt x="254" y="23"/>
                  </a:lnTo>
                  <a:lnTo>
                    <a:pt x="246" y="18"/>
                  </a:lnTo>
                  <a:lnTo>
                    <a:pt x="238" y="14"/>
                  </a:lnTo>
                  <a:lnTo>
                    <a:pt x="229" y="10"/>
                  </a:lnTo>
                  <a:lnTo>
                    <a:pt x="220" y="7"/>
                  </a:lnTo>
                  <a:lnTo>
                    <a:pt x="211" y="4"/>
                  </a:lnTo>
                  <a:lnTo>
                    <a:pt x="202" y="3"/>
                  </a:lnTo>
                  <a:lnTo>
                    <a:pt x="192" y="2"/>
                  </a:lnTo>
                  <a:lnTo>
                    <a:pt x="183" y="0"/>
                  </a:lnTo>
                </a:path>
              </a:pathLst>
            </a:custGeom>
            <a:solidFill>
              <a:srgbClr val="FF4F4F"/>
            </a:solidFill>
            <a:ln w="50800">
              <a:solidFill>
                <a:srgbClr val="FF4F4F"/>
              </a:solidFill>
              <a:round/>
            </a:ln>
          </p:spPr>
          <p:txBody>
            <a:bodyPr/>
            <a:lstStyle/>
            <a:p>
              <a:endParaRPr lang="zh-CN" altLang="en-US"/>
            </a:p>
          </p:txBody>
        </p:sp>
        <p:sp>
          <p:nvSpPr>
            <p:cNvPr id="61" name="Rectangle 55"/>
            <p:cNvSpPr>
              <a:spLocks noChangeArrowheads="1"/>
            </p:cNvSpPr>
            <p:nvPr/>
          </p:nvSpPr>
          <p:spPr bwMode="auto">
            <a:xfrm>
              <a:off x="3335"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 name="Rectangle 56"/>
            <p:cNvSpPr>
              <a:spLocks noChangeArrowheads="1"/>
            </p:cNvSpPr>
            <p:nvPr/>
          </p:nvSpPr>
          <p:spPr bwMode="auto">
            <a:xfrm>
              <a:off x="3382"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3" name="Rectangle 57"/>
            <p:cNvSpPr>
              <a:spLocks noChangeArrowheads="1"/>
            </p:cNvSpPr>
            <p:nvPr/>
          </p:nvSpPr>
          <p:spPr bwMode="auto">
            <a:xfrm>
              <a:off x="3448" y="3401"/>
              <a:ext cx="34"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4" name="Freeform 58"/>
            <p:cNvSpPr/>
            <p:nvPr/>
          </p:nvSpPr>
          <p:spPr bwMode="auto">
            <a:xfrm>
              <a:off x="3559" y="3128"/>
              <a:ext cx="368" cy="580"/>
            </a:xfrm>
            <a:custGeom>
              <a:avLst/>
              <a:gdLst>
                <a:gd name="T0" fmla="*/ 166 w 368"/>
                <a:gd name="T1" fmla="*/ 3 h 580"/>
                <a:gd name="T2" fmla="*/ 138 w 368"/>
                <a:gd name="T3" fmla="*/ 10 h 580"/>
                <a:gd name="T4" fmla="*/ 112 w 368"/>
                <a:gd name="T5" fmla="*/ 23 h 580"/>
                <a:gd name="T6" fmla="*/ 90 w 368"/>
                <a:gd name="T7" fmla="*/ 42 h 580"/>
                <a:gd name="T8" fmla="*/ 68 w 368"/>
                <a:gd name="T9" fmla="*/ 67 h 580"/>
                <a:gd name="T10" fmla="*/ 49 w 368"/>
                <a:gd name="T11" fmla="*/ 96 h 580"/>
                <a:gd name="T12" fmla="*/ 32 w 368"/>
                <a:gd name="T13" fmla="*/ 129 h 580"/>
                <a:gd name="T14" fmla="*/ 20 w 368"/>
                <a:gd name="T15" fmla="*/ 165 h 580"/>
                <a:gd name="T16" fmla="*/ 9 w 368"/>
                <a:gd name="T17" fmla="*/ 204 h 580"/>
                <a:gd name="T18" fmla="*/ 3 w 368"/>
                <a:gd name="T19" fmla="*/ 246 h 580"/>
                <a:gd name="T20" fmla="*/ 0 w 368"/>
                <a:gd name="T21" fmla="*/ 291 h 580"/>
                <a:gd name="T22" fmla="*/ 3 w 368"/>
                <a:gd name="T23" fmla="*/ 334 h 580"/>
                <a:gd name="T24" fmla="*/ 9 w 368"/>
                <a:gd name="T25" fmla="*/ 376 h 580"/>
                <a:gd name="T26" fmla="*/ 20 w 368"/>
                <a:gd name="T27" fmla="*/ 416 h 580"/>
                <a:gd name="T28" fmla="*/ 32 w 368"/>
                <a:gd name="T29" fmla="*/ 453 h 580"/>
                <a:gd name="T30" fmla="*/ 49 w 368"/>
                <a:gd name="T31" fmla="*/ 485 h 580"/>
                <a:gd name="T32" fmla="*/ 68 w 368"/>
                <a:gd name="T33" fmla="*/ 514 h 580"/>
                <a:gd name="T34" fmla="*/ 90 w 368"/>
                <a:gd name="T35" fmla="*/ 538 h 580"/>
                <a:gd name="T36" fmla="*/ 112 w 368"/>
                <a:gd name="T37" fmla="*/ 557 h 580"/>
                <a:gd name="T38" fmla="*/ 138 w 368"/>
                <a:gd name="T39" fmla="*/ 570 h 580"/>
                <a:gd name="T40" fmla="*/ 166 w 368"/>
                <a:gd name="T41" fmla="*/ 578 h 580"/>
                <a:gd name="T42" fmla="*/ 194 w 368"/>
                <a:gd name="T43" fmla="*/ 579 h 580"/>
                <a:gd name="T44" fmla="*/ 222 w 368"/>
                <a:gd name="T45" fmla="*/ 574 h 580"/>
                <a:gd name="T46" fmla="*/ 247 w 368"/>
                <a:gd name="T47" fmla="*/ 562 h 580"/>
                <a:gd name="T48" fmla="*/ 272 w 368"/>
                <a:gd name="T49" fmla="*/ 544 h 580"/>
                <a:gd name="T50" fmla="*/ 294 w 368"/>
                <a:gd name="T51" fmla="*/ 523 h 580"/>
                <a:gd name="T52" fmla="*/ 314 w 368"/>
                <a:gd name="T53" fmla="*/ 495 h 580"/>
                <a:gd name="T54" fmla="*/ 331 w 368"/>
                <a:gd name="T55" fmla="*/ 463 h 580"/>
                <a:gd name="T56" fmla="*/ 345 w 368"/>
                <a:gd name="T57" fmla="*/ 429 h 580"/>
                <a:gd name="T58" fmla="*/ 357 w 368"/>
                <a:gd name="T59" fmla="*/ 390 h 580"/>
                <a:gd name="T60" fmla="*/ 364 w 368"/>
                <a:gd name="T61" fmla="*/ 348 h 580"/>
                <a:gd name="T62" fmla="*/ 368 w 368"/>
                <a:gd name="T63" fmla="*/ 305 h 580"/>
                <a:gd name="T64" fmla="*/ 367 w 368"/>
                <a:gd name="T65" fmla="*/ 260 h 580"/>
                <a:gd name="T66" fmla="*/ 362 w 368"/>
                <a:gd name="T67" fmla="*/ 218 h 580"/>
                <a:gd name="T68" fmla="*/ 353 w 368"/>
                <a:gd name="T69" fmla="*/ 177 h 580"/>
                <a:gd name="T70" fmla="*/ 342 w 368"/>
                <a:gd name="T71" fmla="*/ 140 h 580"/>
                <a:gd name="T72" fmla="*/ 326 w 368"/>
                <a:gd name="T73" fmla="*/ 106 h 580"/>
                <a:gd name="T74" fmla="*/ 307 w 368"/>
                <a:gd name="T75" fmla="*/ 75 h 580"/>
                <a:gd name="T76" fmla="*/ 287 w 368"/>
                <a:gd name="T77" fmla="*/ 50 h 580"/>
                <a:gd name="T78" fmla="*/ 264 w 368"/>
                <a:gd name="T79" fmla="*/ 30 h 580"/>
                <a:gd name="T80" fmla="*/ 238 w 368"/>
                <a:gd name="T81" fmla="*/ 14 h 580"/>
                <a:gd name="T82" fmla="*/ 212 w 368"/>
                <a:gd name="T83" fmla="*/ 4 h 580"/>
                <a:gd name="T84" fmla="*/ 185 w 368"/>
                <a:gd name="T85" fmla="*/ 0 h 5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8"/>
                <a:gd name="T130" fmla="*/ 0 h 580"/>
                <a:gd name="T131" fmla="*/ 368 w 368"/>
                <a:gd name="T132" fmla="*/ 580 h 58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8" h="580">
                  <a:moveTo>
                    <a:pt x="185" y="0"/>
                  </a:moveTo>
                  <a:lnTo>
                    <a:pt x="175" y="2"/>
                  </a:lnTo>
                  <a:lnTo>
                    <a:pt x="166" y="3"/>
                  </a:lnTo>
                  <a:lnTo>
                    <a:pt x="157" y="4"/>
                  </a:lnTo>
                  <a:lnTo>
                    <a:pt x="147" y="7"/>
                  </a:lnTo>
                  <a:lnTo>
                    <a:pt x="138" y="10"/>
                  </a:lnTo>
                  <a:lnTo>
                    <a:pt x="130" y="14"/>
                  </a:lnTo>
                  <a:lnTo>
                    <a:pt x="121" y="18"/>
                  </a:lnTo>
                  <a:lnTo>
                    <a:pt x="112" y="23"/>
                  </a:lnTo>
                  <a:lnTo>
                    <a:pt x="105" y="30"/>
                  </a:lnTo>
                  <a:lnTo>
                    <a:pt x="97" y="36"/>
                  </a:lnTo>
                  <a:lnTo>
                    <a:pt x="90" y="42"/>
                  </a:lnTo>
                  <a:lnTo>
                    <a:pt x="82" y="50"/>
                  </a:lnTo>
                  <a:lnTo>
                    <a:pt x="74" y="59"/>
                  </a:lnTo>
                  <a:lnTo>
                    <a:pt x="68" y="67"/>
                  </a:lnTo>
                  <a:lnTo>
                    <a:pt x="62" y="75"/>
                  </a:lnTo>
                  <a:lnTo>
                    <a:pt x="55" y="86"/>
                  </a:lnTo>
                  <a:lnTo>
                    <a:pt x="49" y="96"/>
                  </a:lnTo>
                  <a:lnTo>
                    <a:pt x="42" y="106"/>
                  </a:lnTo>
                  <a:lnTo>
                    <a:pt x="37" y="118"/>
                  </a:lnTo>
                  <a:lnTo>
                    <a:pt x="32" y="129"/>
                  </a:lnTo>
                  <a:lnTo>
                    <a:pt x="27" y="140"/>
                  </a:lnTo>
                  <a:lnTo>
                    <a:pt x="23" y="152"/>
                  </a:lnTo>
                  <a:lnTo>
                    <a:pt x="20" y="165"/>
                  </a:lnTo>
                  <a:lnTo>
                    <a:pt x="16" y="177"/>
                  </a:lnTo>
                  <a:lnTo>
                    <a:pt x="12" y="190"/>
                  </a:lnTo>
                  <a:lnTo>
                    <a:pt x="9" y="204"/>
                  </a:lnTo>
                  <a:lnTo>
                    <a:pt x="7" y="218"/>
                  </a:lnTo>
                  <a:lnTo>
                    <a:pt x="4" y="232"/>
                  </a:lnTo>
                  <a:lnTo>
                    <a:pt x="3" y="246"/>
                  </a:lnTo>
                  <a:lnTo>
                    <a:pt x="2" y="260"/>
                  </a:lnTo>
                  <a:lnTo>
                    <a:pt x="2" y="276"/>
                  </a:lnTo>
                  <a:lnTo>
                    <a:pt x="0" y="291"/>
                  </a:lnTo>
                  <a:lnTo>
                    <a:pt x="2" y="305"/>
                  </a:lnTo>
                  <a:lnTo>
                    <a:pt x="2" y="320"/>
                  </a:lnTo>
                  <a:lnTo>
                    <a:pt x="3" y="334"/>
                  </a:lnTo>
                  <a:lnTo>
                    <a:pt x="4" y="348"/>
                  </a:lnTo>
                  <a:lnTo>
                    <a:pt x="7" y="362"/>
                  </a:lnTo>
                  <a:lnTo>
                    <a:pt x="9" y="376"/>
                  </a:lnTo>
                  <a:lnTo>
                    <a:pt x="12" y="390"/>
                  </a:lnTo>
                  <a:lnTo>
                    <a:pt x="16" y="403"/>
                  </a:lnTo>
                  <a:lnTo>
                    <a:pt x="20" y="416"/>
                  </a:lnTo>
                  <a:lnTo>
                    <a:pt x="23" y="429"/>
                  </a:lnTo>
                  <a:lnTo>
                    <a:pt x="27" y="440"/>
                  </a:lnTo>
                  <a:lnTo>
                    <a:pt x="32" y="453"/>
                  </a:lnTo>
                  <a:lnTo>
                    <a:pt x="37" y="463"/>
                  </a:lnTo>
                  <a:lnTo>
                    <a:pt x="42" y="474"/>
                  </a:lnTo>
                  <a:lnTo>
                    <a:pt x="49" y="485"/>
                  </a:lnTo>
                  <a:lnTo>
                    <a:pt x="55" y="495"/>
                  </a:lnTo>
                  <a:lnTo>
                    <a:pt x="62" y="505"/>
                  </a:lnTo>
                  <a:lnTo>
                    <a:pt x="68" y="514"/>
                  </a:lnTo>
                  <a:lnTo>
                    <a:pt x="74" y="523"/>
                  </a:lnTo>
                  <a:lnTo>
                    <a:pt x="82" y="530"/>
                  </a:lnTo>
                  <a:lnTo>
                    <a:pt x="90" y="538"/>
                  </a:lnTo>
                  <a:lnTo>
                    <a:pt x="97" y="544"/>
                  </a:lnTo>
                  <a:lnTo>
                    <a:pt x="105" y="551"/>
                  </a:lnTo>
                  <a:lnTo>
                    <a:pt x="112" y="557"/>
                  </a:lnTo>
                  <a:lnTo>
                    <a:pt x="121" y="562"/>
                  </a:lnTo>
                  <a:lnTo>
                    <a:pt x="130" y="566"/>
                  </a:lnTo>
                  <a:lnTo>
                    <a:pt x="138" y="570"/>
                  </a:lnTo>
                  <a:lnTo>
                    <a:pt x="147" y="574"/>
                  </a:lnTo>
                  <a:lnTo>
                    <a:pt x="157" y="576"/>
                  </a:lnTo>
                  <a:lnTo>
                    <a:pt x="166" y="578"/>
                  </a:lnTo>
                  <a:lnTo>
                    <a:pt x="175" y="579"/>
                  </a:lnTo>
                  <a:lnTo>
                    <a:pt x="185" y="580"/>
                  </a:lnTo>
                  <a:lnTo>
                    <a:pt x="194" y="579"/>
                  </a:lnTo>
                  <a:lnTo>
                    <a:pt x="203" y="578"/>
                  </a:lnTo>
                  <a:lnTo>
                    <a:pt x="212" y="576"/>
                  </a:lnTo>
                  <a:lnTo>
                    <a:pt x="222" y="574"/>
                  </a:lnTo>
                  <a:lnTo>
                    <a:pt x="231" y="570"/>
                  </a:lnTo>
                  <a:lnTo>
                    <a:pt x="238" y="566"/>
                  </a:lnTo>
                  <a:lnTo>
                    <a:pt x="247" y="562"/>
                  </a:lnTo>
                  <a:lnTo>
                    <a:pt x="256" y="557"/>
                  </a:lnTo>
                  <a:lnTo>
                    <a:pt x="264" y="551"/>
                  </a:lnTo>
                  <a:lnTo>
                    <a:pt x="272" y="544"/>
                  </a:lnTo>
                  <a:lnTo>
                    <a:pt x="279" y="538"/>
                  </a:lnTo>
                  <a:lnTo>
                    <a:pt x="287" y="530"/>
                  </a:lnTo>
                  <a:lnTo>
                    <a:pt x="294" y="523"/>
                  </a:lnTo>
                  <a:lnTo>
                    <a:pt x="301" y="514"/>
                  </a:lnTo>
                  <a:lnTo>
                    <a:pt x="307" y="505"/>
                  </a:lnTo>
                  <a:lnTo>
                    <a:pt x="314" y="495"/>
                  </a:lnTo>
                  <a:lnTo>
                    <a:pt x="320" y="485"/>
                  </a:lnTo>
                  <a:lnTo>
                    <a:pt x="326" y="474"/>
                  </a:lnTo>
                  <a:lnTo>
                    <a:pt x="331" y="463"/>
                  </a:lnTo>
                  <a:lnTo>
                    <a:pt x="336" y="453"/>
                  </a:lnTo>
                  <a:lnTo>
                    <a:pt x="342" y="440"/>
                  </a:lnTo>
                  <a:lnTo>
                    <a:pt x="345" y="429"/>
                  </a:lnTo>
                  <a:lnTo>
                    <a:pt x="350" y="416"/>
                  </a:lnTo>
                  <a:lnTo>
                    <a:pt x="353" y="403"/>
                  </a:lnTo>
                  <a:lnTo>
                    <a:pt x="357" y="390"/>
                  </a:lnTo>
                  <a:lnTo>
                    <a:pt x="359" y="376"/>
                  </a:lnTo>
                  <a:lnTo>
                    <a:pt x="362" y="362"/>
                  </a:lnTo>
                  <a:lnTo>
                    <a:pt x="364" y="348"/>
                  </a:lnTo>
                  <a:lnTo>
                    <a:pt x="366" y="334"/>
                  </a:lnTo>
                  <a:lnTo>
                    <a:pt x="367" y="320"/>
                  </a:lnTo>
                  <a:lnTo>
                    <a:pt x="368" y="305"/>
                  </a:lnTo>
                  <a:lnTo>
                    <a:pt x="368" y="291"/>
                  </a:lnTo>
                  <a:lnTo>
                    <a:pt x="368" y="276"/>
                  </a:lnTo>
                  <a:lnTo>
                    <a:pt x="367" y="260"/>
                  </a:lnTo>
                  <a:lnTo>
                    <a:pt x="366" y="246"/>
                  </a:lnTo>
                  <a:lnTo>
                    <a:pt x="364" y="232"/>
                  </a:lnTo>
                  <a:lnTo>
                    <a:pt x="362" y="218"/>
                  </a:lnTo>
                  <a:lnTo>
                    <a:pt x="359" y="204"/>
                  </a:lnTo>
                  <a:lnTo>
                    <a:pt x="357" y="190"/>
                  </a:lnTo>
                  <a:lnTo>
                    <a:pt x="353" y="177"/>
                  </a:lnTo>
                  <a:lnTo>
                    <a:pt x="350" y="165"/>
                  </a:lnTo>
                  <a:lnTo>
                    <a:pt x="345" y="152"/>
                  </a:lnTo>
                  <a:lnTo>
                    <a:pt x="342" y="140"/>
                  </a:lnTo>
                  <a:lnTo>
                    <a:pt x="336" y="129"/>
                  </a:lnTo>
                  <a:lnTo>
                    <a:pt x="331" y="118"/>
                  </a:lnTo>
                  <a:lnTo>
                    <a:pt x="326" y="106"/>
                  </a:lnTo>
                  <a:lnTo>
                    <a:pt x="320" y="96"/>
                  </a:lnTo>
                  <a:lnTo>
                    <a:pt x="314" y="86"/>
                  </a:lnTo>
                  <a:lnTo>
                    <a:pt x="307" y="75"/>
                  </a:lnTo>
                  <a:lnTo>
                    <a:pt x="301" y="67"/>
                  </a:lnTo>
                  <a:lnTo>
                    <a:pt x="294" y="59"/>
                  </a:lnTo>
                  <a:lnTo>
                    <a:pt x="287" y="50"/>
                  </a:lnTo>
                  <a:lnTo>
                    <a:pt x="279" y="42"/>
                  </a:lnTo>
                  <a:lnTo>
                    <a:pt x="272" y="36"/>
                  </a:lnTo>
                  <a:lnTo>
                    <a:pt x="264" y="30"/>
                  </a:lnTo>
                  <a:lnTo>
                    <a:pt x="256" y="23"/>
                  </a:lnTo>
                  <a:lnTo>
                    <a:pt x="247" y="18"/>
                  </a:lnTo>
                  <a:lnTo>
                    <a:pt x="238" y="14"/>
                  </a:lnTo>
                  <a:lnTo>
                    <a:pt x="231" y="10"/>
                  </a:lnTo>
                  <a:lnTo>
                    <a:pt x="222" y="7"/>
                  </a:lnTo>
                  <a:lnTo>
                    <a:pt x="212" y="4"/>
                  </a:lnTo>
                  <a:lnTo>
                    <a:pt x="203" y="3"/>
                  </a:lnTo>
                  <a:lnTo>
                    <a:pt x="194" y="2"/>
                  </a:lnTo>
                  <a:lnTo>
                    <a:pt x="185" y="0"/>
                  </a:lnTo>
                </a:path>
              </a:pathLst>
            </a:custGeom>
            <a:solidFill>
              <a:srgbClr val="FF9933"/>
            </a:solidFill>
            <a:ln w="50800">
              <a:solidFill>
                <a:srgbClr val="FF9933"/>
              </a:solidFill>
              <a:round/>
            </a:ln>
          </p:spPr>
          <p:txBody>
            <a:bodyPr/>
            <a:lstStyle/>
            <a:p>
              <a:endParaRPr lang="zh-CN" altLang="en-US"/>
            </a:p>
          </p:txBody>
        </p:sp>
        <p:sp>
          <p:nvSpPr>
            <p:cNvPr id="65" name="Rectangle 59"/>
            <p:cNvSpPr>
              <a:spLocks noChangeArrowheads="1"/>
            </p:cNvSpPr>
            <p:nvPr/>
          </p:nvSpPr>
          <p:spPr bwMode="auto">
            <a:xfrm>
              <a:off x="3722"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dirty="0">
                  <a:solidFill>
                    <a:srgbClr val="000000"/>
                  </a:solidFill>
                  <a:latin typeface="Times New Roman" panose="02020603050405020304" pitchFamily="18" charset="0"/>
                </a:rPr>
                <a:t>f</a:t>
              </a:r>
              <a:endParaRPr lang="en-US" altLang="zh-CN" sz="2400" b="1" dirty="0">
                <a:effectLst>
                  <a:outerShdw blurRad="38100" dist="38100" dir="2700000" algn="tl">
                    <a:srgbClr val="C0C0C0"/>
                  </a:outerShdw>
                </a:effectLst>
                <a:latin typeface="Times New Roman" panose="02020603050405020304" pitchFamily="18" charset="0"/>
              </a:endParaRPr>
            </a:p>
          </p:txBody>
        </p:sp>
        <p:sp>
          <p:nvSpPr>
            <p:cNvPr id="66" name="Rectangle 60"/>
            <p:cNvSpPr>
              <a:spLocks noChangeArrowheads="1"/>
            </p:cNvSpPr>
            <p:nvPr/>
          </p:nvSpPr>
          <p:spPr bwMode="auto">
            <a:xfrm>
              <a:off x="3769"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3</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7" name="Rectangle 61"/>
            <p:cNvSpPr>
              <a:spLocks noChangeArrowheads="1"/>
            </p:cNvSpPr>
            <p:nvPr/>
          </p:nvSpPr>
          <p:spPr bwMode="auto">
            <a:xfrm>
              <a:off x="3835" y="3401"/>
              <a:ext cx="34"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8" name="Freeform 62"/>
            <p:cNvSpPr/>
            <p:nvPr/>
          </p:nvSpPr>
          <p:spPr bwMode="auto">
            <a:xfrm>
              <a:off x="3943" y="3130"/>
              <a:ext cx="367" cy="578"/>
            </a:xfrm>
            <a:custGeom>
              <a:avLst/>
              <a:gdLst>
                <a:gd name="T0" fmla="*/ 165 w 367"/>
                <a:gd name="T1" fmla="*/ 1 h 578"/>
                <a:gd name="T2" fmla="*/ 137 w 367"/>
                <a:gd name="T3" fmla="*/ 8 h 578"/>
                <a:gd name="T4" fmla="*/ 112 w 367"/>
                <a:gd name="T5" fmla="*/ 21 h 578"/>
                <a:gd name="T6" fmla="*/ 89 w 367"/>
                <a:gd name="T7" fmla="*/ 40 h 578"/>
                <a:gd name="T8" fmla="*/ 67 w 367"/>
                <a:gd name="T9" fmla="*/ 65 h 578"/>
                <a:gd name="T10" fmla="*/ 48 w 367"/>
                <a:gd name="T11" fmla="*/ 94 h 578"/>
                <a:gd name="T12" fmla="*/ 31 w 367"/>
                <a:gd name="T13" fmla="*/ 127 h 578"/>
                <a:gd name="T14" fmla="*/ 17 w 367"/>
                <a:gd name="T15" fmla="*/ 163 h 578"/>
                <a:gd name="T16" fmla="*/ 8 w 367"/>
                <a:gd name="T17" fmla="*/ 202 h 578"/>
                <a:gd name="T18" fmla="*/ 2 w 367"/>
                <a:gd name="T19" fmla="*/ 244 h 578"/>
                <a:gd name="T20" fmla="*/ 0 w 367"/>
                <a:gd name="T21" fmla="*/ 289 h 578"/>
                <a:gd name="T22" fmla="*/ 2 w 367"/>
                <a:gd name="T23" fmla="*/ 332 h 578"/>
                <a:gd name="T24" fmla="*/ 8 w 367"/>
                <a:gd name="T25" fmla="*/ 374 h 578"/>
                <a:gd name="T26" fmla="*/ 17 w 367"/>
                <a:gd name="T27" fmla="*/ 414 h 578"/>
                <a:gd name="T28" fmla="*/ 31 w 367"/>
                <a:gd name="T29" fmla="*/ 451 h 578"/>
                <a:gd name="T30" fmla="*/ 48 w 367"/>
                <a:gd name="T31" fmla="*/ 483 h 578"/>
                <a:gd name="T32" fmla="*/ 67 w 367"/>
                <a:gd name="T33" fmla="*/ 512 h 578"/>
                <a:gd name="T34" fmla="*/ 89 w 367"/>
                <a:gd name="T35" fmla="*/ 536 h 578"/>
                <a:gd name="T36" fmla="*/ 112 w 367"/>
                <a:gd name="T37" fmla="*/ 555 h 578"/>
                <a:gd name="T38" fmla="*/ 137 w 367"/>
                <a:gd name="T39" fmla="*/ 568 h 578"/>
                <a:gd name="T40" fmla="*/ 165 w 367"/>
                <a:gd name="T41" fmla="*/ 576 h 578"/>
                <a:gd name="T42" fmla="*/ 193 w 367"/>
                <a:gd name="T43" fmla="*/ 577 h 578"/>
                <a:gd name="T44" fmla="*/ 220 w 367"/>
                <a:gd name="T45" fmla="*/ 572 h 578"/>
                <a:gd name="T46" fmla="*/ 246 w 367"/>
                <a:gd name="T47" fmla="*/ 560 h 578"/>
                <a:gd name="T48" fmla="*/ 271 w 367"/>
                <a:gd name="T49" fmla="*/ 542 h 578"/>
                <a:gd name="T50" fmla="*/ 294 w 367"/>
                <a:gd name="T51" fmla="*/ 521 h 578"/>
                <a:gd name="T52" fmla="*/ 313 w 367"/>
                <a:gd name="T53" fmla="*/ 493 h 578"/>
                <a:gd name="T54" fmla="*/ 330 w 367"/>
                <a:gd name="T55" fmla="*/ 461 h 578"/>
                <a:gd name="T56" fmla="*/ 344 w 367"/>
                <a:gd name="T57" fmla="*/ 427 h 578"/>
                <a:gd name="T58" fmla="*/ 356 w 367"/>
                <a:gd name="T59" fmla="*/ 388 h 578"/>
                <a:gd name="T60" fmla="*/ 364 w 367"/>
                <a:gd name="T61" fmla="*/ 346 h 578"/>
                <a:gd name="T62" fmla="*/ 366 w 367"/>
                <a:gd name="T63" fmla="*/ 303 h 578"/>
                <a:gd name="T64" fmla="*/ 366 w 367"/>
                <a:gd name="T65" fmla="*/ 258 h 578"/>
                <a:gd name="T66" fmla="*/ 361 w 367"/>
                <a:gd name="T67" fmla="*/ 216 h 578"/>
                <a:gd name="T68" fmla="*/ 352 w 367"/>
                <a:gd name="T69" fmla="*/ 175 h 578"/>
                <a:gd name="T70" fmla="*/ 341 w 367"/>
                <a:gd name="T71" fmla="*/ 138 h 578"/>
                <a:gd name="T72" fmla="*/ 325 w 367"/>
                <a:gd name="T73" fmla="*/ 104 h 578"/>
                <a:gd name="T74" fmla="*/ 306 w 367"/>
                <a:gd name="T75" fmla="*/ 73 h 578"/>
                <a:gd name="T76" fmla="*/ 286 w 367"/>
                <a:gd name="T77" fmla="*/ 48 h 578"/>
                <a:gd name="T78" fmla="*/ 263 w 367"/>
                <a:gd name="T79" fmla="*/ 28 h 578"/>
                <a:gd name="T80" fmla="*/ 238 w 367"/>
                <a:gd name="T81" fmla="*/ 12 h 578"/>
                <a:gd name="T82" fmla="*/ 211 w 367"/>
                <a:gd name="T83" fmla="*/ 2 h 578"/>
                <a:gd name="T84" fmla="*/ 183 w 367"/>
                <a:gd name="T85" fmla="*/ 0 h 57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67"/>
                <a:gd name="T130" fmla="*/ 0 h 578"/>
                <a:gd name="T131" fmla="*/ 367 w 367"/>
                <a:gd name="T132" fmla="*/ 578 h 57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67" h="578">
                  <a:moveTo>
                    <a:pt x="183" y="0"/>
                  </a:moveTo>
                  <a:lnTo>
                    <a:pt x="174" y="0"/>
                  </a:lnTo>
                  <a:lnTo>
                    <a:pt x="165" y="1"/>
                  </a:lnTo>
                  <a:lnTo>
                    <a:pt x="155" y="2"/>
                  </a:lnTo>
                  <a:lnTo>
                    <a:pt x="146" y="5"/>
                  </a:lnTo>
                  <a:lnTo>
                    <a:pt x="137" y="8"/>
                  </a:lnTo>
                  <a:lnTo>
                    <a:pt x="129" y="12"/>
                  </a:lnTo>
                  <a:lnTo>
                    <a:pt x="120" y="16"/>
                  </a:lnTo>
                  <a:lnTo>
                    <a:pt x="112" y="21"/>
                  </a:lnTo>
                  <a:lnTo>
                    <a:pt x="104" y="28"/>
                  </a:lnTo>
                  <a:lnTo>
                    <a:pt x="96" y="34"/>
                  </a:lnTo>
                  <a:lnTo>
                    <a:pt x="89" y="40"/>
                  </a:lnTo>
                  <a:lnTo>
                    <a:pt x="81" y="48"/>
                  </a:lnTo>
                  <a:lnTo>
                    <a:pt x="73" y="57"/>
                  </a:lnTo>
                  <a:lnTo>
                    <a:pt x="67" y="65"/>
                  </a:lnTo>
                  <a:lnTo>
                    <a:pt x="59" y="73"/>
                  </a:lnTo>
                  <a:lnTo>
                    <a:pt x="53" y="84"/>
                  </a:lnTo>
                  <a:lnTo>
                    <a:pt x="48" y="94"/>
                  </a:lnTo>
                  <a:lnTo>
                    <a:pt x="42" y="104"/>
                  </a:lnTo>
                  <a:lnTo>
                    <a:pt x="36" y="116"/>
                  </a:lnTo>
                  <a:lnTo>
                    <a:pt x="31" y="127"/>
                  </a:lnTo>
                  <a:lnTo>
                    <a:pt x="26" y="138"/>
                  </a:lnTo>
                  <a:lnTo>
                    <a:pt x="22" y="150"/>
                  </a:lnTo>
                  <a:lnTo>
                    <a:pt x="17" y="163"/>
                  </a:lnTo>
                  <a:lnTo>
                    <a:pt x="15" y="175"/>
                  </a:lnTo>
                  <a:lnTo>
                    <a:pt x="11" y="188"/>
                  </a:lnTo>
                  <a:lnTo>
                    <a:pt x="8" y="202"/>
                  </a:lnTo>
                  <a:lnTo>
                    <a:pt x="6" y="216"/>
                  </a:lnTo>
                  <a:lnTo>
                    <a:pt x="3" y="230"/>
                  </a:lnTo>
                  <a:lnTo>
                    <a:pt x="2" y="244"/>
                  </a:lnTo>
                  <a:lnTo>
                    <a:pt x="1" y="258"/>
                  </a:lnTo>
                  <a:lnTo>
                    <a:pt x="0" y="274"/>
                  </a:lnTo>
                  <a:lnTo>
                    <a:pt x="0" y="289"/>
                  </a:lnTo>
                  <a:lnTo>
                    <a:pt x="0" y="303"/>
                  </a:lnTo>
                  <a:lnTo>
                    <a:pt x="1" y="318"/>
                  </a:lnTo>
                  <a:lnTo>
                    <a:pt x="2" y="332"/>
                  </a:lnTo>
                  <a:lnTo>
                    <a:pt x="3" y="346"/>
                  </a:lnTo>
                  <a:lnTo>
                    <a:pt x="6" y="360"/>
                  </a:lnTo>
                  <a:lnTo>
                    <a:pt x="8" y="374"/>
                  </a:lnTo>
                  <a:lnTo>
                    <a:pt x="11" y="388"/>
                  </a:lnTo>
                  <a:lnTo>
                    <a:pt x="15" y="401"/>
                  </a:lnTo>
                  <a:lnTo>
                    <a:pt x="17" y="414"/>
                  </a:lnTo>
                  <a:lnTo>
                    <a:pt x="22" y="427"/>
                  </a:lnTo>
                  <a:lnTo>
                    <a:pt x="26" y="438"/>
                  </a:lnTo>
                  <a:lnTo>
                    <a:pt x="31" y="451"/>
                  </a:lnTo>
                  <a:lnTo>
                    <a:pt x="36" y="461"/>
                  </a:lnTo>
                  <a:lnTo>
                    <a:pt x="42" y="472"/>
                  </a:lnTo>
                  <a:lnTo>
                    <a:pt x="48" y="483"/>
                  </a:lnTo>
                  <a:lnTo>
                    <a:pt x="53" y="493"/>
                  </a:lnTo>
                  <a:lnTo>
                    <a:pt x="59" y="503"/>
                  </a:lnTo>
                  <a:lnTo>
                    <a:pt x="67" y="512"/>
                  </a:lnTo>
                  <a:lnTo>
                    <a:pt x="73" y="521"/>
                  </a:lnTo>
                  <a:lnTo>
                    <a:pt x="81" y="528"/>
                  </a:lnTo>
                  <a:lnTo>
                    <a:pt x="89" y="536"/>
                  </a:lnTo>
                  <a:lnTo>
                    <a:pt x="96" y="542"/>
                  </a:lnTo>
                  <a:lnTo>
                    <a:pt x="104" y="549"/>
                  </a:lnTo>
                  <a:lnTo>
                    <a:pt x="112" y="555"/>
                  </a:lnTo>
                  <a:lnTo>
                    <a:pt x="120" y="560"/>
                  </a:lnTo>
                  <a:lnTo>
                    <a:pt x="129" y="564"/>
                  </a:lnTo>
                  <a:lnTo>
                    <a:pt x="137" y="568"/>
                  </a:lnTo>
                  <a:lnTo>
                    <a:pt x="146" y="572"/>
                  </a:lnTo>
                  <a:lnTo>
                    <a:pt x="155" y="574"/>
                  </a:lnTo>
                  <a:lnTo>
                    <a:pt x="165" y="576"/>
                  </a:lnTo>
                  <a:lnTo>
                    <a:pt x="174" y="577"/>
                  </a:lnTo>
                  <a:lnTo>
                    <a:pt x="183" y="578"/>
                  </a:lnTo>
                  <a:lnTo>
                    <a:pt x="193" y="577"/>
                  </a:lnTo>
                  <a:lnTo>
                    <a:pt x="202" y="576"/>
                  </a:lnTo>
                  <a:lnTo>
                    <a:pt x="211" y="574"/>
                  </a:lnTo>
                  <a:lnTo>
                    <a:pt x="220" y="572"/>
                  </a:lnTo>
                  <a:lnTo>
                    <a:pt x="229" y="568"/>
                  </a:lnTo>
                  <a:lnTo>
                    <a:pt x="238" y="564"/>
                  </a:lnTo>
                  <a:lnTo>
                    <a:pt x="246" y="560"/>
                  </a:lnTo>
                  <a:lnTo>
                    <a:pt x="255" y="555"/>
                  </a:lnTo>
                  <a:lnTo>
                    <a:pt x="263" y="549"/>
                  </a:lnTo>
                  <a:lnTo>
                    <a:pt x="271" y="542"/>
                  </a:lnTo>
                  <a:lnTo>
                    <a:pt x="278" y="536"/>
                  </a:lnTo>
                  <a:lnTo>
                    <a:pt x="286" y="528"/>
                  </a:lnTo>
                  <a:lnTo>
                    <a:pt x="294" y="521"/>
                  </a:lnTo>
                  <a:lnTo>
                    <a:pt x="300" y="512"/>
                  </a:lnTo>
                  <a:lnTo>
                    <a:pt x="306" y="503"/>
                  </a:lnTo>
                  <a:lnTo>
                    <a:pt x="313" y="493"/>
                  </a:lnTo>
                  <a:lnTo>
                    <a:pt x="319" y="483"/>
                  </a:lnTo>
                  <a:lnTo>
                    <a:pt x="325" y="472"/>
                  </a:lnTo>
                  <a:lnTo>
                    <a:pt x="330" y="461"/>
                  </a:lnTo>
                  <a:lnTo>
                    <a:pt x="336" y="451"/>
                  </a:lnTo>
                  <a:lnTo>
                    <a:pt x="341" y="438"/>
                  </a:lnTo>
                  <a:lnTo>
                    <a:pt x="344" y="427"/>
                  </a:lnTo>
                  <a:lnTo>
                    <a:pt x="348" y="414"/>
                  </a:lnTo>
                  <a:lnTo>
                    <a:pt x="352" y="401"/>
                  </a:lnTo>
                  <a:lnTo>
                    <a:pt x="356" y="388"/>
                  </a:lnTo>
                  <a:lnTo>
                    <a:pt x="358" y="374"/>
                  </a:lnTo>
                  <a:lnTo>
                    <a:pt x="361" y="360"/>
                  </a:lnTo>
                  <a:lnTo>
                    <a:pt x="364" y="346"/>
                  </a:lnTo>
                  <a:lnTo>
                    <a:pt x="365" y="332"/>
                  </a:lnTo>
                  <a:lnTo>
                    <a:pt x="366" y="318"/>
                  </a:lnTo>
                  <a:lnTo>
                    <a:pt x="366" y="303"/>
                  </a:lnTo>
                  <a:lnTo>
                    <a:pt x="367" y="289"/>
                  </a:lnTo>
                  <a:lnTo>
                    <a:pt x="366" y="274"/>
                  </a:lnTo>
                  <a:lnTo>
                    <a:pt x="366" y="258"/>
                  </a:lnTo>
                  <a:lnTo>
                    <a:pt x="365" y="244"/>
                  </a:lnTo>
                  <a:lnTo>
                    <a:pt x="364" y="230"/>
                  </a:lnTo>
                  <a:lnTo>
                    <a:pt x="361" y="216"/>
                  </a:lnTo>
                  <a:lnTo>
                    <a:pt x="358" y="202"/>
                  </a:lnTo>
                  <a:lnTo>
                    <a:pt x="356" y="188"/>
                  </a:lnTo>
                  <a:lnTo>
                    <a:pt x="352" y="175"/>
                  </a:lnTo>
                  <a:lnTo>
                    <a:pt x="348" y="163"/>
                  </a:lnTo>
                  <a:lnTo>
                    <a:pt x="344" y="150"/>
                  </a:lnTo>
                  <a:lnTo>
                    <a:pt x="341" y="138"/>
                  </a:lnTo>
                  <a:lnTo>
                    <a:pt x="336" y="127"/>
                  </a:lnTo>
                  <a:lnTo>
                    <a:pt x="330" y="116"/>
                  </a:lnTo>
                  <a:lnTo>
                    <a:pt x="325" y="104"/>
                  </a:lnTo>
                  <a:lnTo>
                    <a:pt x="319" y="94"/>
                  </a:lnTo>
                  <a:lnTo>
                    <a:pt x="313" y="84"/>
                  </a:lnTo>
                  <a:lnTo>
                    <a:pt x="306" y="73"/>
                  </a:lnTo>
                  <a:lnTo>
                    <a:pt x="300" y="65"/>
                  </a:lnTo>
                  <a:lnTo>
                    <a:pt x="294" y="57"/>
                  </a:lnTo>
                  <a:lnTo>
                    <a:pt x="286" y="48"/>
                  </a:lnTo>
                  <a:lnTo>
                    <a:pt x="278" y="40"/>
                  </a:lnTo>
                  <a:lnTo>
                    <a:pt x="271" y="34"/>
                  </a:lnTo>
                  <a:lnTo>
                    <a:pt x="263" y="28"/>
                  </a:lnTo>
                  <a:lnTo>
                    <a:pt x="255" y="21"/>
                  </a:lnTo>
                  <a:lnTo>
                    <a:pt x="246" y="16"/>
                  </a:lnTo>
                  <a:lnTo>
                    <a:pt x="238" y="12"/>
                  </a:lnTo>
                  <a:lnTo>
                    <a:pt x="229" y="8"/>
                  </a:lnTo>
                  <a:lnTo>
                    <a:pt x="220" y="5"/>
                  </a:lnTo>
                  <a:lnTo>
                    <a:pt x="211" y="2"/>
                  </a:lnTo>
                  <a:lnTo>
                    <a:pt x="202" y="1"/>
                  </a:lnTo>
                  <a:lnTo>
                    <a:pt x="193" y="0"/>
                  </a:lnTo>
                  <a:lnTo>
                    <a:pt x="183" y="0"/>
                  </a:lnTo>
                </a:path>
              </a:pathLst>
            </a:custGeom>
            <a:solidFill>
              <a:srgbClr val="0099FF"/>
            </a:solidFill>
            <a:ln w="50800">
              <a:solidFill>
                <a:srgbClr val="4F8AFF"/>
              </a:solidFill>
              <a:round/>
            </a:ln>
          </p:spPr>
          <p:txBody>
            <a:bodyPr/>
            <a:lstStyle/>
            <a:p>
              <a:endParaRPr lang="zh-CN" altLang="en-US"/>
            </a:p>
          </p:txBody>
        </p:sp>
        <p:sp>
          <p:nvSpPr>
            <p:cNvPr id="69" name="Rectangle 63"/>
            <p:cNvSpPr>
              <a:spLocks noChangeArrowheads="1"/>
            </p:cNvSpPr>
            <p:nvPr/>
          </p:nvSpPr>
          <p:spPr bwMode="auto">
            <a:xfrm>
              <a:off x="4105" y="3302"/>
              <a:ext cx="61" cy="3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27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70" name="Rectangle 64"/>
            <p:cNvSpPr>
              <a:spLocks noChangeArrowheads="1"/>
            </p:cNvSpPr>
            <p:nvPr/>
          </p:nvSpPr>
          <p:spPr bwMode="auto">
            <a:xfrm>
              <a:off x="4152" y="3401"/>
              <a:ext cx="69"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71" name="Rectangle 65"/>
            <p:cNvSpPr>
              <a:spLocks noChangeArrowheads="1"/>
            </p:cNvSpPr>
            <p:nvPr/>
          </p:nvSpPr>
          <p:spPr bwMode="auto">
            <a:xfrm>
              <a:off x="4218" y="3401"/>
              <a:ext cx="34" cy="220"/>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gr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1000"/>
                                        <p:tgtEl>
                                          <p:spTgt spid="10"/>
                                        </p:tgtEl>
                                      </p:cBhvr>
                                    </p:animEffect>
                                  </p:childTnLst>
                                </p:cTn>
                              </p:par>
                              <p:par>
                                <p:cTn id="8" presetID="16" presetClass="entr" presetSubtype="26"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barn(inHorizontal)">
                                      <p:cBhvr>
                                        <p:cTn id="10"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69635" name="Text Box 3"/>
          <p:cNvSpPr txBox="1">
            <a:spLocks noChangeArrowheads="1"/>
          </p:cNvSpPr>
          <p:nvPr/>
        </p:nvSpPr>
        <p:spPr bwMode="auto">
          <a:xfrm>
            <a:off x="179512" y="699542"/>
            <a:ext cx="8496944" cy="1649682"/>
          </a:xfrm>
          <a:prstGeom prst="rect">
            <a:avLst/>
          </a:prstGeom>
          <a:noFill/>
          <a:ln w="25400" algn="ctr">
            <a:noFill/>
            <a:miter lim="800000"/>
          </a:ln>
          <a:effectLst/>
        </p:spPr>
        <p:txBody>
          <a:bodyPr wrap="square">
            <a:spAutoFit/>
          </a:bodyPr>
          <a:lstStyle/>
          <a:p>
            <a:pPr marL="342900" indent="-342900">
              <a:spcBef>
                <a:spcPct val="20000"/>
              </a:spcBef>
              <a:buClr>
                <a:schemeClr val="hlink"/>
              </a:buClr>
              <a:defRPr/>
            </a:pPr>
            <a:r>
              <a:rPr lang="zh-CN" altLang="en-US" sz="2200" dirty="0" smtClean="0"/>
              <a:t>（</a:t>
            </a:r>
            <a:r>
              <a:rPr lang="en-US" altLang="zh-CN" sz="2200" dirty="0" smtClean="0"/>
              <a:t>2</a:t>
            </a:r>
            <a:r>
              <a:rPr lang="zh-CN" altLang="en-US" sz="2200" dirty="0" smtClean="0"/>
              <a:t>）面状服务覆盖区：</a:t>
            </a:r>
            <a:endParaRPr lang="en-US" altLang="zh-CN" sz="2200" dirty="0" smtClean="0"/>
          </a:p>
          <a:p>
            <a:pPr marL="342900" indent="-342900">
              <a:spcBef>
                <a:spcPct val="20000"/>
              </a:spcBef>
              <a:buClr>
                <a:schemeClr val="hlink"/>
              </a:buClr>
              <a:defRPr/>
            </a:pPr>
            <a:r>
              <a:rPr lang="zh-CN" altLang="en-US" sz="2200" dirty="0" smtClean="0">
                <a:effectLst>
                  <a:outerShdw blurRad="38100" dist="38100" dir="2700000" algn="tl">
                    <a:srgbClr val="C0C0C0"/>
                  </a:outerShdw>
                </a:effectLst>
                <a:latin typeface="华文楷体" pitchFamily="2" charset="-122"/>
                <a:ea typeface="华文楷体" pitchFamily="2" charset="-122"/>
              </a:rPr>
              <a:t>共</a:t>
            </a:r>
            <a:r>
              <a:rPr lang="zh-CN" altLang="en-US" sz="2200" dirty="0">
                <a:effectLst>
                  <a:outerShdw blurRad="38100" dist="38100" dir="2700000" algn="tl">
                    <a:srgbClr val="C0C0C0"/>
                  </a:outerShdw>
                </a:effectLst>
                <a:latin typeface="华文楷体" pitchFamily="2" charset="-122"/>
                <a:ea typeface="华文楷体" pitchFamily="2" charset="-122"/>
              </a:rPr>
              <a:t>同使用全部可用频率的</a:t>
            </a:r>
            <a:r>
              <a:rPr lang="en-US" altLang="zh-CN" sz="2200" dirty="0">
                <a:effectLst>
                  <a:outerShdw blurRad="38100" dist="38100" dir="2700000" algn="tl">
                    <a:srgbClr val="C0C0C0"/>
                  </a:outerShdw>
                </a:effectLst>
                <a:latin typeface="华文楷体" pitchFamily="2" charset="-122"/>
                <a:ea typeface="华文楷体" pitchFamily="2" charset="-122"/>
              </a:rPr>
              <a:t>N</a:t>
            </a:r>
            <a:r>
              <a:rPr lang="zh-CN" altLang="en-US" sz="2200" dirty="0">
                <a:effectLst>
                  <a:outerShdw blurRad="38100" dist="38100" dir="2700000" algn="tl">
                    <a:srgbClr val="C0C0C0"/>
                  </a:outerShdw>
                </a:effectLst>
                <a:latin typeface="华文楷体" pitchFamily="2" charset="-122"/>
                <a:ea typeface="华文楷体" pitchFamily="2" charset="-122"/>
              </a:rPr>
              <a:t>个小区叫做一</a:t>
            </a:r>
            <a:r>
              <a:rPr lang="zh-CN" altLang="en-US" sz="2200" dirty="0">
                <a:solidFill>
                  <a:srgbClr val="FF1919"/>
                </a:solidFill>
                <a:effectLst>
                  <a:outerShdw blurRad="38100" dist="38100" dir="2700000" algn="tl">
                    <a:srgbClr val="C0C0C0"/>
                  </a:outerShdw>
                </a:effectLst>
                <a:latin typeface="华文楷体" pitchFamily="2" charset="-122"/>
                <a:ea typeface="华文楷体" pitchFamily="2" charset="-122"/>
              </a:rPr>
              <a:t>簇</a:t>
            </a:r>
            <a:endParaRPr lang="zh-CN" altLang="en-US" sz="2200" dirty="0">
              <a:solidFill>
                <a:srgbClr val="FF1919"/>
              </a:solidFill>
              <a:effectLst>
                <a:outerShdw blurRad="38100" dist="38100" dir="2700000" algn="tl">
                  <a:srgbClr val="C0C0C0"/>
                </a:outerShdw>
              </a:effectLst>
              <a:latin typeface="华文楷体" pitchFamily="2" charset="-122"/>
              <a:ea typeface="华文楷体" pitchFamily="2" charset="-122"/>
            </a:endParaRPr>
          </a:p>
          <a:p>
            <a:pPr marL="342900" indent="-342900">
              <a:spcBef>
                <a:spcPct val="20000"/>
              </a:spcBef>
              <a:buClr>
                <a:schemeClr val="hlink"/>
              </a:buClr>
              <a:buFontTx/>
              <a:buBlip>
                <a:blip r:embed="rId1"/>
              </a:buBlip>
              <a:defRPr/>
            </a:pPr>
            <a:r>
              <a:rPr lang="zh-CN" altLang="en-US" sz="2200" dirty="0">
                <a:effectLst>
                  <a:outerShdw blurRad="38100" dist="38100" dir="2700000" algn="tl">
                    <a:srgbClr val="C0C0C0"/>
                  </a:outerShdw>
                </a:effectLst>
                <a:latin typeface="华文楷体" pitchFamily="2" charset="-122"/>
                <a:ea typeface="华文楷体" pitchFamily="2" charset="-122"/>
              </a:rPr>
              <a:t>同一个小区簇内，要使用不同的频率</a:t>
            </a:r>
            <a:endParaRPr lang="zh-CN" altLang="en-US" sz="2200" dirty="0">
              <a:effectLst>
                <a:outerShdw blurRad="38100" dist="38100" dir="2700000" algn="tl">
                  <a:srgbClr val="C0C0C0"/>
                </a:outerShdw>
              </a:effectLst>
              <a:latin typeface="华文楷体" pitchFamily="2" charset="-122"/>
              <a:ea typeface="华文楷体" pitchFamily="2" charset="-122"/>
            </a:endParaRPr>
          </a:p>
          <a:p>
            <a:pPr marL="342900" indent="-342900">
              <a:spcBef>
                <a:spcPct val="20000"/>
              </a:spcBef>
              <a:buClr>
                <a:schemeClr val="hlink"/>
              </a:buClr>
              <a:buFontTx/>
              <a:buBlip>
                <a:blip r:embed="rId1"/>
              </a:buBlip>
              <a:defRPr/>
            </a:pPr>
            <a:r>
              <a:rPr lang="zh-CN" altLang="en-US" sz="2200" dirty="0">
                <a:effectLst>
                  <a:outerShdw blurRad="38100" dist="38100" dir="2700000" algn="tl">
                    <a:srgbClr val="C0C0C0"/>
                  </a:outerShdw>
                </a:effectLst>
                <a:latin typeface="华文楷体" pitchFamily="2" charset="-122"/>
                <a:ea typeface="华文楷体" pitchFamily="2" charset="-122"/>
              </a:rPr>
              <a:t>不同的小区簇间使用对应的相同频率</a:t>
            </a:r>
            <a:endParaRPr lang="zh-CN" altLang="en-US" sz="2200" dirty="0">
              <a:effectLst>
                <a:outerShdw blurRad="38100" dist="38100" dir="2700000" algn="tl">
                  <a:srgbClr val="C0C0C0"/>
                </a:outerShdw>
              </a:effectLst>
              <a:latin typeface="华文楷体" pitchFamily="2" charset="-122"/>
              <a:ea typeface="华文楷体" pitchFamily="2" charset="-122"/>
            </a:endParaRPr>
          </a:p>
        </p:txBody>
      </p:sp>
      <p:sp>
        <p:nvSpPr>
          <p:cNvPr id="57351" name="Text Box 302"/>
          <p:cNvSpPr txBox="1">
            <a:spLocks noChangeArrowheads="1"/>
          </p:cNvSpPr>
          <p:nvPr/>
        </p:nvSpPr>
        <p:spPr bwMode="auto">
          <a:xfrm>
            <a:off x="2102578" y="4462462"/>
            <a:ext cx="4576894" cy="338554"/>
          </a:xfrm>
          <a:prstGeom prst="rect">
            <a:avLst/>
          </a:prstGeom>
          <a:noFill/>
          <a:ln w="25400" algn="ctr">
            <a:noFill/>
            <a:miter lim="800000"/>
          </a:ln>
        </p:spPr>
        <p:txBody>
          <a:bodyPr wrap="none">
            <a:spAutoFit/>
          </a:bodyPr>
          <a:lstStyle/>
          <a:p>
            <a:pPr marL="342900" indent="-342900" algn="ctr">
              <a:spcBef>
                <a:spcPct val="20000"/>
              </a:spcBef>
              <a:buClr>
                <a:schemeClr val="hlink"/>
              </a:buClr>
            </a:pPr>
            <a:r>
              <a:rPr lang="zh-CN" altLang="en-US" sz="1600" b="1">
                <a:latin typeface="Times New Roman" panose="02020603050405020304" pitchFamily="18" charset="0"/>
              </a:rPr>
              <a:t>图</a:t>
            </a:r>
            <a:r>
              <a:rPr lang="en-US" altLang="zh-CN" sz="1600" b="1">
                <a:latin typeface="Times New Roman" panose="02020603050405020304" pitchFamily="18" charset="0"/>
              </a:rPr>
              <a:t>5</a:t>
            </a:r>
            <a:r>
              <a:rPr lang="zh-CN" altLang="en-US" sz="1600" b="1">
                <a:latin typeface="Times New Roman" panose="02020603050405020304" pitchFamily="18" charset="0"/>
              </a:rPr>
              <a:t>－</a:t>
            </a:r>
            <a:r>
              <a:rPr lang="en-US" altLang="zh-CN" sz="1600" b="1">
                <a:latin typeface="Times New Roman" panose="02020603050405020304" pitchFamily="18" charset="0"/>
              </a:rPr>
              <a:t>2 </a:t>
            </a:r>
            <a:r>
              <a:rPr lang="zh-CN" altLang="en-US" sz="1600" b="1">
                <a:latin typeface="Times New Roman" panose="02020603050405020304" pitchFamily="18" charset="0"/>
              </a:rPr>
              <a:t>蜂窝系统的频率复用和小区面状覆盖图示</a:t>
            </a:r>
            <a:endParaRPr lang="zh-CN" altLang="en-US" sz="1600" b="1">
              <a:latin typeface="Times New Roman" panose="02020603050405020304" pitchFamily="18" charset="0"/>
            </a:endParaRPr>
          </a:p>
        </p:txBody>
      </p:sp>
      <p:grpSp>
        <p:nvGrpSpPr>
          <p:cNvPr id="323" name="组合 322"/>
          <p:cNvGrpSpPr/>
          <p:nvPr/>
        </p:nvGrpSpPr>
        <p:grpSpPr>
          <a:xfrm>
            <a:off x="1146510" y="2747406"/>
            <a:ext cx="2273363" cy="1552536"/>
            <a:chOff x="1144306" y="2403872"/>
            <a:chExt cx="2678395" cy="1432382"/>
          </a:xfrm>
        </p:grpSpPr>
        <p:grpSp>
          <p:nvGrpSpPr>
            <p:cNvPr id="31" name="Group 209"/>
            <p:cNvGrpSpPr/>
            <p:nvPr/>
          </p:nvGrpSpPr>
          <p:grpSpPr bwMode="auto">
            <a:xfrm>
              <a:off x="1158876" y="2403872"/>
              <a:ext cx="2663825" cy="1356122"/>
              <a:chOff x="113" y="2563"/>
              <a:chExt cx="1678" cy="1100"/>
            </a:xfrm>
          </p:grpSpPr>
          <p:grpSp>
            <p:nvGrpSpPr>
              <p:cNvPr id="57419" name="Group 210"/>
              <p:cNvGrpSpPr/>
              <p:nvPr/>
            </p:nvGrpSpPr>
            <p:grpSpPr bwMode="auto">
              <a:xfrm>
                <a:off x="567" y="3113"/>
                <a:ext cx="771" cy="550"/>
                <a:chOff x="1202" y="3158"/>
                <a:chExt cx="685" cy="550"/>
              </a:xfrm>
            </p:grpSpPr>
            <p:grpSp>
              <p:nvGrpSpPr>
                <p:cNvPr id="57420" name="Group 211"/>
                <p:cNvGrpSpPr/>
                <p:nvPr/>
              </p:nvGrpSpPr>
              <p:grpSpPr bwMode="auto">
                <a:xfrm rot="-5400000">
                  <a:off x="1270" y="3090"/>
                  <a:ext cx="550" cy="685"/>
                  <a:chOff x="1246" y="3110"/>
                  <a:chExt cx="550" cy="685"/>
                </a:xfrm>
              </p:grpSpPr>
              <p:grpSp>
                <p:nvGrpSpPr>
                  <p:cNvPr id="57426" name="Group 212"/>
                  <p:cNvGrpSpPr/>
                  <p:nvPr/>
                </p:nvGrpSpPr>
                <p:grpSpPr bwMode="auto">
                  <a:xfrm>
                    <a:off x="1246" y="3110"/>
                    <a:ext cx="550" cy="685"/>
                    <a:chOff x="1246" y="3110"/>
                    <a:chExt cx="550" cy="685"/>
                  </a:xfrm>
                </p:grpSpPr>
                <p:sp>
                  <p:nvSpPr>
                    <p:cNvPr id="57459" name="Freeform 213"/>
                    <p:cNvSpPr/>
                    <p:nvPr/>
                  </p:nvSpPr>
                  <p:spPr bwMode="auto">
                    <a:xfrm>
                      <a:off x="1383" y="3521"/>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460" name="Freeform 214"/>
                    <p:cNvSpPr/>
                    <p:nvPr/>
                  </p:nvSpPr>
                  <p:spPr bwMode="auto">
                    <a:xfrm>
                      <a:off x="1521" y="3317"/>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461" name="Freeform 215"/>
                    <p:cNvSpPr/>
                    <p:nvPr/>
                  </p:nvSpPr>
                  <p:spPr bwMode="auto">
                    <a:xfrm>
                      <a:off x="1246" y="3315"/>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462" name="Freeform 216"/>
                    <p:cNvSpPr/>
                    <p:nvPr/>
                  </p:nvSpPr>
                  <p:spPr bwMode="auto">
                    <a:xfrm>
                      <a:off x="1383" y="3110"/>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grpSp>
              <p:grpSp>
                <p:nvGrpSpPr>
                  <p:cNvPr id="57427" name="Group 217"/>
                  <p:cNvGrpSpPr/>
                  <p:nvPr/>
                </p:nvGrpSpPr>
                <p:grpSpPr bwMode="auto">
                  <a:xfrm>
                    <a:off x="1246" y="3110"/>
                    <a:ext cx="410" cy="680"/>
                    <a:chOff x="1246" y="3110"/>
                    <a:chExt cx="410" cy="680"/>
                  </a:xfrm>
                </p:grpSpPr>
                <p:cxnSp>
                  <p:nvCxnSpPr>
                    <p:cNvPr id="57450" name="AutoShape 218"/>
                    <p:cNvCxnSpPr>
                      <a:cxnSpLocks noChangeShapeType="1"/>
                    </p:cNvCxnSpPr>
                    <p:nvPr/>
                  </p:nvCxnSpPr>
                  <p:spPr bwMode="auto">
                    <a:xfrm flipV="1">
                      <a:off x="1382" y="3110"/>
                      <a:ext cx="138" cy="68"/>
                    </a:xfrm>
                    <a:prstGeom prst="straightConnector1">
                      <a:avLst/>
                    </a:prstGeom>
                    <a:noFill/>
                    <a:ln w="25400">
                      <a:solidFill>
                        <a:srgbClr val="000000"/>
                      </a:solidFill>
                      <a:round/>
                    </a:ln>
                  </p:spPr>
                </p:cxnSp>
                <p:cxnSp>
                  <p:nvCxnSpPr>
                    <p:cNvPr id="57451" name="AutoShape 219"/>
                    <p:cNvCxnSpPr>
                      <a:cxnSpLocks noChangeShapeType="1"/>
                    </p:cNvCxnSpPr>
                    <p:nvPr/>
                  </p:nvCxnSpPr>
                  <p:spPr bwMode="auto">
                    <a:xfrm flipV="1">
                      <a:off x="1518" y="3722"/>
                      <a:ext cx="138" cy="68"/>
                    </a:xfrm>
                    <a:prstGeom prst="straightConnector1">
                      <a:avLst/>
                    </a:prstGeom>
                    <a:noFill/>
                    <a:ln w="25400">
                      <a:solidFill>
                        <a:srgbClr val="000000"/>
                      </a:solidFill>
                      <a:round/>
                    </a:ln>
                  </p:spPr>
                </p:cxnSp>
                <p:cxnSp>
                  <p:nvCxnSpPr>
                    <p:cNvPr id="57452" name="AutoShape 220"/>
                    <p:cNvCxnSpPr>
                      <a:cxnSpLocks noChangeShapeType="1"/>
                    </p:cNvCxnSpPr>
                    <p:nvPr/>
                  </p:nvCxnSpPr>
                  <p:spPr bwMode="auto">
                    <a:xfrm flipV="1">
                      <a:off x="1246" y="3314"/>
                      <a:ext cx="138" cy="68"/>
                    </a:xfrm>
                    <a:prstGeom prst="straightConnector1">
                      <a:avLst/>
                    </a:prstGeom>
                    <a:noFill/>
                    <a:ln w="25400">
                      <a:solidFill>
                        <a:srgbClr val="000000"/>
                      </a:solidFill>
                      <a:round/>
                    </a:ln>
                  </p:spPr>
                </p:cxnSp>
                <p:cxnSp>
                  <p:nvCxnSpPr>
                    <p:cNvPr id="57453" name="AutoShape 221"/>
                    <p:cNvCxnSpPr>
                      <a:cxnSpLocks noChangeShapeType="1"/>
                    </p:cNvCxnSpPr>
                    <p:nvPr/>
                  </p:nvCxnSpPr>
                  <p:spPr bwMode="auto">
                    <a:xfrm>
                      <a:off x="1246" y="3518"/>
                      <a:ext cx="137" cy="69"/>
                    </a:xfrm>
                    <a:prstGeom prst="straightConnector1">
                      <a:avLst/>
                    </a:prstGeom>
                    <a:noFill/>
                    <a:ln w="25400">
                      <a:solidFill>
                        <a:srgbClr val="000000"/>
                      </a:solidFill>
                      <a:round/>
                    </a:ln>
                  </p:spPr>
                </p:cxnSp>
                <p:cxnSp>
                  <p:nvCxnSpPr>
                    <p:cNvPr id="57454" name="AutoShape 222"/>
                    <p:cNvCxnSpPr>
                      <a:cxnSpLocks noChangeShapeType="1"/>
                    </p:cNvCxnSpPr>
                    <p:nvPr/>
                  </p:nvCxnSpPr>
                  <p:spPr bwMode="auto">
                    <a:xfrm>
                      <a:off x="1382" y="3721"/>
                      <a:ext cx="137" cy="69"/>
                    </a:xfrm>
                    <a:prstGeom prst="straightConnector1">
                      <a:avLst/>
                    </a:prstGeom>
                    <a:noFill/>
                    <a:ln w="25400">
                      <a:solidFill>
                        <a:srgbClr val="000000"/>
                      </a:solidFill>
                      <a:round/>
                    </a:ln>
                  </p:spPr>
                </p:cxnSp>
                <p:cxnSp>
                  <p:nvCxnSpPr>
                    <p:cNvPr id="57455" name="AutoShape 223"/>
                    <p:cNvCxnSpPr>
                      <a:cxnSpLocks noChangeShapeType="1"/>
                    </p:cNvCxnSpPr>
                    <p:nvPr/>
                  </p:nvCxnSpPr>
                  <p:spPr bwMode="auto">
                    <a:xfrm>
                      <a:off x="1518" y="3110"/>
                      <a:ext cx="137" cy="69"/>
                    </a:xfrm>
                    <a:prstGeom prst="straightConnector1">
                      <a:avLst/>
                    </a:prstGeom>
                    <a:noFill/>
                    <a:ln w="25400">
                      <a:solidFill>
                        <a:srgbClr val="000000"/>
                      </a:solidFill>
                      <a:round/>
                    </a:ln>
                  </p:spPr>
                </p:cxnSp>
                <p:cxnSp>
                  <p:nvCxnSpPr>
                    <p:cNvPr id="57456" name="AutoShape 224"/>
                    <p:cNvCxnSpPr>
                      <a:cxnSpLocks noChangeShapeType="1"/>
                      <a:stCxn id="57462" idx="6"/>
                      <a:endCxn id="57462" idx="1"/>
                    </p:cNvCxnSpPr>
                    <p:nvPr/>
                  </p:nvCxnSpPr>
                  <p:spPr bwMode="auto">
                    <a:xfrm>
                      <a:off x="1383" y="3179"/>
                      <a:ext cx="0" cy="137"/>
                    </a:xfrm>
                    <a:prstGeom prst="straightConnector1">
                      <a:avLst/>
                    </a:prstGeom>
                    <a:noFill/>
                    <a:ln w="25400">
                      <a:solidFill>
                        <a:srgbClr val="000000"/>
                      </a:solidFill>
                      <a:round/>
                    </a:ln>
                  </p:spPr>
                </p:cxnSp>
                <p:cxnSp>
                  <p:nvCxnSpPr>
                    <p:cNvPr id="57457" name="AutoShape 225"/>
                    <p:cNvCxnSpPr>
                      <a:cxnSpLocks noChangeShapeType="1"/>
                      <a:stCxn id="57461" idx="6"/>
                    </p:cNvCxnSpPr>
                    <p:nvPr/>
                  </p:nvCxnSpPr>
                  <p:spPr bwMode="auto">
                    <a:xfrm>
                      <a:off x="1246" y="3384"/>
                      <a:ext cx="0" cy="134"/>
                    </a:xfrm>
                    <a:prstGeom prst="straightConnector1">
                      <a:avLst/>
                    </a:prstGeom>
                    <a:noFill/>
                    <a:ln w="25400">
                      <a:solidFill>
                        <a:srgbClr val="000000"/>
                      </a:solidFill>
                      <a:round/>
                    </a:ln>
                  </p:spPr>
                </p:cxnSp>
                <p:cxnSp>
                  <p:nvCxnSpPr>
                    <p:cNvPr id="57458" name="AutoShape 226"/>
                    <p:cNvCxnSpPr>
                      <a:cxnSpLocks noChangeShapeType="1"/>
                      <a:stCxn id="57461" idx="2"/>
                      <a:endCxn id="57459" idx="1"/>
                    </p:cNvCxnSpPr>
                    <p:nvPr/>
                  </p:nvCxnSpPr>
                  <p:spPr bwMode="auto">
                    <a:xfrm>
                      <a:off x="1383" y="3590"/>
                      <a:ext cx="0" cy="136"/>
                    </a:xfrm>
                    <a:prstGeom prst="straightConnector1">
                      <a:avLst/>
                    </a:prstGeom>
                    <a:noFill/>
                    <a:ln w="25400">
                      <a:solidFill>
                        <a:srgbClr val="000000"/>
                      </a:solidFill>
                      <a:round/>
                    </a:ln>
                  </p:spPr>
                </p:cxnSp>
              </p:grpSp>
            </p:grpSp>
            <p:grpSp>
              <p:nvGrpSpPr>
                <p:cNvPr id="69920" name="Group 227"/>
                <p:cNvGrpSpPr/>
                <p:nvPr/>
              </p:nvGrpSpPr>
              <p:grpSpPr bwMode="auto">
                <a:xfrm>
                  <a:off x="1271" y="3158"/>
                  <a:ext cx="548" cy="139"/>
                  <a:chOff x="1271" y="3158"/>
                  <a:chExt cx="548" cy="139"/>
                </a:xfrm>
              </p:grpSpPr>
              <p:cxnSp>
                <p:nvCxnSpPr>
                  <p:cNvPr id="57443" name="AutoShape 228"/>
                  <p:cNvCxnSpPr>
                    <a:cxnSpLocks noChangeShapeType="1"/>
                  </p:cNvCxnSpPr>
                  <p:nvPr/>
                </p:nvCxnSpPr>
                <p:spPr bwMode="auto">
                  <a:xfrm rot="16200000" flipV="1">
                    <a:off x="1597" y="3192"/>
                    <a:ext cx="128" cy="75"/>
                  </a:xfrm>
                  <a:prstGeom prst="straightConnector1">
                    <a:avLst/>
                  </a:prstGeom>
                  <a:noFill/>
                  <a:ln w="25400">
                    <a:solidFill>
                      <a:srgbClr val="000000"/>
                    </a:solidFill>
                    <a:round/>
                  </a:ln>
                </p:spPr>
              </p:cxnSp>
              <p:cxnSp>
                <p:nvCxnSpPr>
                  <p:cNvPr id="57444" name="AutoShape 229"/>
                  <p:cNvCxnSpPr>
                    <a:cxnSpLocks noChangeShapeType="1"/>
                    <a:stCxn id="57462" idx="3"/>
                    <a:endCxn id="57460" idx="4"/>
                  </p:cNvCxnSpPr>
                  <p:nvPr/>
                </p:nvCxnSpPr>
                <p:spPr bwMode="auto">
                  <a:xfrm flipV="1">
                    <a:off x="1409" y="3158"/>
                    <a:ext cx="69" cy="139"/>
                  </a:xfrm>
                  <a:prstGeom prst="straightConnector1">
                    <a:avLst/>
                  </a:prstGeom>
                  <a:noFill/>
                  <a:ln w="25400">
                    <a:solidFill>
                      <a:srgbClr val="000000"/>
                    </a:solidFill>
                    <a:round/>
                  </a:ln>
                </p:spPr>
              </p:cxnSp>
              <p:cxnSp>
                <p:nvCxnSpPr>
                  <p:cNvPr id="57445" name="AutoShape 230"/>
                  <p:cNvCxnSpPr>
                    <a:cxnSpLocks noChangeShapeType="1"/>
                    <a:stCxn id="57460" idx="4"/>
                  </p:cNvCxnSpPr>
                  <p:nvPr/>
                </p:nvCxnSpPr>
                <p:spPr bwMode="auto">
                  <a:xfrm>
                    <a:off x="1478" y="3158"/>
                    <a:ext cx="152" cy="1"/>
                  </a:xfrm>
                  <a:prstGeom prst="straightConnector1">
                    <a:avLst/>
                  </a:prstGeom>
                  <a:noFill/>
                  <a:ln w="25400">
                    <a:solidFill>
                      <a:srgbClr val="000000"/>
                    </a:solidFill>
                    <a:round/>
                  </a:ln>
                </p:spPr>
              </p:cxnSp>
              <p:cxnSp>
                <p:nvCxnSpPr>
                  <p:cNvPr id="57446" name="AutoShape 231"/>
                  <p:cNvCxnSpPr>
                    <a:cxnSpLocks noChangeShapeType="1"/>
                    <a:stCxn id="57462" idx="4"/>
                    <a:endCxn id="57460" idx="5"/>
                  </p:cNvCxnSpPr>
                  <p:nvPr/>
                </p:nvCxnSpPr>
                <p:spPr bwMode="auto">
                  <a:xfrm flipV="1">
                    <a:off x="1271" y="3295"/>
                    <a:ext cx="139" cy="2"/>
                  </a:xfrm>
                  <a:prstGeom prst="straightConnector1">
                    <a:avLst/>
                  </a:prstGeom>
                  <a:noFill/>
                  <a:ln w="25400">
                    <a:solidFill>
                      <a:srgbClr val="000000"/>
                    </a:solidFill>
                    <a:round/>
                  </a:ln>
                </p:spPr>
              </p:cxnSp>
              <p:cxnSp>
                <p:nvCxnSpPr>
                  <p:cNvPr id="57447" name="AutoShape 232"/>
                  <p:cNvCxnSpPr>
                    <a:cxnSpLocks noChangeShapeType="1"/>
                    <a:stCxn id="57460" idx="2"/>
                    <a:endCxn id="57459" idx="3"/>
                  </p:cNvCxnSpPr>
                  <p:nvPr/>
                </p:nvCxnSpPr>
                <p:spPr bwMode="auto">
                  <a:xfrm>
                    <a:off x="1684" y="3295"/>
                    <a:ext cx="135" cy="1"/>
                  </a:xfrm>
                  <a:prstGeom prst="straightConnector1">
                    <a:avLst/>
                  </a:prstGeom>
                  <a:noFill/>
                  <a:ln w="25400">
                    <a:solidFill>
                      <a:srgbClr val="000000"/>
                    </a:solidFill>
                    <a:round/>
                  </a:ln>
                </p:spPr>
              </p:cxnSp>
            </p:grpSp>
          </p:grpSp>
          <p:grpSp>
            <p:nvGrpSpPr>
              <p:cNvPr id="69921" name="Group 233"/>
              <p:cNvGrpSpPr/>
              <p:nvPr/>
            </p:nvGrpSpPr>
            <p:grpSpPr bwMode="auto">
              <a:xfrm>
                <a:off x="1020" y="2840"/>
                <a:ext cx="771" cy="550"/>
                <a:chOff x="1202" y="3158"/>
                <a:chExt cx="685" cy="550"/>
              </a:xfrm>
            </p:grpSpPr>
            <p:grpSp>
              <p:nvGrpSpPr>
                <p:cNvPr id="69922" name="Group 234"/>
                <p:cNvGrpSpPr/>
                <p:nvPr/>
              </p:nvGrpSpPr>
              <p:grpSpPr bwMode="auto">
                <a:xfrm rot="-5400000">
                  <a:off x="1270" y="3090"/>
                  <a:ext cx="550" cy="685"/>
                  <a:chOff x="1246" y="3110"/>
                  <a:chExt cx="550" cy="685"/>
                </a:xfrm>
              </p:grpSpPr>
              <p:grpSp>
                <p:nvGrpSpPr>
                  <p:cNvPr id="69923" name="Group 235"/>
                  <p:cNvGrpSpPr/>
                  <p:nvPr/>
                </p:nvGrpSpPr>
                <p:grpSpPr bwMode="auto">
                  <a:xfrm>
                    <a:off x="1246" y="3110"/>
                    <a:ext cx="550" cy="685"/>
                    <a:chOff x="1246" y="3110"/>
                    <a:chExt cx="550" cy="685"/>
                  </a:xfrm>
                </p:grpSpPr>
                <p:sp>
                  <p:nvSpPr>
                    <p:cNvPr id="57437" name="Freeform 236"/>
                    <p:cNvSpPr/>
                    <p:nvPr/>
                  </p:nvSpPr>
                  <p:spPr bwMode="auto">
                    <a:xfrm>
                      <a:off x="1383" y="3521"/>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438" name="Freeform 237"/>
                    <p:cNvSpPr/>
                    <p:nvPr/>
                  </p:nvSpPr>
                  <p:spPr bwMode="auto">
                    <a:xfrm>
                      <a:off x="1521" y="3317"/>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439" name="Freeform 238"/>
                    <p:cNvSpPr/>
                    <p:nvPr/>
                  </p:nvSpPr>
                  <p:spPr bwMode="auto">
                    <a:xfrm>
                      <a:off x="1246" y="3315"/>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440" name="Freeform 239"/>
                    <p:cNvSpPr/>
                    <p:nvPr/>
                  </p:nvSpPr>
                  <p:spPr bwMode="auto">
                    <a:xfrm>
                      <a:off x="1383" y="3110"/>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grpSp>
              <p:grpSp>
                <p:nvGrpSpPr>
                  <p:cNvPr id="69924" name="Group 240"/>
                  <p:cNvGrpSpPr/>
                  <p:nvPr/>
                </p:nvGrpSpPr>
                <p:grpSpPr bwMode="auto">
                  <a:xfrm>
                    <a:off x="1246" y="3110"/>
                    <a:ext cx="410" cy="680"/>
                    <a:chOff x="1246" y="3110"/>
                    <a:chExt cx="410" cy="680"/>
                  </a:xfrm>
                </p:grpSpPr>
                <p:cxnSp>
                  <p:nvCxnSpPr>
                    <p:cNvPr id="57428" name="AutoShape 241"/>
                    <p:cNvCxnSpPr>
                      <a:cxnSpLocks noChangeShapeType="1"/>
                    </p:cNvCxnSpPr>
                    <p:nvPr/>
                  </p:nvCxnSpPr>
                  <p:spPr bwMode="auto">
                    <a:xfrm flipV="1">
                      <a:off x="1382" y="3110"/>
                      <a:ext cx="138" cy="68"/>
                    </a:xfrm>
                    <a:prstGeom prst="straightConnector1">
                      <a:avLst/>
                    </a:prstGeom>
                    <a:noFill/>
                    <a:ln w="25400">
                      <a:solidFill>
                        <a:srgbClr val="000000"/>
                      </a:solidFill>
                      <a:round/>
                    </a:ln>
                  </p:spPr>
                </p:cxnSp>
                <p:cxnSp>
                  <p:nvCxnSpPr>
                    <p:cNvPr id="57429" name="AutoShape 242"/>
                    <p:cNvCxnSpPr>
                      <a:cxnSpLocks noChangeShapeType="1"/>
                    </p:cNvCxnSpPr>
                    <p:nvPr/>
                  </p:nvCxnSpPr>
                  <p:spPr bwMode="auto">
                    <a:xfrm flipV="1">
                      <a:off x="1518" y="3722"/>
                      <a:ext cx="138" cy="68"/>
                    </a:xfrm>
                    <a:prstGeom prst="straightConnector1">
                      <a:avLst/>
                    </a:prstGeom>
                    <a:noFill/>
                    <a:ln w="25400">
                      <a:solidFill>
                        <a:srgbClr val="000000"/>
                      </a:solidFill>
                      <a:round/>
                    </a:ln>
                  </p:spPr>
                </p:cxnSp>
                <p:cxnSp>
                  <p:nvCxnSpPr>
                    <p:cNvPr id="57430" name="AutoShape 243"/>
                    <p:cNvCxnSpPr>
                      <a:cxnSpLocks noChangeShapeType="1"/>
                    </p:cNvCxnSpPr>
                    <p:nvPr/>
                  </p:nvCxnSpPr>
                  <p:spPr bwMode="auto">
                    <a:xfrm flipV="1">
                      <a:off x="1246" y="3314"/>
                      <a:ext cx="138" cy="68"/>
                    </a:xfrm>
                    <a:prstGeom prst="straightConnector1">
                      <a:avLst/>
                    </a:prstGeom>
                    <a:noFill/>
                    <a:ln w="25400">
                      <a:solidFill>
                        <a:srgbClr val="000000"/>
                      </a:solidFill>
                      <a:round/>
                    </a:ln>
                  </p:spPr>
                </p:cxnSp>
                <p:cxnSp>
                  <p:nvCxnSpPr>
                    <p:cNvPr id="57431" name="AutoShape 244"/>
                    <p:cNvCxnSpPr>
                      <a:cxnSpLocks noChangeShapeType="1"/>
                    </p:cNvCxnSpPr>
                    <p:nvPr/>
                  </p:nvCxnSpPr>
                  <p:spPr bwMode="auto">
                    <a:xfrm>
                      <a:off x="1246" y="3518"/>
                      <a:ext cx="137" cy="69"/>
                    </a:xfrm>
                    <a:prstGeom prst="straightConnector1">
                      <a:avLst/>
                    </a:prstGeom>
                    <a:noFill/>
                    <a:ln w="25400">
                      <a:solidFill>
                        <a:srgbClr val="000000"/>
                      </a:solidFill>
                      <a:round/>
                    </a:ln>
                  </p:spPr>
                </p:cxnSp>
                <p:cxnSp>
                  <p:nvCxnSpPr>
                    <p:cNvPr id="57432" name="AutoShape 245"/>
                    <p:cNvCxnSpPr>
                      <a:cxnSpLocks noChangeShapeType="1"/>
                    </p:cNvCxnSpPr>
                    <p:nvPr/>
                  </p:nvCxnSpPr>
                  <p:spPr bwMode="auto">
                    <a:xfrm>
                      <a:off x="1382" y="3721"/>
                      <a:ext cx="137" cy="69"/>
                    </a:xfrm>
                    <a:prstGeom prst="straightConnector1">
                      <a:avLst/>
                    </a:prstGeom>
                    <a:noFill/>
                    <a:ln w="25400">
                      <a:solidFill>
                        <a:srgbClr val="000000"/>
                      </a:solidFill>
                      <a:round/>
                    </a:ln>
                  </p:spPr>
                </p:cxnSp>
                <p:cxnSp>
                  <p:nvCxnSpPr>
                    <p:cNvPr id="57433" name="AutoShape 246"/>
                    <p:cNvCxnSpPr>
                      <a:cxnSpLocks noChangeShapeType="1"/>
                    </p:cNvCxnSpPr>
                    <p:nvPr/>
                  </p:nvCxnSpPr>
                  <p:spPr bwMode="auto">
                    <a:xfrm>
                      <a:off x="1518" y="3110"/>
                      <a:ext cx="137" cy="69"/>
                    </a:xfrm>
                    <a:prstGeom prst="straightConnector1">
                      <a:avLst/>
                    </a:prstGeom>
                    <a:noFill/>
                    <a:ln w="25400">
                      <a:solidFill>
                        <a:srgbClr val="000000"/>
                      </a:solidFill>
                      <a:round/>
                    </a:ln>
                  </p:spPr>
                </p:cxnSp>
                <p:cxnSp>
                  <p:nvCxnSpPr>
                    <p:cNvPr id="57434" name="AutoShape 247"/>
                    <p:cNvCxnSpPr>
                      <a:cxnSpLocks noChangeShapeType="1"/>
                      <a:stCxn id="57440" idx="6"/>
                      <a:endCxn id="57440" idx="1"/>
                    </p:cNvCxnSpPr>
                    <p:nvPr/>
                  </p:nvCxnSpPr>
                  <p:spPr bwMode="auto">
                    <a:xfrm>
                      <a:off x="1383" y="3179"/>
                      <a:ext cx="0" cy="137"/>
                    </a:xfrm>
                    <a:prstGeom prst="straightConnector1">
                      <a:avLst/>
                    </a:prstGeom>
                    <a:noFill/>
                    <a:ln w="25400">
                      <a:solidFill>
                        <a:srgbClr val="000000"/>
                      </a:solidFill>
                      <a:round/>
                    </a:ln>
                  </p:spPr>
                </p:cxnSp>
                <p:cxnSp>
                  <p:nvCxnSpPr>
                    <p:cNvPr id="57435" name="AutoShape 248"/>
                    <p:cNvCxnSpPr>
                      <a:cxnSpLocks noChangeShapeType="1"/>
                      <a:stCxn id="57439" idx="6"/>
                    </p:cNvCxnSpPr>
                    <p:nvPr/>
                  </p:nvCxnSpPr>
                  <p:spPr bwMode="auto">
                    <a:xfrm>
                      <a:off x="1246" y="3384"/>
                      <a:ext cx="0" cy="134"/>
                    </a:xfrm>
                    <a:prstGeom prst="straightConnector1">
                      <a:avLst/>
                    </a:prstGeom>
                    <a:noFill/>
                    <a:ln w="25400">
                      <a:solidFill>
                        <a:srgbClr val="000000"/>
                      </a:solidFill>
                      <a:round/>
                    </a:ln>
                  </p:spPr>
                </p:cxnSp>
                <p:cxnSp>
                  <p:nvCxnSpPr>
                    <p:cNvPr id="57436" name="AutoShape 249"/>
                    <p:cNvCxnSpPr>
                      <a:cxnSpLocks noChangeShapeType="1"/>
                      <a:stCxn id="57439" idx="2"/>
                      <a:endCxn id="57437" idx="1"/>
                    </p:cNvCxnSpPr>
                    <p:nvPr/>
                  </p:nvCxnSpPr>
                  <p:spPr bwMode="auto">
                    <a:xfrm>
                      <a:off x="1383" y="3590"/>
                      <a:ext cx="0" cy="136"/>
                    </a:xfrm>
                    <a:prstGeom prst="straightConnector1">
                      <a:avLst/>
                    </a:prstGeom>
                    <a:noFill/>
                    <a:ln w="25400">
                      <a:solidFill>
                        <a:srgbClr val="000000"/>
                      </a:solidFill>
                      <a:round/>
                    </a:ln>
                  </p:spPr>
                </p:cxnSp>
              </p:grpSp>
            </p:grpSp>
            <p:grpSp>
              <p:nvGrpSpPr>
                <p:cNvPr id="69925" name="Group 250"/>
                <p:cNvGrpSpPr/>
                <p:nvPr/>
              </p:nvGrpSpPr>
              <p:grpSpPr bwMode="auto">
                <a:xfrm>
                  <a:off x="1271" y="3158"/>
                  <a:ext cx="548" cy="139"/>
                  <a:chOff x="1271" y="3158"/>
                  <a:chExt cx="548" cy="139"/>
                </a:xfrm>
              </p:grpSpPr>
              <p:cxnSp>
                <p:nvCxnSpPr>
                  <p:cNvPr id="57421" name="AutoShape 251"/>
                  <p:cNvCxnSpPr>
                    <a:cxnSpLocks noChangeShapeType="1"/>
                  </p:cNvCxnSpPr>
                  <p:nvPr/>
                </p:nvCxnSpPr>
                <p:spPr bwMode="auto">
                  <a:xfrm rot="16200000" flipV="1">
                    <a:off x="1597" y="3192"/>
                    <a:ext cx="128" cy="75"/>
                  </a:xfrm>
                  <a:prstGeom prst="straightConnector1">
                    <a:avLst/>
                  </a:prstGeom>
                  <a:noFill/>
                  <a:ln w="25400">
                    <a:solidFill>
                      <a:srgbClr val="000000"/>
                    </a:solidFill>
                    <a:round/>
                  </a:ln>
                </p:spPr>
              </p:cxnSp>
              <p:cxnSp>
                <p:nvCxnSpPr>
                  <p:cNvPr id="57422" name="AutoShape 252"/>
                  <p:cNvCxnSpPr>
                    <a:cxnSpLocks noChangeShapeType="1"/>
                    <a:stCxn id="57440" idx="3"/>
                    <a:endCxn id="57438" idx="4"/>
                  </p:cNvCxnSpPr>
                  <p:nvPr/>
                </p:nvCxnSpPr>
                <p:spPr bwMode="auto">
                  <a:xfrm flipV="1">
                    <a:off x="1409" y="3158"/>
                    <a:ext cx="69" cy="139"/>
                  </a:xfrm>
                  <a:prstGeom prst="straightConnector1">
                    <a:avLst/>
                  </a:prstGeom>
                  <a:noFill/>
                  <a:ln w="25400">
                    <a:solidFill>
                      <a:srgbClr val="000000"/>
                    </a:solidFill>
                    <a:round/>
                  </a:ln>
                </p:spPr>
              </p:cxnSp>
              <p:cxnSp>
                <p:nvCxnSpPr>
                  <p:cNvPr id="57423" name="AutoShape 253"/>
                  <p:cNvCxnSpPr>
                    <a:cxnSpLocks noChangeShapeType="1"/>
                    <a:stCxn id="57438" idx="4"/>
                  </p:cNvCxnSpPr>
                  <p:nvPr/>
                </p:nvCxnSpPr>
                <p:spPr bwMode="auto">
                  <a:xfrm>
                    <a:off x="1478" y="3158"/>
                    <a:ext cx="152" cy="1"/>
                  </a:xfrm>
                  <a:prstGeom prst="straightConnector1">
                    <a:avLst/>
                  </a:prstGeom>
                  <a:noFill/>
                  <a:ln w="25400">
                    <a:solidFill>
                      <a:srgbClr val="000000"/>
                    </a:solidFill>
                    <a:round/>
                  </a:ln>
                </p:spPr>
              </p:cxnSp>
              <p:cxnSp>
                <p:nvCxnSpPr>
                  <p:cNvPr id="57424" name="AutoShape 254"/>
                  <p:cNvCxnSpPr>
                    <a:cxnSpLocks noChangeShapeType="1"/>
                    <a:stCxn id="57440" idx="4"/>
                    <a:endCxn id="57438" idx="5"/>
                  </p:cNvCxnSpPr>
                  <p:nvPr/>
                </p:nvCxnSpPr>
                <p:spPr bwMode="auto">
                  <a:xfrm flipV="1">
                    <a:off x="1271" y="3295"/>
                    <a:ext cx="139" cy="2"/>
                  </a:xfrm>
                  <a:prstGeom prst="straightConnector1">
                    <a:avLst/>
                  </a:prstGeom>
                  <a:noFill/>
                  <a:ln w="25400">
                    <a:solidFill>
                      <a:srgbClr val="000000"/>
                    </a:solidFill>
                    <a:round/>
                  </a:ln>
                </p:spPr>
              </p:cxnSp>
              <p:cxnSp>
                <p:nvCxnSpPr>
                  <p:cNvPr id="57425" name="AutoShape 255"/>
                  <p:cNvCxnSpPr>
                    <a:cxnSpLocks noChangeShapeType="1"/>
                    <a:stCxn id="57438" idx="2"/>
                    <a:endCxn id="57437" idx="3"/>
                  </p:cNvCxnSpPr>
                  <p:nvPr/>
                </p:nvCxnSpPr>
                <p:spPr bwMode="auto">
                  <a:xfrm>
                    <a:off x="1684" y="3295"/>
                    <a:ext cx="135" cy="1"/>
                  </a:xfrm>
                  <a:prstGeom prst="straightConnector1">
                    <a:avLst/>
                  </a:prstGeom>
                  <a:noFill/>
                  <a:ln w="25400">
                    <a:solidFill>
                      <a:srgbClr val="000000"/>
                    </a:solidFill>
                    <a:round/>
                  </a:ln>
                </p:spPr>
              </p:cxnSp>
            </p:grpSp>
          </p:grpSp>
          <p:grpSp>
            <p:nvGrpSpPr>
              <p:cNvPr id="69926" name="Group 256"/>
              <p:cNvGrpSpPr/>
              <p:nvPr/>
            </p:nvGrpSpPr>
            <p:grpSpPr bwMode="auto">
              <a:xfrm>
                <a:off x="567" y="2563"/>
                <a:ext cx="771" cy="550"/>
                <a:chOff x="1202" y="3158"/>
                <a:chExt cx="685" cy="550"/>
              </a:xfrm>
            </p:grpSpPr>
            <p:grpSp>
              <p:nvGrpSpPr>
                <p:cNvPr id="69927" name="Group 257"/>
                <p:cNvGrpSpPr/>
                <p:nvPr/>
              </p:nvGrpSpPr>
              <p:grpSpPr bwMode="auto">
                <a:xfrm rot="-5400000">
                  <a:off x="1270" y="3090"/>
                  <a:ext cx="550" cy="685"/>
                  <a:chOff x="1246" y="3110"/>
                  <a:chExt cx="550" cy="685"/>
                </a:xfrm>
              </p:grpSpPr>
              <p:grpSp>
                <p:nvGrpSpPr>
                  <p:cNvPr id="69928" name="Group 258"/>
                  <p:cNvGrpSpPr/>
                  <p:nvPr/>
                </p:nvGrpSpPr>
                <p:grpSpPr bwMode="auto">
                  <a:xfrm>
                    <a:off x="1246" y="3110"/>
                    <a:ext cx="550" cy="685"/>
                    <a:chOff x="1246" y="3110"/>
                    <a:chExt cx="550" cy="685"/>
                  </a:xfrm>
                </p:grpSpPr>
                <p:sp>
                  <p:nvSpPr>
                    <p:cNvPr id="57415" name="Freeform 259"/>
                    <p:cNvSpPr/>
                    <p:nvPr/>
                  </p:nvSpPr>
                  <p:spPr bwMode="auto">
                    <a:xfrm>
                      <a:off x="1383" y="3521"/>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416" name="Freeform 260"/>
                    <p:cNvSpPr/>
                    <p:nvPr/>
                  </p:nvSpPr>
                  <p:spPr bwMode="auto">
                    <a:xfrm>
                      <a:off x="1521" y="3317"/>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417" name="Freeform 261"/>
                    <p:cNvSpPr/>
                    <p:nvPr/>
                  </p:nvSpPr>
                  <p:spPr bwMode="auto">
                    <a:xfrm>
                      <a:off x="1246" y="3315"/>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418" name="Freeform 262"/>
                    <p:cNvSpPr/>
                    <p:nvPr/>
                  </p:nvSpPr>
                  <p:spPr bwMode="auto">
                    <a:xfrm>
                      <a:off x="1383" y="3110"/>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grpSp>
              <p:grpSp>
                <p:nvGrpSpPr>
                  <p:cNvPr id="69929" name="Group 263"/>
                  <p:cNvGrpSpPr/>
                  <p:nvPr/>
                </p:nvGrpSpPr>
                <p:grpSpPr bwMode="auto">
                  <a:xfrm>
                    <a:off x="1246" y="3110"/>
                    <a:ext cx="410" cy="680"/>
                    <a:chOff x="1246" y="3110"/>
                    <a:chExt cx="410" cy="680"/>
                  </a:xfrm>
                </p:grpSpPr>
                <p:cxnSp>
                  <p:nvCxnSpPr>
                    <p:cNvPr id="57406" name="AutoShape 264"/>
                    <p:cNvCxnSpPr>
                      <a:cxnSpLocks noChangeShapeType="1"/>
                    </p:cNvCxnSpPr>
                    <p:nvPr/>
                  </p:nvCxnSpPr>
                  <p:spPr bwMode="auto">
                    <a:xfrm flipV="1">
                      <a:off x="1382" y="3110"/>
                      <a:ext cx="138" cy="68"/>
                    </a:xfrm>
                    <a:prstGeom prst="straightConnector1">
                      <a:avLst/>
                    </a:prstGeom>
                    <a:noFill/>
                    <a:ln w="25400">
                      <a:solidFill>
                        <a:srgbClr val="000000"/>
                      </a:solidFill>
                      <a:round/>
                    </a:ln>
                  </p:spPr>
                </p:cxnSp>
                <p:cxnSp>
                  <p:nvCxnSpPr>
                    <p:cNvPr id="57407" name="AutoShape 265"/>
                    <p:cNvCxnSpPr>
                      <a:cxnSpLocks noChangeShapeType="1"/>
                    </p:cNvCxnSpPr>
                    <p:nvPr/>
                  </p:nvCxnSpPr>
                  <p:spPr bwMode="auto">
                    <a:xfrm flipV="1">
                      <a:off x="1518" y="3722"/>
                      <a:ext cx="138" cy="68"/>
                    </a:xfrm>
                    <a:prstGeom prst="straightConnector1">
                      <a:avLst/>
                    </a:prstGeom>
                    <a:noFill/>
                    <a:ln w="25400">
                      <a:solidFill>
                        <a:srgbClr val="000000"/>
                      </a:solidFill>
                      <a:round/>
                    </a:ln>
                  </p:spPr>
                </p:cxnSp>
                <p:cxnSp>
                  <p:nvCxnSpPr>
                    <p:cNvPr id="57408" name="AutoShape 266"/>
                    <p:cNvCxnSpPr>
                      <a:cxnSpLocks noChangeShapeType="1"/>
                    </p:cNvCxnSpPr>
                    <p:nvPr/>
                  </p:nvCxnSpPr>
                  <p:spPr bwMode="auto">
                    <a:xfrm flipV="1">
                      <a:off x="1246" y="3314"/>
                      <a:ext cx="138" cy="68"/>
                    </a:xfrm>
                    <a:prstGeom prst="straightConnector1">
                      <a:avLst/>
                    </a:prstGeom>
                    <a:noFill/>
                    <a:ln w="25400">
                      <a:solidFill>
                        <a:srgbClr val="000000"/>
                      </a:solidFill>
                      <a:round/>
                    </a:ln>
                  </p:spPr>
                </p:cxnSp>
                <p:cxnSp>
                  <p:nvCxnSpPr>
                    <p:cNvPr id="57409" name="AutoShape 267"/>
                    <p:cNvCxnSpPr>
                      <a:cxnSpLocks noChangeShapeType="1"/>
                    </p:cNvCxnSpPr>
                    <p:nvPr/>
                  </p:nvCxnSpPr>
                  <p:spPr bwMode="auto">
                    <a:xfrm>
                      <a:off x="1246" y="3518"/>
                      <a:ext cx="137" cy="69"/>
                    </a:xfrm>
                    <a:prstGeom prst="straightConnector1">
                      <a:avLst/>
                    </a:prstGeom>
                    <a:noFill/>
                    <a:ln w="25400">
                      <a:solidFill>
                        <a:srgbClr val="000000"/>
                      </a:solidFill>
                      <a:round/>
                    </a:ln>
                  </p:spPr>
                </p:cxnSp>
                <p:cxnSp>
                  <p:nvCxnSpPr>
                    <p:cNvPr id="57410" name="AutoShape 268"/>
                    <p:cNvCxnSpPr>
                      <a:cxnSpLocks noChangeShapeType="1"/>
                    </p:cNvCxnSpPr>
                    <p:nvPr/>
                  </p:nvCxnSpPr>
                  <p:spPr bwMode="auto">
                    <a:xfrm>
                      <a:off x="1382" y="3721"/>
                      <a:ext cx="137" cy="69"/>
                    </a:xfrm>
                    <a:prstGeom prst="straightConnector1">
                      <a:avLst/>
                    </a:prstGeom>
                    <a:noFill/>
                    <a:ln w="25400">
                      <a:solidFill>
                        <a:srgbClr val="000000"/>
                      </a:solidFill>
                      <a:round/>
                    </a:ln>
                  </p:spPr>
                </p:cxnSp>
                <p:cxnSp>
                  <p:nvCxnSpPr>
                    <p:cNvPr id="57411" name="AutoShape 269"/>
                    <p:cNvCxnSpPr>
                      <a:cxnSpLocks noChangeShapeType="1"/>
                    </p:cNvCxnSpPr>
                    <p:nvPr/>
                  </p:nvCxnSpPr>
                  <p:spPr bwMode="auto">
                    <a:xfrm>
                      <a:off x="1518" y="3110"/>
                      <a:ext cx="137" cy="69"/>
                    </a:xfrm>
                    <a:prstGeom prst="straightConnector1">
                      <a:avLst/>
                    </a:prstGeom>
                    <a:noFill/>
                    <a:ln w="25400">
                      <a:solidFill>
                        <a:srgbClr val="000000"/>
                      </a:solidFill>
                      <a:round/>
                    </a:ln>
                  </p:spPr>
                </p:cxnSp>
                <p:cxnSp>
                  <p:nvCxnSpPr>
                    <p:cNvPr id="57412" name="AutoShape 270"/>
                    <p:cNvCxnSpPr>
                      <a:cxnSpLocks noChangeShapeType="1"/>
                      <a:stCxn id="57418" idx="6"/>
                      <a:endCxn id="57418" idx="1"/>
                    </p:cNvCxnSpPr>
                    <p:nvPr/>
                  </p:nvCxnSpPr>
                  <p:spPr bwMode="auto">
                    <a:xfrm>
                      <a:off x="1383" y="3179"/>
                      <a:ext cx="0" cy="137"/>
                    </a:xfrm>
                    <a:prstGeom prst="straightConnector1">
                      <a:avLst/>
                    </a:prstGeom>
                    <a:noFill/>
                    <a:ln w="25400">
                      <a:solidFill>
                        <a:srgbClr val="000000"/>
                      </a:solidFill>
                      <a:round/>
                    </a:ln>
                  </p:spPr>
                </p:cxnSp>
                <p:cxnSp>
                  <p:nvCxnSpPr>
                    <p:cNvPr id="57413" name="AutoShape 271"/>
                    <p:cNvCxnSpPr>
                      <a:cxnSpLocks noChangeShapeType="1"/>
                      <a:stCxn id="57417" idx="6"/>
                    </p:cNvCxnSpPr>
                    <p:nvPr/>
                  </p:nvCxnSpPr>
                  <p:spPr bwMode="auto">
                    <a:xfrm>
                      <a:off x="1246" y="3384"/>
                      <a:ext cx="0" cy="134"/>
                    </a:xfrm>
                    <a:prstGeom prst="straightConnector1">
                      <a:avLst/>
                    </a:prstGeom>
                    <a:noFill/>
                    <a:ln w="25400">
                      <a:solidFill>
                        <a:srgbClr val="000000"/>
                      </a:solidFill>
                      <a:round/>
                    </a:ln>
                  </p:spPr>
                </p:cxnSp>
                <p:cxnSp>
                  <p:nvCxnSpPr>
                    <p:cNvPr id="57414" name="AutoShape 272"/>
                    <p:cNvCxnSpPr>
                      <a:cxnSpLocks noChangeShapeType="1"/>
                      <a:stCxn id="57417" idx="2"/>
                      <a:endCxn id="57415" idx="1"/>
                    </p:cNvCxnSpPr>
                    <p:nvPr/>
                  </p:nvCxnSpPr>
                  <p:spPr bwMode="auto">
                    <a:xfrm>
                      <a:off x="1383" y="3590"/>
                      <a:ext cx="0" cy="136"/>
                    </a:xfrm>
                    <a:prstGeom prst="straightConnector1">
                      <a:avLst/>
                    </a:prstGeom>
                    <a:noFill/>
                    <a:ln w="25400">
                      <a:solidFill>
                        <a:srgbClr val="000000"/>
                      </a:solidFill>
                      <a:round/>
                    </a:ln>
                  </p:spPr>
                </p:cxnSp>
              </p:grpSp>
            </p:grpSp>
            <p:grpSp>
              <p:nvGrpSpPr>
                <p:cNvPr id="69930" name="Group 273"/>
                <p:cNvGrpSpPr/>
                <p:nvPr/>
              </p:nvGrpSpPr>
              <p:grpSpPr bwMode="auto">
                <a:xfrm>
                  <a:off x="1271" y="3158"/>
                  <a:ext cx="548" cy="139"/>
                  <a:chOff x="1271" y="3158"/>
                  <a:chExt cx="548" cy="139"/>
                </a:xfrm>
              </p:grpSpPr>
              <p:cxnSp>
                <p:nvCxnSpPr>
                  <p:cNvPr id="57399" name="AutoShape 274"/>
                  <p:cNvCxnSpPr>
                    <a:cxnSpLocks noChangeShapeType="1"/>
                  </p:cNvCxnSpPr>
                  <p:nvPr/>
                </p:nvCxnSpPr>
                <p:spPr bwMode="auto">
                  <a:xfrm rot="16200000" flipV="1">
                    <a:off x="1597" y="3192"/>
                    <a:ext cx="128" cy="75"/>
                  </a:xfrm>
                  <a:prstGeom prst="straightConnector1">
                    <a:avLst/>
                  </a:prstGeom>
                  <a:noFill/>
                  <a:ln w="25400">
                    <a:solidFill>
                      <a:srgbClr val="000000"/>
                    </a:solidFill>
                    <a:round/>
                  </a:ln>
                </p:spPr>
              </p:cxnSp>
              <p:cxnSp>
                <p:nvCxnSpPr>
                  <p:cNvPr id="57400" name="AutoShape 275"/>
                  <p:cNvCxnSpPr>
                    <a:cxnSpLocks noChangeShapeType="1"/>
                    <a:stCxn id="57418" idx="3"/>
                    <a:endCxn id="57416" idx="4"/>
                  </p:cNvCxnSpPr>
                  <p:nvPr/>
                </p:nvCxnSpPr>
                <p:spPr bwMode="auto">
                  <a:xfrm flipV="1">
                    <a:off x="1409" y="3158"/>
                    <a:ext cx="69" cy="139"/>
                  </a:xfrm>
                  <a:prstGeom prst="straightConnector1">
                    <a:avLst/>
                  </a:prstGeom>
                  <a:noFill/>
                  <a:ln w="25400">
                    <a:solidFill>
                      <a:srgbClr val="000000"/>
                    </a:solidFill>
                    <a:round/>
                  </a:ln>
                </p:spPr>
              </p:cxnSp>
              <p:cxnSp>
                <p:nvCxnSpPr>
                  <p:cNvPr id="57401" name="AutoShape 276"/>
                  <p:cNvCxnSpPr>
                    <a:cxnSpLocks noChangeShapeType="1"/>
                    <a:stCxn id="57416" idx="4"/>
                  </p:cNvCxnSpPr>
                  <p:nvPr/>
                </p:nvCxnSpPr>
                <p:spPr bwMode="auto">
                  <a:xfrm>
                    <a:off x="1478" y="3158"/>
                    <a:ext cx="152" cy="1"/>
                  </a:xfrm>
                  <a:prstGeom prst="straightConnector1">
                    <a:avLst/>
                  </a:prstGeom>
                  <a:noFill/>
                  <a:ln w="25400">
                    <a:solidFill>
                      <a:srgbClr val="000000"/>
                    </a:solidFill>
                    <a:round/>
                  </a:ln>
                </p:spPr>
              </p:cxnSp>
              <p:cxnSp>
                <p:nvCxnSpPr>
                  <p:cNvPr id="57402" name="AutoShape 277"/>
                  <p:cNvCxnSpPr>
                    <a:cxnSpLocks noChangeShapeType="1"/>
                    <a:stCxn id="57418" idx="4"/>
                    <a:endCxn id="57416" idx="5"/>
                  </p:cNvCxnSpPr>
                  <p:nvPr/>
                </p:nvCxnSpPr>
                <p:spPr bwMode="auto">
                  <a:xfrm flipV="1">
                    <a:off x="1271" y="3295"/>
                    <a:ext cx="139" cy="2"/>
                  </a:xfrm>
                  <a:prstGeom prst="straightConnector1">
                    <a:avLst/>
                  </a:prstGeom>
                  <a:noFill/>
                  <a:ln w="25400">
                    <a:solidFill>
                      <a:srgbClr val="000000"/>
                    </a:solidFill>
                    <a:round/>
                  </a:ln>
                </p:spPr>
              </p:cxnSp>
              <p:cxnSp>
                <p:nvCxnSpPr>
                  <p:cNvPr id="57403" name="AutoShape 278"/>
                  <p:cNvCxnSpPr>
                    <a:cxnSpLocks noChangeShapeType="1"/>
                    <a:stCxn id="57416" idx="2"/>
                    <a:endCxn id="57415" idx="3"/>
                  </p:cNvCxnSpPr>
                  <p:nvPr/>
                </p:nvCxnSpPr>
                <p:spPr bwMode="auto">
                  <a:xfrm>
                    <a:off x="1684" y="3295"/>
                    <a:ext cx="135" cy="1"/>
                  </a:xfrm>
                  <a:prstGeom prst="straightConnector1">
                    <a:avLst/>
                  </a:prstGeom>
                  <a:noFill/>
                  <a:ln w="25400">
                    <a:solidFill>
                      <a:srgbClr val="000000"/>
                    </a:solidFill>
                    <a:round/>
                  </a:ln>
                </p:spPr>
              </p:cxnSp>
            </p:grpSp>
          </p:grpSp>
          <p:grpSp>
            <p:nvGrpSpPr>
              <p:cNvPr id="69931" name="Group 279"/>
              <p:cNvGrpSpPr/>
              <p:nvPr/>
            </p:nvGrpSpPr>
            <p:grpSpPr bwMode="auto">
              <a:xfrm>
                <a:off x="113" y="2835"/>
                <a:ext cx="771" cy="550"/>
                <a:chOff x="1202" y="3158"/>
                <a:chExt cx="685" cy="550"/>
              </a:xfrm>
            </p:grpSpPr>
            <p:grpSp>
              <p:nvGrpSpPr>
                <p:cNvPr id="69932" name="Group 280"/>
                <p:cNvGrpSpPr/>
                <p:nvPr/>
              </p:nvGrpSpPr>
              <p:grpSpPr bwMode="auto">
                <a:xfrm rot="-5400000">
                  <a:off x="1270" y="3090"/>
                  <a:ext cx="550" cy="685"/>
                  <a:chOff x="1246" y="3110"/>
                  <a:chExt cx="550" cy="685"/>
                </a:xfrm>
              </p:grpSpPr>
              <p:grpSp>
                <p:nvGrpSpPr>
                  <p:cNvPr id="69933" name="Group 281"/>
                  <p:cNvGrpSpPr/>
                  <p:nvPr/>
                </p:nvGrpSpPr>
                <p:grpSpPr bwMode="auto">
                  <a:xfrm>
                    <a:off x="1246" y="3110"/>
                    <a:ext cx="550" cy="685"/>
                    <a:chOff x="1246" y="3110"/>
                    <a:chExt cx="550" cy="685"/>
                  </a:xfrm>
                </p:grpSpPr>
                <p:sp>
                  <p:nvSpPr>
                    <p:cNvPr id="57393" name="Freeform 282"/>
                    <p:cNvSpPr/>
                    <p:nvPr/>
                  </p:nvSpPr>
                  <p:spPr bwMode="auto">
                    <a:xfrm>
                      <a:off x="1383" y="3521"/>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394" name="Freeform 283"/>
                    <p:cNvSpPr/>
                    <p:nvPr/>
                  </p:nvSpPr>
                  <p:spPr bwMode="auto">
                    <a:xfrm>
                      <a:off x="1521" y="3317"/>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395" name="Freeform 284"/>
                    <p:cNvSpPr/>
                    <p:nvPr/>
                  </p:nvSpPr>
                  <p:spPr bwMode="auto">
                    <a:xfrm>
                      <a:off x="1246" y="3315"/>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396" name="Freeform 285"/>
                    <p:cNvSpPr/>
                    <p:nvPr/>
                  </p:nvSpPr>
                  <p:spPr bwMode="auto">
                    <a:xfrm>
                      <a:off x="1383" y="3110"/>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grpSp>
              <p:grpSp>
                <p:nvGrpSpPr>
                  <p:cNvPr id="69934" name="Group 286"/>
                  <p:cNvGrpSpPr/>
                  <p:nvPr/>
                </p:nvGrpSpPr>
                <p:grpSpPr bwMode="auto">
                  <a:xfrm>
                    <a:off x="1246" y="3110"/>
                    <a:ext cx="410" cy="680"/>
                    <a:chOff x="1246" y="3110"/>
                    <a:chExt cx="410" cy="680"/>
                  </a:xfrm>
                </p:grpSpPr>
                <p:cxnSp>
                  <p:nvCxnSpPr>
                    <p:cNvPr id="57384" name="AutoShape 287"/>
                    <p:cNvCxnSpPr>
                      <a:cxnSpLocks noChangeShapeType="1"/>
                    </p:cNvCxnSpPr>
                    <p:nvPr/>
                  </p:nvCxnSpPr>
                  <p:spPr bwMode="auto">
                    <a:xfrm flipV="1">
                      <a:off x="1382" y="3110"/>
                      <a:ext cx="138" cy="68"/>
                    </a:xfrm>
                    <a:prstGeom prst="straightConnector1">
                      <a:avLst/>
                    </a:prstGeom>
                    <a:noFill/>
                    <a:ln w="25400">
                      <a:solidFill>
                        <a:srgbClr val="000000"/>
                      </a:solidFill>
                      <a:round/>
                    </a:ln>
                  </p:spPr>
                </p:cxnSp>
                <p:cxnSp>
                  <p:nvCxnSpPr>
                    <p:cNvPr id="57385" name="AutoShape 288"/>
                    <p:cNvCxnSpPr>
                      <a:cxnSpLocks noChangeShapeType="1"/>
                    </p:cNvCxnSpPr>
                    <p:nvPr/>
                  </p:nvCxnSpPr>
                  <p:spPr bwMode="auto">
                    <a:xfrm flipV="1">
                      <a:off x="1518" y="3722"/>
                      <a:ext cx="138" cy="68"/>
                    </a:xfrm>
                    <a:prstGeom prst="straightConnector1">
                      <a:avLst/>
                    </a:prstGeom>
                    <a:noFill/>
                    <a:ln w="25400">
                      <a:solidFill>
                        <a:srgbClr val="000000"/>
                      </a:solidFill>
                      <a:round/>
                    </a:ln>
                  </p:spPr>
                </p:cxnSp>
                <p:cxnSp>
                  <p:nvCxnSpPr>
                    <p:cNvPr id="57386" name="AutoShape 289"/>
                    <p:cNvCxnSpPr>
                      <a:cxnSpLocks noChangeShapeType="1"/>
                    </p:cNvCxnSpPr>
                    <p:nvPr/>
                  </p:nvCxnSpPr>
                  <p:spPr bwMode="auto">
                    <a:xfrm flipV="1">
                      <a:off x="1246" y="3314"/>
                      <a:ext cx="138" cy="68"/>
                    </a:xfrm>
                    <a:prstGeom prst="straightConnector1">
                      <a:avLst/>
                    </a:prstGeom>
                    <a:noFill/>
                    <a:ln w="25400">
                      <a:solidFill>
                        <a:srgbClr val="000000"/>
                      </a:solidFill>
                      <a:round/>
                    </a:ln>
                  </p:spPr>
                </p:cxnSp>
                <p:cxnSp>
                  <p:nvCxnSpPr>
                    <p:cNvPr id="57387" name="AutoShape 290"/>
                    <p:cNvCxnSpPr>
                      <a:cxnSpLocks noChangeShapeType="1"/>
                    </p:cNvCxnSpPr>
                    <p:nvPr/>
                  </p:nvCxnSpPr>
                  <p:spPr bwMode="auto">
                    <a:xfrm>
                      <a:off x="1246" y="3518"/>
                      <a:ext cx="137" cy="69"/>
                    </a:xfrm>
                    <a:prstGeom prst="straightConnector1">
                      <a:avLst/>
                    </a:prstGeom>
                    <a:noFill/>
                    <a:ln w="25400">
                      <a:solidFill>
                        <a:srgbClr val="000000"/>
                      </a:solidFill>
                      <a:round/>
                    </a:ln>
                  </p:spPr>
                </p:cxnSp>
                <p:cxnSp>
                  <p:nvCxnSpPr>
                    <p:cNvPr id="57388" name="AutoShape 291"/>
                    <p:cNvCxnSpPr>
                      <a:cxnSpLocks noChangeShapeType="1"/>
                    </p:cNvCxnSpPr>
                    <p:nvPr/>
                  </p:nvCxnSpPr>
                  <p:spPr bwMode="auto">
                    <a:xfrm>
                      <a:off x="1382" y="3721"/>
                      <a:ext cx="137" cy="69"/>
                    </a:xfrm>
                    <a:prstGeom prst="straightConnector1">
                      <a:avLst/>
                    </a:prstGeom>
                    <a:noFill/>
                    <a:ln w="25400">
                      <a:solidFill>
                        <a:srgbClr val="000000"/>
                      </a:solidFill>
                      <a:round/>
                    </a:ln>
                  </p:spPr>
                </p:cxnSp>
                <p:cxnSp>
                  <p:nvCxnSpPr>
                    <p:cNvPr id="57389" name="AutoShape 292"/>
                    <p:cNvCxnSpPr>
                      <a:cxnSpLocks noChangeShapeType="1"/>
                    </p:cNvCxnSpPr>
                    <p:nvPr/>
                  </p:nvCxnSpPr>
                  <p:spPr bwMode="auto">
                    <a:xfrm>
                      <a:off x="1518" y="3110"/>
                      <a:ext cx="137" cy="69"/>
                    </a:xfrm>
                    <a:prstGeom prst="straightConnector1">
                      <a:avLst/>
                    </a:prstGeom>
                    <a:noFill/>
                    <a:ln w="25400">
                      <a:solidFill>
                        <a:srgbClr val="000000"/>
                      </a:solidFill>
                      <a:round/>
                    </a:ln>
                  </p:spPr>
                </p:cxnSp>
                <p:cxnSp>
                  <p:nvCxnSpPr>
                    <p:cNvPr id="57390" name="AutoShape 293"/>
                    <p:cNvCxnSpPr>
                      <a:cxnSpLocks noChangeShapeType="1"/>
                      <a:stCxn id="57396" idx="6"/>
                      <a:endCxn id="57396" idx="1"/>
                    </p:cNvCxnSpPr>
                    <p:nvPr/>
                  </p:nvCxnSpPr>
                  <p:spPr bwMode="auto">
                    <a:xfrm>
                      <a:off x="1383" y="3179"/>
                      <a:ext cx="0" cy="137"/>
                    </a:xfrm>
                    <a:prstGeom prst="straightConnector1">
                      <a:avLst/>
                    </a:prstGeom>
                    <a:noFill/>
                    <a:ln w="25400">
                      <a:solidFill>
                        <a:srgbClr val="000000"/>
                      </a:solidFill>
                      <a:round/>
                    </a:ln>
                  </p:spPr>
                </p:cxnSp>
                <p:cxnSp>
                  <p:nvCxnSpPr>
                    <p:cNvPr id="57391" name="AutoShape 294"/>
                    <p:cNvCxnSpPr>
                      <a:cxnSpLocks noChangeShapeType="1"/>
                      <a:stCxn id="57395" idx="6"/>
                    </p:cNvCxnSpPr>
                    <p:nvPr/>
                  </p:nvCxnSpPr>
                  <p:spPr bwMode="auto">
                    <a:xfrm>
                      <a:off x="1246" y="3384"/>
                      <a:ext cx="0" cy="134"/>
                    </a:xfrm>
                    <a:prstGeom prst="straightConnector1">
                      <a:avLst/>
                    </a:prstGeom>
                    <a:noFill/>
                    <a:ln w="25400">
                      <a:solidFill>
                        <a:srgbClr val="000000"/>
                      </a:solidFill>
                      <a:round/>
                    </a:ln>
                  </p:spPr>
                </p:cxnSp>
                <p:cxnSp>
                  <p:nvCxnSpPr>
                    <p:cNvPr id="57392" name="AutoShape 295"/>
                    <p:cNvCxnSpPr>
                      <a:cxnSpLocks noChangeShapeType="1"/>
                      <a:stCxn id="57395" idx="2"/>
                      <a:endCxn id="57393" idx="1"/>
                    </p:cNvCxnSpPr>
                    <p:nvPr/>
                  </p:nvCxnSpPr>
                  <p:spPr bwMode="auto">
                    <a:xfrm>
                      <a:off x="1383" y="3590"/>
                      <a:ext cx="0" cy="136"/>
                    </a:xfrm>
                    <a:prstGeom prst="straightConnector1">
                      <a:avLst/>
                    </a:prstGeom>
                    <a:noFill/>
                    <a:ln w="25400">
                      <a:solidFill>
                        <a:srgbClr val="000000"/>
                      </a:solidFill>
                      <a:round/>
                    </a:ln>
                  </p:spPr>
                </p:cxnSp>
              </p:grpSp>
            </p:grpSp>
            <p:grpSp>
              <p:nvGrpSpPr>
                <p:cNvPr id="69953" name="Group 296"/>
                <p:cNvGrpSpPr/>
                <p:nvPr/>
              </p:nvGrpSpPr>
              <p:grpSpPr bwMode="auto">
                <a:xfrm>
                  <a:off x="1271" y="3158"/>
                  <a:ext cx="548" cy="139"/>
                  <a:chOff x="1271" y="3158"/>
                  <a:chExt cx="548" cy="139"/>
                </a:xfrm>
              </p:grpSpPr>
              <p:cxnSp>
                <p:nvCxnSpPr>
                  <p:cNvPr id="57377" name="AutoShape 297"/>
                  <p:cNvCxnSpPr>
                    <a:cxnSpLocks noChangeShapeType="1"/>
                  </p:cNvCxnSpPr>
                  <p:nvPr/>
                </p:nvCxnSpPr>
                <p:spPr bwMode="auto">
                  <a:xfrm rot="16200000" flipV="1">
                    <a:off x="1597" y="3192"/>
                    <a:ext cx="128" cy="75"/>
                  </a:xfrm>
                  <a:prstGeom prst="straightConnector1">
                    <a:avLst/>
                  </a:prstGeom>
                  <a:noFill/>
                  <a:ln w="25400">
                    <a:solidFill>
                      <a:srgbClr val="000000"/>
                    </a:solidFill>
                    <a:round/>
                  </a:ln>
                </p:spPr>
              </p:cxnSp>
              <p:cxnSp>
                <p:nvCxnSpPr>
                  <p:cNvPr id="57378" name="AutoShape 298"/>
                  <p:cNvCxnSpPr>
                    <a:cxnSpLocks noChangeShapeType="1"/>
                    <a:stCxn id="57396" idx="3"/>
                    <a:endCxn id="57394" idx="4"/>
                  </p:cNvCxnSpPr>
                  <p:nvPr/>
                </p:nvCxnSpPr>
                <p:spPr bwMode="auto">
                  <a:xfrm flipV="1">
                    <a:off x="1409" y="3158"/>
                    <a:ext cx="69" cy="139"/>
                  </a:xfrm>
                  <a:prstGeom prst="straightConnector1">
                    <a:avLst/>
                  </a:prstGeom>
                  <a:noFill/>
                  <a:ln w="25400">
                    <a:solidFill>
                      <a:srgbClr val="000000"/>
                    </a:solidFill>
                    <a:round/>
                  </a:ln>
                </p:spPr>
              </p:cxnSp>
              <p:cxnSp>
                <p:nvCxnSpPr>
                  <p:cNvPr id="57379" name="AutoShape 299"/>
                  <p:cNvCxnSpPr>
                    <a:cxnSpLocks noChangeShapeType="1"/>
                    <a:stCxn id="57394" idx="4"/>
                  </p:cNvCxnSpPr>
                  <p:nvPr/>
                </p:nvCxnSpPr>
                <p:spPr bwMode="auto">
                  <a:xfrm>
                    <a:off x="1478" y="3158"/>
                    <a:ext cx="152" cy="1"/>
                  </a:xfrm>
                  <a:prstGeom prst="straightConnector1">
                    <a:avLst/>
                  </a:prstGeom>
                  <a:noFill/>
                  <a:ln w="25400">
                    <a:solidFill>
                      <a:srgbClr val="000000"/>
                    </a:solidFill>
                    <a:round/>
                  </a:ln>
                </p:spPr>
              </p:cxnSp>
              <p:cxnSp>
                <p:nvCxnSpPr>
                  <p:cNvPr id="57380" name="AutoShape 300"/>
                  <p:cNvCxnSpPr>
                    <a:cxnSpLocks noChangeShapeType="1"/>
                    <a:stCxn id="57396" idx="4"/>
                    <a:endCxn id="57394" idx="5"/>
                  </p:cNvCxnSpPr>
                  <p:nvPr/>
                </p:nvCxnSpPr>
                <p:spPr bwMode="auto">
                  <a:xfrm flipV="1">
                    <a:off x="1271" y="3295"/>
                    <a:ext cx="139" cy="2"/>
                  </a:xfrm>
                  <a:prstGeom prst="straightConnector1">
                    <a:avLst/>
                  </a:prstGeom>
                  <a:noFill/>
                  <a:ln w="25400">
                    <a:solidFill>
                      <a:srgbClr val="000000"/>
                    </a:solidFill>
                    <a:round/>
                  </a:ln>
                </p:spPr>
              </p:cxnSp>
              <p:cxnSp>
                <p:nvCxnSpPr>
                  <p:cNvPr id="57381" name="AutoShape 301"/>
                  <p:cNvCxnSpPr>
                    <a:cxnSpLocks noChangeShapeType="1"/>
                    <a:stCxn id="57394" idx="2"/>
                    <a:endCxn id="57393" idx="3"/>
                  </p:cNvCxnSpPr>
                  <p:nvPr/>
                </p:nvCxnSpPr>
                <p:spPr bwMode="auto">
                  <a:xfrm>
                    <a:off x="1684" y="3295"/>
                    <a:ext cx="135" cy="1"/>
                  </a:xfrm>
                  <a:prstGeom prst="straightConnector1">
                    <a:avLst/>
                  </a:prstGeom>
                  <a:noFill/>
                  <a:ln w="25400">
                    <a:solidFill>
                      <a:srgbClr val="000000"/>
                    </a:solidFill>
                    <a:round/>
                  </a:ln>
                </p:spPr>
              </p:cxnSp>
            </p:grpSp>
          </p:grpSp>
        </p:grpSp>
        <p:sp>
          <p:nvSpPr>
            <p:cNvPr id="69946" name="Text Box 314"/>
            <p:cNvSpPr txBox="1">
              <a:spLocks noChangeArrowheads="1"/>
            </p:cNvSpPr>
            <p:nvPr/>
          </p:nvSpPr>
          <p:spPr bwMode="auto">
            <a:xfrm>
              <a:off x="2310522" y="2409826"/>
              <a:ext cx="312906" cy="400110"/>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a:effectLst>
                    <a:outerShdw blurRad="38100" dist="38100" dir="2700000" algn="tl">
                      <a:srgbClr val="C0C0C0"/>
                    </a:outerShdw>
                  </a:effectLst>
                  <a:latin typeface="Times New Roman" panose="02020603050405020304" pitchFamily="18" charset="0"/>
                </a:rPr>
                <a:t>2</a:t>
              </a:r>
              <a:endParaRPr lang="en-US" altLang="zh-CN" sz="2000" b="1">
                <a:effectLst>
                  <a:outerShdw blurRad="38100" dist="38100" dir="2700000" algn="tl">
                    <a:srgbClr val="C0C0C0"/>
                  </a:outerShdw>
                </a:effectLst>
                <a:latin typeface="Times New Roman" panose="02020603050405020304" pitchFamily="18" charset="0"/>
              </a:endParaRPr>
            </a:p>
          </p:txBody>
        </p:sp>
        <p:sp>
          <p:nvSpPr>
            <p:cNvPr id="69947" name="Text Box 315"/>
            <p:cNvSpPr txBox="1">
              <a:spLocks noChangeArrowheads="1"/>
            </p:cNvSpPr>
            <p:nvPr/>
          </p:nvSpPr>
          <p:spPr bwMode="auto">
            <a:xfrm>
              <a:off x="1946750" y="2571751"/>
              <a:ext cx="1018227" cy="400110"/>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a:effectLst>
                    <a:outerShdw blurRad="38100" dist="38100" dir="2700000" algn="tl">
                      <a:srgbClr val="C0C0C0"/>
                    </a:outerShdw>
                  </a:effectLst>
                  <a:latin typeface="Times New Roman" panose="02020603050405020304" pitchFamily="18" charset="0"/>
                </a:rPr>
                <a:t>1         3</a:t>
              </a:r>
              <a:endParaRPr lang="en-US" altLang="zh-CN" sz="2000" b="1">
                <a:effectLst>
                  <a:outerShdw blurRad="38100" dist="38100" dir="2700000" algn="tl">
                    <a:srgbClr val="C0C0C0"/>
                  </a:outerShdw>
                </a:effectLst>
                <a:latin typeface="Times New Roman" panose="02020603050405020304" pitchFamily="18" charset="0"/>
              </a:endParaRPr>
            </a:p>
          </p:txBody>
        </p:sp>
        <p:sp>
          <p:nvSpPr>
            <p:cNvPr id="69948" name="Text Box 316"/>
            <p:cNvSpPr txBox="1">
              <a:spLocks noChangeArrowheads="1"/>
            </p:cNvSpPr>
            <p:nvPr/>
          </p:nvSpPr>
          <p:spPr bwMode="auto">
            <a:xfrm>
              <a:off x="1611241" y="2733676"/>
              <a:ext cx="1787669" cy="400110"/>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a:effectLst>
                    <a:outerShdw blurRad="38100" dist="38100" dir="2700000" algn="tl">
                      <a:srgbClr val="C0C0C0"/>
                    </a:outerShdw>
                  </a:effectLst>
                  <a:latin typeface="Times New Roman" panose="02020603050405020304" pitchFamily="18" charset="0"/>
                </a:rPr>
                <a:t>2         4          2</a:t>
              </a:r>
              <a:endParaRPr lang="en-US" altLang="zh-CN" sz="2000" b="1">
                <a:effectLst>
                  <a:outerShdw blurRad="38100" dist="38100" dir="2700000" algn="tl">
                    <a:srgbClr val="C0C0C0"/>
                  </a:outerShdw>
                </a:effectLst>
                <a:latin typeface="Times New Roman" panose="02020603050405020304" pitchFamily="18" charset="0"/>
              </a:endParaRPr>
            </a:p>
          </p:txBody>
        </p:sp>
        <p:sp>
          <p:nvSpPr>
            <p:cNvPr id="69949" name="Text Box 317"/>
            <p:cNvSpPr txBox="1">
              <a:spLocks noChangeArrowheads="1"/>
            </p:cNvSpPr>
            <p:nvPr/>
          </p:nvSpPr>
          <p:spPr bwMode="auto">
            <a:xfrm>
              <a:off x="1144306" y="2902898"/>
              <a:ext cx="2559433" cy="369145"/>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dirty="0" smtClean="0">
                  <a:effectLst>
                    <a:outerShdw blurRad="38100" dist="38100" dir="2700000" algn="tl">
                      <a:srgbClr val="C0C0C0"/>
                    </a:outerShdw>
                  </a:effectLst>
                  <a:latin typeface="Times New Roman" panose="02020603050405020304" pitchFamily="18" charset="0"/>
                </a:rPr>
                <a:t>1         </a:t>
              </a:r>
              <a:r>
                <a:rPr lang="en-US" altLang="zh-CN" sz="2000" b="1" dirty="0">
                  <a:effectLst>
                    <a:outerShdw blurRad="38100" dist="38100" dir="2700000" algn="tl">
                      <a:srgbClr val="C0C0C0"/>
                    </a:outerShdw>
                  </a:effectLst>
                  <a:latin typeface="Times New Roman" panose="02020603050405020304" pitchFamily="18" charset="0"/>
                </a:rPr>
                <a:t>3  </a:t>
              </a:r>
              <a:r>
                <a:rPr lang="en-US" altLang="zh-CN" sz="2000" b="1" dirty="0" smtClean="0">
                  <a:effectLst>
                    <a:outerShdw blurRad="38100" dist="38100" dir="2700000" algn="tl">
                      <a:srgbClr val="C0C0C0"/>
                    </a:outerShdw>
                  </a:effectLst>
                  <a:latin typeface="Times New Roman" panose="02020603050405020304" pitchFamily="18" charset="0"/>
                </a:rPr>
                <a:t>     </a:t>
              </a:r>
              <a:r>
                <a:rPr lang="en-US" altLang="zh-CN" sz="2000" b="1" dirty="0">
                  <a:effectLst>
                    <a:outerShdw blurRad="38100" dist="38100" dir="2700000" algn="tl">
                      <a:srgbClr val="C0C0C0"/>
                    </a:outerShdw>
                  </a:effectLst>
                  <a:latin typeface="Times New Roman" panose="02020603050405020304" pitchFamily="18" charset="0"/>
                </a:rPr>
                <a:t>1      </a:t>
              </a:r>
              <a:r>
                <a:rPr lang="en-US" altLang="zh-CN" sz="2000" b="1" dirty="0" smtClean="0">
                  <a:effectLst>
                    <a:outerShdw blurRad="38100" dist="38100" dir="2700000" algn="tl">
                      <a:srgbClr val="C0C0C0"/>
                    </a:outerShdw>
                  </a:effectLst>
                  <a:latin typeface="Times New Roman" panose="02020603050405020304" pitchFamily="18" charset="0"/>
                </a:rPr>
                <a:t> </a:t>
              </a:r>
              <a:r>
                <a:rPr lang="en-US" altLang="zh-CN" sz="2000" b="1" dirty="0">
                  <a:effectLst>
                    <a:outerShdw blurRad="38100" dist="38100" dir="2700000" algn="tl">
                      <a:srgbClr val="C0C0C0"/>
                    </a:outerShdw>
                  </a:effectLst>
                  <a:latin typeface="Times New Roman" panose="02020603050405020304" pitchFamily="18" charset="0"/>
                </a:rPr>
                <a:t>3</a:t>
              </a:r>
              <a:endParaRPr lang="en-US" altLang="zh-CN" sz="2000" b="1" dirty="0">
                <a:effectLst>
                  <a:outerShdw blurRad="38100" dist="38100" dir="2700000" algn="tl">
                    <a:srgbClr val="C0C0C0"/>
                  </a:outerShdw>
                </a:effectLst>
                <a:latin typeface="Times New Roman" panose="02020603050405020304" pitchFamily="18" charset="0"/>
              </a:endParaRPr>
            </a:p>
          </p:txBody>
        </p:sp>
        <p:sp>
          <p:nvSpPr>
            <p:cNvPr id="69950" name="Text Box 318"/>
            <p:cNvSpPr txBox="1">
              <a:spLocks noChangeArrowheads="1"/>
            </p:cNvSpPr>
            <p:nvPr/>
          </p:nvSpPr>
          <p:spPr bwMode="auto">
            <a:xfrm>
              <a:off x="1582666" y="3112294"/>
              <a:ext cx="1787669" cy="400110"/>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a:effectLst>
                    <a:outerShdw blurRad="38100" dist="38100" dir="2700000" algn="tl">
                      <a:srgbClr val="C0C0C0"/>
                    </a:outerShdw>
                  </a:effectLst>
                  <a:latin typeface="Times New Roman" panose="02020603050405020304" pitchFamily="18" charset="0"/>
                </a:rPr>
                <a:t>4         2          4</a:t>
              </a:r>
              <a:endParaRPr lang="en-US" altLang="zh-CN" sz="2000" b="1">
                <a:effectLst>
                  <a:outerShdw blurRad="38100" dist="38100" dir="2700000" algn="tl">
                    <a:srgbClr val="C0C0C0"/>
                  </a:outerShdw>
                </a:effectLst>
                <a:latin typeface="Times New Roman" panose="02020603050405020304" pitchFamily="18" charset="0"/>
              </a:endParaRPr>
            </a:p>
          </p:txBody>
        </p:sp>
        <p:sp>
          <p:nvSpPr>
            <p:cNvPr id="69951" name="Text Box 319"/>
            <p:cNvSpPr txBox="1">
              <a:spLocks noChangeArrowheads="1"/>
            </p:cNvSpPr>
            <p:nvPr/>
          </p:nvSpPr>
          <p:spPr bwMode="auto">
            <a:xfrm>
              <a:off x="1946750" y="3274219"/>
              <a:ext cx="1018227" cy="400110"/>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dirty="0">
                  <a:effectLst>
                    <a:outerShdw blurRad="38100" dist="38100" dir="2700000" algn="tl">
                      <a:srgbClr val="C0C0C0"/>
                    </a:outerShdw>
                  </a:effectLst>
                  <a:latin typeface="Times New Roman" panose="02020603050405020304" pitchFamily="18" charset="0"/>
                </a:rPr>
                <a:t>1         3</a:t>
              </a:r>
              <a:endParaRPr lang="en-US" altLang="zh-CN" sz="2000" b="1" dirty="0">
                <a:effectLst>
                  <a:outerShdw blurRad="38100" dist="38100" dir="2700000" algn="tl">
                    <a:srgbClr val="C0C0C0"/>
                  </a:outerShdw>
                </a:effectLst>
                <a:latin typeface="Times New Roman" panose="02020603050405020304" pitchFamily="18" charset="0"/>
              </a:endParaRPr>
            </a:p>
          </p:txBody>
        </p:sp>
        <p:sp>
          <p:nvSpPr>
            <p:cNvPr id="69952" name="Text Box 320"/>
            <p:cNvSpPr txBox="1">
              <a:spLocks noChangeArrowheads="1"/>
            </p:cNvSpPr>
            <p:nvPr/>
          </p:nvSpPr>
          <p:spPr bwMode="auto">
            <a:xfrm>
              <a:off x="2310522" y="3436144"/>
              <a:ext cx="312906" cy="400110"/>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sz="2000" b="1">
                  <a:effectLst>
                    <a:outerShdw blurRad="38100" dist="38100" dir="2700000" algn="tl">
                      <a:srgbClr val="C0C0C0"/>
                    </a:outerShdw>
                  </a:effectLst>
                  <a:latin typeface="Times New Roman" panose="02020603050405020304" pitchFamily="18" charset="0"/>
                </a:rPr>
                <a:t>4</a:t>
              </a:r>
              <a:endParaRPr lang="en-US" altLang="zh-CN" sz="2000" b="1">
                <a:effectLst>
                  <a:outerShdw blurRad="38100" dist="38100" dir="2700000" algn="tl">
                    <a:srgbClr val="C0C0C0"/>
                  </a:outerShdw>
                </a:effectLst>
                <a:latin typeface="Times New Roman" panose="02020603050405020304" pitchFamily="18" charset="0"/>
              </a:endParaRPr>
            </a:p>
          </p:txBody>
        </p:sp>
      </p:grpSp>
      <p:grpSp>
        <p:nvGrpSpPr>
          <p:cNvPr id="324" name="组合 323"/>
          <p:cNvGrpSpPr/>
          <p:nvPr/>
        </p:nvGrpSpPr>
        <p:grpSpPr>
          <a:xfrm>
            <a:off x="4716464" y="2153679"/>
            <a:ext cx="3964001" cy="2578311"/>
            <a:chOff x="4716464" y="2031207"/>
            <a:chExt cx="3964001" cy="2578311"/>
          </a:xfrm>
        </p:grpSpPr>
        <p:grpSp>
          <p:nvGrpSpPr>
            <p:cNvPr id="2" name="Group 4"/>
            <p:cNvGrpSpPr/>
            <p:nvPr/>
          </p:nvGrpSpPr>
          <p:grpSpPr bwMode="auto">
            <a:xfrm>
              <a:off x="4716464" y="2191941"/>
              <a:ext cx="3240087" cy="2160984"/>
              <a:chOff x="1248" y="663"/>
              <a:chExt cx="3764" cy="3674"/>
            </a:xfrm>
          </p:grpSpPr>
          <p:grpSp>
            <p:nvGrpSpPr>
              <p:cNvPr id="3" name="Group 5"/>
              <p:cNvGrpSpPr/>
              <p:nvPr/>
            </p:nvGrpSpPr>
            <p:grpSpPr bwMode="auto">
              <a:xfrm>
                <a:off x="3560" y="1434"/>
                <a:ext cx="1452" cy="1316"/>
                <a:chOff x="4324" y="1344"/>
                <a:chExt cx="688" cy="635"/>
              </a:xfrm>
            </p:grpSpPr>
            <p:cxnSp>
              <p:nvCxnSpPr>
                <p:cNvPr id="57638" name="AutoShape 6"/>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4" name="Group 7"/>
                <p:cNvGrpSpPr/>
                <p:nvPr/>
              </p:nvGrpSpPr>
              <p:grpSpPr bwMode="auto">
                <a:xfrm>
                  <a:off x="4324" y="1344"/>
                  <a:ext cx="688" cy="635"/>
                  <a:chOff x="1202" y="2115"/>
                  <a:chExt cx="824" cy="688"/>
                </a:xfrm>
              </p:grpSpPr>
              <p:sp>
                <p:nvSpPr>
                  <p:cNvPr id="57659" name="Freeform 8"/>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660" name="Freeform 9"/>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57661" name="Freeform 10"/>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662" name="Freeform 11"/>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663" name="Freeform 12"/>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664" name="Freeform 13"/>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665" name="Freeform 14"/>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57640" name="AutoShape 15"/>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641" name="AutoShape 16"/>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642" name="AutoShape 17"/>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643" name="AutoShape 18"/>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644" name="AutoShape 19"/>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645" name="AutoShape 20"/>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646" name="AutoShape 21"/>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647" name="AutoShape 22"/>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648" name="AutoShape 23"/>
                <p:cNvCxnSpPr>
                  <a:cxnSpLocks noChangeShapeType="1"/>
                  <a:stCxn id="57663" idx="6"/>
                </p:cNvCxnSpPr>
                <p:nvPr/>
              </p:nvCxnSpPr>
              <p:spPr bwMode="auto">
                <a:xfrm>
                  <a:off x="4324" y="1597"/>
                  <a:ext cx="0" cy="124"/>
                </a:xfrm>
                <a:prstGeom prst="straightConnector1">
                  <a:avLst/>
                </a:prstGeom>
                <a:noFill/>
                <a:ln w="25400">
                  <a:solidFill>
                    <a:srgbClr val="000000"/>
                  </a:solidFill>
                  <a:round/>
                </a:ln>
              </p:spPr>
            </p:cxnSp>
            <p:grpSp>
              <p:nvGrpSpPr>
                <p:cNvPr id="5" name="Group 24"/>
                <p:cNvGrpSpPr/>
                <p:nvPr/>
              </p:nvGrpSpPr>
              <p:grpSpPr bwMode="auto">
                <a:xfrm>
                  <a:off x="4778" y="1344"/>
                  <a:ext cx="234" cy="571"/>
                  <a:chOff x="1746" y="2115"/>
                  <a:chExt cx="280" cy="619"/>
                </a:xfrm>
              </p:grpSpPr>
              <p:cxnSp>
                <p:nvCxnSpPr>
                  <p:cNvPr id="57652" name="AutoShape 25"/>
                  <p:cNvCxnSpPr>
                    <a:cxnSpLocks noChangeShapeType="1"/>
                    <a:stCxn id="57660" idx="4"/>
                  </p:cNvCxnSpPr>
                  <p:nvPr/>
                </p:nvCxnSpPr>
                <p:spPr bwMode="auto">
                  <a:xfrm flipV="1">
                    <a:off x="1888" y="2523"/>
                    <a:ext cx="132" cy="74"/>
                  </a:xfrm>
                  <a:prstGeom prst="straightConnector1">
                    <a:avLst/>
                  </a:prstGeom>
                  <a:noFill/>
                  <a:ln w="25400">
                    <a:solidFill>
                      <a:srgbClr val="000000"/>
                    </a:solidFill>
                    <a:round/>
                  </a:ln>
                </p:spPr>
              </p:cxnSp>
              <p:grpSp>
                <p:nvGrpSpPr>
                  <p:cNvPr id="6" name="Group 26"/>
                  <p:cNvGrpSpPr/>
                  <p:nvPr/>
                </p:nvGrpSpPr>
                <p:grpSpPr bwMode="auto">
                  <a:xfrm>
                    <a:off x="1746" y="2115"/>
                    <a:ext cx="280" cy="415"/>
                    <a:chOff x="1746" y="2115"/>
                    <a:chExt cx="280" cy="415"/>
                  </a:xfrm>
                </p:grpSpPr>
                <p:cxnSp>
                  <p:nvCxnSpPr>
                    <p:cNvPr id="57655" name="AutoShape 27"/>
                    <p:cNvCxnSpPr>
                      <a:cxnSpLocks noChangeShapeType="1"/>
                      <a:stCxn id="57662" idx="5"/>
                      <a:endCxn id="57662" idx="4"/>
                    </p:cNvCxnSpPr>
                    <p:nvPr/>
                  </p:nvCxnSpPr>
                  <p:spPr bwMode="auto">
                    <a:xfrm>
                      <a:off x="1889" y="2324"/>
                      <a:ext cx="137" cy="69"/>
                    </a:xfrm>
                    <a:prstGeom prst="straightConnector1">
                      <a:avLst/>
                    </a:prstGeom>
                    <a:noFill/>
                    <a:ln w="25400">
                      <a:solidFill>
                        <a:srgbClr val="000000"/>
                      </a:solidFill>
                      <a:round/>
                    </a:ln>
                  </p:spPr>
                </p:cxnSp>
                <p:cxnSp>
                  <p:nvCxnSpPr>
                    <p:cNvPr id="57656" name="AutoShape 28"/>
                    <p:cNvCxnSpPr>
                      <a:cxnSpLocks noChangeShapeType="1"/>
                      <a:endCxn id="57665" idx="4"/>
                    </p:cNvCxnSpPr>
                    <p:nvPr/>
                  </p:nvCxnSpPr>
                  <p:spPr bwMode="auto">
                    <a:xfrm>
                      <a:off x="1746" y="2115"/>
                      <a:ext cx="142" cy="79"/>
                    </a:xfrm>
                    <a:prstGeom prst="straightConnector1">
                      <a:avLst/>
                    </a:prstGeom>
                    <a:noFill/>
                    <a:ln w="25400">
                      <a:solidFill>
                        <a:srgbClr val="000000"/>
                      </a:solidFill>
                      <a:round/>
                    </a:ln>
                  </p:spPr>
                </p:cxnSp>
                <p:cxnSp>
                  <p:nvCxnSpPr>
                    <p:cNvPr id="57657" name="AutoShape 29"/>
                    <p:cNvCxnSpPr>
                      <a:cxnSpLocks noChangeShapeType="1"/>
                      <a:endCxn id="57662" idx="3"/>
                    </p:cNvCxnSpPr>
                    <p:nvPr/>
                  </p:nvCxnSpPr>
                  <p:spPr bwMode="auto">
                    <a:xfrm>
                      <a:off x="2018" y="2387"/>
                      <a:ext cx="8" cy="143"/>
                    </a:xfrm>
                    <a:prstGeom prst="straightConnector1">
                      <a:avLst/>
                    </a:prstGeom>
                    <a:noFill/>
                    <a:ln w="25400">
                      <a:solidFill>
                        <a:srgbClr val="000000"/>
                      </a:solidFill>
                      <a:round/>
                    </a:ln>
                  </p:spPr>
                </p:cxnSp>
                <p:cxnSp>
                  <p:nvCxnSpPr>
                    <p:cNvPr id="57658" name="AutoShape 30"/>
                    <p:cNvCxnSpPr>
                      <a:cxnSpLocks noChangeShapeType="1"/>
                      <a:stCxn id="57665" idx="4"/>
                      <a:endCxn id="57662" idx="5"/>
                    </p:cNvCxnSpPr>
                    <p:nvPr/>
                  </p:nvCxnSpPr>
                  <p:spPr bwMode="auto">
                    <a:xfrm>
                      <a:off x="1888" y="2194"/>
                      <a:ext cx="1" cy="130"/>
                    </a:xfrm>
                    <a:prstGeom prst="straightConnector1">
                      <a:avLst/>
                    </a:prstGeom>
                    <a:noFill/>
                    <a:ln w="25400">
                      <a:solidFill>
                        <a:srgbClr val="000000"/>
                      </a:solidFill>
                      <a:round/>
                    </a:ln>
                  </p:spPr>
                </p:cxnSp>
              </p:grpSp>
              <p:cxnSp>
                <p:nvCxnSpPr>
                  <p:cNvPr id="57654" name="AutoShape 31"/>
                  <p:cNvCxnSpPr>
                    <a:cxnSpLocks noChangeShapeType="1"/>
                    <a:stCxn id="57662" idx="2"/>
                    <a:endCxn id="57660" idx="3"/>
                  </p:cNvCxnSpPr>
                  <p:nvPr/>
                </p:nvCxnSpPr>
                <p:spPr bwMode="auto">
                  <a:xfrm flipH="1">
                    <a:off x="1888" y="2599"/>
                    <a:ext cx="1" cy="135"/>
                  </a:xfrm>
                  <a:prstGeom prst="straightConnector1">
                    <a:avLst/>
                  </a:prstGeom>
                  <a:noFill/>
                  <a:ln w="25400">
                    <a:solidFill>
                      <a:srgbClr val="000000"/>
                    </a:solidFill>
                    <a:round/>
                  </a:ln>
                </p:spPr>
              </p:cxnSp>
            </p:grpSp>
            <p:cxnSp>
              <p:nvCxnSpPr>
                <p:cNvPr id="57650" name="AutoShape 32"/>
                <p:cNvCxnSpPr>
                  <a:cxnSpLocks noChangeShapeType="1"/>
                  <a:stCxn id="57663" idx="2"/>
                  <a:endCxn id="57659" idx="1"/>
                </p:cNvCxnSpPr>
                <p:nvPr/>
              </p:nvCxnSpPr>
              <p:spPr bwMode="auto">
                <a:xfrm flipH="1">
                  <a:off x="4438" y="1787"/>
                  <a:ext cx="1" cy="126"/>
                </a:xfrm>
                <a:prstGeom prst="straightConnector1">
                  <a:avLst/>
                </a:prstGeom>
                <a:noFill/>
                <a:ln w="25400">
                  <a:solidFill>
                    <a:srgbClr val="000000"/>
                  </a:solidFill>
                  <a:round/>
                </a:ln>
              </p:spPr>
            </p:cxnSp>
            <p:cxnSp>
              <p:nvCxnSpPr>
                <p:cNvPr id="57651" name="AutoShape 33"/>
                <p:cNvCxnSpPr>
                  <a:cxnSpLocks noChangeShapeType="1"/>
                  <a:stCxn id="57664" idx="6"/>
                  <a:endCxn id="57663" idx="5"/>
                </p:cNvCxnSpPr>
                <p:nvPr/>
              </p:nvCxnSpPr>
              <p:spPr bwMode="auto">
                <a:xfrm>
                  <a:off x="4438" y="1407"/>
                  <a:ext cx="1" cy="126"/>
                </a:xfrm>
                <a:prstGeom prst="straightConnector1">
                  <a:avLst/>
                </a:prstGeom>
                <a:noFill/>
                <a:ln w="25400">
                  <a:solidFill>
                    <a:srgbClr val="000000"/>
                  </a:solidFill>
                  <a:round/>
                </a:ln>
              </p:spPr>
            </p:cxnSp>
          </p:grpSp>
          <p:grpSp>
            <p:nvGrpSpPr>
              <p:cNvPr id="7" name="Group 34"/>
              <p:cNvGrpSpPr/>
              <p:nvPr/>
            </p:nvGrpSpPr>
            <p:grpSpPr bwMode="auto">
              <a:xfrm>
                <a:off x="3334" y="2614"/>
                <a:ext cx="1451" cy="1360"/>
                <a:chOff x="4324" y="1344"/>
                <a:chExt cx="688" cy="635"/>
              </a:xfrm>
            </p:grpSpPr>
            <p:cxnSp>
              <p:nvCxnSpPr>
                <p:cNvPr id="57610" name="AutoShape 35"/>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8" name="Group 36"/>
                <p:cNvGrpSpPr/>
                <p:nvPr/>
              </p:nvGrpSpPr>
              <p:grpSpPr bwMode="auto">
                <a:xfrm>
                  <a:off x="4324" y="1344"/>
                  <a:ext cx="688" cy="635"/>
                  <a:chOff x="1202" y="2115"/>
                  <a:chExt cx="824" cy="688"/>
                </a:xfrm>
              </p:grpSpPr>
              <p:sp>
                <p:nvSpPr>
                  <p:cNvPr id="57631" name="Freeform 37"/>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632" name="Freeform 38"/>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57633" name="Freeform 39"/>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634" name="Freeform 40"/>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635" name="Freeform 41"/>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636" name="Freeform 42"/>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637" name="Freeform 43"/>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57612" name="AutoShape 44"/>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613" name="AutoShape 45"/>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614" name="AutoShape 46"/>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615" name="AutoShape 47"/>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616" name="AutoShape 48"/>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617" name="AutoShape 49"/>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618" name="AutoShape 50"/>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619" name="AutoShape 51"/>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620" name="AutoShape 52"/>
                <p:cNvCxnSpPr>
                  <a:cxnSpLocks noChangeShapeType="1"/>
                  <a:stCxn id="57635" idx="6"/>
                </p:cNvCxnSpPr>
                <p:nvPr/>
              </p:nvCxnSpPr>
              <p:spPr bwMode="auto">
                <a:xfrm>
                  <a:off x="4324" y="1597"/>
                  <a:ext cx="0" cy="124"/>
                </a:xfrm>
                <a:prstGeom prst="straightConnector1">
                  <a:avLst/>
                </a:prstGeom>
                <a:noFill/>
                <a:ln w="25400">
                  <a:solidFill>
                    <a:srgbClr val="000000"/>
                  </a:solidFill>
                  <a:round/>
                </a:ln>
              </p:spPr>
            </p:cxnSp>
            <p:grpSp>
              <p:nvGrpSpPr>
                <p:cNvPr id="9" name="Group 53"/>
                <p:cNvGrpSpPr/>
                <p:nvPr/>
              </p:nvGrpSpPr>
              <p:grpSpPr bwMode="auto">
                <a:xfrm>
                  <a:off x="4778" y="1344"/>
                  <a:ext cx="234" cy="571"/>
                  <a:chOff x="1746" y="2115"/>
                  <a:chExt cx="280" cy="619"/>
                </a:xfrm>
              </p:grpSpPr>
              <p:cxnSp>
                <p:nvCxnSpPr>
                  <p:cNvPr id="57624" name="AutoShape 54"/>
                  <p:cNvCxnSpPr>
                    <a:cxnSpLocks noChangeShapeType="1"/>
                    <a:stCxn id="57632" idx="4"/>
                  </p:cNvCxnSpPr>
                  <p:nvPr/>
                </p:nvCxnSpPr>
                <p:spPr bwMode="auto">
                  <a:xfrm flipV="1">
                    <a:off x="1888" y="2523"/>
                    <a:ext cx="132" cy="74"/>
                  </a:xfrm>
                  <a:prstGeom prst="straightConnector1">
                    <a:avLst/>
                  </a:prstGeom>
                  <a:noFill/>
                  <a:ln w="25400">
                    <a:solidFill>
                      <a:srgbClr val="000000"/>
                    </a:solidFill>
                    <a:round/>
                  </a:ln>
                </p:spPr>
              </p:cxnSp>
              <p:grpSp>
                <p:nvGrpSpPr>
                  <p:cNvPr id="10" name="Group 55"/>
                  <p:cNvGrpSpPr/>
                  <p:nvPr/>
                </p:nvGrpSpPr>
                <p:grpSpPr bwMode="auto">
                  <a:xfrm>
                    <a:off x="1746" y="2115"/>
                    <a:ext cx="280" cy="415"/>
                    <a:chOff x="1746" y="2115"/>
                    <a:chExt cx="280" cy="415"/>
                  </a:xfrm>
                </p:grpSpPr>
                <p:cxnSp>
                  <p:nvCxnSpPr>
                    <p:cNvPr id="57627" name="AutoShape 56"/>
                    <p:cNvCxnSpPr>
                      <a:cxnSpLocks noChangeShapeType="1"/>
                      <a:stCxn id="57634" idx="5"/>
                      <a:endCxn id="57634" idx="4"/>
                    </p:cNvCxnSpPr>
                    <p:nvPr/>
                  </p:nvCxnSpPr>
                  <p:spPr bwMode="auto">
                    <a:xfrm>
                      <a:off x="1889" y="2324"/>
                      <a:ext cx="137" cy="69"/>
                    </a:xfrm>
                    <a:prstGeom prst="straightConnector1">
                      <a:avLst/>
                    </a:prstGeom>
                    <a:noFill/>
                    <a:ln w="25400">
                      <a:solidFill>
                        <a:srgbClr val="000000"/>
                      </a:solidFill>
                      <a:round/>
                    </a:ln>
                  </p:spPr>
                </p:cxnSp>
                <p:cxnSp>
                  <p:nvCxnSpPr>
                    <p:cNvPr id="57628" name="AutoShape 57"/>
                    <p:cNvCxnSpPr>
                      <a:cxnSpLocks noChangeShapeType="1"/>
                      <a:endCxn id="57637" idx="4"/>
                    </p:cNvCxnSpPr>
                    <p:nvPr/>
                  </p:nvCxnSpPr>
                  <p:spPr bwMode="auto">
                    <a:xfrm>
                      <a:off x="1746" y="2115"/>
                      <a:ext cx="142" cy="79"/>
                    </a:xfrm>
                    <a:prstGeom prst="straightConnector1">
                      <a:avLst/>
                    </a:prstGeom>
                    <a:noFill/>
                    <a:ln w="25400">
                      <a:solidFill>
                        <a:srgbClr val="000000"/>
                      </a:solidFill>
                      <a:round/>
                    </a:ln>
                  </p:spPr>
                </p:cxnSp>
                <p:cxnSp>
                  <p:nvCxnSpPr>
                    <p:cNvPr id="57629" name="AutoShape 58"/>
                    <p:cNvCxnSpPr>
                      <a:cxnSpLocks noChangeShapeType="1"/>
                      <a:endCxn id="57634" idx="3"/>
                    </p:cNvCxnSpPr>
                    <p:nvPr/>
                  </p:nvCxnSpPr>
                  <p:spPr bwMode="auto">
                    <a:xfrm>
                      <a:off x="2018" y="2387"/>
                      <a:ext cx="8" cy="143"/>
                    </a:xfrm>
                    <a:prstGeom prst="straightConnector1">
                      <a:avLst/>
                    </a:prstGeom>
                    <a:noFill/>
                    <a:ln w="25400">
                      <a:solidFill>
                        <a:srgbClr val="000000"/>
                      </a:solidFill>
                      <a:round/>
                    </a:ln>
                  </p:spPr>
                </p:cxnSp>
                <p:cxnSp>
                  <p:nvCxnSpPr>
                    <p:cNvPr id="57630" name="AutoShape 59"/>
                    <p:cNvCxnSpPr>
                      <a:cxnSpLocks noChangeShapeType="1"/>
                      <a:stCxn id="57637" idx="4"/>
                      <a:endCxn id="57634" idx="5"/>
                    </p:cNvCxnSpPr>
                    <p:nvPr/>
                  </p:nvCxnSpPr>
                  <p:spPr bwMode="auto">
                    <a:xfrm>
                      <a:off x="1888" y="2194"/>
                      <a:ext cx="1" cy="130"/>
                    </a:xfrm>
                    <a:prstGeom prst="straightConnector1">
                      <a:avLst/>
                    </a:prstGeom>
                    <a:noFill/>
                    <a:ln w="25400">
                      <a:solidFill>
                        <a:srgbClr val="000000"/>
                      </a:solidFill>
                      <a:round/>
                    </a:ln>
                  </p:spPr>
                </p:cxnSp>
              </p:grpSp>
              <p:cxnSp>
                <p:nvCxnSpPr>
                  <p:cNvPr id="57626" name="AutoShape 60"/>
                  <p:cNvCxnSpPr>
                    <a:cxnSpLocks noChangeShapeType="1"/>
                    <a:stCxn id="57634" idx="2"/>
                    <a:endCxn id="57632" idx="3"/>
                  </p:cNvCxnSpPr>
                  <p:nvPr/>
                </p:nvCxnSpPr>
                <p:spPr bwMode="auto">
                  <a:xfrm flipH="1">
                    <a:off x="1888" y="2599"/>
                    <a:ext cx="1" cy="135"/>
                  </a:xfrm>
                  <a:prstGeom prst="straightConnector1">
                    <a:avLst/>
                  </a:prstGeom>
                  <a:noFill/>
                  <a:ln w="25400">
                    <a:solidFill>
                      <a:srgbClr val="000000"/>
                    </a:solidFill>
                    <a:round/>
                  </a:ln>
                </p:spPr>
              </p:cxnSp>
            </p:grpSp>
            <p:cxnSp>
              <p:nvCxnSpPr>
                <p:cNvPr id="57622" name="AutoShape 61"/>
                <p:cNvCxnSpPr>
                  <a:cxnSpLocks noChangeShapeType="1"/>
                  <a:stCxn id="57635" idx="2"/>
                  <a:endCxn id="57631" idx="1"/>
                </p:cNvCxnSpPr>
                <p:nvPr/>
              </p:nvCxnSpPr>
              <p:spPr bwMode="auto">
                <a:xfrm flipH="1">
                  <a:off x="4438" y="1787"/>
                  <a:ext cx="1" cy="126"/>
                </a:xfrm>
                <a:prstGeom prst="straightConnector1">
                  <a:avLst/>
                </a:prstGeom>
                <a:noFill/>
                <a:ln w="25400">
                  <a:solidFill>
                    <a:srgbClr val="000000"/>
                  </a:solidFill>
                  <a:round/>
                </a:ln>
              </p:spPr>
            </p:cxnSp>
            <p:cxnSp>
              <p:nvCxnSpPr>
                <p:cNvPr id="57623" name="AutoShape 62"/>
                <p:cNvCxnSpPr>
                  <a:cxnSpLocks noChangeShapeType="1"/>
                  <a:stCxn id="57636" idx="6"/>
                  <a:endCxn id="57635" idx="5"/>
                </p:cNvCxnSpPr>
                <p:nvPr/>
              </p:nvCxnSpPr>
              <p:spPr bwMode="auto">
                <a:xfrm>
                  <a:off x="4438" y="1407"/>
                  <a:ext cx="1" cy="126"/>
                </a:xfrm>
                <a:prstGeom prst="straightConnector1">
                  <a:avLst/>
                </a:prstGeom>
                <a:noFill/>
                <a:ln w="25400">
                  <a:solidFill>
                    <a:srgbClr val="000000"/>
                  </a:solidFill>
                  <a:round/>
                </a:ln>
              </p:spPr>
            </p:cxnSp>
          </p:grpSp>
          <p:grpSp>
            <p:nvGrpSpPr>
              <p:cNvPr id="11" name="Group 63"/>
              <p:cNvGrpSpPr/>
              <p:nvPr/>
            </p:nvGrpSpPr>
            <p:grpSpPr bwMode="auto">
              <a:xfrm>
                <a:off x="2653" y="663"/>
                <a:ext cx="1406" cy="1316"/>
                <a:chOff x="4324" y="1344"/>
                <a:chExt cx="688" cy="635"/>
              </a:xfrm>
            </p:grpSpPr>
            <p:cxnSp>
              <p:nvCxnSpPr>
                <p:cNvPr id="57582" name="AutoShape 64"/>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12" name="Group 65"/>
                <p:cNvGrpSpPr/>
                <p:nvPr/>
              </p:nvGrpSpPr>
              <p:grpSpPr bwMode="auto">
                <a:xfrm>
                  <a:off x="4324" y="1344"/>
                  <a:ext cx="688" cy="635"/>
                  <a:chOff x="1202" y="2115"/>
                  <a:chExt cx="824" cy="688"/>
                </a:xfrm>
              </p:grpSpPr>
              <p:sp>
                <p:nvSpPr>
                  <p:cNvPr id="57603" name="Freeform 66"/>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604" name="Freeform 67"/>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57605" name="Freeform 68"/>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606" name="Freeform 69"/>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607" name="Freeform 70"/>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608" name="Freeform 71"/>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609" name="Freeform 72"/>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57584" name="AutoShape 73"/>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585" name="AutoShape 74"/>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586" name="AutoShape 75"/>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587" name="AutoShape 76"/>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588" name="AutoShape 77"/>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589" name="AutoShape 78"/>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590" name="AutoShape 79"/>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591" name="AutoShape 80"/>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592" name="AutoShape 81"/>
                <p:cNvCxnSpPr>
                  <a:cxnSpLocks noChangeShapeType="1"/>
                  <a:stCxn id="57607" idx="6"/>
                </p:cNvCxnSpPr>
                <p:nvPr/>
              </p:nvCxnSpPr>
              <p:spPr bwMode="auto">
                <a:xfrm>
                  <a:off x="4324" y="1597"/>
                  <a:ext cx="0" cy="124"/>
                </a:xfrm>
                <a:prstGeom prst="straightConnector1">
                  <a:avLst/>
                </a:prstGeom>
                <a:noFill/>
                <a:ln w="25400">
                  <a:solidFill>
                    <a:srgbClr val="000000"/>
                  </a:solidFill>
                  <a:round/>
                </a:ln>
              </p:spPr>
            </p:cxnSp>
            <p:grpSp>
              <p:nvGrpSpPr>
                <p:cNvPr id="13" name="Group 82"/>
                <p:cNvGrpSpPr/>
                <p:nvPr/>
              </p:nvGrpSpPr>
              <p:grpSpPr bwMode="auto">
                <a:xfrm>
                  <a:off x="4778" y="1344"/>
                  <a:ext cx="234" cy="571"/>
                  <a:chOff x="1746" y="2115"/>
                  <a:chExt cx="280" cy="619"/>
                </a:xfrm>
              </p:grpSpPr>
              <p:cxnSp>
                <p:nvCxnSpPr>
                  <p:cNvPr id="57596" name="AutoShape 83"/>
                  <p:cNvCxnSpPr>
                    <a:cxnSpLocks noChangeShapeType="1"/>
                    <a:stCxn id="57604" idx="4"/>
                  </p:cNvCxnSpPr>
                  <p:nvPr/>
                </p:nvCxnSpPr>
                <p:spPr bwMode="auto">
                  <a:xfrm flipV="1">
                    <a:off x="1888" y="2523"/>
                    <a:ext cx="132" cy="74"/>
                  </a:xfrm>
                  <a:prstGeom prst="straightConnector1">
                    <a:avLst/>
                  </a:prstGeom>
                  <a:noFill/>
                  <a:ln w="25400">
                    <a:solidFill>
                      <a:srgbClr val="000000"/>
                    </a:solidFill>
                    <a:round/>
                  </a:ln>
                </p:spPr>
              </p:cxnSp>
              <p:grpSp>
                <p:nvGrpSpPr>
                  <p:cNvPr id="14" name="Group 84"/>
                  <p:cNvGrpSpPr/>
                  <p:nvPr/>
                </p:nvGrpSpPr>
                <p:grpSpPr bwMode="auto">
                  <a:xfrm>
                    <a:off x="1746" y="2115"/>
                    <a:ext cx="280" cy="415"/>
                    <a:chOff x="1746" y="2115"/>
                    <a:chExt cx="280" cy="415"/>
                  </a:xfrm>
                </p:grpSpPr>
                <p:cxnSp>
                  <p:nvCxnSpPr>
                    <p:cNvPr id="57599" name="AutoShape 85"/>
                    <p:cNvCxnSpPr>
                      <a:cxnSpLocks noChangeShapeType="1"/>
                      <a:stCxn id="57606" idx="5"/>
                      <a:endCxn id="57606" idx="4"/>
                    </p:cNvCxnSpPr>
                    <p:nvPr/>
                  </p:nvCxnSpPr>
                  <p:spPr bwMode="auto">
                    <a:xfrm>
                      <a:off x="1889" y="2324"/>
                      <a:ext cx="137" cy="69"/>
                    </a:xfrm>
                    <a:prstGeom prst="straightConnector1">
                      <a:avLst/>
                    </a:prstGeom>
                    <a:noFill/>
                    <a:ln w="25400">
                      <a:solidFill>
                        <a:srgbClr val="000000"/>
                      </a:solidFill>
                      <a:round/>
                    </a:ln>
                  </p:spPr>
                </p:cxnSp>
                <p:cxnSp>
                  <p:nvCxnSpPr>
                    <p:cNvPr id="57600" name="AutoShape 86"/>
                    <p:cNvCxnSpPr>
                      <a:cxnSpLocks noChangeShapeType="1"/>
                      <a:endCxn id="57609" idx="4"/>
                    </p:cNvCxnSpPr>
                    <p:nvPr/>
                  </p:nvCxnSpPr>
                  <p:spPr bwMode="auto">
                    <a:xfrm>
                      <a:off x="1746" y="2115"/>
                      <a:ext cx="142" cy="79"/>
                    </a:xfrm>
                    <a:prstGeom prst="straightConnector1">
                      <a:avLst/>
                    </a:prstGeom>
                    <a:noFill/>
                    <a:ln w="25400">
                      <a:solidFill>
                        <a:srgbClr val="000000"/>
                      </a:solidFill>
                      <a:round/>
                    </a:ln>
                  </p:spPr>
                </p:cxnSp>
                <p:cxnSp>
                  <p:nvCxnSpPr>
                    <p:cNvPr id="57601" name="AutoShape 87"/>
                    <p:cNvCxnSpPr>
                      <a:cxnSpLocks noChangeShapeType="1"/>
                      <a:endCxn id="57606" idx="3"/>
                    </p:cNvCxnSpPr>
                    <p:nvPr/>
                  </p:nvCxnSpPr>
                  <p:spPr bwMode="auto">
                    <a:xfrm>
                      <a:off x="2018" y="2387"/>
                      <a:ext cx="8" cy="143"/>
                    </a:xfrm>
                    <a:prstGeom prst="straightConnector1">
                      <a:avLst/>
                    </a:prstGeom>
                    <a:noFill/>
                    <a:ln w="25400">
                      <a:solidFill>
                        <a:srgbClr val="000000"/>
                      </a:solidFill>
                      <a:round/>
                    </a:ln>
                  </p:spPr>
                </p:cxnSp>
                <p:cxnSp>
                  <p:nvCxnSpPr>
                    <p:cNvPr id="57602" name="AutoShape 88"/>
                    <p:cNvCxnSpPr>
                      <a:cxnSpLocks noChangeShapeType="1"/>
                      <a:stCxn id="57609" idx="4"/>
                      <a:endCxn id="57606" idx="5"/>
                    </p:cNvCxnSpPr>
                    <p:nvPr/>
                  </p:nvCxnSpPr>
                  <p:spPr bwMode="auto">
                    <a:xfrm>
                      <a:off x="1888" y="2194"/>
                      <a:ext cx="1" cy="130"/>
                    </a:xfrm>
                    <a:prstGeom prst="straightConnector1">
                      <a:avLst/>
                    </a:prstGeom>
                    <a:noFill/>
                    <a:ln w="25400">
                      <a:solidFill>
                        <a:srgbClr val="000000"/>
                      </a:solidFill>
                      <a:round/>
                    </a:ln>
                  </p:spPr>
                </p:cxnSp>
              </p:grpSp>
              <p:cxnSp>
                <p:nvCxnSpPr>
                  <p:cNvPr id="57598" name="AutoShape 89"/>
                  <p:cNvCxnSpPr>
                    <a:cxnSpLocks noChangeShapeType="1"/>
                    <a:stCxn id="57606" idx="2"/>
                    <a:endCxn id="57604" idx="3"/>
                  </p:cNvCxnSpPr>
                  <p:nvPr/>
                </p:nvCxnSpPr>
                <p:spPr bwMode="auto">
                  <a:xfrm flipH="1">
                    <a:off x="1888" y="2599"/>
                    <a:ext cx="1" cy="135"/>
                  </a:xfrm>
                  <a:prstGeom prst="straightConnector1">
                    <a:avLst/>
                  </a:prstGeom>
                  <a:noFill/>
                  <a:ln w="25400">
                    <a:solidFill>
                      <a:srgbClr val="000000"/>
                    </a:solidFill>
                    <a:round/>
                  </a:ln>
                </p:spPr>
              </p:cxnSp>
            </p:grpSp>
            <p:cxnSp>
              <p:nvCxnSpPr>
                <p:cNvPr id="57594" name="AutoShape 90"/>
                <p:cNvCxnSpPr>
                  <a:cxnSpLocks noChangeShapeType="1"/>
                  <a:stCxn id="57607" idx="2"/>
                  <a:endCxn id="57603" idx="1"/>
                </p:cNvCxnSpPr>
                <p:nvPr/>
              </p:nvCxnSpPr>
              <p:spPr bwMode="auto">
                <a:xfrm flipH="1">
                  <a:off x="4438" y="1787"/>
                  <a:ext cx="1" cy="126"/>
                </a:xfrm>
                <a:prstGeom prst="straightConnector1">
                  <a:avLst/>
                </a:prstGeom>
                <a:noFill/>
                <a:ln w="25400">
                  <a:solidFill>
                    <a:srgbClr val="000000"/>
                  </a:solidFill>
                  <a:round/>
                </a:ln>
              </p:spPr>
            </p:cxnSp>
            <p:cxnSp>
              <p:nvCxnSpPr>
                <p:cNvPr id="57595" name="AutoShape 91"/>
                <p:cNvCxnSpPr>
                  <a:cxnSpLocks noChangeShapeType="1"/>
                  <a:stCxn id="57608" idx="6"/>
                  <a:endCxn id="57607" idx="5"/>
                </p:cNvCxnSpPr>
                <p:nvPr/>
              </p:nvCxnSpPr>
              <p:spPr bwMode="auto">
                <a:xfrm>
                  <a:off x="4438" y="1407"/>
                  <a:ext cx="1" cy="126"/>
                </a:xfrm>
                <a:prstGeom prst="straightConnector1">
                  <a:avLst/>
                </a:prstGeom>
                <a:noFill/>
                <a:ln w="25400">
                  <a:solidFill>
                    <a:srgbClr val="000000"/>
                  </a:solidFill>
                  <a:round/>
                </a:ln>
              </p:spPr>
            </p:cxnSp>
          </p:grpSp>
          <p:grpSp>
            <p:nvGrpSpPr>
              <p:cNvPr id="15" name="Group 92"/>
              <p:cNvGrpSpPr/>
              <p:nvPr/>
            </p:nvGrpSpPr>
            <p:grpSpPr bwMode="auto">
              <a:xfrm>
                <a:off x="2426" y="1797"/>
                <a:ext cx="1406" cy="1361"/>
                <a:chOff x="4324" y="1344"/>
                <a:chExt cx="688" cy="635"/>
              </a:xfrm>
            </p:grpSpPr>
            <p:cxnSp>
              <p:nvCxnSpPr>
                <p:cNvPr id="57554" name="AutoShape 93"/>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16" name="Group 94"/>
                <p:cNvGrpSpPr/>
                <p:nvPr/>
              </p:nvGrpSpPr>
              <p:grpSpPr bwMode="auto">
                <a:xfrm>
                  <a:off x="4324" y="1344"/>
                  <a:ext cx="688" cy="635"/>
                  <a:chOff x="1202" y="2115"/>
                  <a:chExt cx="824" cy="688"/>
                </a:xfrm>
              </p:grpSpPr>
              <p:sp>
                <p:nvSpPr>
                  <p:cNvPr id="57575" name="Freeform 95"/>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576" name="Freeform 96"/>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377AFF"/>
                  </a:solidFill>
                  <a:ln w="11176">
                    <a:noFill/>
                    <a:round/>
                  </a:ln>
                </p:spPr>
                <p:txBody>
                  <a:bodyPr/>
                  <a:lstStyle/>
                  <a:p>
                    <a:endParaRPr lang="zh-CN" altLang="en-US"/>
                  </a:p>
                </p:txBody>
              </p:sp>
              <p:sp>
                <p:nvSpPr>
                  <p:cNvPr id="57577" name="Freeform 97"/>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578" name="Freeform 98"/>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579" name="Freeform 99"/>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580" name="Freeform 100"/>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581" name="Freeform 101"/>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76">
                    <a:noFill/>
                    <a:round/>
                  </a:ln>
                </p:spPr>
                <p:txBody>
                  <a:bodyPr/>
                  <a:lstStyle/>
                  <a:p>
                    <a:endParaRPr lang="zh-CN" altLang="en-US"/>
                  </a:p>
                </p:txBody>
              </p:sp>
            </p:grpSp>
            <p:cxnSp>
              <p:nvCxnSpPr>
                <p:cNvPr id="57556" name="AutoShape 102"/>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557" name="AutoShape 103"/>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558" name="AutoShape 104"/>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559" name="AutoShape 105"/>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560" name="AutoShape 106"/>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561" name="AutoShape 107"/>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562" name="AutoShape 108"/>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563" name="AutoShape 109"/>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564" name="AutoShape 110"/>
                <p:cNvCxnSpPr>
                  <a:cxnSpLocks noChangeShapeType="1"/>
                  <a:stCxn id="57579" idx="6"/>
                </p:cNvCxnSpPr>
                <p:nvPr/>
              </p:nvCxnSpPr>
              <p:spPr bwMode="auto">
                <a:xfrm>
                  <a:off x="4324" y="1597"/>
                  <a:ext cx="0" cy="124"/>
                </a:xfrm>
                <a:prstGeom prst="straightConnector1">
                  <a:avLst/>
                </a:prstGeom>
                <a:noFill/>
                <a:ln w="25400">
                  <a:solidFill>
                    <a:srgbClr val="000000"/>
                  </a:solidFill>
                  <a:round/>
                </a:ln>
              </p:spPr>
            </p:cxnSp>
            <p:grpSp>
              <p:nvGrpSpPr>
                <p:cNvPr id="17" name="Group 111"/>
                <p:cNvGrpSpPr/>
                <p:nvPr/>
              </p:nvGrpSpPr>
              <p:grpSpPr bwMode="auto">
                <a:xfrm>
                  <a:off x="4778" y="1344"/>
                  <a:ext cx="234" cy="571"/>
                  <a:chOff x="1746" y="2115"/>
                  <a:chExt cx="280" cy="619"/>
                </a:xfrm>
              </p:grpSpPr>
              <p:cxnSp>
                <p:nvCxnSpPr>
                  <p:cNvPr id="57568" name="AutoShape 112"/>
                  <p:cNvCxnSpPr>
                    <a:cxnSpLocks noChangeShapeType="1"/>
                    <a:stCxn id="57576" idx="4"/>
                  </p:cNvCxnSpPr>
                  <p:nvPr/>
                </p:nvCxnSpPr>
                <p:spPr bwMode="auto">
                  <a:xfrm flipV="1">
                    <a:off x="1888" y="2523"/>
                    <a:ext cx="132" cy="74"/>
                  </a:xfrm>
                  <a:prstGeom prst="straightConnector1">
                    <a:avLst/>
                  </a:prstGeom>
                  <a:noFill/>
                  <a:ln w="25400">
                    <a:solidFill>
                      <a:srgbClr val="000000"/>
                    </a:solidFill>
                    <a:round/>
                  </a:ln>
                </p:spPr>
              </p:cxnSp>
              <p:grpSp>
                <p:nvGrpSpPr>
                  <p:cNvPr id="18" name="Group 113"/>
                  <p:cNvGrpSpPr/>
                  <p:nvPr/>
                </p:nvGrpSpPr>
                <p:grpSpPr bwMode="auto">
                  <a:xfrm>
                    <a:off x="1746" y="2115"/>
                    <a:ext cx="280" cy="415"/>
                    <a:chOff x="1746" y="2115"/>
                    <a:chExt cx="280" cy="415"/>
                  </a:xfrm>
                </p:grpSpPr>
                <p:cxnSp>
                  <p:nvCxnSpPr>
                    <p:cNvPr id="57571" name="AutoShape 114"/>
                    <p:cNvCxnSpPr>
                      <a:cxnSpLocks noChangeShapeType="1"/>
                      <a:stCxn id="57578" idx="5"/>
                      <a:endCxn id="57578" idx="4"/>
                    </p:cNvCxnSpPr>
                    <p:nvPr/>
                  </p:nvCxnSpPr>
                  <p:spPr bwMode="auto">
                    <a:xfrm>
                      <a:off x="1889" y="2324"/>
                      <a:ext cx="137" cy="69"/>
                    </a:xfrm>
                    <a:prstGeom prst="straightConnector1">
                      <a:avLst/>
                    </a:prstGeom>
                    <a:noFill/>
                    <a:ln w="25400">
                      <a:solidFill>
                        <a:srgbClr val="000000"/>
                      </a:solidFill>
                      <a:round/>
                    </a:ln>
                  </p:spPr>
                </p:cxnSp>
                <p:cxnSp>
                  <p:nvCxnSpPr>
                    <p:cNvPr id="57572" name="AutoShape 115"/>
                    <p:cNvCxnSpPr>
                      <a:cxnSpLocks noChangeShapeType="1"/>
                      <a:endCxn id="57581" idx="4"/>
                    </p:cNvCxnSpPr>
                    <p:nvPr/>
                  </p:nvCxnSpPr>
                  <p:spPr bwMode="auto">
                    <a:xfrm>
                      <a:off x="1746" y="2115"/>
                      <a:ext cx="142" cy="79"/>
                    </a:xfrm>
                    <a:prstGeom prst="straightConnector1">
                      <a:avLst/>
                    </a:prstGeom>
                    <a:noFill/>
                    <a:ln w="25400">
                      <a:solidFill>
                        <a:srgbClr val="000000"/>
                      </a:solidFill>
                      <a:round/>
                    </a:ln>
                  </p:spPr>
                </p:cxnSp>
                <p:cxnSp>
                  <p:nvCxnSpPr>
                    <p:cNvPr id="57573" name="AutoShape 116"/>
                    <p:cNvCxnSpPr>
                      <a:cxnSpLocks noChangeShapeType="1"/>
                      <a:endCxn id="57578" idx="3"/>
                    </p:cNvCxnSpPr>
                    <p:nvPr/>
                  </p:nvCxnSpPr>
                  <p:spPr bwMode="auto">
                    <a:xfrm>
                      <a:off x="2018" y="2387"/>
                      <a:ext cx="8" cy="143"/>
                    </a:xfrm>
                    <a:prstGeom prst="straightConnector1">
                      <a:avLst/>
                    </a:prstGeom>
                    <a:noFill/>
                    <a:ln w="25400">
                      <a:solidFill>
                        <a:srgbClr val="000000"/>
                      </a:solidFill>
                      <a:round/>
                    </a:ln>
                  </p:spPr>
                </p:cxnSp>
                <p:cxnSp>
                  <p:nvCxnSpPr>
                    <p:cNvPr id="57574" name="AutoShape 117"/>
                    <p:cNvCxnSpPr>
                      <a:cxnSpLocks noChangeShapeType="1"/>
                      <a:stCxn id="57581" idx="4"/>
                      <a:endCxn id="57578" idx="5"/>
                    </p:cNvCxnSpPr>
                    <p:nvPr/>
                  </p:nvCxnSpPr>
                  <p:spPr bwMode="auto">
                    <a:xfrm>
                      <a:off x="1888" y="2194"/>
                      <a:ext cx="1" cy="130"/>
                    </a:xfrm>
                    <a:prstGeom prst="straightConnector1">
                      <a:avLst/>
                    </a:prstGeom>
                    <a:noFill/>
                    <a:ln w="25400">
                      <a:solidFill>
                        <a:srgbClr val="000000"/>
                      </a:solidFill>
                      <a:round/>
                    </a:ln>
                  </p:spPr>
                </p:cxnSp>
              </p:grpSp>
              <p:cxnSp>
                <p:nvCxnSpPr>
                  <p:cNvPr id="57570" name="AutoShape 118"/>
                  <p:cNvCxnSpPr>
                    <a:cxnSpLocks noChangeShapeType="1"/>
                    <a:stCxn id="57578" idx="2"/>
                    <a:endCxn id="57576" idx="3"/>
                  </p:cNvCxnSpPr>
                  <p:nvPr/>
                </p:nvCxnSpPr>
                <p:spPr bwMode="auto">
                  <a:xfrm flipH="1">
                    <a:off x="1888" y="2599"/>
                    <a:ext cx="1" cy="135"/>
                  </a:xfrm>
                  <a:prstGeom prst="straightConnector1">
                    <a:avLst/>
                  </a:prstGeom>
                  <a:noFill/>
                  <a:ln w="25400">
                    <a:solidFill>
                      <a:srgbClr val="000000"/>
                    </a:solidFill>
                    <a:round/>
                  </a:ln>
                </p:spPr>
              </p:cxnSp>
            </p:grpSp>
            <p:cxnSp>
              <p:nvCxnSpPr>
                <p:cNvPr id="57566" name="AutoShape 119"/>
                <p:cNvCxnSpPr>
                  <a:cxnSpLocks noChangeShapeType="1"/>
                  <a:stCxn id="57579" idx="2"/>
                  <a:endCxn id="57575" idx="1"/>
                </p:cNvCxnSpPr>
                <p:nvPr/>
              </p:nvCxnSpPr>
              <p:spPr bwMode="auto">
                <a:xfrm flipH="1">
                  <a:off x="4438" y="1787"/>
                  <a:ext cx="1" cy="126"/>
                </a:xfrm>
                <a:prstGeom prst="straightConnector1">
                  <a:avLst/>
                </a:prstGeom>
                <a:noFill/>
                <a:ln w="25400">
                  <a:solidFill>
                    <a:srgbClr val="000000"/>
                  </a:solidFill>
                  <a:round/>
                </a:ln>
              </p:spPr>
            </p:cxnSp>
            <p:cxnSp>
              <p:nvCxnSpPr>
                <p:cNvPr id="57567" name="AutoShape 120"/>
                <p:cNvCxnSpPr>
                  <a:cxnSpLocks noChangeShapeType="1"/>
                  <a:stCxn id="57580" idx="6"/>
                  <a:endCxn id="57579" idx="5"/>
                </p:cNvCxnSpPr>
                <p:nvPr/>
              </p:nvCxnSpPr>
              <p:spPr bwMode="auto">
                <a:xfrm>
                  <a:off x="4438" y="1407"/>
                  <a:ext cx="1" cy="126"/>
                </a:xfrm>
                <a:prstGeom prst="straightConnector1">
                  <a:avLst/>
                </a:prstGeom>
                <a:noFill/>
                <a:ln w="25400">
                  <a:solidFill>
                    <a:srgbClr val="000000"/>
                  </a:solidFill>
                  <a:round/>
                </a:ln>
              </p:spPr>
            </p:cxnSp>
          </p:grpSp>
          <p:grpSp>
            <p:nvGrpSpPr>
              <p:cNvPr id="19" name="Group 121"/>
              <p:cNvGrpSpPr/>
              <p:nvPr/>
            </p:nvGrpSpPr>
            <p:grpSpPr bwMode="auto">
              <a:xfrm>
                <a:off x="1474" y="1026"/>
                <a:ext cx="1406" cy="1361"/>
                <a:chOff x="4324" y="1344"/>
                <a:chExt cx="688" cy="635"/>
              </a:xfrm>
            </p:grpSpPr>
            <p:cxnSp>
              <p:nvCxnSpPr>
                <p:cNvPr id="57526" name="AutoShape 122"/>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20" name="Group 123"/>
                <p:cNvGrpSpPr/>
                <p:nvPr/>
              </p:nvGrpSpPr>
              <p:grpSpPr bwMode="auto">
                <a:xfrm>
                  <a:off x="4324" y="1344"/>
                  <a:ext cx="688" cy="635"/>
                  <a:chOff x="1202" y="2115"/>
                  <a:chExt cx="824" cy="688"/>
                </a:xfrm>
              </p:grpSpPr>
              <p:sp>
                <p:nvSpPr>
                  <p:cNvPr id="57547" name="Freeform 124"/>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548" name="Freeform 125"/>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57549" name="Freeform 126"/>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550" name="Freeform 127"/>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551" name="Freeform 128"/>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552" name="Freeform 129"/>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553" name="Freeform 130"/>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57528" name="AutoShape 131"/>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529" name="AutoShape 132"/>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530" name="AutoShape 133"/>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531" name="AutoShape 134"/>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532" name="AutoShape 135"/>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533" name="AutoShape 136"/>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534" name="AutoShape 137"/>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535" name="AutoShape 138"/>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536" name="AutoShape 139"/>
                <p:cNvCxnSpPr>
                  <a:cxnSpLocks noChangeShapeType="1"/>
                  <a:stCxn id="57551" idx="6"/>
                </p:cNvCxnSpPr>
                <p:nvPr/>
              </p:nvCxnSpPr>
              <p:spPr bwMode="auto">
                <a:xfrm>
                  <a:off x="4324" y="1597"/>
                  <a:ext cx="0" cy="124"/>
                </a:xfrm>
                <a:prstGeom prst="straightConnector1">
                  <a:avLst/>
                </a:prstGeom>
                <a:noFill/>
                <a:ln w="25400">
                  <a:solidFill>
                    <a:srgbClr val="000000"/>
                  </a:solidFill>
                  <a:round/>
                </a:ln>
              </p:spPr>
            </p:cxnSp>
            <p:grpSp>
              <p:nvGrpSpPr>
                <p:cNvPr id="21" name="Group 140"/>
                <p:cNvGrpSpPr/>
                <p:nvPr/>
              </p:nvGrpSpPr>
              <p:grpSpPr bwMode="auto">
                <a:xfrm>
                  <a:off x="4778" y="1344"/>
                  <a:ext cx="234" cy="571"/>
                  <a:chOff x="1746" y="2115"/>
                  <a:chExt cx="280" cy="619"/>
                </a:xfrm>
              </p:grpSpPr>
              <p:cxnSp>
                <p:nvCxnSpPr>
                  <p:cNvPr id="57540" name="AutoShape 141"/>
                  <p:cNvCxnSpPr>
                    <a:cxnSpLocks noChangeShapeType="1"/>
                    <a:stCxn id="57548" idx="4"/>
                  </p:cNvCxnSpPr>
                  <p:nvPr/>
                </p:nvCxnSpPr>
                <p:spPr bwMode="auto">
                  <a:xfrm flipV="1">
                    <a:off x="1888" y="2523"/>
                    <a:ext cx="132" cy="74"/>
                  </a:xfrm>
                  <a:prstGeom prst="straightConnector1">
                    <a:avLst/>
                  </a:prstGeom>
                  <a:noFill/>
                  <a:ln w="28575">
                    <a:solidFill>
                      <a:srgbClr val="000000"/>
                    </a:solidFill>
                    <a:round/>
                  </a:ln>
                </p:spPr>
              </p:cxnSp>
              <p:grpSp>
                <p:nvGrpSpPr>
                  <p:cNvPr id="22" name="Group 142"/>
                  <p:cNvGrpSpPr/>
                  <p:nvPr/>
                </p:nvGrpSpPr>
                <p:grpSpPr bwMode="auto">
                  <a:xfrm>
                    <a:off x="1746" y="2115"/>
                    <a:ext cx="280" cy="415"/>
                    <a:chOff x="1746" y="2115"/>
                    <a:chExt cx="280" cy="415"/>
                  </a:xfrm>
                </p:grpSpPr>
                <p:cxnSp>
                  <p:nvCxnSpPr>
                    <p:cNvPr id="57543" name="AutoShape 143"/>
                    <p:cNvCxnSpPr>
                      <a:cxnSpLocks noChangeShapeType="1"/>
                      <a:stCxn id="57550" idx="5"/>
                      <a:endCxn id="57550" idx="4"/>
                    </p:cNvCxnSpPr>
                    <p:nvPr/>
                  </p:nvCxnSpPr>
                  <p:spPr bwMode="auto">
                    <a:xfrm>
                      <a:off x="1889" y="2324"/>
                      <a:ext cx="137" cy="69"/>
                    </a:xfrm>
                    <a:prstGeom prst="straightConnector1">
                      <a:avLst/>
                    </a:prstGeom>
                    <a:noFill/>
                    <a:ln w="25400">
                      <a:solidFill>
                        <a:srgbClr val="000000"/>
                      </a:solidFill>
                      <a:round/>
                    </a:ln>
                  </p:spPr>
                </p:cxnSp>
                <p:cxnSp>
                  <p:nvCxnSpPr>
                    <p:cNvPr id="57544" name="AutoShape 144"/>
                    <p:cNvCxnSpPr>
                      <a:cxnSpLocks noChangeShapeType="1"/>
                      <a:endCxn id="57553" idx="4"/>
                    </p:cNvCxnSpPr>
                    <p:nvPr/>
                  </p:nvCxnSpPr>
                  <p:spPr bwMode="auto">
                    <a:xfrm>
                      <a:off x="1746" y="2115"/>
                      <a:ext cx="142" cy="79"/>
                    </a:xfrm>
                    <a:prstGeom prst="straightConnector1">
                      <a:avLst/>
                    </a:prstGeom>
                    <a:noFill/>
                    <a:ln w="25400">
                      <a:solidFill>
                        <a:srgbClr val="000000"/>
                      </a:solidFill>
                      <a:round/>
                    </a:ln>
                  </p:spPr>
                </p:cxnSp>
                <p:cxnSp>
                  <p:nvCxnSpPr>
                    <p:cNvPr id="57545" name="AutoShape 145"/>
                    <p:cNvCxnSpPr>
                      <a:cxnSpLocks noChangeShapeType="1"/>
                      <a:endCxn id="57550" idx="3"/>
                    </p:cNvCxnSpPr>
                    <p:nvPr/>
                  </p:nvCxnSpPr>
                  <p:spPr bwMode="auto">
                    <a:xfrm>
                      <a:off x="2018" y="2387"/>
                      <a:ext cx="8" cy="143"/>
                    </a:xfrm>
                    <a:prstGeom prst="straightConnector1">
                      <a:avLst/>
                    </a:prstGeom>
                    <a:noFill/>
                    <a:ln w="25400">
                      <a:solidFill>
                        <a:srgbClr val="000000"/>
                      </a:solidFill>
                      <a:round/>
                    </a:ln>
                  </p:spPr>
                </p:cxnSp>
                <p:cxnSp>
                  <p:nvCxnSpPr>
                    <p:cNvPr id="57546" name="AutoShape 146"/>
                    <p:cNvCxnSpPr>
                      <a:cxnSpLocks noChangeShapeType="1"/>
                      <a:stCxn id="57553" idx="4"/>
                      <a:endCxn id="57550" idx="5"/>
                    </p:cNvCxnSpPr>
                    <p:nvPr/>
                  </p:nvCxnSpPr>
                  <p:spPr bwMode="auto">
                    <a:xfrm>
                      <a:off x="1888" y="2194"/>
                      <a:ext cx="1" cy="130"/>
                    </a:xfrm>
                    <a:prstGeom prst="straightConnector1">
                      <a:avLst/>
                    </a:prstGeom>
                    <a:noFill/>
                    <a:ln w="25400">
                      <a:solidFill>
                        <a:srgbClr val="000000"/>
                      </a:solidFill>
                      <a:round/>
                    </a:ln>
                  </p:spPr>
                </p:cxnSp>
              </p:grpSp>
              <p:cxnSp>
                <p:nvCxnSpPr>
                  <p:cNvPr id="57542" name="AutoShape 147"/>
                  <p:cNvCxnSpPr>
                    <a:cxnSpLocks noChangeShapeType="1"/>
                    <a:stCxn id="57550" idx="2"/>
                    <a:endCxn id="57548" idx="3"/>
                  </p:cNvCxnSpPr>
                  <p:nvPr/>
                </p:nvCxnSpPr>
                <p:spPr bwMode="auto">
                  <a:xfrm flipH="1">
                    <a:off x="1888" y="2599"/>
                    <a:ext cx="1" cy="135"/>
                  </a:xfrm>
                  <a:prstGeom prst="straightConnector1">
                    <a:avLst/>
                  </a:prstGeom>
                  <a:noFill/>
                  <a:ln w="25400">
                    <a:solidFill>
                      <a:srgbClr val="000000"/>
                    </a:solidFill>
                    <a:round/>
                  </a:ln>
                </p:spPr>
              </p:cxnSp>
            </p:grpSp>
            <p:cxnSp>
              <p:nvCxnSpPr>
                <p:cNvPr id="57538" name="AutoShape 148"/>
                <p:cNvCxnSpPr>
                  <a:cxnSpLocks noChangeShapeType="1"/>
                  <a:stCxn id="57551" idx="2"/>
                  <a:endCxn id="57547" idx="1"/>
                </p:cNvCxnSpPr>
                <p:nvPr/>
              </p:nvCxnSpPr>
              <p:spPr bwMode="auto">
                <a:xfrm flipH="1">
                  <a:off x="4438" y="1787"/>
                  <a:ext cx="1" cy="126"/>
                </a:xfrm>
                <a:prstGeom prst="straightConnector1">
                  <a:avLst/>
                </a:prstGeom>
                <a:noFill/>
                <a:ln w="25400">
                  <a:solidFill>
                    <a:srgbClr val="000000"/>
                  </a:solidFill>
                  <a:round/>
                </a:ln>
              </p:spPr>
            </p:cxnSp>
            <p:cxnSp>
              <p:nvCxnSpPr>
                <p:cNvPr id="57539" name="AutoShape 149"/>
                <p:cNvCxnSpPr>
                  <a:cxnSpLocks noChangeShapeType="1"/>
                  <a:stCxn id="57552" idx="6"/>
                  <a:endCxn id="57551" idx="5"/>
                </p:cNvCxnSpPr>
                <p:nvPr/>
              </p:nvCxnSpPr>
              <p:spPr bwMode="auto">
                <a:xfrm>
                  <a:off x="4438" y="1407"/>
                  <a:ext cx="1" cy="126"/>
                </a:xfrm>
                <a:prstGeom prst="straightConnector1">
                  <a:avLst/>
                </a:prstGeom>
                <a:noFill/>
                <a:ln w="25400">
                  <a:solidFill>
                    <a:srgbClr val="000000"/>
                  </a:solidFill>
                  <a:round/>
                </a:ln>
              </p:spPr>
            </p:cxnSp>
          </p:grpSp>
          <p:grpSp>
            <p:nvGrpSpPr>
              <p:cNvPr id="23" name="Group 150"/>
              <p:cNvGrpSpPr/>
              <p:nvPr/>
            </p:nvGrpSpPr>
            <p:grpSpPr bwMode="auto">
              <a:xfrm>
                <a:off x="1248" y="2205"/>
                <a:ext cx="1405" cy="1361"/>
                <a:chOff x="4324" y="1344"/>
                <a:chExt cx="688" cy="635"/>
              </a:xfrm>
            </p:grpSpPr>
            <p:cxnSp>
              <p:nvCxnSpPr>
                <p:cNvPr id="57498" name="AutoShape 151"/>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24" name="Group 152"/>
                <p:cNvGrpSpPr/>
                <p:nvPr/>
              </p:nvGrpSpPr>
              <p:grpSpPr bwMode="auto">
                <a:xfrm>
                  <a:off x="4324" y="1344"/>
                  <a:ext cx="688" cy="635"/>
                  <a:chOff x="1202" y="2115"/>
                  <a:chExt cx="824" cy="688"/>
                </a:xfrm>
              </p:grpSpPr>
              <p:sp>
                <p:nvSpPr>
                  <p:cNvPr id="57519" name="Freeform 153"/>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520" name="Freeform 154"/>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57521" name="Freeform 155"/>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522" name="Freeform 156"/>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523" name="Freeform 157"/>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524" name="Freeform 158"/>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525" name="Freeform 159"/>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57500" name="AutoShape 160"/>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501" name="AutoShape 161"/>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502" name="AutoShape 162"/>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503" name="AutoShape 163"/>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504" name="AutoShape 164"/>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505" name="AutoShape 165"/>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506" name="AutoShape 166"/>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507" name="AutoShape 167"/>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508" name="AutoShape 168"/>
                <p:cNvCxnSpPr>
                  <a:cxnSpLocks noChangeShapeType="1"/>
                  <a:stCxn id="57523" idx="6"/>
                </p:cNvCxnSpPr>
                <p:nvPr/>
              </p:nvCxnSpPr>
              <p:spPr bwMode="auto">
                <a:xfrm>
                  <a:off x="4324" y="1597"/>
                  <a:ext cx="0" cy="124"/>
                </a:xfrm>
                <a:prstGeom prst="straightConnector1">
                  <a:avLst/>
                </a:prstGeom>
                <a:noFill/>
                <a:ln w="25400">
                  <a:solidFill>
                    <a:srgbClr val="000000"/>
                  </a:solidFill>
                  <a:round/>
                </a:ln>
              </p:spPr>
            </p:cxnSp>
            <p:grpSp>
              <p:nvGrpSpPr>
                <p:cNvPr id="25" name="Group 169"/>
                <p:cNvGrpSpPr/>
                <p:nvPr/>
              </p:nvGrpSpPr>
              <p:grpSpPr bwMode="auto">
                <a:xfrm>
                  <a:off x="4778" y="1344"/>
                  <a:ext cx="234" cy="571"/>
                  <a:chOff x="1746" y="2115"/>
                  <a:chExt cx="280" cy="619"/>
                </a:xfrm>
              </p:grpSpPr>
              <p:cxnSp>
                <p:nvCxnSpPr>
                  <p:cNvPr id="57512" name="AutoShape 170"/>
                  <p:cNvCxnSpPr>
                    <a:cxnSpLocks noChangeShapeType="1"/>
                    <a:stCxn id="57520" idx="4"/>
                  </p:cNvCxnSpPr>
                  <p:nvPr/>
                </p:nvCxnSpPr>
                <p:spPr bwMode="auto">
                  <a:xfrm flipV="1">
                    <a:off x="1888" y="2523"/>
                    <a:ext cx="132" cy="74"/>
                  </a:xfrm>
                  <a:prstGeom prst="straightConnector1">
                    <a:avLst/>
                  </a:prstGeom>
                  <a:noFill/>
                  <a:ln w="25400">
                    <a:solidFill>
                      <a:srgbClr val="000000"/>
                    </a:solidFill>
                    <a:round/>
                  </a:ln>
                </p:spPr>
              </p:cxnSp>
              <p:grpSp>
                <p:nvGrpSpPr>
                  <p:cNvPr id="26" name="Group 171"/>
                  <p:cNvGrpSpPr/>
                  <p:nvPr/>
                </p:nvGrpSpPr>
                <p:grpSpPr bwMode="auto">
                  <a:xfrm>
                    <a:off x="1746" y="2115"/>
                    <a:ext cx="280" cy="415"/>
                    <a:chOff x="1746" y="2115"/>
                    <a:chExt cx="280" cy="415"/>
                  </a:xfrm>
                </p:grpSpPr>
                <p:cxnSp>
                  <p:nvCxnSpPr>
                    <p:cNvPr id="57515" name="AutoShape 172"/>
                    <p:cNvCxnSpPr>
                      <a:cxnSpLocks noChangeShapeType="1"/>
                      <a:stCxn id="57522" idx="5"/>
                      <a:endCxn id="57522" idx="4"/>
                    </p:cNvCxnSpPr>
                    <p:nvPr/>
                  </p:nvCxnSpPr>
                  <p:spPr bwMode="auto">
                    <a:xfrm>
                      <a:off x="1889" y="2324"/>
                      <a:ext cx="137" cy="69"/>
                    </a:xfrm>
                    <a:prstGeom prst="straightConnector1">
                      <a:avLst/>
                    </a:prstGeom>
                    <a:noFill/>
                    <a:ln w="25400">
                      <a:solidFill>
                        <a:srgbClr val="000000"/>
                      </a:solidFill>
                      <a:round/>
                    </a:ln>
                  </p:spPr>
                </p:cxnSp>
                <p:cxnSp>
                  <p:nvCxnSpPr>
                    <p:cNvPr id="57516" name="AutoShape 173"/>
                    <p:cNvCxnSpPr>
                      <a:cxnSpLocks noChangeShapeType="1"/>
                      <a:endCxn id="57525" idx="4"/>
                    </p:cNvCxnSpPr>
                    <p:nvPr/>
                  </p:nvCxnSpPr>
                  <p:spPr bwMode="auto">
                    <a:xfrm>
                      <a:off x="1746" y="2115"/>
                      <a:ext cx="142" cy="79"/>
                    </a:xfrm>
                    <a:prstGeom prst="straightConnector1">
                      <a:avLst/>
                    </a:prstGeom>
                    <a:noFill/>
                    <a:ln w="25400">
                      <a:solidFill>
                        <a:srgbClr val="000000"/>
                      </a:solidFill>
                      <a:round/>
                    </a:ln>
                  </p:spPr>
                </p:cxnSp>
                <p:cxnSp>
                  <p:nvCxnSpPr>
                    <p:cNvPr id="57517" name="AutoShape 174"/>
                    <p:cNvCxnSpPr>
                      <a:cxnSpLocks noChangeShapeType="1"/>
                      <a:endCxn id="57522" idx="3"/>
                    </p:cNvCxnSpPr>
                    <p:nvPr/>
                  </p:nvCxnSpPr>
                  <p:spPr bwMode="auto">
                    <a:xfrm>
                      <a:off x="2018" y="2387"/>
                      <a:ext cx="8" cy="143"/>
                    </a:xfrm>
                    <a:prstGeom prst="straightConnector1">
                      <a:avLst/>
                    </a:prstGeom>
                    <a:noFill/>
                    <a:ln w="25400">
                      <a:solidFill>
                        <a:srgbClr val="000000"/>
                      </a:solidFill>
                      <a:round/>
                    </a:ln>
                  </p:spPr>
                </p:cxnSp>
                <p:cxnSp>
                  <p:nvCxnSpPr>
                    <p:cNvPr id="57518" name="AutoShape 175"/>
                    <p:cNvCxnSpPr>
                      <a:cxnSpLocks noChangeShapeType="1"/>
                      <a:stCxn id="57525" idx="4"/>
                      <a:endCxn id="57522" idx="5"/>
                    </p:cNvCxnSpPr>
                    <p:nvPr/>
                  </p:nvCxnSpPr>
                  <p:spPr bwMode="auto">
                    <a:xfrm>
                      <a:off x="1888" y="2194"/>
                      <a:ext cx="1" cy="130"/>
                    </a:xfrm>
                    <a:prstGeom prst="straightConnector1">
                      <a:avLst/>
                    </a:prstGeom>
                    <a:noFill/>
                    <a:ln w="25400">
                      <a:solidFill>
                        <a:srgbClr val="000000"/>
                      </a:solidFill>
                      <a:round/>
                    </a:ln>
                  </p:spPr>
                </p:cxnSp>
              </p:grpSp>
              <p:cxnSp>
                <p:nvCxnSpPr>
                  <p:cNvPr id="57514" name="AutoShape 176"/>
                  <p:cNvCxnSpPr>
                    <a:cxnSpLocks noChangeShapeType="1"/>
                    <a:stCxn id="57522" idx="2"/>
                    <a:endCxn id="57520" idx="3"/>
                  </p:cNvCxnSpPr>
                  <p:nvPr/>
                </p:nvCxnSpPr>
                <p:spPr bwMode="auto">
                  <a:xfrm flipH="1">
                    <a:off x="1888" y="2599"/>
                    <a:ext cx="1" cy="135"/>
                  </a:xfrm>
                  <a:prstGeom prst="straightConnector1">
                    <a:avLst/>
                  </a:prstGeom>
                  <a:noFill/>
                  <a:ln w="25400">
                    <a:solidFill>
                      <a:srgbClr val="000000"/>
                    </a:solidFill>
                    <a:round/>
                  </a:ln>
                </p:spPr>
              </p:cxnSp>
            </p:grpSp>
            <p:cxnSp>
              <p:nvCxnSpPr>
                <p:cNvPr id="57510" name="AutoShape 177"/>
                <p:cNvCxnSpPr>
                  <a:cxnSpLocks noChangeShapeType="1"/>
                  <a:stCxn id="57523" idx="2"/>
                  <a:endCxn id="57519" idx="1"/>
                </p:cNvCxnSpPr>
                <p:nvPr/>
              </p:nvCxnSpPr>
              <p:spPr bwMode="auto">
                <a:xfrm flipH="1">
                  <a:off x="4438" y="1787"/>
                  <a:ext cx="1" cy="126"/>
                </a:xfrm>
                <a:prstGeom prst="straightConnector1">
                  <a:avLst/>
                </a:prstGeom>
                <a:noFill/>
                <a:ln w="25400">
                  <a:solidFill>
                    <a:srgbClr val="000000"/>
                  </a:solidFill>
                  <a:round/>
                </a:ln>
              </p:spPr>
            </p:cxnSp>
            <p:cxnSp>
              <p:nvCxnSpPr>
                <p:cNvPr id="57511" name="AutoShape 178"/>
                <p:cNvCxnSpPr>
                  <a:cxnSpLocks noChangeShapeType="1"/>
                  <a:stCxn id="57524" idx="6"/>
                  <a:endCxn id="57523" idx="5"/>
                </p:cNvCxnSpPr>
                <p:nvPr/>
              </p:nvCxnSpPr>
              <p:spPr bwMode="auto">
                <a:xfrm>
                  <a:off x="4438" y="1407"/>
                  <a:ext cx="1" cy="126"/>
                </a:xfrm>
                <a:prstGeom prst="straightConnector1">
                  <a:avLst/>
                </a:prstGeom>
                <a:noFill/>
                <a:ln w="25400">
                  <a:solidFill>
                    <a:srgbClr val="000000"/>
                  </a:solidFill>
                  <a:round/>
                </a:ln>
              </p:spPr>
            </p:cxnSp>
          </p:grpSp>
          <p:grpSp>
            <p:nvGrpSpPr>
              <p:cNvPr id="27" name="Group 179"/>
              <p:cNvGrpSpPr/>
              <p:nvPr/>
            </p:nvGrpSpPr>
            <p:grpSpPr bwMode="auto">
              <a:xfrm>
                <a:off x="2200" y="3021"/>
                <a:ext cx="1406" cy="1316"/>
                <a:chOff x="4324" y="1344"/>
                <a:chExt cx="688" cy="635"/>
              </a:xfrm>
            </p:grpSpPr>
            <p:cxnSp>
              <p:nvCxnSpPr>
                <p:cNvPr id="57470" name="AutoShape 180"/>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28" name="Group 181"/>
                <p:cNvGrpSpPr/>
                <p:nvPr/>
              </p:nvGrpSpPr>
              <p:grpSpPr bwMode="auto">
                <a:xfrm>
                  <a:off x="4324" y="1344"/>
                  <a:ext cx="688" cy="635"/>
                  <a:chOff x="1202" y="2115"/>
                  <a:chExt cx="824" cy="688"/>
                </a:xfrm>
              </p:grpSpPr>
              <p:sp>
                <p:nvSpPr>
                  <p:cNvPr id="57491" name="Freeform 182"/>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57492" name="Freeform 183"/>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57493" name="Freeform 184"/>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57494" name="Freeform 185"/>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57495" name="Freeform 186"/>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57496" name="Freeform 187"/>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57497" name="Freeform 188"/>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57472" name="AutoShape 189"/>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57473" name="AutoShape 190"/>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57474" name="AutoShape 191"/>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57475" name="AutoShape 192"/>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57476" name="AutoShape 193"/>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57477" name="AutoShape 194"/>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57478" name="AutoShape 195"/>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57479" name="AutoShape 196"/>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57480" name="AutoShape 197"/>
                <p:cNvCxnSpPr>
                  <a:cxnSpLocks noChangeShapeType="1"/>
                  <a:stCxn id="57495" idx="6"/>
                </p:cNvCxnSpPr>
                <p:nvPr/>
              </p:nvCxnSpPr>
              <p:spPr bwMode="auto">
                <a:xfrm>
                  <a:off x="4324" y="1597"/>
                  <a:ext cx="0" cy="124"/>
                </a:xfrm>
                <a:prstGeom prst="straightConnector1">
                  <a:avLst/>
                </a:prstGeom>
                <a:noFill/>
                <a:ln w="25400">
                  <a:solidFill>
                    <a:srgbClr val="000000"/>
                  </a:solidFill>
                  <a:round/>
                </a:ln>
              </p:spPr>
            </p:cxnSp>
            <p:grpSp>
              <p:nvGrpSpPr>
                <p:cNvPr id="29" name="Group 198"/>
                <p:cNvGrpSpPr/>
                <p:nvPr/>
              </p:nvGrpSpPr>
              <p:grpSpPr bwMode="auto">
                <a:xfrm>
                  <a:off x="4778" y="1344"/>
                  <a:ext cx="234" cy="571"/>
                  <a:chOff x="1746" y="2115"/>
                  <a:chExt cx="280" cy="619"/>
                </a:xfrm>
              </p:grpSpPr>
              <p:cxnSp>
                <p:nvCxnSpPr>
                  <p:cNvPr id="57484" name="AutoShape 199"/>
                  <p:cNvCxnSpPr>
                    <a:cxnSpLocks noChangeShapeType="1"/>
                    <a:stCxn id="57492" idx="4"/>
                  </p:cNvCxnSpPr>
                  <p:nvPr/>
                </p:nvCxnSpPr>
                <p:spPr bwMode="auto">
                  <a:xfrm flipV="1">
                    <a:off x="1888" y="2523"/>
                    <a:ext cx="132" cy="74"/>
                  </a:xfrm>
                  <a:prstGeom prst="straightConnector1">
                    <a:avLst/>
                  </a:prstGeom>
                  <a:noFill/>
                  <a:ln w="25400">
                    <a:solidFill>
                      <a:srgbClr val="000000"/>
                    </a:solidFill>
                    <a:round/>
                  </a:ln>
                </p:spPr>
              </p:cxnSp>
              <p:grpSp>
                <p:nvGrpSpPr>
                  <p:cNvPr id="30" name="Group 200"/>
                  <p:cNvGrpSpPr/>
                  <p:nvPr/>
                </p:nvGrpSpPr>
                <p:grpSpPr bwMode="auto">
                  <a:xfrm>
                    <a:off x="1746" y="2115"/>
                    <a:ext cx="280" cy="415"/>
                    <a:chOff x="1746" y="2115"/>
                    <a:chExt cx="280" cy="415"/>
                  </a:xfrm>
                </p:grpSpPr>
                <p:cxnSp>
                  <p:nvCxnSpPr>
                    <p:cNvPr id="57487" name="AutoShape 201"/>
                    <p:cNvCxnSpPr>
                      <a:cxnSpLocks noChangeShapeType="1"/>
                      <a:stCxn id="57494" idx="5"/>
                      <a:endCxn id="57494" idx="4"/>
                    </p:cNvCxnSpPr>
                    <p:nvPr/>
                  </p:nvCxnSpPr>
                  <p:spPr bwMode="auto">
                    <a:xfrm>
                      <a:off x="1889" y="2324"/>
                      <a:ext cx="137" cy="69"/>
                    </a:xfrm>
                    <a:prstGeom prst="straightConnector1">
                      <a:avLst/>
                    </a:prstGeom>
                    <a:noFill/>
                    <a:ln w="25400">
                      <a:solidFill>
                        <a:srgbClr val="000000"/>
                      </a:solidFill>
                      <a:round/>
                    </a:ln>
                  </p:spPr>
                </p:cxnSp>
                <p:cxnSp>
                  <p:nvCxnSpPr>
                    <p:cNvPr id="57488" name="AutoShape 202"/>
                    <p:cNvCxnSpPr>
                      <a:cxnSpLocks noChangeShapeType="1"/>
                      <a:endCxn id="57497" idx="4"/>
                    </p:cNvCxnSpPr>
                    <p:nvPr/>
                  </p:nvCxnSpPr>
                  <p:spPr bwMode="auto">
                    <a:xfrm>
                      <a:off x="1746" y="2115"/>
                      <a:ext cx="142" cy="79"/>
                    </a:xfrm>
                    <a:prstGeom prst="straightConnector1">
                      <a:avLst/>
                    </a:prstGeom>
                    <a:noFill/>
                    <a:ln w="25400">
                      <a:solidFill>
                        <a:srgbClr val="000000"/>
                      </a:solidFill>
                      <a:round/>
                    </a:ln>
                  </p:spPr>
                </p:cxnSp>
                <p:cxnSp>
                  <p:nvCxnSpPr>
                    <p:cNvPr id="57489" name="AutoShape 203"/>
                    <p:cNvCxnSpPr>
                      <a:cxnSpLocks noChangeShapeType="1"/>
                      <a:endCxn id="57494" idx="3"/>
                    </p:cNvCxnSpPr>
                    <p:nvPr/>
                  </p:nvCxnSpPr>
                  <p:spPr bwMode="auto">
                    <a:xfrm>
                      <a:off x="2018" y="2387"/>
                      <a:ext cx="8" cy="143"/>
                    </a:xfrm>
                    <a:prstGeom prst="straightConnector1">
                      <a:avLst/>
                    </a:prstGeom>
                    <a:noFill/>
                    <a:ln w="25400">
                      <a:solidFill>
                        <a:srgbClr val="000000"/>
                      </a:solidFill>
                      <a:round/>
                    </a:ln>
                  </p:spPr>
                </p:cxnSp>
                <p:cxnSp>
                  <p:nvCxnSpPr>
                    <p:cNvPr id="57490" name="AutoShape 204"/>
                    <p:cNvCxnSpPr>
                      <a:cxnSpLocks noChangeShapeType="1"/>
                      <a:stCxn id="57497" idx="4"/>
                      <a:endCxn id="57494" idx="5"/>
                    </p:cNvCxnSpPr>
                    <p:nvPr/>
                  </p:nvCxnSpPr>
                  <p:spPr bwMode="auto">
                    <a:xfrm>
                      <a:off x="1888" y="2194"/>
                      <a:ext cx="1" cy="130"/>
                    </a:xfrm>
                    <a:prstGeom prst="straightConnector1">
                      <a:avLst/>
                    </a:prstGeom>
                    <a:noFill/>
                    <a:ln w="25400">
                      <a:solidFill>
                        <a:srgbClr val="000000"/>
                      </a:solidFill>
                      <a:round/>
                    </a:ln>
                  </p:spPr>
                </p:cxnSp>
              </p:grpSp>
              <p:cxnSp>
                <p:nvCxnSpPr>
                  <p:cNvPr id="57486" name="AutoShape 205"/>
                  <p:cNvCxnSpPr>
                    <a:cxnSpLocks noChangeShapeType="1"/>
                    <a:stCxn id="57494" idx="2"/>
                    <a:endCxn id="57492" idx="3"/>
                  </p:cNvCxnSpPr>
                  <p:nvPr/>
                </p:nvCxnSpPr>
                <p:spPr bwMode="auto">
                  <a:xfrm flipH="1">
                    <a:off x="1888" y="2599"/>
                    <a:ext cx="1" cy="135"/>
                  </a:xfrm>
                  <a:prstGeom prst="straightConnector1">
                    <a:avLst/>
                  </a:prstGeom>
                  <a:noFill/>
                  <a:ln w="25400">
                    <a:solidFill>
                      <a:srgbClr val="000000"/>
                    </a:solidFill>
                    <a:round/>
                  </a:ln>
                </p:spPr>
              </p:cxnSp>
            </p:grpSp>
            <p:cxnSp>
              <p:nvCxnSpPr>
                <p:cNvPr id="57482" name="AutoShape 206"/>
                <p:cNvCxnSpPr>
                  <a:cxnSpLocks noChangeShapeType="1"/>
                  <a:stCxn id="57495" idx="2"/>
                  <a:endCxn id="57491" idx="1"/>
                </p:cNvCxnSpPr>
                <p:nvPr/>
              </p:nvCxnSpPr>
              <p:spPr bwMode="auto">
                <a:xfrm flipH="1">
                  <a:off x="4438" y="1787"/>
                  <a:ext cx="1" cy="126"/>
                </a:xfrm>
                <a:prstGeom prst="straightConnector1">
                  <a:avLst/>
                </a:prstGeom>
                <a:noFill/>
                <a:ln w="25400">
                  <a:solidFill>
                    <a:srgbClr val="000000"/>
                  </a:solidFill>
                  <a:round/>
                </a:ln>
              </p:spPr>
            </p:cxnSp>
            <p:cxnSp>
              <p:nvCxnSpPr>
                <p:cNvPr id="57483" name="AutoShape 207"/>
                <p:cNvCxnSpPr>
                  <a:cxnSpLocks noChangeShapeType="1"/>
                  <a:stCxn id="57496" idx="6"/>
                  <a:endCxn id="57495" idx="5"/>
                </p:cNvCxnSpPr>
                <p:nvPr/>
              </p:nvCxnSpPr>
              <p:spPr bwMode="auto">
                <a:xfrm>
                  <a:off x="4438" y="1407"/>
                  <a:ext cx="1" cy="126"/>
                </a:xfrm>
                <a:prstGeom prst="straightConnector1">
                  <a:avLst/>
                </a:prstGeom>
                <a:noFill/>
                <a:ln w="25400">
                  <a:solidFill>
                    <a:srgbClr val="000000"/>
                  </a:solidFill>
                  <a:round/>
                </a:ln>
              </p:spPr>
            </p:cxnSp>
          </p:grpSp>
        </p:grpSp>
        <p:sp>
          <p:nvSpPr>
            <p:cNvPr id="69935" name="Text Box 303"/>
            <p:cNvSpPr txBox="1">
              <a:spLocks noChangeArrowheads="1"/>
            </p:cNvSpPr>
            <p:nvPr/>
          </p:nvSpPr>
          <p:spPr bwMode="auto">
            <a:xfrm>
              <a:off x="7561248" y="3975498"/>
              <a:ext cx="1119217" cy="634020"/>
            </a:xfrm>
            <a:prstGeom prst="rect">
              <a:avLst/>
            </a:prstGeom>
            <a:noFill/>
            <a:ln w="25400" algn="ctr">
              <a:noFill/>
              <a:miter lim="800000"/>
            </a:ln>
          </p:spPr>
          <p:txBody>
            <a:bodyPr wrap="none">
              <a:spAutoFit/>
            </a:bodyPr>
            <a:lstStyle/>
            <a:p>
              <a:pPr marL="342900" indent="-342900" algn="ctr">
                <a:spcBef>
                  <a:spcPct val="20000"/>
                </a:spcBef>
                <a:buClr>
                  <a:schemeClr val="hlink"/>
                </a:buClr>
              </a:pPr>
              <a:r>
                <a:rPr lang="en-US" altLang="zh-CN" sz="1600" b="1" i="1">
                  <a:latin typeface="Times New Roman" panose="02020603050405020304" pitchFamily="18" charset="0"/>
                </a:rPr>
                <a:t>q=D/R=4.6</a:t>
              </a:r>
              <a:endParaRPr lang="en-US" altLang="zh-CN" sz="1600" b="1" i="1">
                <a:latin typeface="Times New Roman" panose="02020603050405020304" pitchFamily="18" charset="0"/>
              </a:endParaRPr>
            </a:p>
            <a:p>
              <a:pPr marL="342900" indent="-342900" algn="ctr">
                <a:spcBef>
                  <a:spcPct val="20000"/>
                </a:spcBef>
                <a:buClr>
                  <a:schemeClr val="hlink"/>
                </a:buClr>
              </a:pPr>
              <a:r>
                <a:rPr lang="en-US" altLang="zh-CN" sz="1600" b="1" i="1">
                  <a:latin typeface="Times New Roman" panose="02020603050405020304" pitchFamily="18" charset="0"/>
                </a:rPr>
                <a:t>N=7</a:t>
              </a:r>
              <a:endParaRPr lang="en-US" altLang="zh-CN" sz="1600" b="1" i="1">
                <a:latin typeface="Times New Roman" panose="02020603050405020304" pitchFamily="18" charset="0"/>
              </a:endParaRPr>
            </a:p>
          </p:txBody>
        </p:sp>
        <p:sp>
          <p:nvSpPr>
            <p:cNvPr id="69936" name="Line 304"/>
            <p:cNvSpPr>
              <a:spLocks noChangeShapeType="1"/>
            </p:cNvSpPr>
            <p:nvPr/>
          </p:nvSpPr>
          <p:spPr bwMode="auto">
            <a:xfrm flipV="1">
              <a:off x="6804026" y="2085975"/>
              <a:ext cx="144463" cy="161925"/>
            </a:xfrm>
            <a:prstGeom prst="line">
              <a:avLst/>
            </a:prstGeom>
            <a:noFill/>
            <a:ln w="12700">
              <a:solidFill>
                <a:srgbClr val="000000"/>
              </a:solidFill>
              <a:round/>
            </a:ln>
          </p:spPr>
          <p:txBody>
            <a:bodyPr wrap="none" anchor="ctr"/>
            <a:lstStyle/>
            <a:p>
              <a:endParaRPr lang="zh-CN" altLang="en-US"/>
            </a:p>
          </p:txBody>
        </p:sp>
        <p:sp>
          <p:nvSpPr>
            <p:cNvPr id="69937" name="Line 305"/>
            <p:cNvSpPr>
              <a:spLocks noChangeShapeType="1"/>
            </p:cNvSpPr>
            <p:nvPr/>
          </p:nvSpPr>
          <p:spPr bwMode="auto">
            <a:xfrm flipV="1">
              <a:off x="7667626" y="2518172"/>
              <a:ext cx="144463" cy="161925"/>
            </a:xfrm>
            <a:prstGeom prst="line">
              <a:avLst/>
            </a:prstGeom>
            <a:noFill/>
            <a:ln w="12700">
              <a:solidFill>
                <a:srgbClr val="000000"/>
              </a:solidFill>
              <a:round/>
            </a:ln>
          </p:spPr>
          <p:txBody>
            <a:bodyPr wrap="none" anchor="ctr"/>
            <a:lstStyle/>
            <a:p>
              <a:endParaRPr lang="zh-CN" altLang="en-US"/>
            </a:p>
          </p:txBody>
        </p:sp>
        <p:sp>
          <p:nvSpPr>
            <p:cNvPr id="69938" name="Line 306"/>
            <p:cNvSpPr>
              <a:spLocks noChangeShapeType="1"/>
            </p:cNvSpPr>
            <p:nvPr/>
          </p:nvSpPr>
          <p:spPr bwMode="auto">
            <a:xfrm>
              <a:off x="7451726" y="2463404"/>
              <a:ext cx="288925" cy="161925"/>
            </a:xfrm>
            <a:prstGeom prst="line">
              <a:avLst/>
            </a:prstGeom>
            <a:noFill/>
            <a:ln w="12700">
              <a:solidFill>
                <a:srgbClr val="000000"/>
              </a:solidFill>
              <a:round/>
              <a:tailEnd type="triangle" w="med" len="med"/>
            </a:ln>
          </p:spPr>
          <p:txBody>
            <a:bodyPr wrap="none" anchor="ctr"/>
            <a:lstStyle/>
            <a:p>
              <a:endParaRPr lang="zh-CN" altLang="en-US"/>
            </a:p>
          </p:txBody>
        </p:sp>
        <p:sp>
          <p:nvSpPr>
            <p:cNvPr id="69939" name="Line 307"/>
            <p:cNvSpPr>
              <a:spLocks noChangeShapeType="1"/>
            </p:cNvSpPr>
            <p:nvPr/>
          </p:nvSpPr>
          <p:spPr bwMode="auto">
            <a:xfrm flipH="1" flipV="1">
              <a:off x="6877050" y="2139554"/>
              <a:ext cx="287338" cy="161925"/>
            </a:xfrm>
            <a:prstGeom prst="line">
              <a:avLst/>
            </a:prstGeom>
            <a:noFill/>
            <a:ln w="12700">
              <a:solidFill>
                <a:srgbClr val="000000"/>
              </a:solidFill>
              <a:round/>
              <a:tailEnd type="triangle" w="med" len="med"/>
            </a:ln>
          </p:spPr>
          <p:txBody>
            <a:bodyPr wrap="none" anchor="ctr"/>
            <a:lstStyle/>
            <a:p>
              <a:endParaRPr lang="zh-CN" altLang="en-US"/>
            </a:p>
          </p:txBody>
        </p:sp>
        <p:sp>
          <p:nvSpPr>
            <p:cNvPr id="69940" name="Text Box 308"/>
            <p:cNvSpPr txBox="1">
              <a:spLocks noChangeArrowheads="1"/>
            </p:cNvSpPr>
            <p:nvPr/>
          </p:nvSpPr>
          <p:spPr bwMode="auto">
            <a:xfrm rot="1391494">
              <a:off x="7163324" y="2200752"/>
              <a:ext cx="351378" cy="369332"/>
            </a:xfrm>
            <a:prstGeom prst="rect">
              <a:avLst/>
            </a:prstGeom>
            <a:noFill/>
            <a:ln w="25400" algn="ctr">
              <a:noFill/>
              <a:miter lim="800000"/>
            </a:ln>
            <a:effectLst/>
          </p:spPr>
          <p:txBody>
            <a:bodyPr wrap="none">
              <a:spAutoFit/>
            </a:bodyPr>
            <a:lstStyle/>
            <a:p>
              <a:pPr marL="342900" indent="-342900" algn="ctr">
                <a:spcBef>
                  <a:spcPct val="20000"/>
                </a:spcBef>
                <a:buClr>
                  <a:schemeClr val="hlink"/>
                </a:buClr>
                <a:defRPr/>
              </a:pPr>
              <a:r>
                <a:rPr lang="en-US" altLang="zh-CN" b="1" i="1">
                  <a:effectLst>
                    <a:outerShdw blurRad="38100" dist="38100" dir="2700000" algn="tl">
                      <a:srgbClr val="C0C0C0"/>
                    </a:outerShdw>
                  </a:effectLst>
                  <a:latin typeface="Times New Roman" panose="02020603050405020304" pitchFamily="18" charset="0"/>
                </a:rPr>
                <a:t>D</a:t>
              </a:r>
              <a:endParaRPr lang="en-US" altLang="zh-CN" b="1" i="1">
                <a:effectLst>
                  <a:outerShdw blurRad="38100" dist="38100" dir="2700000" algn="tl">
                    <a:srgbClr val="C0C0C0"/>
                  </a:outerShdw>
                </a:effectLst>
                <a:latin typeface="Times New Roman" panose="02020603050405020304" pitchFamily="18" charset="0"/>
              </a:endParaRPr>
            </a:p>
          </p:txBody>
        </p:sp>
        <p:sp>
          <p:nvSpPr>
            <p:cNvPr id="69941" name="Line 309"/>
            <p:cNvSpPr>
              <a:spLocks noChangeShapeType="1"/>
            </p:cNvSpPr>
            <p:nvPr/>
          </p:nvSpPr>
          <p:spPr bwMode="auto">
            <a:xfrm flipH="1" flipV="1">
              <a:off x="6084889" y="2031207"/>
              <a:ext cx="142875" cy="216694"/>
            </a:xfrm>
            <a:prstGeom prst="line">
              <a:avLst/>
            </a:prstGeom>
            <a:noFill/>
            <a:ln w="12700">
              <a:solidFill>
                <a:srgbClr val="000000"/>
              </a:solidFill>
              <a:round/>
            </a:ln>
          </p:spPr>
          <p:txBody>
            <a:bodyPr wrap="none" anchor="ctr"/>
            <a:lstStyle/>
            <a:p>
              <a:endParaRPr lang="zh-CN" altLang="en-US"/>
            </a:p>
          </p:txBody>
        </p:sp>
        <p:sp>
          <p:nvSpPr>
            <p:cNvPr id="69942" name="Line 310"/>
            <p:cNvSpPr>
              <a:spLocks noChangeShapeType="1"/>
            </p:cNvSpPr>
            <p:nvPr/>
          </p:nvSpPr>
          <p:spPr bwMode="auto">
            <a:xfrm flipH="1" flipV="1">
              <a:off x="5867400" y="2031207"/>
              <a:ext cx="217488" cy="378619"/>
            </a:xfrm>
            <a:prstGeom prst="line">
              <a:avLst/>
            </a:prstGeom>
            <a:noFill/>
            <a:ln w="12700">
              <a:solidFill>
                <a:srgbClr val="000000"/>
              </a:solidFill>
              <a:round/>
            </a:ln>
          </p:spPr>
          <p:txBody>
            <a:bodyPr wrap="none" anchor="ctr"/>
            <a:lstStyle/>
            <a:p>
              <a:endParaRPr lang="zh-CN" altLang="en-US"/>
            </a:p>
          </p:txBody>
        </p:sp>
        <p:sp>
          <p:nvSpPr>
            <p:cNvPr id="69943" name="Line 311"/>
            <p:cNvSpPr>
              <a:spLocks noChangeShapeType="1"/>
            </p:cNvSpPr>
            <p:nvPr/>
          </p:nvSpPr>
          <p:spPr bwMode="auto">
            <a:xfrm flipV="1">
              <a:off x="5795963" y="2139554"/>
              <a:ext cx="144462" cy="53578"/>
            </a:xfrm>
            <a:prstGeom prst="line">
              <a:avLst/>
            </a:prstGeom>
            <a:noFill/>
            <a:ln w="12700">
              <a:solidFill>
                <a:srgbClr val="000000"/>
              </a:solidFill>
              <a:round/>
              <a:tailEnd type="triangle" w="med" len="med"/>
            </a:ln>
          </p:spPr>
          <p:txBody>
            <a:bodyPr wrap="none" anchor="ctr"/>
            <a:lstStyle/>
            <a:p>
              <a:endParaRPr lang="zh-CN" altLang="en-US"/>
            </a:p>
          </p:txBody>
        </p:sp>
        <p:sp>
          <p:nvSpPr>
            <p:cNvPr id="69944" name="Line 312"/>
            <p:cNvSpPr>
              <a:spLocks noChangeShapeType="1"/>
            </p:cNvSpPr>
            <p:nvPr/>
          </p:nvSpPr>
          <p:spPr bwMode="auto">
            <a:xfrm flipH="1">
              <a:off x="6084888" y="2031207"/>
              <a:ext cx="215900" cy="54769"/>
            </a:xfrm>
            <a:prstGeom prst="line">
              <a:avLst/>
            </a:prstGeom>
            <a:noFill/>
            <a:ln w="12700">
              <a:solidFill>
                <a:srgbClr val="000000"/>
              </a:solidFill>
              <a:round/>
              <a:tailEnd type="triangle" w="med" len="med"/>
            </a:ln>
          </p:spPr>
          <p:txBody>
            <a:bodyPr wrap="none" anchor="ctr"/>
            <a:lstStyle/>
            <a:p>
              <a:endParaRPr lang="zh-CN" altLang="en-US"/>
            </a:p>
          </p:txBody>
        </p:sp>
        <p:sp>
          <p:nvSpPr>
            <p:cNvPr id="69945" name="Text Box 313"/>
            <p:cNvSpPr txBox="1">
              <a:spLocks noChangeArrowheads="1"/>
            </p:cNvSpPr>
            <p:nvPr/>
          </p:nvSpPr>
          <p:spPr bwMode="auto">
            <a:xfrm rot="-1078149">
              <a:off x="5434598" y="2038827"/>
              <a:ext cx="338554" cy="369332"/>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b="1" i="1">
                  <a:effectLst>
                    <a:outerShdw blurRad="38100" dist="38100" dir="2700000" algn="tl">
                      <a:srgbClr val="C0C0C0"/>
                    </a:outerShdw>
                  </a:effectLst>
                  <a:latin typeface="Times New Roman" panose="02020603050405020304" pitchFamily="18" charset="0"/>
                </a:rPr>
                <a:t>R</a:t>
              </a:r>
              <a:endParaRPr lang="en-US" altLang="zh-CN" b="1" i="1">
                <a:effectLst>
                  <a:outerShdw blurRad="38100" dist="38100" dir="2700000" algn="tl">
                    <a:srgbClr val="C0C0C0"/>
                  </a:outerShdw>
                </a:effectLst>
                <a:latin typeface="Times New Roman" panose="02020603050405020304" pitchFamily="18" charset="0"/>
              </a:endParaRPr>
            </a:p>
          </p:txBody>
        </p:sp>
        <p:pic>
          <p:nvPicPr>
            <p:cNvPr id="57370" name="Picture 324" descr="图片1"/>
            <p:cNvPicPr>
              <a:picLocks noChangeAspect="1" noChangeArrowheads="1"/>
            </p:cNvPicPr>
            <p:nvPr/>
          </p:nvPicPr>
          <p:blipFill>
            <a:blip r:embed="rId2" cstate="print"/>
            <a:srcRect/>
            <a:stretch>
              <a:fillRect/>
            </a:stretch>
          </p:blipFill>
          <p:spPr bwMode="auto">
            <a:xfrm>
              <a:off x="4787901" y="2247900"/>
              <a:ext cx="3400425" cy="2328863"/>
            </a:xfrm>
            <a:prstGeom prst="rect">
              <a:avLst/>
            </a:prstGeom>
            <a:noFill/>
            <a:ln w="9525">
              <a:noFill/>
              <a:miter lim="800000"/>
              <a:headEnd/>
              <a:tailEnd/>
            </a:ln>
          </p:spPr>
        </p:pic>
      </p:grpSp>
      <p:sp>
        <p:nvSpPr>
          <p:cNvPr id="325"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326" name="图片 325"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pic>
        <p:nvPicPr>
          <p:cNvPr id="327" name="图片 326"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58372" name="Rectangle 3"/>
          <p:cNvSpPr>
            <a:spLocks noGrp="1" noChangeArrowheads="1"/>
          </p:cNvSpPr>
          <p:nvPr>
            <p:ph type="body" idx="1"/>
          </p:nvPr>
        </p:nvSpPr>
        <p:spPr>
          <a:xfrm>
            <a:off x="251520" y="1006079"/>
            <a:ext cx="8712967" cy="3657600"/>
          </a:xfrm>
        </p:spPr>
        <p:txBody>
          <a:bodyPr/>
          <a:lstStyle/>
          <a:p>
            <a:pPr marL="0" eaLnBrk="1" hangingPunct="1">
              <a:lnSpc>
                <a:spcPts val="3500"/>
              </a:lnSpc>
              <a:spcBef>
                <a:spcPts val="0"/>
              </a:spcBef>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采用六边形的原因</a:t>
            </a:r>
            <a:endParaRPr lang="zh-CN" altLang="en-US" sz="2200" b="0" dirty="0" smtClean="0">
              <a:solidFill>
                <a:srgbClr val="003300"/>
              </a:solidFill>
              <a:latin typeface="华文楷体" pitchFamily="2" charset="-122"/>
              <a:ea typeface="华文楷体" pitchFamily="2" charset="-122"/>
            </a:endParaRPr>
          </a:p>
          <a:p>
            <a:pPr marL="0" lvl="1" eaLnBrk="1" hangingPunct="1">
              <a:lnSpc>
                <a:spcPts val="3500"/>
              </a:lnSpc>
              <a:spcBef>
                <a:spcPts val="0"/>
              </a:spcBef>
              <a:buFont typeface="Wingdings" panose="05000000000000000000" pitchFamily="2" charset="2"/>
              <a:buBlip>
                <a:blip r:embed="rId2"/>
              </a:buBlip>
            </a:pPr>
            <a:r>
              <a:rPr lang="zh-CN" altLang="en-US" sz="2200" b="1" dirty="0" smtClean="0">
                <a:latin typeface="华文楷体" pitchFamily="2" charset="-122"/>
                <a:ea typeface="华文楷体" pitchFamily="2" charset="-122"/>
              </a:rPr>
              <a:t>用最小的小区数就能覆盖整个地理区域</a:t>
            </a:r>
            <a:endParaRPr lang="zh-CN" altLang="en-US" sz="2200" b="1" dirty="0" smtClean="0">
              <a:latin typeface="华文楷体" pitchFamily="2" charset="-122"/>
              <a:ea typeface="华文楷体" pitchFamily="2" charset="-122"/>
            </a:endParaRPr>
          </a:p>
          <a:p>
            <a:pPr marL="0" lvl="1" eaLnBrk="1" hangingPunct="1">
              <a:lnSpc>
                <a:spcPts val="3500"/>
              </a:lnSpc>
              <a:spcBef>
                <a:spcPts val="0"/>
              </a:spcBef>
              <a:buFont typeface="Wingdings" panose="05000000000000000000" pitchFamily="2" charset="2"/>
              <a:buBlip>
                <a:blip r:embed="rId2"/>
              </a:buBlip>
            </a:pPr>
            <a:r>
              <a:rPr lang="zh-CN" altLang="en-US" sz="2200" b="1" dirty="0" smtClean="0">
                <a:latin typeface="华文楷体" pitchFamily="2" charset="-122"/>
                <a:ea typeface="华文楷体" pitchFamily="2" charset="-122"/>
              </a:rPr>
              <a:t>最接近于全向的基站天线和自由空间传播的全向辐射模式</a:t>
            </a:r>
            <a:endParaRPr lang="zh-CN" altLang="en-US" sz="2200" b="1" dirty="0" smtClean="0">
              <a:latin typeface="华文楷体" pitchFamily="2" charset="-122"/>
              <a:ea typeface="华文楷体" pitchFamily="2" charset="-122"/>
            </a:endParaRPr>
          </a:p>
          <a:p>
            <a:pPr marL="0" eaLnBrk="1" hangingPunct="1">
              <a:lnSpc>
                <a:spcPts val="3500"/>
              </a:lnSpc>
              <a:spcBef>
                <a:spcPts val="0"/>
              </a:spcBef>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基站发射机位置</a:t>
            </a:r>
            <a:endParaRPr lang="zh-CN" altLang="en-US" sz="2200" b="0" dirty="0" smtClean="0">
              <a:solidFill>
                <a:srgbClr val="003300"/>
              </a:solidFill>
              <a:latin typeface="华文楷体" pitchFamily="2" charset="-122"/>
              <a:ea typeface="华文楷体" pitchFamily="2" charset="-122"/>
            </a:endParaRPr>
          </a:p>
          <a:p>
            <a:pPr marL="0" lvl="1" eaLnBrk="1" hangingPunct="1">
              <a:lnSpc>
                <a:spcPts val="3500"/>
              </a:lnSpc>
              <a:spcBef>
                <a:spcPts val="0"/>
              </a:spcBef>
              <a:buFont typeface="Wingdings" panose="05000000000000000000" pitchFamily="2" charset="2"/>
              <a:buBlip>
                <a:blip r:embed="rId2"/>
              </a:buBlip>
            </a:pPr>
            <a:r>
              <a:rPr lang="zh-CN" altLang="en-US" sz="2200" b="1" dirty="0" smtClean="0">
                <a:latin typeface="华文楷体" pitchFamily="2" charset="-122"/>
                <a:ea typeface="华文楷体" pitchFamily="2" charset="-122"/>
              </a:rPr>
              <a:t>中心激励小区：安置在小区的中心</a:t>
            </a:r>
            <a:endParaRPr lang="zh-CN" altLang="en-US" sz="2200" b="1" dirty="0" smtClean="0">
              <a:latin typeface="华文楷体" pitchFamily="2" charset="-122"/>
              <a:ea typeface="华文楷体" pitchFamily="2" charset="-122"/>
            </a:endParaRPr>
          </a:p>
          <a:p>
            <a:pPr marL="0" lvl="1" eaLnBrk="1" hangingPunct="1">
              <a:lnSpc>
                <a:spcPts val="3500"/>
              </a:lnSpc>
              <a:spcBef>
                <a:spcPts val="0"/>
              </a:spcBef>
              <a:buFont typeface="Wingdings" panose="05000000000000000000" pitchFamily="2" charset="2"/>
              <a:buBlip>
                <a:blip r:embed="rId2"/>
              </a:buBlip>
            </a:pPr>
            <a:r>
              <a:rPr lang="zh-CN" altLang="en-US" sz="2200" b="1" dirty="0" smtClean="0">
                <a:latin typeface="华文楷体" pitchFamily="2" charset="-122"/>
                <a:ea typeface="华文楷体" pitchFamily="2" charset="-122"/>
              </a:rPr>
              <a:t>顶点激励小区：安置在六边形顶点之中的三个上</a:t>
            </a:r>
            <a:endParaRPr lang="zh-CN" altLang="en-US" sz="2200" b="1" dirty="0" smtClean="0">
              <a:latin typeface="华文楷体" pitchFamily="2" charset="-122"/>
              <a:ea typeface="华文楷体" pitchFamily="2" charset="-122"/>
            </a:endParaRPr>
          </a:p>
          <a:p>
            <a:pPr marL="0" eaLnBrk="1" hangingPunct="1">
              <a:lnSpc>
                <a:spcPts val="3500"/>
              </a:lnSpc>
              <a:spcBef>
                <a:spcPts val="0"/>
              </a:spcBef>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实际形状</a:t>
            </a:r>
            <a:endParaRPr lang="zh-CN" altLang="en-US" sz="2200" b="0" dirty="0" smtClean="0">
              <a:solidFill>
                <a:srgbClr val="003300"/>
              </a:solidFill>
              <a:latin typeface="华文楷体" pitchFamily="2" charset="-122"/>
              <a:ea typeface="华文楷体" pitchFamily="2" charset="-122"/>
            </a:endParaRPr>
          </a:p>
          <a:p>
            <a:pPr marL="0" eaLnBrk="1" hangingPunct="1">
              <a:lnSpc>
                <a:spcPts val="3500"/>
              </a:lnSpc>
              <a:spcBef>
                <a:spcPts val="0"/>
              </a:spcBef>
              <a:buFont typeface="Wingdings" panose="05000000000000000000" pitchFamily="2" charset="2"/>
              <a:buNone/>
            </a:pPr>
            <a:r>
              <a:rPr lang="zh-CN" altLang="en-US" sz="2200" b="0" dirty="0" smtClean="0">
                <a:latin typeface="华文楷体" pitchFamily="2" charset="-122"/>
                <a:ea typeface="华文楷体" pitchFamily="2" charset="-122"/>
              </a:rPr>
              <a:t>    由于地形地貌、传播环境、衰落形式的多样性，小区的实际无线覆盖是一个</a:t>
            </a:r>
            <a:r>
              <a:rPr lang="zh-CN" altLang="en-US" sz="2200" dirty="0" smtClean="0">
                <a:solidFill>
                  <a:srgbClr val="FF0000"/>
                </a:solidFill>
                <a:latin typeface="华文楷体" pitchFamily="2" charset="-122"/>
                <a:ea typeface="华文楷体" pitchFamily="2" charset="-122"/>
              </a:rPr>
              <a:t>不规则的形状</a:t>
            </a:r>
            <a:endParaRPr lang="zh-CN" altLang="en-US" sz="2200" dirty="0" smtClean="0">
              <a:solidFill>
                <a:srgbClr val="FF0000"/>
              </a:solidFill>
              <a:latin typeface="华文楷体" pitchFamily="2" charset="-122"/>
              <a:ea typeface="华文楷体" pitchFamily="2" charset="-122"/>
            </a:endParaRPr>
          </a:p>
        </p:txBody>
      </p:sp>
      <p:sp>
        <p:nvSpPr>
          <p:cNvPr id="6" name="Text Box 3"/>
          <p:cNvSpPr txBox="1">
            <a:spLocks noChangeArrowheads="1"/>
          </p:cNvSpPr>
          <p:nvPr/>
        </p:nvSpPr>
        <p:spPr bwMode="auto">
          <a:xfrm>
            <a:off x="179512" y="699542"/>
            <a:ext cx="8496944" cy="430887"/>
          </a:xfrm>
          <a:prstGeom prst="rect">
            <a:avLst/>
          </a:prstGeom>
          <a:noFill/>
          <a:ln w="25400" algn="ctr">
            <a:noFill/>
            <a:miter lim="800000"/>
          </a:ln>
          <a:effectLst/>
        </p:spPr>
        <p:txBody>
          <a:bodyPr wrap="square">
            <a:spAutoFit/>
          </a:bodyPr>
          <a:lstStyle/>
          <a:p>
            <a:pPr marL="342900" indent="-342900">
              <a:spcBef>
                <a:spcPct val="20000"/>
              </a:spcBef>
              <a:buClr>
                <a:schemeClr val="hlink"/>
              </a:buClr>
              <a:defRPr/>
            </a:pPr>
            <a:r>
              <a:rPr lang="zh-CN" altLang="en-US" sz="2200" dirty="0" smtClean="0"/>
              <a:t>（</a:t>
            </a:r>
            <a:r>
              <a:rPr lang="en-US" altLang="zh-CN" sz="2200" dirty="0" smtClean="0"/>
              <a:t>3</a:t>
            </a:r>
            <a:r>
              <a:rPr lang="zh-CN" altLang="en-US" sz="2200" dirty="0" smtClean="0"/>
              <a:t>）小区形状：</a:t>
            </a:r>
            <a:endParaRPr lang="zh-CN" altLang="en-US" sz="2200" dirty="0">
              <a:effectLst>
                <a:outerShdw blurRad="38100" dist="38100" dir="2700000" algn="tl">
                  <a:srgbClr val="C0C0C0"/>
                </a:outerShdw>
              </a:effectLst>
              <a:latin typeface="华文楷体" pitchFamily="2" charset="-122"/>
              <a:ea typeface="华文楷体" pitchFamily="2" charset="-122"/>
            </a:endParaRPr>
          </a:p>
        </p:txBody>
      </p:sp>
      <p:sp>
        <p:nvSpPr>
          <p:cNvPr id="7"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 name="图片 7"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pic>
        <p:nvPicPr>
          <p:cNvPr id="9" name="图片 8"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59396" name="Rectangle 3"/>
          <p:cNvSpPr>
            <a:spLocks noGrp="1" noChangeArrowheads="1"/>
          </p:cNvSpPr>
          <p:nvPr>
            <p:ph type="body" idx="1"/>
          </p:nvPr>
        </p:nvSpPr>
        <p:spPr>
          <a:xfrm>
            <a:off x="251520" y="1131590"/>
            <a:ext cx="8640960" cy="3312368"/>
          </a:xfrm>
        </p:spPr>
        <p:txBody>
          <a:bodyPr/>
          <a:lstStyle/>
          <a:p>
            <a:pPr eaLnBrk="1" hangingPunct="1">
              <a:lnSpc>
                <a:spcPts val="3500"/>
              </a:lnSpc>
              <a:buFont typeface="Wingdings" panose="05000000000000000000" pitchFamily="2" charset="2"/>
              <a:buBlip>
                <a:blip r:embed="rId1"/>
              </a:buBlip>
            </a:pPr>
            <a:r>
              <a:rPr lang="zh-CN" altLang="en-US" sz="2200" b="0" dirty="0" smtClean="0">
                <a:ea typeface="华文楷体" pitchFamily="2" charset="-122"/>
              </a:rPr>
              <a:t>小区簇的意义</a:t>
            </a:r>
            <a:endParaRPr lang="zh-CN" altLang="en-US" sz="2200" b="0" dirty="0" smtClean="0">
              <a:ea typeface="华文楷体" pitchFamily="2" charset="-122"/>
            </a:endParaRPr>
          </a:p>
          <a:p>
            <a:pPr eaLnBrk="1" hangingPunct="1">
              <a:lnSpc>
                <a:spcPts val="3500"/>
              </a:lnSpc>
              <a:buNone/>
            </a:pPr>
            <a:r>
              <a:rPr lang="zh-CN" altLang="en-US" sz="2200" b="0" dirty="0" smtClean="0"/>
              <a:t>一个共有</a:t>
            </a:r>
            <a:r>
              <a:rPr lang="en-US" altLang="zh-CN" sz="2200" b="0" dirty="0" smtClean="0"/>
              <a:t>S</a:t>
            </a:r>
            <a:r>
              <a:rPr lang="zh-CN" altLang="en-US" sz="2200" b="0" dirty="0" smtClean="0"/>
              <a:t>个双向信道的蜂窝系统，如果每簇含</a:t>
            </a:r>
            <a:r>
              <a:rPr lang="en-US" altLang="zh-CN" sz="2200" b="0" dirty="0" smtClean="0"/>
              <a:t>N</a:t>
            </a:r>
            <a:r>
              <a:rPr lang="zh-CN" altLang="en-US" sz="2200" b="0" dirty="0" smtClean="0"/>
              <a:t>个小区，每个小区分配</a:t>
            </a:r>
            <a:r>
              <a:rPr lang="en-US" altLang="zh-CN" sz="2200" b="0" dirty="0" smtClean="0"/>
              <a:t>K</a:t>
            </a:r>
            <a:r>
              <a:rPr lang="zh-CN" altLang="en-US" sz="2200" b="0" dirty="0" smtClean="0"/>
              <a:t>个信道（</a:t>
            </a:r>
            <a:r>
              <a:rPr lang="en-US" altLang="zh-CN" sz="2200" b="0" dirty="0" smtClean="0"/>
              <a:t>k&lt;S</a:t>
            </a:r>
            <a:r>
              <a:rPr lang="zh-CN" altLang="en-US" sz="2200" b="0" dirty="0" smtClean="0"/>
              <a:t>），那么可用无线信道的总数为：</a:t>
            </a:r>
            <a:r>
              <a:rPr lang="en-US" altLang="zh-CN" sz="2200" b="0" i="1" dirty="0" smtClean="0"/>
              <a:t>S=KN</a:t>
            </a:r>
            <a:r>
              <a:rPr lang="zh-CN" altLang="en-US" sz="2200" b="0" dirty="0" smtClean="0"/>
              <a:t>。</a:t>
            </a:r>
            <a:endParaRPr lang="zh-CN" altLang="en-US" sz="2200" b="0" dirty="0" smtClean="0"/>
          </a:p>
          <a:p>
            <a:pPr eaLnBrk="1" hangingPunct="1">
              <a:lnSpc>
                <a:spcPts val="3500"/>
              </a:lnSpc>
              <a:buBlip>
                <a:blip r:embed="rId2"/>
              </a:buBlip>
            </a:pPr>
            <a:r>
              <a:rPr lang="en-US" altLang="zh-CN" sz="2200" b="0" dirty="0" smtClean="0"/>
              <a:t>N</a:t>
            </a:r>
            <a:r>
              <a:rPr lang="zh-CN" altLang="en-US" sz="2200" b="0" dirty="0" smtClean="0"/>
              <a:t>叫做簇的大小，典型值为</a:t>
            </a:r>
            <a:r>
              <a:rPr lang="en-US" altLang="zh-CN" sz="2200" b="0" dirty="0" smtClean="0"/>
              <a:t>4</a:t>
            </a:r>
            <a:r>
              <a:rPr lang="zh-CN" altLang="en-US" sz="2200" b="0" dirty="0" smtClean="0"/>
              <a:t>、</a:t>
            </a:r>
            <a:r>
              <a:rPr lang="en-US" altLang="zh-CN" sz="2200" b="0" dirty="0" smtClean="0"/>
              <a:t>7</a:t>
            </a:r>
            <a:r>
              <a:rPr lang="zh-CN" altLang="en-US" sz="2200" b="0" dirty="0" smtClean="0"/>
              <a:t>或</a:t>
            </a:r>
            <a:r>
              <a:rPr lang="en-US" altLang="zh-CN" sz="2200" b="0" dirty="0" smtClean="0"/>
              <a:t>12</a:t>
            </a:r>
            <a:r>
              <a:rPr lang="zh-CN" altLang="en-US" sz="2200" b="0" dirty="0" smtClean="0"/>
              <a:t>。</a:t>
            </a:r>
            <a:endParaRPr lang="zh-CN" altLang="en-US" sz="2200" b="0" dirty="0" smtClean="0"/>
          </a:p>
          <a:p>
            <a:pPr eaLnBrk="1" hangingPunct="1">
              <a:lnSpc>
                <a:spcPts val="3500"/>
              </a:lnSpc>
              <a:buBlip>
                <a:blip r:embed="rId2"/>
              </a:buBlip>
            </a:pPr>
            <a:r>
              <a:rPr lang="en-US" altLang="zh-CN" sz="2200" b="0" dirty="0" smtClean="0"/>
              <a:t>N</a:t>
            </a:r>
            <a:r>
              <a:rPr lang="zh-CN" altLang="en-US" sz="2200" b="0" dirty="0" smtClean="0"/>
              <a:t>的值表现了移动台或基站在保证通信质量的同时，可以承受的干扰（主要是同频干扰）。 </a:t>
            </a:r>
            <a:endParaRPr lang="zh-CN" altLang="en-US" sz="2200" b="0" dirty="0" smtClean="0"/>
          </a:p>
          <a:p>
            <a:pPr eaLnBrk="1" hangingPunct="1">
              <a:lnSpc>
                <a:spcPts val="3500"/>
              </a:lnSpc>
              <a:buFont typeface="Wingdings" panose="05000000000000000000" pitchFamily="2" charset="2"/>
              <a:buBlip>
                <a:blip r:embed="rId1"/>
              </a:buBlip>
            </a:pPr>
            <a:endParaRPr lang="zh-CN" altLang="en-US" sz="2200" b="0" dirty="0" smtClean="0">
              <a:ea typeface="华文楷体" pitchFamily="2" charset="-122"/>
            </a:endParaRPr>
          </a:p>
        </p:txBody>
      </p:sp>
      <p:sp>
        <p:nvSpPr>
          <p:cNvPr id="59397" name="Rectangle 4"/>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11" name="Text Box 3"/>
          <p:cNvSpPr txBox="1">
            <a:spLocks noChangeArrowheads="1"/>
          </p:cNvSpPr>
          <p:nvPr/>
        </p:nvSpPr>
        <p:spPr bwMode="auto">
          <a:xfrm>
            <a:off x="179512" y="699542"/>
            <a:ext cx="8496944" cy="430887"/>
          </a:xfrm>
          <a:prstGeom prst="rect">
            <a:avLst/>
          </a:prstGeom>
          <a:noFill/>
          <a:ln w="25400" algn="ctr">
            <a:noFill/>
            <a:miter lim="800000"/>
          </a:ln>
          <a:effectLst/>
        </p:spPr>
        <p:txBody>
          <a:bodyPr wrap="square">
            <a:spAutoFit/>
          </a:bodyPr>
          <a:lstStyle/>
          <a:p>
            <a:pPr marL="342900" indent="-342900">
              <a:spcBef>
                <a:spcPct val="20000"/>
              </a:spcBef>
              <a:buClr>
                <a:schemeClr val="hlink"/>
              </a:buClr>
              <a:defRPr/>
            </a:pPr>
            <a:r>
              <a:rPr lang="zh-CN" altLang="en-US" sz="2200" dirty="0" smtClean="0"/>
              <a:t>（</a:t>
            </a:r>
            <a:r>
              <a:rPr lang="en-US" altLang="zh-CN" sz="2200" dirty="0" smtClean="0"/>
              <a:t>3</a:t>
            </a:r>
            <a:r>
              <a:rPr lang="zh-CN" altLang="en-US" sz="2200" dirty="0" smtClean="0"/>
              <a:t>）同频干扰</a:t>
            </a:r>
            <a:endParaRPr lang="zh-CN" altLang="en-US" sz="2200" dirty="0">
              <a:effectLst>
                <a:outerShdw blurRad="38100" dist="38100" dir="2700000" algn="tl">
                  <a:srgbClr val="C0C0C0"/>
                </a:outerShdw>
              </a:effectLst>
              <a:latin typeface="华文楷体" pitchFamily="2" charset="-122"/>
              <a:ea typeface="华文楷体" pitchFamily="2" charset="-122"/>
            </a:endParaRPr>
          </a:p>
        </p:txBody>
      </p:sp>
      <p:sp>
        <p:nvSpPr>
          <p:cNvPr id="12"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3" name="图片 12"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pic>
        <p:nvPicPr>
          <p:cNvPr id="14" name="图片 13"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3081" name="Rectangle 2"/>
          <p:cNvSpPr>
            <a:spLocks noGrp="1" noChangeArrowheads="1"/>
          </p:cNvSpPr>
          <p:nvPr>
            <p:ph type="title"/>
          </p:nvPr>
        </p:nvSpPr>
        <p:spPr>
          <a:xfrm>
            <a:off x="107504" y="627534"/>
            <a:ext cx="7772400" cy="504056"/>
          </a:xfrm>
        </p:spPr>
        <p:txBody>
          <a:bodyPr/>
          <a:lstStyle/>
          <a:p>
            <a:pPr eaLnBrk="1" hangingPunct="1"/>
            <a:r>
              <a:rPr lang="zh-CN" altLang="en-US" sz="2200" dirty="0" smtClean="0">
                <a:solidFill>
                  <a:srgbClr val="002A7E"/>
                </a:solidFill>
              </a:rPr>
              <a:t>（</a:t>
            </a:r>
            <a:r>
              <a:rPr lang="en-US" altLang="zh-CN" sz="2200" dirty="0" smtClean="0">
                <a:solidFill>
                  <a:srgbClr val="002A7E"/>
                </a:solidFill>
              </a:rPr>
              <a:t>4</a:t>
            </a:r>
            <a:r>
              <a:rPr lang="zh-CN" altLang="en-US" sz="2200" dirty="0" smtClean="0">
                <a:solidFill>
                  <a:srgbClr val="002A7E"/>
                </a:solidFill>
              </a:rPr>
              <a:t>）频率复用距离与小区簇的关系</a:t>
            </a:r>
            <a:endParaRPr lang="zh-CN" altLang="en-US" sz="2200" dirty="0" smtClean="0">
              <a:solidFill>
                <a:srgbClr val="002A7E"/>
              </a:solidFill>
            </a:endParaRPr>
          </a:p>
        </p:txBody>
      </p:sp>
      <p:sp>
        <p:nvSpPr>
          <p:cNvPr id="3082" name="Rectangle 3"/>
          <p:cNvSpPr>
            <a:spLocks noGrp="1" noChangeArrowheads="1"/>
          </p:cNvSpPr>
          <p:nvPr>
            <p:ph type="body" idx="1"/>
          </p:nvPr>
        </p:nvSpPr>
        <p:spPr>
          <a:xfrm>
            <a:off x="179512" y="1059582"/>
            <a:ext cx="8642227" cy="3813572"/>
          </a:xfrm>
        </p:spPr>
        <p:txBody>
          <a:bodyPr/>
          <a:lstStyle/>
          <a:p>
            <a:pPr eaLnBrk="1" hangingPunct="1">
              <a:lnSpc>
                <a:spcPct val="130000"/>
              </a:lnSpc>
              <a:buFont typeface="Wingdings" panose="05000000000000000000" pitchFamily="2" charset="2"/>
              <a:buNone/>
            </a:pPr>
            <a:r>
              <a:rPr lang="zh-CN" altLang="en-US" sz="2200" b="0" dirty="0" smtClean="0">
                <a:solidFill>
                  <a:srgbClr val="FF1919"/>
                </a:solidFill>
                <a:latin typeface="华文楷体" pitchFamily="2" charset="-122"/>
                <a:ea typeface="华文楷体" pitchFamily="2" charset="-122"/>
              </a:rPr>
              <a:t>频率复用距离（即同频距离）</a:t>
            </a:r>
            <a:r>
              <a:rPr lang="en-US" altLang="zh-CN" sz="2200" b="0" dirty="0" smtClean="0">
                <a:latin typeface="华文楷体" pitchFamily="2" charset="-122"/>
                <a:ea typeface="华文楷体" pitchFamily="2" charset="-122"/>
              </a:rPr>
              <a:t>D</a:t>
            </a:r>
            <a:r>
              <a:rPr lang="zh-CN" altLang="en-US" sz="2200" b="0" dirty="0" smtClean="0">
                <a:latin typeface="华文楷体" pitchFamily="2" charset="-122"/>
                <a:ea typeface="华文楷体" pitchFamily="2" charset="-122"/>
              </a:rPr>
              <a:t>是指最近的两个频点小区中心之间的距离。在小区中心作两条与小区的边界垂直的直线，其夹角为</a:t>
            </a:r>
            <a:r>
              <a:rPr lang="en-US" altLang="zh-CN" sz="2200" b="0" i="1" dirty="0" smtClean="0">
                <a:latin typeface="华文楷体" pitchFamily="2" charset="-122"/>
                <a:ea typeface="华文楷体" pitchFamily="2" charset="-122"/>
              </a:rPr>
              <a:t>120</a:t>
            </a:r>
            <a:r>
              <a:rPr lang="en-US" altLang="zh-CN" sz="2200" b="0" dirty="0" smtClean="0">
                <a:latin typeface="华文楷体" pitchFamily="2" charset="-122"/>
                <a:ea typeface="华文楷体" pitchFamily="2" charset="-122"/>
              </a:rPr>
              <a:t>º</a:t>
            </a:r>
            <a:r>
              <a:rPr lang="zh-CN" altLang="en-US" sz="2200" b="0" dirty="0" smtClean="0">
                <a:latin typeface="华文楷体" pitchFamily="2" charset="-122"/>
                <a:ea typeface="华文楷体" pitchFamily="2" charset="-122"/>
              </a:rPr>
              <a:t>。此两条直线分别连接到最近的两个同频点小区中心，其长度分别为</a:t>
            </a:r>
            <a:r>
              <a:rPr lang="en-US" altLang="zh-CN" sz="2200" b="0" dirty="0" smtClean="0">
                <a:latin typeface="华文楷体" pitchFamily="2" charset="-122"/>
                <a:ea typeface="华文楷体" pitchFamily="2" charset="-122"/>
              </a:rPr>
              <a:t>I</a:t>
            </a:r>
            <a:r>
              <a:rPr lang="zh-CN" altLang="en-US" sz="2200" b="0" dirty="0" smtClean="0">
                <a:latin typeface="华文楷体" pitchFamily="2" charset="-122"/>
                <a:ea typeface="华文楷体" pitchFamily="2" charset="-122"/>
              </a:rPr>
              <a:t>和</a:t>
            </a:r>
            <a:r>
              <a:rPr lang="en-US" altLang="zh-CN" sz="2200" b="0" dirty="0" smtClean="0">
                <a:latin typeface="华文楷体" pitchFamily="2" charset="-122"/>
                <a:ea typeface="华文楷体" pitchFamily="2" charset="-122"/>
              </a:rPr>
              <a:t>J</a:t>
            </a:r>
            <a:r>
              <a:rPr lang="zh-CN" altLang="en-US" sz="2200" b="0" dirty="0" smtClean="0">
                <a:latin typeface="华文楷体" pitchFamily="2" charset="-122"/>
                <a:ea typeface="华文楷体" pitchFamily="2" charset="-122"/>
              </a:rPr>
              <a:t>，于是： </a:t>
            </a:r>
            <a:endParaRPr lang="zh-CN" altLang="en-US" sz="2200" b="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b="0" dirty="0" smtClean="0">
                <a:latin typeface="华文楷体" pitchFamily="2" charset="-122"/>
                <a:ea typeface="华文楷体" pitchFamily="2" charset="-122"/>
              </a:rPr>
              <a:t>                                                                                                         </a:t>
            </a:r>
            <a:endParaRPr lang="zh-CN" altLang="en-US" sz="2200" b="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b="0" dirty="0" smtClean="0">
                <a:latin typeface="华文楷体" pitchFamily="2" charset="-122"/>
                <a:ea typeface="华文楷体" pitchFamily="2" charset="-122"/>
              </a:rPr>
              <a:t>令：  </a:t>
            </a:r>
            <a:r>
              <a:rPr lang="en-US" altLang="zh-CN" sz="2200" b="0" i="1" dirty="0" smtClean="0">
                <a:latin typeface="华文楷体" pitchFamily="2" charset="-122"/>
                <a:ea typeface="华文楷体" pitchFamily="2" charset="-122"/>
              </a:rPr>
              <a:t>I=2iH</a:t>
            </a:r>
            <a:r>
              <a:rPr lang="zh-CN" altLang="en-US" sz="2200" b="0" i="1" dirty="0" smtClean="0">
                <a:latin typeface="华文楷体" pitchFamily="2" charset="-122"/>
                <a:ea typeface="华文楷体" pitchFamily="2" charset="-122"/>
              </a:rPr>
              <a:t>，</a:t>
            </a:r>
            <a:r>
              <a:rPr lang="en-US" altLang="zh-CN" sz="2200" b="0" i="1" dirty="0" smtClean="0">
                <a:latin typeface="华文楷体" pitchFamily="2" charset="-122"/>
                <a:ea typeface="华文楷体" pitchFamily="2" charset="-122"/>
              </a:rPr>
              <a:t>J=2jH</a:t>
            </a:r>
            <a:r>
              <a:rPr lang="en-US" altLang="zh-CN" sz="2200" b="0" dirty="0" smtClean="0">
                <a:latin typeface="华文楷体" pitchFamily="2" charset="-122"/>
                <a:ea typeface="华文楷体" pitchFamily="2" charset="-122"/>
              </a:rPr>
              <a:t>	</a:t>
            </a:r>
            <a:endParaRPr lang="en-US" altLang="zh-CN" sz="2200" b="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b="0" dirty="0" smtClean="0">
                <a:latin typeface="华文楷体" pitchFamily="2" charset="-122"/>
                <a:ea typeface="华文楷体" pitchFamily="2" charset="-122"/>
              </a:rPr>
              <a:t>式中</a:t>
            </a:r>
            <a:r>
              <a:rPr lang="en-US" altLang="zh-CN" sz="2200" b="0" dirty="0" smtClean="0">
                <a:latin typeface="华文楷体" pitchFamily="2" charset="-122"/>
                <a:ea typeface="华文楷体" pitchFamily="2" charset="-122"/>
              </a:rPr>
              <a:t>H</a:t>
            </a:r>
            <a:r>
              <a:rPr lang="zh-CN" altLang="en-US" sz="2200" b="0" dirty="0" smtClean="0">
                <a:latin typeface="华文楷体" pitchFamily="2" charset="-122"/>
                <a:ea typeface="华文楷体" pitchFamily="2" charset="-122"/>
              </a:rPr>
              <a:t>为小区中心到边的距离      </a:t>
            </a:r>
            <a:endParaRPr lang="zh-CN" altLang="en-US" sz="2200" b="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b="0" dirty="0" smtClean="0">
                <a:latin typeface="华文楷体" pitchFamily="2" charset="-122"/>
                <a:ea typeface="华文楷体" pitchFamily="2" charset="-122"/>
              </a:rPr>
              <a:t>其中，</a:t>
            </a:r>
            <a:r>
              <a:rPr lang="en-US" altLang="zh-CN" sz="2200" b="0" dirty="0" smtClean="0">
                <a:latin typeface="华文楷体" pitchFamily="2" charset="-122"/>
                <a:ea typeface="华文楷体" pitchFamily="2" charset="-122"/>
              </a:rPr>
              <a:t>R</a:t>
            </a:r>
            <a:r>
              <a:rPr lang="zh-CN" altLang="en-US" sz="2200" b="0" dirty="0" smtClean="0">
                <a:latin typeface="华文楷体" pitchFamily="2" charset="-122"/>
                <a:ea typeface="华文楷体" pitchFamily="2" charset="-122"/>
              </a:rPr>
              <a:t>是小区的半径，则：    </a:t>
            </a:r>
            <a:endParaRPr lang="zh-CN" altLang="en-US" sz="2200" b="0" dirty="0" smtClean="0">
              <a:latin typeface="华文楷体" pitchFamily="2" charset="-122"/>
              <a:ea typeface="华文楷体" pitchFamily="2" charset="-122"/>
            </a:endParaRPr>
          </a:p>
        </p:txBody>
      </p:sp>
      <p:grpSp>
        <p:nvGrpSpPr>
          <p:cNvPr id="2" name="Group 4"/>
          <p:cNvGrpSpPr/>
          <p:nvPr/>
        </p:nvGrpSpPr>
        <p:grpSpPr bwMode="auto">
          <a:xfrm>
            <a:off x="6125021" y="2409825"/>
            <a:ext cx="2911475" cy="1835944"/>
            <a:chOff x="3813" y="2387"/>
            <a:chExt cx="1698" cy="1470"/>
          </a:xfrm>
        </p:grpSpPr>
        <p:grpSp>
          <p:nvGrpSpPr>
            <p:cNvPr id="3" name="Group 5"/>
            <p:cNvGrpSpPr/>
            <p:nvPr/>
          </p:nvGrpSpPr>
          <p:grpSpPr bwMode="auto">
            <a:xfrm>
              <a:off x="3813" y="2387"/>
              <a:ext cx="1698" cy="1470"/>
              <a:chOff x="1772" y="2069"/>
              <a:chExt cx="1698" cy="1470"/>
            </a:xfrm>
          </p:grpSpPr>
          <p:sp>
            <p:nvSpPr>
              <p:cNvPr id="3093" name="AutoShape 6"/>
              <p:cNvSpPr>
                <a:spLocks noChangeAspect="1" noChangeArrowheads="1" noTextEdit="1"/>
              </p:cNvSpPr>
              <p:nvPr/>
            </p:nvSpPr>
            <p:spPr bwMode="auto">
              <a:xfrm>
                <a:off x="1772" y="2069"/>
                <a:ext cx="1698" cy="1470"/>
              </a:xfrm>
              <a:prstGeom prst="rect">
                <a:avLst/>
              </a:prstGeom>
              <a:noFill/>
              <a:ln w="9525">
                <a:noFill/>
                <a:miter lim="800000"/>
              </a:ln>
            </p:spPr>
            <p:txBody>
              <a:bodyPr/>
              <a:lstStyle/>
              <a:p>
                <a:endParaRPr lang="zh-CN" altLang="en-US"/>
              </a:p>
            </p:txBody>
          </p:sp>
          <p:sp>
            <p:nvSpPr>
              <p:cNvPr id="3094" name="Freeform 7"/>
              <p:cNvSpPr/>
              <p:nvPr/>
            </p:nvSpPr>
            <p:spPr bwMode="auto">
              <a:xfrm>
                <a:off x="2471" y="2080"/>
                <a:ext cx="305" cy="263"/>
              </a:xfrm>
              <a:custGeom>
                <a:avLst/>
                <a:gdLst>
                  <a:gd name="T0" fmla="*/ 229 w 305"/>
                  <a:gd name="T1" fmla="*/ 0 h 263"/>
                  <a:gd name="T2" fmla="*/ 76 w 305"/>
                  <a:gd name="T3" fmla="*/ 0 h 263"/>
                  <a:gd name="T4" fmla="*/ 0 w 305"/>
                  <a:gd name="T5" fmla="*/ 132 h 263"/>
                  <a:gd name="T6" fmla="*/ 76 w 305"/>
                  <a:gd name="T7" fmla="*/ 263 h 263"/>
                  <a:gd name="T8" fmla="*/ 229 w 305"/>
                  <a:gd name="T9" fmla="*/ 263 h 263"/>
                  <a:gd name="T10" fmla="*/ 305 w 305"/>
                  <a:gd name="T11" fmla="*/ 132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2"/>
                    </a:lnTo>
                    <a:lnTo>
                      <a:pt x="76" y="263"/>
                    </a:lnTo>
                    <a:lnTo>
                      <a:pt x="229" y="263"/>
                    </a:lnTo>
                    <a:lnTo>
                      <a:pt x="305" y="132"/>
                    </a:lnTo>
                    <a:lnTo>
                      <a:pt x="229" y="0"/>
                    </a:lnTo>
                  </a:path>
                </a:pathLst>
              </a:custGeom>
              <a:noFill/>
              <a:ln w="3175" cap="rnd">
                <a:solidFill>
                  <a:srgbClr val="000000"/>
                </a:solidFill>
                <a:round/>
              </a:ln>
            </p:spPr>
            <p:txBody>
              <a:bodyPr/>
              <a:lstStyle/>
              <a:p>
                <a:endParaRPr lang="zh-CN" altLang="en-US"/>
              </a:p>
            </p:txBody>
          </p:sp>
          <p:sp>
            <p:nvSpPr>
              <p:cNvPr id="73736" name="Rectangle 8"/>
              <p:cNvSpPr>
                <a:spLocks noChangeArrowheads="1"/>
              </p:cNvSpPr>
              <p:nvPr/>
            </p:nvSpPr>
            <p:spPr bwMode="auto">
              <a:xfrm>
                <a:off x="2573" y="2153"/>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096" name="Freeform 9"/>
              <p:cNvSpPr/>
              <p:nvPr/>
            </p:nvSpPr>
            <p:spPr bwMode="auto">
              <a:xfrm>
                <a:off x="2469" y="2346"/>
                <a:ext cx="305" cy="263"/>
              </a:xfrm>
              <a:custGeom>
                <a:avLst/>
                <a:gdLst>
                  <a:gd name="T0" fmla="*/ 228 w 305"/>
                  <a:gd name="T1" fmla="*/ 0 h 263"/>
                  <a:gd name="T2" fmla="*/ 76 w 305"/>
                  <a:gd name="T3" fmla="*/ 0 h 263"/>
                  <a:gd name="T4" fmla="*/ 0 w 305"/>
                  <a:gd name="T5" fmla="*/ 132 h 263"/>
                  <a:gd name="T6" fmla="*/ 76 w 305"/>
                  <a:gd name="T7" fmla="*/ 263 h 263"/>
                  <a:gd name="T8" fmla="*/ 228 w 305"/>
                  <a:gd name="T9" fmla="*/ 263 h 263"/>
                  <a:gd name="T10" fmla="*/ 305 w 305"/>
                  <a:gd name="T11" fmla="*/ 132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2"/>
                    </a:lnTo>
                    <a:lnTo>
                      <a:pt x="76" y="263"/>
                    </a:lnTo>
                    <a:lnTo>
                      <a:pt x="228" y="263"/>
                    </a:lnTo>
                    <a:lnTo>
                      <a:pt x="305" y="132"/>
                    </a:lnTo>
                    <a:lnTo>
                      <a:pt x="228" y="0"/>
                    </a:lnTo>
                  </a:path>
                </a:pathLst>
              </a:custGeom>
              <a:noFill/>
              <a:ln w="3175" cap="rnd">
                <a:solidFill>
                  <a:srgbClr val="000000"/>
                </a:solidFill>
                <a:round/>
              </a:ln>
            </p:spPr>
            <p:txBody>
              <a:bodyPr/>
              <a:lstStyle/>
              <a:p>
                <a:endParaRPr lang="zh-CN" altLang="en-US"/>
              </a:p>
            </p:txBody>
          </p:sp>
          <p:sp>
            <p:nvSpPr>
              <p:cNvPr id="73738" name="Rectangle 10"/>
              <p:cNvSpPr>
                <a:spLocks noChangeArrowheads="1"/>
              </p:cNvSpPr>
              <p:nvPr/>
            </p:nvSpPr>
            <p:spPr bwMode="auto">
              <a:xfrm>
                <a:off x="2624" y="2423"/>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6</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098" name="Freeform 11"/>
              <p:cNvSpPr/>
              <p:nvPr/>
            </p:nvSpPr>
            <p:spPr bwMode="auto">
              <a:xfrm>
                <a:off x="2241" y="2478"/>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40" name="Rectangle 12"/>
              <p:cNvSpPr>
                <a:spLocks noChangeArrowheads="1"/>
              </p:cNvSpPr>
              <p:nvPr/>
            </p:nvSpPr>
            <p:spPr bwMode="auto">
              <a:xfrm>
                <a:off x="2395" y="2549"/>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0" name="Freeform 13"/>
              <p:cNvSpPr/>
              <p:nvPr/>
            </p:nvSpPr>
            <p:spPr bwMode="auto">
              <a:xfrm>
                <a:off x="2241" y="2215"/>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42" name="Rectangle 14"/>
              <p:cNvSpPr>
                <a:spLocks noChangeArrowheads="1"/>
              </p:cNvSpPr>
              <p:nvPr/>
            </p:nvSpPr>
            <p:spPr bwMode="auto">
              <a:xfrm>
                <a:off x="2345" y="2291"/>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2" name="Freeform 15"/>
              <p:cNvSpPr/>
              <p:nvPr/>
            </p:nvSpPr>
            <p:spPr bwMode="auto">
              <a:xfrm>
                <a:off x="2697" y="2215"/>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solidFill>
                <a:srgbClr val="FF9933"/>
              </a:solidFill>
              <a:ln w="3175" cap="rnd">
                <a:solidFill>
                  <a:srgbClr val="000000"/>
                </a:solidFill>
                <a:round/>
              </a:ln>
            </p:spPr>
            <p:txBody>
              <a:bodyPr/>
              <a:lstStyle/>
              <a:p>
                <a:endParaRPr lang="zh-CN" altLang="en-US"/>
              </a:p>
            </p:txBody>
          </p:sp>
          <p:sp>
            <p:nvSpPr>
              <p:cNvPr id="73744" name="Rectangle 16"/>
              <p:cNvSpPr>
                <a:spLocks noChangeArrowheads="1"/>
              </p:cNvSpPr>
              <p:nvPr/>
            </p:nvSpPr>
            <p:spPr bwMode="auto">
              <a:xfrm>
                <a:off x="2781" y="2251"/>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4" name="Freeform 17"/>
              <p:cNvSpPr/>
              <p:nvPr/>
            </p:nvSpPr>
            <p:spPr bwMode="auto">
              <a:xfrm>
                <a:off x="2697" y="2478"/>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46" name="Rectangle 18"/>
              <p:cNvSpPr>
                <a:spLocks noChangeArrowheads="1"/>
              </p:cNvSpPr>
              <p:nvPr/>
            </p:nvSpPr>
            <p:spPr bwMode="auto">
              <a:xfrm>
                <a:off x="2790" y="2549"/>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5</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6" name="Freeform 19"/>
              <p:cNvSpPr/>
              <p:nvPr/>
            </p:nvSpPr>
            <p:spPr bwMode="auto">
              <a:xfrm>
                <a:off x="2469" y="2608"/>
                <a:ext cx="305" cy="262"/>
              </a:xfrm>
              <a:custGeom>
                <a:avLst/>
                <a:gdLst>
                  <a:gd name="T0" fmla="*/ 228 w 305"/>
                  <a:gd name="T1" fmla="*/ 0 h 262"/>
                  <a:gd name="T2" fmla="*/ 76 w 305"/>
                  <a:gd name="T3" fmla="*/ 0 h 262"/>
                  <a:gd name="T4" fmla="*/ 0 w 305"/>
                  <a:gd name="T5" fmla="*/ 131 h 262"/>
                  <a:gd name="T6" fmla="*/ 76 w 305"/>
                  <a:gd name="T7" fmla="*/ 262 h 262"/>
                  <a:gd name="T8" fmla="*/ 228 w 305"/>
                  <a:gd name="T9" fmla="*/ 262 h 262"/>
                  <a:gd name="T10" fmla="*/ 305 w 305"/>
                  <a:gd name="T11" fmla="*/ 131 h 262"/>
                  <a:gd name="T12" fmla="*/ 228 w 305"/>
                  <a:gd name="T13" fmla="*/ 0 h 262"/>
                  <a:gd name="T14" fmla="*/ 0 60000 65536"/>
                  <a:gd name="T15" fmla="*/ 0 60000 65536"/>
                  <a:gd name="T16" fmla="*/ 0 60000 65536"/>
                  <a:gd name="T17" fmla="*/ 0 60000 65536"/>
                  <a:gd name="T18" fmla="*/ 0 60000 65536"/>
                  <a:gd name="T19" fmla="*/ 0 60000 65536"/>
                  <a:gd name="T20" fmla="*/ 0 60000 65536"/>
                  <a:gd name="T21" fmla="*/ 0 w 305"/>
                  <a:gd name="T22" fmla="*/ 0 h 262"/>
                  <a:gd name="T23" fmla="*/ 305 w 305"/>
                  <a:gd name="T24" fmla="*/ 262 h 2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2">
                    <a:moveTo>
                      <a:pt x="228" y="0"/>
                    </a:moveTo>
                    <a:lnTo>
                      <a:pt x="76" y="0"/>
                    </a:lnTo>
                    <a:lnTo>
                      <a:pt x="0" y="131"/>
                    </a:lnTo>
                    <a:lnTo>
                      <a:pt x="76" y="262"/>
                    </a:lnTo>
                    <a:lnTo>
                      <a:pt x="228" y="262"/>
                    </a:lnTo>
                    <a:lnTo>
                      <a:pt x="305" y="131"/>
                    </a:lnTo>
                    <a:lnTo>
                      <a:pt x="228" y="0"/>
                    </a:lnTo>
                  </a:path>
                </a:pathLst>
              </a:custGeom>
              <a:noFill/>
              <a:ln w="3175" cap="rnd">
                <a:solidFill>
                  <a:srgbClr val="000000"/>
                </a:solidFill>
                <a:round/>
              </a:ln>
            </p:spPr>
            <p:txBody>
              <a:bodyPr/>
              <a:lstStyle/>
              <a:p>
                <a:endParaRPr lang="zh-CN" altLang="en-US"/>
              </a:p>
            </p:txBody>
          </p:sp>
          <p:sp>
            <p:nvSpPr>
              <p:cNvPr id="73748" name="Rectangle 20"/>
              <p:cNvSpPr>
                <a:spLocks noChangeArrowheads="1"/>
              </p:cNvSpPr>
              <p:nvPr/>
            </p:nvSpPr>
            <p:spPr bwMode="auto">
              <a:xfrm>
                <a:off x="2624" y="2682"/>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3</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8" name="Freeform 21"/>
              <p:cNvSpPr/>
              <p:nvPr/>
            </p:nvSpPr>
            <p:spPr bwMode="auto">
              <a:xfrm>
                <a:off x="2011" y="2608"/>
                <a:ext cx="305" cy="262"/>
              </a:xfrm>
              <a:custGeom>
                <a:avLst/>
                <a:gdLst>
                  <a:gd name="T0" fmla="*/ 229 w 305"/>
                  <a:gd name="T1" fmla="*/ 0 h 262"/>
                  <a:gd name="T2" fmla="*/ 76 w 305"/>
                  <a:gd name="T3" fmla="*/ 0 h 262"/>
                  <a:gd name="T4" fmla="*/ 0 w 305"/>
                  <a:gd name="T5" fmla="*/ 131 h 262"/>
                  <a:gd name="T6" fmla="*/ 76 w 305"/>
                  <a:gd name="T7" fmla="*/ 262 h 262"/>
                  <a:gd name="T8" fmla="*/ 229 w 305"/>
                  <a:gd name="T9" fmla="*/ 262 h 262"/>
                  <a:gd name="T10" fmla="*/ 305 w 305"/>
                  <a:gd name="T11" fmla="*/ 131 h 262"/>
                  <a:gd name="T12" fmla="*/ 229 w 305"/>
                  <a:gd name="T13" fmla="*/ 0 h 262"/>
                  <a:gd name="T14" fmla="*/ 0 60000 65536"/>
                  <a:gd name="T15" fmla="*/ 0 60000 65536"/>
                  <a:gd name="T16" fmla="*/ 0 60000 65536"/>
                  <a:gd name="T17" fmla="*/ 0 60000 65536"/>
                  <a:gd name="T18" fmla="*/ 0 60000 65536"/>
                  <a:gd name="T19" fmla="*/ 0 60000 65536"/>
                  <a:gd name="T20" fmla="*/ 0 60000 65536"/>
                  <a:gd name="T21" fmla="*/ 0 w 305"/>
                  <a:gd name="T22" fmla="*/ 0 h 262"/>
                  <a:gd name="T23" fmla="*/ 305 w 305"/>
                  <a:gd name="T24" fmla="*/ 262 h 2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2">
                    <a:moveTo>
                      <a:pt x="229" y="0"/>
                    </a:moveTo>
                    <a:lnTo>
                      <a:pt x="76" y="0"/>
                    </a:lnTo>
                    <a:lnTo>
                      <a:pt x="0" y="131"/>
                    </a:lnTo>
                    <a:lnTo>
                      <a:pt x="76" y="262"/>
                    </a:lnTo>
                    <a:lnTo>
                      <a:pt x="229" y="262"/>
                    </a:lnTo>
                    <a:lnTo>
                      <a:pt x="305" y="131"/>
                    </a:lnTo>
                    <a:lnTo>
                      <a:pt x="229" y="0"/>
                    </a:lnTo>
                  </a:path>
                </a:pathLst>
              </a:custGeom>
              <a:noFill/>
              <a:ln w="3175" cap="rnd">
                <a:solidFill>
                  <a:srgbClr val="000000"/>
                </a:solidFill>
                <a:round/>
              </a:ln>
            </p:spPr>
            <p:txBody>
              <a:bodyPr/>
              <a:lstStyle/>
              <a:p>
                <a:endParaRPr lang="zh-CN" altLang="en-US"/>
              </a:p>
            </p:txBody>
          </p:sp>
          <p:sp>
            <p:nvSpPr>
              <p:cNvPr id="73750" name="Rectangle 22"/>
              <p:cNvSpPr>
                <a:spLocks noChangeArrowheads="1"/>
              </p:cNvSpPr>
              <p:nvPr/>
            </p:nvSpPr>
            <p:spPr bwMode="auto">
              <a:xfrm>
                <a:off x="2166" y="2682"/>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7</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0" name="Freeform 23"/>
              <p:cNvSpPr/>
              <p:nvPr/>
            </p:nvSpPr>
            <p:spPr bwMode="auto">
              <a:xfrm>
                <a:off x="2011" y="2874"/>
                <a:ext cx="305" cy="262"/>
              </a:xfrm>
              <a:custGeom>
                <a:avLst/>
                <a:gdLst>
                  <a:gd name="T0" fmla="*/ 229 w 305"/>
                  <a:gd name="T1" fmla="*/ 0 h 262"/>
                  <a:gd name="T2" fmla="*/ 76 w 305"/>
                  <a:gd name="T3" fmla="*/ 0 h 262"/>
                  <a:gd name="T4" fmla="*/ 0 w 305"/>
                  <a:gd name="T5" fmla="*/ 131 h 262"/>
                  <a:gd name="T6" fmla="*/ 76 w 305"/>
                  <a:gd name="T7" fmla="*/ 262 h 262"/>
                  <a:gd name="T8" fmla="*/ 229 w 305"/>
                  <a:gd name="T9" fmla="*/ 262 h 262"/>
                  <a:gd name="T10" fmla="*/ 305 w 305"/>
                  <a:gd name="T11" fmla="*/ 131 h 262"/>
                  <a:gd name="T12" fmla="*/ 229 w 305"/>
                  <a:gd name="T13" fmla="*/ 0 h 262"/>
                  <a:gd name="T14" fmla="*/ 0 60000 65536"/>
                  <a:gd name="T15" fmla="*/ 0 60000 65536"/>
                  <a:gd name="T16" fmla="*/ 0 60000 65536"/>
                  <a:gd name="T17" fmla="*/ 0 60000 65536"/>
                  <a:gd name="T18" fmla="*/ 0 60000 65536"/>
                  <a:gd name="T19" fmla="*/ 0 60000 65536"/>
                  <a:gd name="T20" fmla="*/ 0 60000 65536"/>
                  <a:gd name="T21" fmla="*/ 0 w 305"/>
                  <a:gd name="T22" fmla="*/ 0 h 262"/>
                  <a:gd name="T23" fmla="*/ 305 w 305"/>
                  <a:gd name="T24" fmla="*/ 262 h 2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2">
                    <a:moveTo>
                      <a:pt x="229" y="0"/>
                    </a:moveTo>
                    <a:lnTo>
                      <a:pt x="76" y="0"/>
                    </a:lnTo>
                    <a:lnTo>
                      <a:pt x="0" y="131"/>
                    </a:lnTo>
                    <a:lnTo>
                      <a:pt x="76" y="262"/>
                    </a:lnTo>
                    <a:lnTo>
                      <a:pt x="229" y="262"/>
                    </a:lnTo>
                    <a:lnTo>
                      <a:pt x="305" y="131"/>
                    </a:lnTo>
                    <a:lnTo>
                      <a:pt x="229" y="0"/>
                    </a:lnTo>
                  </a:path>
                </a:pathLst>
              </a:custGeom>
              <a:noFill/>
              <a:ln w="3175" cap="rnd">
                <a:solidFill>
                  <a:srgbClr val="000000"/>
                </a:solidFill>
                <a:round/>
              </a:ln>
            </p:spPr>
            <p:txBody>
              <a:bodyPr/>
              <a:lstStyle/>
              <a:p>
                <a:endParaRPr lang="zh-CN" altLang="en-US"/>
              </a:p>
            </p:txBody>
          </p:sp>
          <p:sp>
            <p:nvSpPr>
              <p:cNvPr id="73752" name="Rectangle 24"/>
              <p:cNvSpPr>
                <a:spLocks noChangeArrowheads="1"/>
              </p:cNvSpPr>
              <p:nvPr/>
            </p:nvSpPr>
            <p:spPr bwMode="auto">
              <a:xfrm>
                <a:off x="2166" y="2946"/>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6</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2" name="Freeform 25"/>
              <p:cNvSpPr/>
              <p:nvPr/>
            </p:nvSpPr>
            <p:spPr bwMode="auto">
              <a:xfrm>
                <a:off x="1783" y="3005"/>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54" name="Rectangle 26"/>
              <p:cNvSpPr>
                <a:spLocks noChangeArrowheads="1"/>
              </p:cNvSpPr>
              <p:nvPr/>
            </p:nvSpPr>
            <p:spPr bwMode="auto">
              <a:xfrm>
                <a:off x="1889" y="3078"/>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4" name="Freeform 27"/>
              <p:cNvSpPr/>
              <p:nvPr/>
            </p:nvSpPr>
            <p:spPr bwMode="auto">
              <a:xfrm>
                <a:off x="1783" y="2742"/>
                <a:ext cx="305" cy="263"/>
              </a:xfrm>
              <a:custGeom>
                <a:avLst/>
                <a:gdLst>
                  <a:gd name="T0" fmla="*/ 229 w 305"/>
                  <a:gd name="T1" fmla="*/ 0 h 263"/>
                  <a:gd name="T2" fmla="*/ 76 w 305"/>
                  <a:gd name="T3" fmla="*/ 0 h 263"/>
                  <a:gd name="T4" fmla="*/ 0 w 305"/>
                  <a:gd name="T5" fmla="*/ 132 h 263"/>
                  <a:gd name="T6" fmla="*/ 76 w 305"/>
                  <a:gd name="T7" fmla="*/ 263 h 263"/>
                  <a:gd name="T8" fmla="*/ 229 w 305"/>
                  <a:gd name="T9" fmla="*/ 263 h 263"/>
                  <a:gd name="T10" fmla="*/ 305 w 305"/>
                  <a:gd name="T11" fmla="*/ 132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2"/>
                    </a:lnTo>
                    <a:lnTo>
                      <a:pt x="76" y="263"/>
                    </a:lnTo>
                    <a:lnTo>
                      <a:pt x="229" y="263"/>
                    </a:lnTo>
                    <a:lnTo>
                      <a:pt x="305" y="132"/>
                    </a:lnTo>
                    <a:lnTo>
                      <a:pt x="229" y="0"/>
                    </a:lnTo>
                  </a:path>
                </a:pathLst>
              </a:custGeom>
              <a:noFill/>
              <a:ln w="3175" cap="rnd">
                <a:solidFill>
                  <a:srgbClr val="000000"/>
                </a:solidFill>
                <a:round/>
              </a:ln>
            </p:spPr>
            <p:txBody>
              <a:bodyPr/>
              <a:lstStyle/>
              <a:p>
                <a:endParaRPr lang="zh-CN" altLang="en-US"/>
              </a:p>
            </p:txBody>
          </p:sp>
          <p:sp>
            <p:nvSpPr>
              <p:cNvPr id="73756" name="Rectangle 28"/>
              <p:cNvSpPr>
                <a:spLocks noChangeArrowheads="1"/>
              </p:cNvSpPr>
              <p:nvPr/>
            </p:nvSpPr>
            <p:spPr bwMode="auto">
              <a:xfrm>
                <a:off x="1889" y="2814"/>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6" name="Freeform 29"/>
              <p:cNvSpPr/>
              <p:nvPr/>
            </p:nvSpPr>
            <p:spPr bwMode="auto">
              <a:xfrm>
                <a:off x="2239" y="2742"/>
                <a:ext cx="305" cy="263"/>
              </a:xfrm>
              <a:custGeom>
                <a:avLst/>
                <a:gdLst>
                  <a:gd name="T0" fmla="*/ 229 w 305"/>
                  <a:gd name="T1" fmla="*/ 0 h 263"/>
                  <a:gd name="T2" fmla="*/ 76 w 305"/>
                  <a:gd name="T3" fmla="*/ 0 h 263"/>
                  <a:gd name="T4" fmla="*/ 0 w 305"/>
                  <a:gd name="T5" fmla="*/ 132 h 263"/>
                  <a:gd name="T6" fmla="*/ 76 w 305"/>
                  <a:gd name="T7" fmla="*/ 263 h 263"/>
                  <a:gd name="T8" fmla="*/ 229 w 305"/>
                  <a:gd name="T9" fmla="*/ 263 h 263"/>
                  <a:gd name="T10" fmla="*/ 305 w 305"/>
                  <a:gd name="T11" fmla="*/ 132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2"/>
                    </a:lnTo>
                    <a:lnTo>
                      <a:pt x="76" y="263"/>
                    </a:lnTo>
                    <a:lnTo>
                      <a:pt x="229" y="263"/>
                    </a:lnTo>
                    <a:lnTo>
                      <a:pt x="305" y="132"/>
                    </a:lnTo>
                    <a:lnTo>
                      <a:pt x="229" y="0"/>
                    </a:lnTo>
                  </a:path>
                </a:pathLst>
              </a:custGeom>
              <a:solidFill>
                <a:srgbClr val="FF9933"/>
              </a:solidFill>
              <a:ln w="3175" cap="rnd">
                <a:solidFill>
                  <a:srgbClr val="000000"/>
                </a:solidFill>
                <a:round/>
              </a:ln>
            </p:spPr>
            <p:txBody>
              <a:bodyPr/>
              <a:lstStyle/>
              <a:p>
                <a:endParaRPr lang="zh-CN" altLang="en-US"/>
              </a:p>
            </p:txBody>
          </p:sp>
          <p:sp>
            <p:nvSpPr>
              <p:cNvPr id="73758" name="Rectangle 30"/>
              <p:cNvSpPr>
                <a:spLocks noChangeArrowheads="1"/>
              </p:cNvSpPr>
              <p:nvPr/>
            </p:nvSpPr>
            <p:spPr bwMode="auto">
              <a:xfrm>
                <a:off x="2395" y="2814"/>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dirty="0">
                    <a:solidFill>
                      <a:srgbClr val="000000"/>
                    </a:solidFill>
                    <a:latin typeface="宋体" panose="02010600030101010101" pitchFamily="2" charset="-122"/>
                  </a:rPr>
                  <a:t>1</a:t>
                </a:r>
                <a:endParaRPr lang="en-US" altLang="zh-CN" sz="2400" b="1" dirty="0">
                  <a:effectLst>
                    <a:outerShdw blurRad="38100" dist="38100" dir="2700000" algn="tl">
                      <a:srgbClr val="C0C0C0"/>
                    </a:outerShdw>
                  </a:effectLst>
                  <a:latin typeface="Times New Roman" panose="02020603050405020304" pitchFamily="18" charset="0"/>
                </a:endParaRPr>
              </a:p>
            </p:txBody>
          </p:sp>
          <p:sp>
            <p:nvSpPr>
              <p:cNvPr id="3118" name="Freeform 31"/>
              <p:cNvSpPr/>
              <p:nvPr/>
            </p:nvSpPr>
            <p:spPr bwMode="auto">
              <a:xfrm>
                <a:off x="2239" y="3005"/>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60" name="Rectangle 32"/>
              <p:cNvSpPr>
                <a:spLocks noChangeArrowheads="1"/>
              </p:cNvSpPr>
              <p:nvPr/>
            </p:nvSpPr>
            <p:spPr bwMode="auto">
              <a:xfrm>
                <a:off x="2395" y="3078"/>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5</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0" name="Freeform 33"/>
              <p:cNvSpPr/>
              <p:nvPr/>
            </p:nvSpPr>
            <p:spPr bwMode="auto">
              <a:xfrm>
                <a:off x="2011" y="3135"/>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62" name="Rectangle 34"/>
              <p:cNvSpPr>
                <a:spLocks noChangeArrowheads="1"/>
              </p:cNvSpPr>
              <p:nvPr/>
            </p:nvSpPr>
            <p:spPr bwMode="auto">
              <a:xfrm>
                <a:off x="2116" y="3210"/>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2" name="Freeform 35"/>
              <p:cNvSpPr/>
              <p:nvPr/>
            </p:nvSpPr>
            <p:spPr bwMode="auto">
              <a:xfrm>
                <a:off x="2927" y="2608"/>
                <a:ext cx="304" cy="263"/>
              </a:xfrm>
              <a:custGeom>
                <a:avLst/>
                <a:gdLst>
                  <a:gd name="T0" fmla="*/ 228 w 304"/>
                  <a:gd name="T1" fmla="*/ 0 h 263"/>
                  <a:gd name="T2" fmla="*/ 76 w 304"/>
                  <a:gd name="T3" fmla="*/ 0 h 263"/>
                  <a:gd name="T4" fmla="*/ 0 w 304"/>
                  <a:gd name="T5" fmla="*/ 132 h 263"/>
                  <a:gd name="T6" fmla="*/ 76 w 304"/>
                  <a:gd name="T7" fmla="*/ 263 h 263"/>
                  <a:gd name="T8" fmla="*/ 228 w 304"/>
                  <a:gd name="T9" fmla="*/ 263 h 263"/>
                  <a:gd name="T10" fmla="*/ 304 w 304"/>
                  <a:gd name="T11" fmla="*/ 132 h 263"/>
                  <a:gd name="T12" fmla="*/ 228 w 304"/>
                  <a:gd name="T13" fmla="*/ 0 h 263"/>
                  <a:gd name="T14" fmla="*/ 0 60000 65536"/>
                  <a:gd name="T15" fmla="*/ 0 60000 65536"/>
                  <a:gd name="T16" fmla="*/ 0 60000 65536"/>
                  <a:gd name="T17" fmla="*/ 0 60000 65536"/>
                  <a:gd name="T18" fmla="*/ 0 60000 65536"/>
                  <a:gd name="T19" fmla="*/ 0 60000 65536"/>
                  <a:gd name="T20" fmla="*/ 0 60000 65536"/>
                  <a:gd name="T21" fmla="*/ 0 w 304"/>
                  <a:gd name="T22" fmla="*/ 0 h 263"/>
                  <a:gd name="T23" fmla="*/ 304 w 304"/>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4" h="263">
                    <a:moveTo>
                      <a:pt x="228" y="0"/>
                    </a:moveTo>
                    <a:lnTo>
                      <a:pt x="76" y="0"/>
                    </a:lnTo>
                    <a:lnTo>
                      <a:pt x="0" y="132"/>
                    </a:lnTo>
                    <a:lnTo>
                      <a:pt x="76" y="263"/>
                    </a:lnTo>
                    <a:lnTo>
                      <a:pt x="228" y="263"/>
                    </a:lnTo>
                    <a:lnTo>
                      <a:pt x="304" y="132"/>
                    </a:lnTo>
                    <a:lnTo>
                      <a:pt x="228" y="0"/>
                    </a:lnTo>
                  </a:path>
                </a:pathLst>
              </a:custGeom>
              <a:noFill/>
              <a:ln w="3175" cap="rnd">
                <a:solidFill>
                  <a:srgbClr val="000000"/>
                </a:solidFill>
                <a:round/>
              </a:ln>
            </p:spPr>
            <p:txBody>
              <a:bodyPr/>
              <a:lstStyle/>
              <a:p>
                <a:endParaRPr lang="zh-CN" altLang="en-US"/>
              </a:p>
            </p:txBody>
          </p:sp>
          <p:sp>
            <p:nvSpPr>
              <p:cNvPr id="73764" name="Rectangle 36"/>
              <p:cNvSpPr>
                <a:spLocks noChangeArrowheads="1"/>
              </p:cNvSpPr>
              <p:nvPr/>
            </p:nvSpPr>
            <p:spPr bwMode="auto">
              <a:xfrm>
                <a:off x="3065" y="2706"/>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4" name="Freeform 37"/>
              <p:cNvSpPr/>
              <p:nvPr/>
            </p:nvSpPr>
            <p:spPr bwMode="auto">
              <a:xfrm>
                <a:off x="3155" y="2738"/>
                <a:ext cx="304" cy="263"/>
              </a:xfrm>
              <a:custGeom>
                <a:avLst/>
                <a:gdLst>
                  <a:gd name="T0" fmla="*/ 228 w 304"/>
                  <a:gd name="T1" fmla="*/ 0 h 263"/>
                  <a:gd name="T2" fmla="*/ 76 w 304"/>
                  <a:gd name="T3" fmla="*/ 0 h 263"/>
                  <a:gd name="T4" fmla="*/ 0 w 304"/>
                  <a:gd name="T5" fmla="*/ 131 h 263"/>
                  <a:gd name="T6" fmla="*/ 76 w 304"/>
                  <a:gd name="T7" fmla="*/ 263 h 263"/>
                  <a:gd name="T8" fmla="*/ 228 w 304"/>
                  <a:gd name="T9" fmla="*/ 263 h 263"/>
                  <a:gd name="T10" fmla="*/ 304 w 304"/>
                  <a:gd name="T11" fmla="*/ 131 h 263"/>
                  <a:gd name="T12" fmla="*/ 228 w 304"/>
                  <a:gd name="T13" fmla="*/ 0 h 263"/>
                  <a:gd name="T14" fmla="*/ 0 60000 65536"/>
                  <a:gd name="T15" fmla="*/ 0 60000 65536"/>
                  <a:gd name="T16" fmla="*/ 0 60000 65536"/>
                  <a:gd name="T17" fmla="*/ 0 60000 65536"/>
                  <a:gd name="T18" fmla="*/ 0 60000 65536"/>
                  <a:gd name="T19" fmla="*/ 0 60000 65536"/>
                  <a:gd name="T20" fmla="*/ 0 60000 65536"/>
                  <a:gd name="T21" fmla="*/ 0 w 304"/>
                  <a:gd name="T22" fmla="*/ 0 h 263"/>
                  <a:gd name="T23" fmla="*/ 304 w 304"/>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4" h="263">
                    <a:moveTo>
                      <a:pt x="228" y="0"/>
                    </a:moveTo>
                    <a:lnTo>
                      <a:pt x="76" y="0"/>
                    </a:lnTo>
                    <a:lnTo>
                      <a:pt x="0" y="131"/>
                    </a:lnTo>
                    <a:lnTo>
                      <a:pt x="76" y="263"/>
                    </a:lnTo>
                    <a:lnTo>
                      <a:pt x="228" y="263"/>
                    </a:lnTo>
                    <a:lnTo>
                      <a:pt x="304" y="131"/>
                    </a:lnTo>
                    <a:lnTo>
                      <a:pt x="228" y="0"/>
                    </a:lnTo>
                  </a:path>
                </a:pathLst>
              </a:custGeom>
              <a:noFill/>
              <a:ln w="3175" cap="rnd">
                <a:solidFill>
                  <a:srgbClr val="000000"/>
                </a:solidFill>
                <a:round/>
              </a:ln>
            </p:spPr>
            <p:txBody>
              <a:bodyPr/>
              <a:lstStyle/>
              <a:p>
                <a:endParaRPr lang="zh-CN" altLang="en-US"/>
              </a:p>
            </p:txBody>
          </p:sp>
          <p:sp>
            <p:nvSpPr>
              <p:cNvPr id="73766" name="Rectangle 38"/>
              <p:cNvSpPr>
                <a:spLocks noChangeArrowheads="1"/>
              </p:cNvSpPr>
              <p:nvPr/>
            </p:nvSpPr>
            <p:spPr bwMode="auto">
              <a:xfrm>
                <a:off x="3259" y="2814"/>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6" name="Freeform 39"/>
              <p:cNvSpPr/>
              <p:nvPr/>
            </p:nvSpPr>
            <p:spPr bwMode="auto">
              <a:xfrm>
                <a:off x="2697" y="2738"/>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68" name="Rectangle 40"/>
              <p:cNvSpPr>
                <a:spLocks noChangeArrowheads="1"/>
              </p:cNvSpPr>
              <p:nvPr/>
            </p:nvSpPr>
            <p:spPr bwMode="auto">
              <a:xfrm>
                <a:off x="2851" y="2814"/>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7</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8" name="Freeform 41"/>
              <p:cNvSpPr/>
              <p:nvPr/>
            </p:nvSpPr>
            <p:spPr bwMode="auto">
              <a:xfrm>
                <a:off x="2697" y="3004"/>
                <a:ext cx="305" cy="263"/>
              </a:xfrm>
              <a:custGeom>
                <a:avLst/>
                <a:gdLst>
                  <a:gd name="T0" fmla="*/ 228 w 305"/>
                  <a:gd name="T1" fmla="*/ 0 h 263"/>
                  <a:gd name="T2" fmla="*/ 76 w 305"/>
                  <a:gd name="T3" fmla="*/ 0 h 263"/>
                  <a:gd name="T4" fmla="*/ 0 w 305"/>
                  <a:gd name="T5" fmla="*/ 132 h 263"/>
                  <a:gd name="T6" fmla="*/ 76 w 305"/>
                  <a:gd name="T7" fmla="*/ 263 h 263"/>
                  <a:gd name="T8" fmla="*/ 228 w 305"/>
                  <a:gd name="T9" fmla="*/ 263 h 263"/>
                  <a:gd name="T10" fmla="*/ 305 w 305"/>
                  <a:gd name="T11" fmla="*/ 132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2"/>
                    </a:lnTo>
                    <a:lnTo>
                      <a:pt x="76" y="263"/>
                    </a:lnTo>
                    <a:lnTo>
                      <a:pt x="228" y="263"/>
                    </a:lnTo>
                    <a:lnTo>
                      <a:pt x="305" y="132"/>
                    </a:lnTo>
                    <a:lnTo>
                      <a:pt x="228" y="0"/>
                    </a:lnTo>
                  </a:path>
                </a:pathLst>
              </a:custGeom>
              <a:noFill/>
              <a:ln w="3175" cap="rnd">
                <a:solidFill>
                  <a:srgbClr val="000000"/>
                </a:solidFill>
                <a:round/>
              </a:ln>
            </p:spPr>
            <p:txBody>
              <a:bodyPr/>
              <a:lstStyle/>
              <a:p>
                <a:endParaRPr lang="zh-CN" altLang="en-US"/>
              </a:p>
            </p:txBody>
          </p:sp>
          <p:sp>
            <p:nvSpPr>
              <p:cNvPr id="73770" name="Rectangle 42"/>
              <p:cNvSpPr>
                <a:spLocks noChangeArrowheads="1"/>
              </p:cNvSpPr>
              <p:nvPr/>
            </p:nvSpPr>
            <p:spPr bwMode="auto">
              <a:xfrm>
                <a:off x="2851" y="3078"/>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6</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0" name="Freeform 43"/>
              <p:cNvSpPr/>
              <p:nvPr/>
            </p:nvSpPr>
            <p:spPr bwMode="auto">
              <a:xfrm>
                <a:off x="2469" y="3136"/>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72" name="Rectangle 44"/>
              <p:cNvSpPr>
                <a:spLocks noChangeArrowheads="1"/>
              </p:cNvSpPr>
              <p:nvPr/>
            </p:nvSpPr>
            <p:spPr bwMode="auto">
              <a:xfrm>
                <a:off x="2573" y="3210"/>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2" name="Freeform 45"/>
              <p:cNvSpPr/>
              <p:nvPr/>
            </p:nvSpPr>
            <p:spPr bwMode="auto">
              <a:xfrm>
                <a:off x="2469" y="2872"/>
                <a:ext cx="305" cy="264"/>
              </a:xfrm>
              <a:custGeom>
                <a:avLst/>
                <a:gdLst>
                  <a:gd name="T0" fmla="*/ 228 w 305"/>
                  <a:gd name="T1" fmla="*/ 0 h 264"/>
                  <a:gd name="T2" fmla="*/ 76 w 305"/>
                  <a:gd name="T3" fmla="*/ 0 h 264"/>
                  <a:gd name="T4" fmla="*/ 0 w 305"/>
                  <a:gd name="T5" fmla="*/ 132 h 264"/>
                  <a:gd name="T6" fmla="*/ 76 w 305"/>
                  <a:gd name="T7" fmla="*/ 264 h 264"/>
                  <a:gd name="T8" fmla="*/ 228 w 305"/>
                  <a:gd name="T9" fmla="*/ 264 h 264"/>
                  <a:gd name="T10" fmla="*/ 305 w 305"/>
                  <a:gd name="T11" fmla="*/ 132 h 264"/>
                  <a:gd name="T12" fmla="*/ 228 w 305"/>
                  <a:gd name="T13" fmla="*/ 0 h 264"/>
                  <a:gd name="T14" fmla="*/ 0 60000 65536"/>
                  <a:gd name="T15" fmla="*/ 0 60000 65536"/>
                  <a:gd name="T16" fmla="*/ 0 60000 65536"/>
                  <a:gd name="T17" fmla="*/ 0 60000 65536"/>
                  <a:gd name="T18" fmla="*/ 0 60000 65536"/>
                  <a:gd name="T19" fmla="*/ 0 60000 65536"/>
                  <a:gd name="T20" fmla="*/ 0 60000 65536"/>
                  <a:gd name="T21" fmla="*/ 0 w 305"/>
                  <a:gd name="T22" fmla="*/ 0 h 264"/>
                  <a:gd name="T23" fmla="*/ 305 w 305"/>
                  <a:gd name="T24" fmla="*/ 264 h 2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4">
                    <a:moveTo>
                      <a:pt x="228" y="0"/>
                    </a:moveTo>
                    <a:lnTo>
                      <a:pt x="76" y="0"/>
                    </a:lnTo>
                    <a:lnTo>
                      <a:pt x="0" y="132"/>
                    </a:lnTo>
                    <a:lnTo>
                      <a:pt x="76" y="264"/>
                    </a:lnTo>
                    <a:lnTo>
                      <a:pt x="228" y="264"/>
                    </a:lnTo>
                    <a:lnTo>
                      <a:pt x="305" y="132"/>
                    </a:lnTo>
                    <a:lnTo>
                      <a:pt x="228" y="0"/>
                    </a:lnTo>
                  </a:path>
                </a:pathLst>
              </a:custGeom>
              <a:noFill/>
              <a:ln w="3175" cap="rnd">
                <a:solidFill>
                  <a:srgbClr val="000000"/>
                </a:solidFill>
                <a:round/>
              </a:ln>
            </p:spPr>
            <p:txBody>
              <a:bodyPr/>
              <a:lstStyle/>
              <a:p>
                <a:endParaRPr lang="zh-CN" altLang="en-US"/>
              </a:p>
            </p:txBody>
          </p:sp>
          <p:sp>
            <p:nvSpPr>
              <p:cNvPr id="73774" name="Rectangle 46"/>
              <p:cNvSpPr>
                <a:spLocks noChangeArrowheads="1"/>
              </p:cNvSpPr>
              <p:nvPr/>
            </p:nvSpPr>
            <p:spPr bwMode="auto">
              <a:xfrm>
                <a:off x="2624" y="2946"/>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4</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4" name="Freeform 47"/>
              <p:cNvSpPr/>
              <p:nvPr/>
            </p:nvSpPr>
            <p:spPr bwMode="auto">
              <a:xfrm>
                <a:off x="2925" y="2872"/>
                <a:ext cx="305" cy="264"/>
              </a:xfrm>
              <a:custGeom>
                <a:avLst/>
                <a:gdLst>
                  <a:gd name="T0" fmla="*/ 228 w 305"/>
                  <a:gd name="T1" fmla="*/ 0 h 264"/>
                  <a:gd name="T2" fmla="*/ 76 w 305"/>
                  <a:gd name="T3" fmla="*/ 0 h 264"/>
                  <a:gd name="T4" fmla="*/ 0 w 305"/>
                  <a:gd name="T5" fmla="*/ 132 h 264"/>
                  <a:gd name="T6" fmla="*/ 76 w 305"/>
                  <a:gd name="T7" fmla="*/ 264 h 264"/>
                  <a:gd name="T8" fmla="*/ 228 w 305"/>
                  <a:gd name="T9" fmla="*/ 264 h 264"/>
                  <a:gd name="T10" fmla="*/ 305 w 305"/>
                  <a:gd name="T11" fmla="*/ 132 h 264"/>
                  <a:gd name="T12" fmla="*/ 228 w 305"/>
                  <a:gd name="T13" fmla="*/ 0 h 264"/>
                  <a:gd name="T14" fmla="*/ 0 60000 65536"/>
                  <a:gd name="T15" fmla="*/ 0 60000 65536"/>
                  <a:gd name="T16" fmla="*/ 0 60000 65536"/>
                  <a:gd name="T17" fmla="*/ 0 60000 65536"/>
                  <a:gd name="T18" fmla="*/ 0 60000 65536"/>
                  <a:gd name="T19" fmla="*/ 0 60000 65536"/>
                  <a:gd name="T20" fmla="*/ 0 60000 65536"/>
                  <a:gd name="T21" fmla="*/ 0 w 305"/>
                  <a:gd name="T22" fmla="*/ 0 h 264"/>
                  <a:gd name="T23" fmla="*/ 305 w 305"/>
                  <a:gd name="T24" fmla="*/ 264 h 2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4">
                    <a:moveTo>
                      <a:pt x="228" y="0"/>
                    </a:moveTo>
                    <a:lnTo>
                      <a:pt x="76" y="0"/>
                    </a:lnTo>
                    <a:lnTo>
                      <a:pt x="0" y="132"/>
                    </a:lnTo>
                    <a:lnTo>
                      <a:pt x="76" y="264"/>
                    </a:lnTo>
                    <a:lnTo>
                      <a:pt x="228" y="264"/>
                    </a:lnTo>
                    <a:lnTo>
                      <a:pt x="305" y="132"/>
                    </a:lnTo>
                    <a:lnTo>
                      <a:pt x="228" y="0"/>
                    </a:lnTo>
                  </a:path>
                </a:pathLst>
              </a:custGeom>
              <a:solidFill>
                <a:srgbClr val="FF9933"/>
              </a:solidFill>
              <a:ln w="3175" cap="rnd">
                <a:solidFill>
                  <a:srgbClr val="000000"/>
                </a:solidFill>
                <a:round/>
              </a:ln>
            </p:spPr>
            <p:txBody>
              <a:bodyPr/>
              <a:lstStyle/>
              <a:p>
                <a:endParaRPr lang="zh-CN" altLang="en-US"/>
              </a:p>
            </p:txBody>
          </p:sp>
          <p:sp>
            <p:nvSpPr>
              <p:cNvPr id="73776" name="Rectangle 48"/>
              <p:cNvSpPr>
                <a:spLocks noChangeArrowheads="1"/>
              </p:cNvSpPr>
              <p:nvPr/>
            </p:nvSpPr>
            <p:spPr bwMode="auto">
              <a:xfrm>
                <a:off x="3080" y="2946"/>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6" name="Freeform 49"/>
              <p:cNvSpPr/>
              <p:nvPr/>
            </p:nvSpPr>
            <p:spPr bwMode="auto">
              <a:xfrm>
                <a:off x="2925" y="3136"/>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78" name="Rectangle 50"/>
              <p:cNvSpPr>
                <a:spLocks noChangeArrowheads="1"/>
              </p:cNvSpPr>
              <p:nvPr/>
            </p:nvSpPr>
            <p:spPr bwMode="auto">
              <a:xfrm>
                <a:off x="3029" y="3210"/>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8" name="Freeform 51"/>
              <p:cNvSpPr/>
              <p:nvPr/>
            </p:nvSpPr>
            <p:spPr bwMode="auto">
              <a:xfrm>
                <a:off x="2697" y="3265"/>
                <a:ext cx="305" cy="263"/>
              </a:xfrm>
              <a:custGeom>
                <a:avLst/>
                <a:gdLst>
                  <a:gd name="T0" fmla="*/ 228 w 305"/>
                  <a:gd name="T1" fmla="*/ 0 h 263"/>
                  <a:gd name="T2" fmla="*/ 76 w 305"/>
                  <a:gd name="T3" fmla="*/ 0 h 263"/>
                  <a:gd name="T4" fmla="*/ 0 w 305"/>
                  <a:gd name="T5" fmla="*/ 132 h 263"/>
                  <a:gd name="T6" fmla="*/ 76 w 305"/>
                  <a:gd name="T7" fmla="*/ 263 h 263"/>
                  <a:gd name="T8" fmla="*/ 228 w 305"/>
                  <a:gd name="T9" fmla="*/ 263 h 263"/>
                  <a:gd name="T10" fmla="*/ 305 w 305"/>
                  <a:gd name="T11" fmla="*/ 132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2"/>
                    </a:lnTo>
                    <a:lnTo>
                      <a:pt x="76" y="263"/>
                    </a:lnTo>
                    <a:lnTo>
                      <a:pt x="228" y="263"/>
                    </a:lnTo>
                    <a:lnTo>
                      <a:pt x="305" y="132"/>
                    </a:lnTo>
                    <a:lnTo>
                      <a:pt x="228" y="0"/>
                    </a:lnTo>
                  </a:path>
                </a:pathLst>
              </a:custGeom>
              <a:noFill/>
              <a:ln w="3175" cap="rnd">
                <a:solidFill>
                  <a:srgbClr val="000000"/>
                </a:solidFill>
                <a:round/>
              </a:ln>
            </p:spPr>
            <p:txBody>
              <a:bodyPr/>
              <a:lstStyle/>
              <a:p>
                <a:endParaRPr lang="zh-CN" altLang="en-US"/>
              </a:p>
            </p:txBody>
          </p:sp>
          <p:sp>
            <p:nvSpPr>
              <p:cNvPr id="73780" name="Rectangle 52"/>
              <p:cNvSpPr>
                <a:spLocks noChangeArrowheads="1"/>
              </p:cNvSpPr>
              <p:nvPr/>
            </p:nvSpPr>
            <p:spPr bwMode="auto">
              <a:xfrm>
                <a:off x="2803" y="3342"/>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40" name="Freeform 53"/>
              <p:cNvSpPr/>
              <p:nvPr/>
            </p:nvSpPr>
            <p:spPr bwMode="auto">
              <a:xfrm>
                <a:off x="2927" y="2349"/>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82" name="Rectangle 54"/>
              <p:cNvSpPr>
                <a:spLocks noChangeArrowheads="1"/>
              </p:cNvSpPr>
              <p:nvPr/>
            </p:nvSpPr>
            <p:spPr bwMode="auto">
              <a:xfrm>
                <a:off x="3086" y="2423"/>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4</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42" name="Freeform 55"/>
              <p:cNvSpPr/>
              <p:nvPr/>
            </p:nvSpPr>
            <p:spPr bwMode="auto">
              <a:xfrm>
                <a:off x="2835" y="2341"/>
                <a:ext cx="227" cy="662"/>
              </a:xfrm>
              <a:custGeom>
                <a:avLst/>
                <a:gdLst>
                  <a:gd name="T0" fmla="*/ 0 w 273"/>
                  <a:gd name="T1" fmla="*/ 0 h 659"/>
                  <a:gd name="T2" fmla="*/ 131 w 273"/>
                  <a:gd name="T3" fmla="*/ 140 h 659"/>
                  <a:gd name="T4" fmla="*/ 131 w 273"/>
                  <a:gd name="T5" fmla="*/ 671 h 659"/>
                  <a:gd name="T6" fmla="*/ 0 60000 65536"/>
                  <a:gd name="T7" fmla="*/ 0 60000 65536"/>
                  <a:gd name="T8" fmla="*/ 0 60000 65536"/>
                  <a:gd name="T9" fmla="*/ 0 w 273"/>
                  <a:gd name="T10" fmla="*/ 0 h 659"/>
                  <a:gd name="T11" fmla="*/ 273 w 273"/>
                  <a:gd name="T12" fmla="*/ 659 h 659"/>
                </a:gdLst>
                <a:ahLst/>
                <a:cxnLst>
                  <a:cxn ang="T6">
                    <a:pos x="T0" y="T1"/>
                  </a:cxn>
                  <a:cxn ang="T7">
                    <a:pos x="T2" y="T3"/>
                  </a:cxn>
                  <a:cxn ang="T8">
                    <a:pos x="T4" y="T5"/>
                  </a:cxn>
                </a:cxnLst>
                <a:rect l="T9" t="T10" r="T11" b="T12"/>
                <a:pathLst>
                  <a:path w="273" h="659">
                    <a:moveTo>
                      <a:pt x="0" y="0"/>
                    </a:moveTo>
                    <a:lnTo>
                      <a:pt x="273" y="136"/>
                    </a:lnTo>
                    <a:lnTo>
                      <a:pt x="273" y="659"/>
                    </a:lnTo>
                  </a:path>
                </a:pathLst>
              </a:custGeom>
              <a:noFill/>
              <a:ln w="15875" cap="rnd">
                <a:solidFill>
                  <a:srgbClr val="000000"/>
                </a:solidFill>
                <a:round/>
              </a:ln>
            </p:spPr>
            <p:txBody>
              <a:bodyPr/>
              <a:lstStyle/>
              <a:p>
                <a:endParaRPr lang="zh-CN" altLang="en-US"/>
              </a:p>
            </p:txBody>
          </p:sp>
          <p:sp>
            <p:nvSpPr>
              <p:cNvPr id="3143" name="Line 56"/>
              <p:cNvSpPr>
                <a:spLocks noChangeShapeType="1"/>
              </p:cNvSpPr>
              <p:nvPr/>
            </p:nvSpPr>
            <p:spPr bwMode="auto">
              <a:xfrm>
                <a:off x="2835" y="2341"/>
                <a:ext cx="225" cy="662"/>
              </a:xfrm>
              <a:prstGeom prst="line">
                <a:avLst/>
              </a:prstGeom>
              <a:noFill/>
              <a:ln w="15875" cap="rnd">
                <a:solidFill>
                  <a:srgbClr val="000000"/>
                </a:solidFill>
                <a:round/>
              </a:ln>
            </p:spPr>
            <p:txBody>
              <a:bodyPr/>
              <a:lstStyle/>
              <a:p>
                <a:endParaRPr lang="zh-CN" altLang="en-US"/>
              </a:p>
            </p:txBody>
          </p:sp>
          <p:sp>
            <p:nvSpPr>
              <p:cNvPr id="73785" name="Rectangle 57"/>
              <p:cNvSpPr>
                <a:spLocks noChangeArrowheads="1"/>
              </p:cNvSpPr>
              <p:nvPr/>
            </p:nvSpPr>
            <p:spPr bwMode="auto">
              <a:xfrm>
                <a:off x="2862" y="2523"/>
                <a:ext cx="61" cy="1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FF1919"/>
                    </a:solidFill>
                    <a:latin typeface="宋体" panose="02010600030101010101" pitchFamily="2" charset="-122"/>
                  </a:rPr>
                  <a:t>D</a:t>
                </a:r>
                <a:endParaRPr lang="en-US" altLang="zh-CN" sz="1600" b="1">
                  <a:solidFill>
                    <a:srgbClr val="FF1919"/>
                  </a:solidFill>
                  <a:effectLst>
                    <a:outerShdw blurRad="38100" dist="38100" dir="2700000" algn="tl">
                      <a:srgbClr val="C0C0C0"/>
                    </a:outerShdw>
                  </a:effectLst>
                  <a:latin typeface="Times New Roman" panose="02020603050405020304" pitchFamily="18" charset="0"/>
                </a:endParaRPr>
              </a:p>
            </p:txBody>
          </p:sp>
          <p:sp>
            <p:nvSpPr>
              <p:cNvPr id="73786" name="Rectangle 58"/>
              <p:cNvSpPr>
                <a:spLocks noChangeArrowheads="1"/>
              </p:cNvSpPr>
              <p:nvPr/>
            </p:nvSpPr>
            <p:spPr bwMode="auto">
              <a:xfrm>
                <a:off x="3063" y="2568"/>
                <a:ext cx="61" cy="1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FF1919"/>
                    </a:solidFill>
                    <a:latin typeface="宋体" panose="02010600030101010101" pitchFamily="2" charset="-122"/>
                  </a:rPr>
                  <a:t>J</a:t>
                </a:r>
                <a:endParaRPr lang="en-US" altLang="zh-CN" sz="1600" b="1">
                  <a:solidFill>
                    <a:srgbClr val="FF1919"/>
                  </a:solidFill>
                  <a:effectLst>
                    <a:outerShdw blurRad="38100" dist="38100" dir="2700000" algn="tl">
                      <a:srgbClr val="C0C0C0"/>
                    </a:outerShdw>
                  </a:effectLst>
                  <a:latin typeface="Times New Roman" panose="02020603050405020304" pitchFamily="18" charset="0"/>
                </a:endParaRPr>
              </a:p>
            </p:txBody>
          </p:sp>
          <p:sp>
            <p:nvSpPr>
              <p:cNvPr id="73787" name="Rectangle 59"/>
              <p:cNvSpPr>
                <a:spLocks noChangeArrowheads="1"/>
              </p:cNvSpPr>
              <p:nvPr/>
            </p:nvSpPr>
            <p:spPr bwMode="auto">
              <a:xfrm>
                <a:off x="2882" y="2205"/>
                <a:ext cx="61" cy="1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FF1919"/>
                    </a:solidFill>
                    <a:latin typeface="宋体" panose="02010600030101010101" pitchFamily="2" charset="-122"/>
                  </a:rPr>
                  <a:t>I</a:t>
                </a:r>
                <a:endParaRPr lang="en-US" altLang="zh-CN" sz="1600" b="1">
                  <a:solidFill>
                    <a:srgbClr val="FF1919"/>
                  </a:solidFill>
                  <a:effectLst>
                    <a:outerShdw blurRad="38100" dist="38100" dir="2700000" algn="tl">
                      <a:srgbClr val="C0C0C0"/>
                    </a:outerShdw>
                  </a:effectLst>
                  <a:latin typeface="Times New Roman" panose="02020603050405020304" pitchFamily="18" charset="0"/>
                </a:endParaRPr>
              </a:p>
            </p:txBody>
          </p:sp>
        </p:grpSp>
        <p:sp>
          <p:nvSpPr>
            <p:cNvPr id="3092" name="Freeform 60"/>
            <p:cNvSpPr/>
            <p:nvPr/>
          </p:nvSpPr>
          <p:spPr bwMode="auto">
            <a:xfrm>
              <a:off x="5012" y="2750"/>
              <a:ext cx="91" cy="136"/>
            </a:xfrm>
            <a:custGeom>
              <a:avLst/>
              <a:gdLst>
                <a:gd name="T0" fmla="*/ 0 w 91"/>
                <a:gd name="T1" fmla="*/ 0 h 136"/>
                <a:gd name="T2" fmla="*/ 45 w 91"/>
                <a:gd name="T3" fmla="*/ 90 h 136"/>
                <a:gd name="T4" fmla="*/ 91 w 91"/>
                <a:gd name="T5" fmla="*/ 136 h 136"/>
                <a:gd name="T6" fmla="*/ 0 60000 65536"/>
                <a:gd name="T7" fmla="*/ 0 60000 65536"/>
                <a:gd name="T8" fmla="*/ 0 60000 65536"/>
                <a:gd name="T9" fmla="*/ 0 w 91"/>
                <a:gd name="T10" fmla="*/ 0 h 136"/>
                <a:gd name="T11" fmla="*/ 91 w 91"/>
                <a:gd name="T12" fmla="*/ 136 h 136"/>
              </a:gdLst>
              <a:ahLst/>
              <a:cxnLst>
                <a:cxn ang="T6">
                  <a:pos x="T0" y="T1"/>
                </a:cxn>
                <a:cxn ang="T7">
                  <a:pos x="T2" y="T3"/>
                </a:cxn>
                <a:cxn ang="T8">
                  <a:pos x="T4" y="T5"/>
                </a:cxn>
              </a:cxnLst>
              <a:rect l="T9" t="T10" r="T11" b="T12"/>
              <a:pathLst>
                <a:path w="91" h="136">
                  <a:moveTo>
                    <a:pt x="0" y="0"/>
                  </a:moveTo>
                  <a:cubicBezTo>
                    <a:pt x="15" y="33"/>
                    <a:pt x="30" y="67"/>
                    <a:pt x="45" y="90"/>
                  </a:cubicBezTo>
                  <a:cubicBezTo>
                    <a:pt x="60" y="113"/>
                    <a:pt x="83" y="128"/>
                    <a:pt x="91" y="136"/>
                  </a:cubicBezTo>
                </a:path>
              </a:pathLst>
            </a:custGeom>
            <a:noFill/>
            <a:ln w="12700">
              <a:solidFill>
                <a:srgbClr val="000000"/>
              </a:solidFill>
              <a:round/>
            </a:ln>
          </p:spPr>
          <p:txBody>
            <a:bodyPr wrap="none" anchor="ctr"/>
            <a:lstStyle/>
            <a:p>
              <a:endParaRPr lang="zh-CN" altLang="en-US"/>
            </a:p>
          </p:txBody>
        </p:sp>
      </p:grpSp>
      <p:sp>
        <p:nvSpPr>
          <p:cNvPr id="3084" name="Rectangle 61"/>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graphicFrame>
        <p:nvGraphicFramePr>
          <p:cNvPr id="3074" name="Object 62"/>
          <p:cNvGraphicFramePr>
            <a:graphicFrameLocks noChangeAspect="1"/>
          </p:cNvGraphicFramePr>
          <p:nvPr/>
        </p:nvGraphicFramePr>
        <p:xfrm>
          <a:off x="251520" y="2895401"/>
          <a:ext cx="6294572" cy="324421"/>
        </p:xfrm>
        <a:graphic>
          <a:graphicData uri="http://schemas.openxmlformats.org/presentationml/2006/ole">
            <mc:AlternateContent xmlns:mc="http://schemas.openxmlformats.org/markup-compatibility/2006">
              <mc:Choice xmlns:v="urn:schemas-microsoft-com:vml" Requires="v">
                <p:oleObj spid="_x0000_s1025" name="" r:id="rId1" imgW="60655200" imgH="4876800" progId="">
                  <p:embed/>
                </p:oleObj>
              </mc:Choice>
              <mc:Fallback>
                <p:oleObj name="" r:id="rId1" imgW="60655200" imgH="4876800" progId="">
                  <p:embed/>
                  <p:pic>
                    <p:nvPicPr>
                      <p:cNvPr id="0" name="Object 62"/>
                      <p:cNvPicPr>
                        <a:picLocks noChangeAspect="1"/>
                      </p:cNvPicPr>
                      <p:nvPr/>
                    </p:nvPicPr>
                    <p:blipFill>
                      <a:blip r:embed="rId2"/>
                      <a:srcRect t="15910"/>
                      <a:stretch>
                        <a:fillRect/>
                      </a:stretch>
                    </p:blipFill>
                    <p:spPr>
                      <a:xfrm>
                        <a:off x="251520" y="2895401"/>
                        <a:ext cx="6294572" cy="324421"/>
                      </a:xfrm>
                      <a:prstGeom prst="rect">
                        <a:avLst/>
                      </a:prstGeom>
                      <a:noFill/>
                      <a:ln w="9525">
                        <a:noFill/>
                      </a:ln>
                    </p:spPr>
                  </p:pic>
                </p:oleObj>
              </mc:Fallback>
            </mc:AlternateContent>
          </a:graphicData>
        </a:graphic>
      </p:graphicFrame>
      <p:sp>
        <p:nvSpPr>
          <p:cNvPr id="3085" name="Rectangle 63"/>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graphicFrame>
        <p:nvGraphicFramePr>
          <p:cNvPr id="3075" name="Object 64"/>
          <p:cNvGraphicFramePr>
            <a:graphicFrameLocks noChangeAspect="1"/>
          </p:cNvGraphicFramePr>
          <p:nvPr/>
        </p:nvGraphicFramePr>
        <p:xfrm>
          <a:off x="3923928" y="3723878"/>
          <a:ext cx="1230894" cy="602408"/>
        </p:xfrm>
        <a:graphic>
          <a:graphicData uri="http://schemas.openxmlformats.org/presentationml/2006/ole">
            <mc:AlternateContent xmlns:mc="http://schemas.openxmlformats.org/markup-compatibility/2006">
              <mc:Choice xmlns:v="urn:schemas-microsoft-com:vml" Requires="v">
                <p:oleObj spid="_x0000_s1026" name="" r:id="rId3" imgW="15849600" imgH="10363200" progId="">
                  <p:embed/>
                </p:oleObj>
              </mc:Choice>
              <mc:Fallback>
                <p:oleObj name="" r:id="rId3" imgW="15849600" imgH="10363200" progId="">
                  <p:embed/>
                  <p:pic>
                    <p:nvPicPr>
                      <p:cNvPr id="0" name="Object 64"/>
                      <p:cNvPicPr>
                        <a:picLocks noChangeAspect="1"/>
                      </p:cNvPicPr>
                      <p:nvPr/>
                    </p:nvPicPr>
                    <p:blipFill>
                      <a:blip r:embed="rId4"/>
                      <a:stretch>
                        <a:fillRect/>
                      </a:stretch>
                    </p:blipFill>
                    <p:spPr>
                      <a:xfrm>
                        <a:off x="3923928" y="3723878"/>
                        <a:ext cx="1230894" cy="602408"/>
                      </a:xfrm>
                      <a:prstGeom prst="rect">
                        <a:avLst/>
                      </a:prstGeom>
                      <a:noFill/>
                      <a:ln w="9525">
                        <a:noFill/>
                      </a:ln>
                    </p:spPr>
                  </p:pic>
                </p:oleObj>
              </mc:Fallback>
            </mc:AlternateContent>
          </a:graphicData>
        </a:graphic>
      </p:graphicFrame>
      <p:sp>
        <p:nvSpPr>
          <p:cNvPr id="3086" name="Rectangle 65"/>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graphicFrame>
        <p:nvGraphicFramePr>
          <p:cNvPr id="3076" name="Object 66"/>
          <p:cNvGraphicFramePr>
            <a:graphicFrameLocks noChangeAspect="1"/>
          </p:cNvGraphicFramePr>
          <p:nvPr/>
        </p:nvGraphicFramePr>
        <p:xfrm>
          <a:off x="3779912" y="4371950"/>
          <a:ext cx="1224230" cy="360040"/>
        </p:xfrm>
        <a:graphic>
          <a:graphicData uri="http://schemas.openxmlformats.org/presentationml/2006/ole">
            <mc:AlternateContent xmlns:mc="http://schemas.openxmlformats.org/markup-compatibility/2006">
              <mc:Choice xmlns:v="urn:schemas-microsoft-com:vml" Requires="v">
                <p:oleObj spid="_x0000_s1027" name="" r:id="rId5" imgW="14020800" imgH="5486400" progId="">
                  <p:embed/>
                </p:oleObj>
              </mc:Choice>
              <mc:Fallback>
                <p:oleObj name="" r:id="rId5" imgW="14020800" imgH="5486400" progId="">
                  <p:embed/>
                  <p:pic>
                    <p:nvPicPr>
                      <p:cNvPr id="0" name="Object 66"/>
                      <p:cNvPicPr>
                        <a:picLocks noChangeAspect="1"/>
                      </p:cNvPicPr>
                      <p:nvPr/>
                    </p:nvPicPr>
                    <p:blipFill>
                      <a:blip r:embed="rId6"/>
                      <a:stretch>
                        <a:fillRect/>
                      </a:stretch>
                    </p:blipFill>
                    <p:spPr>
                      <a:xfrm>
                        <a:off x="3779912" y="4371950"/>
                        <a:ext cx="1224230" cy="360040"/>
                      </a:xfrm>
                      <a:prstGeom prst="rect">
                        <a:avLst/>
                      </a:prstGeom>
                      <a:noFill/>
                      <a:ln w="9525">
                        <a:noFill/>
                      </a:ln>
                    </p:spPr>
                  </p:pic>
                </p:oleObj>
              </mc:Fallback>
            </mc:AlternateContent>
          </a:graphicData>
        </a:graphic>
      </p:graphicFrame>
      <p:sp>
        <p:nvSpPr>
          <p:cNvPr id="3087" name="Rectangle 67"/>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graphicFrame>
        <p:nvGraphicFramePr>
          <p:cNvPr id="3077" name="Object 68"/>
          <p:cNvGraphicFramePr>
            <a:graphicFrameLocks noChangeAspect="1"/>
          </p:cNvGraphicFramePr>
          <p:nvPr/>
        </p:nvGraphicFramePr>
        <p:xfrm>
          <a:off x="5076056" y="4371950"/>
          <a:ext cx="1284189" cy="360040"/>
        </p:xfrm>
        <a:graphic>
          <a:graphicData uri="http://schemas.openxmlformats.org/presentationml/2006/ole">
            <mc:AlternateContent xmlns:mc="http://schemas.openxmlformats.org/markup-compatibility/2006">
              <mc:Choice xmlns:v="urn:schemas-microsoft-com:vml" Requires="v">
                <p:oleObj spid="_x0000_s1028" name="" r:id="rId7" imgW="15240000" imgH="5791200" progId="">
                  <p:embed/>
                </p:oleObj>
              </mc:Choice>
              <mc:Fallback>
                <p:oleObj name="" r:id="rId7" imgW="15240000" imgH="5791200" progId="">
                  <p:embed/>
                  <p:pic>
                    <p:nvPicPr>
                      <p:cNvPr id="0" name="Object 68"/>
                      <p:cNvPicPr>
                        <a:picLocks noChangeAspect="1"/>
                      </p:cNvPicPr>
                      <p:nvPr/>
                    </p:nvPicPr>
                    <p:blipFill>
                      <a:blip r:embed="rId8"/>
                      <a:stretch>
                        <a:fillRect/>
                      </a:stretch>
                    </p:blipFill>
                    <p:spPr>
                      <a:xfrm>
                        <a:off x="5076056" y="4371950"/>
                        <a:ext cx="1284189" cy="360040"/>
                      </a:xfrm>
                      <a:prstGeom prst="rect">
                        <a:avLst/>
                      </a:prstGeom>
                      <a:noFill/>
                      <a:ln w="9525">
                        <a:noFill/>
                      </a:ln>
                    </p:spPr>
                  </p:pic>
                </p:oleObj>
              </mc:Fallback>
            </mc:AlternateContent>
          </a:graphicData>
        </a:graphic>
      </p:graphicFrame>
      <p:sp>
        <p:nvSpPr>
          <p:cNvPr id="3088" name="Rectangle 69"/>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3089" name="Rectangle 71"/>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73801" name="Text Box 73"/>
          <p:cNvSpPr txBox="1">
            <a:spLocks noChangeArrowheads="1"/>
          </p:cNvSpPr>
          <p:nvPr/>
        </p:nvSpPr>
        <p:spPr bwMode="auto">
          <a:xfrm>
            <a:off x="6262853" y="4227934"/>
            <a:ext cx="3029997" cy="338554"/>
          </a:xfrm>
          <a:prstGeom prst="rect">
            <a:avLst/>
          </a:prstGeom>
          <a:noFill/>
          <a:ln w="12700" algn="ctr">
            <a:noFill/>
            <a:miter lim="800000"/>
          </a:ln>
        </p:spPr>
        <p:txBody>
          <a:bodyPr wrap="none">
            <a:spAutoFit/>
          </a:bodyPr>
          <a:lstStyle/>
          <a:p>
            <a:pPr marL="342900" indent="-342900" algn="ctr">
              <a:spcBef>
                <a:spcPct val="20000"/>
              </a:spcBef>
              <a:buClr>
                <a:schemeClr val="hlink"/>
              </a:buClr>
            </a:pPr>
            <a:r>
              <a:rPr lang="zh-CN" altLang="en-US" sz="1600" b="1" dirty="0">
                <a:latin typeface="Times New Roman" panose="02020603050405020304" pitchFamily="18" charset="0"/>
              </a:rPr>
              <a:t>图</a:t>
            </a:r>
            <a:r>
              <a:rPr lang="en-US" altLang="zh-CN" sz="1600" b="1" dirty="0">
                <a:latin typeface="Times New Roman" panose="02020603050405020304" pitchFamily="18" charset="0"/>
              </a:rPr>
              <a:t>5</a:t>
            </a:r>
            <a:r>
              <a:rPr lang="zh-CN" altLang="en-US" sz="1600" b="1" dirty="0">
                <a:latin typeface="Times New Roman" panose="02020603050405020304" pitchFamily="18" charset="0"/>
              </a:rPr>
              <a:t>－</a:t>
            </a:r>
            <a:r>
              <a:rPr lang="en-US" altLang="zh-CN" sz="1600" b="1" dirty="0">
                <a:latin typeface="Times New Roman" panose="02020603050405020304" pitchFamily="18" charset="0"/>
              </a:rPr>
              <a:t>3  N=7 </a:t>
            </a:r>
            <a:r>
              <a:rPr lang="zh-CN" altLang="en-US" sz="1600" b="1" dirty="0">
                <a:latin typeface="Times New Roman" panose="02020603050405020304" pitchFamily="18" charset="0"/>
              </a:rPr>
              <a:t>频率复用设计示例 </a:t>
            </a:r>
            <a:endParaRPr lang="zh-CN" altLang="en-US" sz="1600" b="1" dirty="0">
              <a:latin typeface="Times New Roman" panose="02020603050405020304" pitchFamily="18" charset="0"/>
            </a:endParaRPr>
          </a:p>
        </p:txBody>
      </p:sp>
      <p:sp>
        <p:nvSpPr>
          <p:cNvPr id="75"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6" name="图片 75" descr="5bc6fc52-b49d-4298-b410-192e1f0ef3a5.gif"/>
          <p:cNvPicPr>
            <a:picLocks noChangeAspect="1"/>
          </p:cNvPicPr>
          <p:nvPr/>
        </p:nvPicPr>
        <p:blipFill>
          <a:blip r:embed="rId9" cstate="print"/>
          <a:srcRect l="36267" t="33821" r="11138" b="38327"/>
          <a:stretch>
            <a:fillRect/>
          </a:stretch>
        </p:blipFill>
        <p:spPr>
          <a:xfrm>
            <a:off x="7308304" y="4495428"/>
            <a:ext cx="1835696" cy="648072"/>
          </a:xfrm>
          <a:prstGeom prst="rect">
            <a:avLst/>
          </a:prstGeom>
        </p:spPr>
      </p:pic>
      <p:pic>
        <p:nvPicPr>
          <p:cNvPr id="77" name="图片 76" descr="5bc6fc52-b49d-4298-b410-192e1f0ef3a5.gif"/>
          <p:cNvPicPr>
            <a:picLocks noChangeAspect="1"/>
          </p:cNvPicPr>
          <p:nvPr/>
        </p:nvPicPr>
        <p:blipFill>
          <a:blip r:embed="rId9"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3801"/>
                                        </p:tgtEl>
                                        <p:attrNameLst>
                                          <p:attrName>style.visibility</p:attrName>
                                        </p:attrNameLst>
                                      </p:cBhvr>
                                      <p:to>
                                        <p:strVal val="visible"/>
                                      </p:to>
                                    </p:set>
                                    <p:animEffect transition="in" filter="dissolve">
                                      <p:cBhvr>
                                        <p:cTn id="7" dur="500"/>
                                        <p:tgtEl>
                                          <p:spTgt spid="73801"/>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0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3082" name="Rectangle 3"/>
          <p:cNvSpPr>
            <a:spLocks noGrp="1" noChangeArrowheads="1"/>
          </p:cNvSpPr>
          <p:nvPr>
            <p:ph type="body" idx="1"/>
          </p:nvPr>
        </p:nvSpPr>
        <p:spPr>
          <a:xfrm>
            <a:off x="468314" y="1494482"/>
            <a:ext cx="8353425" cy="3813572"/>
          </a:xfrm>
        </p:spPr>
        <p:txBody>
          <a:bodyPr/>
          <a:lstStyle/>
          <a:p>
            <a:pPr eaLnBrk="1" hangingPunct="1">
              <a:lnSpc>
                <a:spcPct val="130000"/>
              </a:lnSpc>
              <a:buFont typeface="Wingdings" panose="05000000000000000000" pitchFamily="2" charset="2"/>
              <a:buNone/>
            </a:pPr>
            <a:r>
              <a:rPr lang="zh-CN" altLang="en-US" sz="2200" b="0" dirty="0" smtClean="0"/>
              <a:t>代入上式可得：</a:t>
            </a:r>
            <a:endParaRPr lang="en-US" altLang="zh-CN" sz="2200" b="0" dirty="0" smtClean="0"/>
          </a:p>
          <a:p>
            <a:pPr eaLnBrk="1" hangingPunct="1">
              <a:lnSpc>
                <a:spcPct val="130000"/>
              </a:lnSpc>
              <a:buFont typeface="Wingdings" panose="05000000000000000000" pitchFamily="2" charset="2"/>
              <a:buNone/>
            </a:pPr>
            <a:r>
              <a:rPr lang="en-US" altLang="zh-CN" sz="2200" b="0" dirty="0" smtClean="0">
                <a:latin typeface="华文楷体" pitchFamily="2" charset="-122"/>
                <a:ea typeface="华文楷体" pitchFamily="2" charset="-122"/>
              </a:rPr>
              <a:t>N</a:t>
            </a:r>
            <a:r>
              <a:rPr lang="zh-CN" altLang="en-US" sz="2200" b="0" dirty="0" smtClean="0">
                <a:latin typeface="华文楷体" pitchFamily="2" charset="-122"/>
                <a:ea typeface="华文楷体" pitchFamily="2" charset="-122"/>
              </a:rPr>
              <a:t>又称为</a:t>
            </a:r>
            <a:r>
              <a:rPr lang="zh-CN" altLang="en-US" sz="2200" b="0" dirty="0" smtClean="0">
                <a:solidFill>
                  <a:srgbClr val="003300"/>
                </a:solidFill>
                <a:latin typeface="华文楷体" pitchFamily="2" charset="-122"/>
                <a:ea typeface="华文楷体" pitchFamily="2" charset="-122"/>
              </a:rPr>
              <a:t>频率复用因子</a:t>
            </a:r>
            <a:endParaRPr lang="zh-CN" altLang="en-US" sz="220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en-US" altLang="zh-CN" sz="2200" dirty="0" smtClean="0">
                <a:latin typeface="华文楷体" pitchFamily="2" charset="-122"/>
                <a:ea typeface="华文楷体" pitchFamily="2" charset="-122"/>
              </a:rPr>
              <a:t>N</a:t>
            </a:r>
            <a:r>
              <a:rPr lang="zh-CN" altLang="en-US" sz="2200" dirty="0" smtClean="0">
                <a:latin typeface="华文楷体" pitchFamily="2" charset="-122"/>
                <a:ea typeface="华文楷体" pitchFamily="2" charset="-122"/>
              </a:rPr>
              <a:t>越大，则</a:t>
            </a:r>
            <a:r>
              <a:rPr lang="en-US" altLang="zh-CN" sz="2200" dirty="0" smtClean="0">
                <a:latin typeface="华文楷体" pitchFamily="2" charset="-122"/>
                <a:ea typeface="华文楷体" pitchFamily="2" charset="-122"/>
              </a:rPr>
              <a:t>D</a:t>
            </a:r>
            <a:r>
              <a:rPr lang="zh-CN" altLang="en-US" sz="2200" dirty="0" smtClean="0">
                <a:latin typeface="华文楷体" pitchFamily="2" charset="-122"/>
                <a:ea typeface="华文楷体" pitchFamily="2" charset="-122"/>
              </a:rPr>
              <a:t>越大，这样</a:t>
            </a:r>
            <a:r>
              <a:rPr lang="zh-CN" altLang="en-US" sz="2200" dirty="0" smtClean="0">
                <a:solidFill>
                  <a:schemeClr val="accent1"/>
                </a:solidFill>
                <a:latin typeface="华文楷体" pitchFamily="2" charset="-122"/>
                <a:ea typeface="华文楷体" pitchFamily="2" charset="-122"/>
              </a:rPr>
              <a:t>同频干扰</a:t>
            </a:r>
            <a:r>
              <a:rPr lang="zh-CN" altLang="en-US" sz="2200" dirty="0" smtClean="0">
                <a:latin typeface="华文楷体" pitchFamily="2" charset="-122"/>
                <a:ea typeface="华文楷体" pitchFamily="2" charset="-122"/>
              </a:rPr>
              <a:t>越小，</a:t>
            </a:r>
            <a:endParaRPr lang="zh-CN" altLang="en-US" sz="220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dirty="0" smtClean="0">
                <a:latin typeface="华文楷体" pitchFamily="2" charset="-122"/>
                <a:ea typeface="华文楷体" pitchFamily="2" charset="-122"/>
              </a:rPr>
              <a:t>但是</a:t>
            </a:r>
            <a:r>
              <a:rPr lang="zh-CN" altLang="en-US" sz="2200" dirty="0" smtClean="0">
                <a:solidFill>
                  <a:srgbClr val="FF0000"/>
                </a:solidFill>
                <a:latin typeface="华文楷体" pitchFamily="2" charset="-122"/>
                <a:ea typeface="华文楷体" pitchFamily="2" charset="-122"/>
              </a:rPr>
              <a:t>频率利用率</a:t>
            </a:r>
            <a:r>
              <a:rPr lang="zh-CN" altLang="en-US" sz="2200" dirty="0" smtClean="0">
                <a:latin typeface="华文楷体" pitchFamily="2" charset="-122"/>
                <a:ea typeface="华文楷体" pitchFamily="2" charset="-122"/>
              </a:rPr>
              <a:t>越低；</a:t>
            </a:r>
            <a:endParaRPr lang="zh-CN" altLang="en-US" sz="220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en-US" altLang="zh-CN" sz="2200" dirty="0" smtClean="0">
                <a:latin typeface="华文楷体" pitchFamily="2" charset="-122"/>
                <a:ea typeface="华文楷体" pitchFamily="2" charset="-122"/>
              </a:rPr>
              <a:t>N</a:t>
            </a:r>
            <a:r>
              <a:rPr lang="zh-CN" altLang="en-US" sz="2200" dirty="0" smtClean="0">
                <a:latin typeface="华文楷体" pitchFamily="2" charset="-122"/>
                <a:ea typeface="华文楷体" pitchFamily="2" charset="-122"/>
              </a:rPr>
              <a:t>越小，则</a:t>
            </a:r>
            <a:r>
              <a:rPr lang="en-US" altLang="zh-CN" sz="2200" dirty="0" smtClean="0">
                <a:latin typeface="华文楷体" pitchFamily="2" charset="-122"/>
                <a:ea typeface="华文楷体" pitchFamily="2" charset="-122"/>
              </a:rPr>
              <a:t>D</a:t>
            </a:r>
            <a:r>
              <a:rPr lang="zh-CN" altLang="en-US" sz="2200" dirty="0" smtClean="0">
                <a:latin typeface="华文楷体" pitchFamily="2" charset="-122"/>
                <a:ea typeface="华文楷体" pitchFamily="2" charset="-122"/>
              </a:rPr>
              <a:t>越大，这样</a:t>
            </a:r>
            <a:r>
              <a:rPr lang="zh-CN" altLang="en-US" sz="2200" dirty="0" smtClean="0">
                <a:solidFill>
                  <a:srgbClr val="FF0000"/>
                </a:solidFill>
                <a:latin typeface="华文楷体" pitchFamily="2" charset="-122"/>
                <a:ea typeface="华文楷体" pitchFamily="2" charset="-122"/>
              </a:rPr>
              <a:t>频率利用率</a:t>
            </a:r>
            <a:r>
              <a:rPr lang="zh-CN" altLang="en-US" sz="2200" dirty="0" smtClean="0">
                <a:latin typeface="华文楷体" pitchFamily="2" charset="-122"/>
                <a:ea typeface="华文楷体" pitchFamily="2" charset="-122"/>
              </a:rPr>
              <a:t>越高，</a:t>
            </a:r>
            <a:endParaRPr lang="zh-CN" altLang="en-US" sz="220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dirty="0" smtClean="0">
                <a:latin typeface="华文楷体" pitchFamily="2" charset="-122"/>
                <a:ea typeface="华文楷体" pitchFamily="2" charset="-122"/>
              </a:rPr>
              <a:t>但是</a:t>
            </a:r>
            <a:r>
              <a:rPr lang="zh-CN" altLang="en-US" sz="2200" dirty="0" smtClean="0">
                <a:solidFill>
                  <a:schemeClr val="accent1"/>
                </a:solidFill>
                <a:latin typeface="华文楷体" pitchFamily="2" charset="-122"/>
                <a:ea typeface="华文楷体" pitchFamily="2" charset="-122"/>
              </a:rPr>
              <a:t>同频干扰</a:t>
            </a:r>
            <a:r>
              <a:rPr lang="zh-CN" altLang="en-US" sz="2200" dirty="0" smtClean="0">
                <a:latin typeface="华文楷体" pitchFamily="2" charset="-122"/>
                <a:ea typeface="华文楷体" pitchFamily="2" charset="-122"/>
              </a:rPr>
              <a:t>越大。</a:t>
            </a:r>
            <a:endParaRPr lang="zh-CN" altLang="en-US" sz="2200" b="0" dirty="0" smtClean="0">
              <a:latin typeface="华文楷体" pitchFamily="2" charset="-122"/>
              <a:ea typeface="华文楷体" pitchFamily="2" charset="-122"/>
            </a:endParaRPr>
          </a:p>
          <a:p>
            <a:pPr eaLnBrk="1" hangingPunct="1">
              <a:lnSpc>
                <a:spcPct val="130000"/>
              </a:lnSpc>
              <a:buFont typeface="Wingdings" panose="05000000000000000000" pitchFamily="2" charset="2"/>
              <a:buNone/>
            </a:pPr>
            <a:r>
              <a:rPr lang="zh-CN" altLang="en-US" sz="2200" dirty="0" smtClean="0">
                <a:latin typeface="华文楷体" pitchFamily="2" charset="-122"/>
                <a:ea typeface="华文楷体" pitchFamily="2" charset="-122"/>
              </a:rPr>
              <a:t>可见</a:t>
            </a:r>
            <a:r>
              <a:rPr lang="zh-CN" altLang="en-US" sz="2200" dirty="0" smtClean="0">
                <a:solidFill>
                  <a:srgbClr val="FF0000"/>
                </a:solidFill>
                <a:latin typeface="华文楷体" pitchFamily="2" charset="-122"/>
                <a:ea typeface="华文楷体" pitchFamily="2" charset="-122"/>
              </a:rPr>
              <a:t>频率利用率</a:t>
            </a:r>
            <a:r>
              <a:rPr lang="zh-CN" altLang="en-US" sz="2200" dirty="0" smtClean="0">
                <a:solidFill>
                  <a:srgbClr val="003300"/>
                </a:solidFill>
                <a:latin typeface="华文楷体" pitchFamily="2" charset="-122"/>
                <a:ea typeface="华文楷体" pitchFamily="2" charset="-122"/>
              </a:rPr>
              <a:t>与</a:t>
            </a:r>
            <a:r>
              <a:rPr lang="zh-CN" altLang="en-US" sz="2200" dirty="0" smtClean="0">
                <a:solidFill>
                  <a:schemeClr val="accent1"/>
                </a:solidFill>
                <a:latin typeface="华文楷体" pitchFamily="2" charset="-122"/>
                <a:ea typeface="华文楷体" pitchFamily="2" charset="-122"/>
              </a:rPr>
              <a:t>同频干扰</a:t>
            </a:r>
            <a:r>
              <a:rPr lang="zh-CN" altLang="en-US" sz="2200" dirty="0" smtClean="0">
                <a:solidFill>
                  <a:srgbClr val="003300"/>
                </a:solidFill>
                <a:latin typeface="华文楷体" pitchFamily="2" charset="-122"/>
                <a:ea typeface="华文楷体" pitchFamily="2" charset="-122"/>
              </a:rPr>
              <a:t>是</a:t>
            </a:r>
            <a:r>
              <a:rPr lang="zh-CN" altLang="en-US" sz="2200" u="sng" dirty="0" smtClean="0">
                <a:solidFill>
                  <a:schemeClr val="tx1"/>
                </a:solidFill>
                <a:latin typeface="华文楷体" pitchFamily="2" charset="-122"/>
                <a:ea typeface="华文楷体" pitchFamily="2" charset="-122"/>
              </a:rPr>
              <a:t>一对矛盾</a:t>
            </a:r>
            <a:endParaRPr lang="zh-CN" altLang="en-US" sz="2200" u="sng" dirty="0" smtClean="0">
              <a:solidFill>
                <a:schemeClr val="tx1"/>
              </a:solidFill>
              <a:latin typeface="华文楷体" pitchFamily="2" charset="-122"/>
              <a:ea typeface="华文楷体" pitchFamily="2" charset="-122"/>
            </a:endParaRPr>
          </a:p>
        </p:txBody>
      </p:sp>
      <p:grpSp>
        <p:nvGrpSpPr>
          <p:cNvPr id="2" name="Group 4"/>
          <p:cNvGrpSpPr/>
          <p:nvPr/>
        </p:nvGrpSpPr>
        <p:grpSpPr bwMode="auto">
          <a:xfrm>
            <a:off x="5724526" y="2409825"/>
            <a:ext cx="2911475" cy="1835944"/>
            <a:chOff x="3813" y="2387"/>
            <a:chExt cx="1698" cy="1470"/>
          </a:xfrm>
        </p:grpSpPr>
        <p:grpSp>
          <p:nvGrpSpPr>
            <p:cNvPr id="3" name="Group 5"/>
            <p:cNvGrpSpPr/>
            <p:nvPr/>
          </p:nvGrpSpPr>
          <p:grpSpPr bwMode="auto">
            <a:xfrm>
              <a:off x="3813" y="2387"/>
              <a:ext cx="1698" cy="1470"/>
              <a:chOff x="1772" y="2069"/>
              <a:chExt cx="1698" cy="1470"/>
            </a:xfrm>
          </p:grpSpPr>
          <p:sp>
            <p:nvSpPr>
              <p:cNvPr id="3093" name="AutoShape 6"/>
              <p:cNvSpPr>
                <a:spLocks noChangeAspect="1" noChangeArrowheads="1" noTextEdit="1"/>
              </p:cNvSpPr>
              <p:nvPr/>
            </p:nvSpPr>
            <p:spPr bwMode="auto">
              <a:xfrm>
                <a:off x="1772" y="2069"/>
                <a:ext cx="1698" cy="1470"/>
              </a:xfrm>
              <a:prstGeom prst="rect">
                <a:avLst/>
              </a:prstGeom>
              <a:noFill/>
              <a:ln w="9525">
                <a:noFill/>
                <a:miter lim="800000"/>
              </a:ln>
            </p:spPr>
            <p:txBody>
              <a:bodyPr/>
              <a:lstStyle/>
              <a:p>
                <a:endParaRPr lang="zh-CN" altLang="en-US"/>
              </a:p>
            </p:txBody>
          </p:sp>
          <p:sp>
            <p:nvSpPr>
              <p:cNvPr id="3094" name="Freeform 7"/>
              <p:cNvSpPr/>
              <p:nvPr/>
            </p:nvSpPr>
            <p:spPr bwMode="auto">
              <a:xfrm>
                <a:off x="2471" y="2080"/>
                <a:ext cx="305" cy="263"/>
              </a:xfrm>
              <a:custGeom>
                <a:avLst/>
                <a:gdLst>
                  <a:gd name="T0" fmla="*/ 229 w 305"/>
                  <a:gd name="T1" fmla="*/ 0 h 263"/>
                  <a:gd name="T2" fmla="*/ 76 w 305"/>
                  <a:gd name="T3" fmla="*/ 0 h 263"/>
                  <a:gd name="T4" fmla="*/ 0 w 305"/>
                  <a:gd name="T5" fmla="*/ 132 h 263"/>
                  <a:gd name="T6" fmla="*/ 76 w 305"/>
                  <a:gd name="T7" fmla="*/ 263 h 263"/>
                  <a:gd name="T8" fmla="*/ 229 w 305"/>
                  <a:gd name="T9" fmla="*/ 263 h 263"/>
                  <a:gd name="T10" fmla="*/ 305 w 305"/>
                  <a:gd name="T11" fmla="*/ 132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2"/>
                    </a:lnTo>
                    <a:lnTo>
                      <a:pt x="76" y="263"/>
                    </a:lnTo>
                    <a:lnTo>
                      <a:pt x="229" y="263"/>
                    </a:lnTo>
                    <a:lnTo>
                      <a:pt x="305" y="132"/>
                    </a:lnTo>
                    <a:lnTo>
                      <a:pt x="229" y="0"/>
                    </a:lnTo>
                  </a:path>
                </a:pathLst>
              </a:custGeom>
              <a:noFill/>
              <a:ln w="3175" cap="rnd">
                <a:solidFill>
                  <a:srgbClr val="000000"/>
                </a:solidFill>
                <a:round/>
              </a:ln>
            </p:spPr>
            <p:txBody>
              <a:bodyPr/>
              <a:lstStyle/>
              <a:p>
                <a:endParaRPr lang="zh-CN" altLang="en-US"/>
              </a:p>
            </p:txBody>
          </p:sp>
          <p:sp>
            <p:nvSpPr>
              <p:cNvPr id="73736" name="Rectangle 8"/>
              <p:cNvSpPr>
                <a:spLocks noChangeArrowheads="1"/>
              </p:cNvSpPr>
              <p:nvPr/>
            </p:nvSpPr>
            <p:spPr bwMode="auto">
              <a:xfrm>
                <a:off x="2573" y="2153"/>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096" name="Freeform 9"/>
              <p:cNvSpPr/>
              <p:nvPr/>
            </p:nvSpPr>
            <p:spPr bwMode="auto">
              <a:xfrm>
                <a:off x="2469" y="2346"/>
                <a:ext cx="305" cy="263"/>
              </a:xfrm>
              <a:custGeom>
                <a:avLst/>
                <a:gdLst>
                  <a:gd name="T0" fmla="*/ 228 w 305"/>
                  <a:gd name="T1" fmla="*/ 0 h 263"/>
                  <a:gd name="T2" fmla="*/ 76 w 305"/>
                  <a:gd name="T3" fmla="*/ 0 h 263"/>
                  <a:gd name="T4" fmla="*/ 0 w 305"/>
                  <a:gd name="T5" fmla="*/ 132 h 263"/>
                  <a:gd name="T6" fmla="*/ 76 w 305"/>
                  <a:gd name="T7" fmla="*/ 263 h 263"/>
                  <a:gd name="T8" fmla="*/ 228 w 305"/>
                  <a:gd name="T9" fmla="*/ 263 h 263"/>
                  <a:gd name="T10" fmla="*/ 305 w 305"/>
                  <a:gd name="T11" fmla="*/ 132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2"/>
                    </a:lnTo>
                    <a:lnTo>
                      <a:pt x="76" y="263"/>
                    </a:lnTo>
                    <a:lnTo>
                      <a:pt x="228" y="263"/>
                    </a:lnTo>
                    <a:lnTo>
                      <a:pt x="305" y="132"/>
                    </a:lnTo>
                    <a:lnTo>
                      <a:pt x="228" y="0"/>
                    </a:lnTo>
                  </a:path>
                </a:pathLst>
              </a:custGeom>
              <a:noFill/>
              <a:ln w="3175" cap="rnd">
                <a:solidFill>
                  <a:srgbClr val="000000"/>
                </a:solidFill>
                <a:round/>
              </a:ln>
            </p:spPr>
            <p:txBody>
              <a:bodyPr/>
              <a:lstStyle/>
              <a:p>
                <a:endParaRPr lang="zh-CN" altLang="en-US"/>
              </a:p>
            </p:txBody>
          </p:sp>
          <p:sp>
            <p:nvSpPr>
              <p:cNvPr id="73738" name="Rectangle 10"/>
              <p:cNvSpPr>
                <a:spLocks noChangeArrowheads="1"/>
              </p:cNvSpPr>
              <p:nvPr/>
            </p:nvSpPr>
            <p:spPr bwMode="auto">
              <a:xfrm>
                <a:off x="2624" y="2423"/>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6</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098" name="Freeform 11"/>
              <p:cNvSpPr/>
              <p:nvPr/>
            </p:nvSpPr>
            <p:spPr bwMode="auto">
              <a:xfrm>
                <a:off x="2241" y="2478"/>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40" name="Rectangle 12"/>
              <p:cNvSpPr>
                <a:spLocks noChangeArrowheads="1"/>
              </p:cNvSpPr>
              <p:nvPr/>
            </p:nvSpPr>
            <p:spPr bwMode="auto">
              <a:xfrm>
                <a:off x="2395" y="2549"/>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0" name="Freeform 13"/>
              <p:cNvSpPr/>
              <p:nvPr/>
            </p:nvSpPr>
            <p:spPr bwMode="auto">
              <a:xfrm>
                <a:off x="2241" y="2215"/>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42" name="Rectangle 14"/>
              <p:cNvSpPr>
                <a:spLocks noChangeArrowheads="1"/>
              </p:cNvSpPr>
              <p:nvPr/>
            </p:nvSpPr>
            <p:spPr bwMode="auto">
              <a:xfrm>
                <a:off x="2345" y="2291"/>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2" name="Freeform 15"/>
              <p:cNvSpPr/>
              <p:nvPr/>
            </p:nvSpPr>
            <p:spPr bwMode="auto">
              <a:xfrm>
                <a:off x="2697" y="2215"/>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solidFill>
                <a:srgbClr val="FF9933"/>
              </a:solidFill>
              <a:ln w="3175" cap="rnd">
                <a:solidFill>
                  <a:srgbClr val="000000"/>
                </a:solidFill>
                <a:round/>
              </a:ln>
            </p:spPr>
            <p:txBody>
              <a:bodyPr/>
              <a:lstStyle/>
              <a:p>
                <a:endParaRPr lang="zh-CN" altLang="en-US"/>
              </a:p>
            </p:txBody>
          </p:sp>
          <p:sp>
            <p:nvSpPr>
              <p:cNvPr id="73744" name="Rectangle 16"/>
              <p:cNvSpPr>
                <a:spLocks noChangeArrowheads="1"/>
              </p:cNvSpPr>
              <p:nvPr/>
            </p:nvSpPr>
            <p:spPr bwMode="auto">
              <a:xfrm>
                <a:off x="2781" y="2251"/>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4" name="Freeform 17"/>
              <p:cNvSpPr/>
              <p:nvPr/>
            </p:nvSpPr>
            <p:spPr bwMode="auto">
              <a:xfrm>
                <a:off x="2697" y="2478"/>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46" name="Rectangle 18"/>
              <p:cNvSpPr>
                <a:spLocks noChangeArrowheads="1"/>
              </p:cNvSpPr>
              <p:nvPr/>
            </p:nvSpPr>
            <p:spPr bwMode="auto">
              <a:xfrm>
                <a:off x="2790" y="2549"/>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5</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6" name="Freeform 19"/>
              <p:cNvSpPr/>
              <p:nvPr/>
            </p:nvSpPr>
            <p:spPr bwMode="auto">
              <a:xfrm>
                <a:off x="2469" y="2608"/>
                <a:ext cx="305" cy="262"/>
              </a:xfrm>
              <a:custGeom>
                <a:avLst/>
                <a:gdLst>
                  <a:gd name="T0" fmla="*/ 228 w 305"/>
                  <a:gd name="T1" fmla="*/ 0 h 262"/>
                  <a:gd name="T2" fmla="*/ 76 w 305"/>
                  <a:gd name="T3" fmla="*/ 0 h 262"/>
                  <a:gd name="T4" fmla="*/ 0 w 305"/>
                  <a:gd name="T5" fmla="*/ 131 h 262"/>
                  <a:gd name="T6" fmla="*/ 76 w 305"/>
                  <a:gd name="T7" fmla="*/ 262 h 262"/>
                  <a:gd name="T8" fmla="*/ 228 w 305"/>
                  <a:gd name="T9" fmla="*/ 262 h 262"/>
                  <a:gd name="T10" fmla="*/ 305 w 305"/>
                  <a:gd name="T11" fmla="*/ 131 h 262"/>
                  <a:gd name="T12" fmla="*/ 228 w 305"/>
                  <a:gd name="T13" fmla="*/ 0 h 262"/>
                  <a:gd name="T14" fmla="*/ 0 60000 65536"/>
                  <a:gd name="T15" fmla="*/ 0 60000 65536"/>
                  <a:gd name="T16" fmla="*/ 0 60000 65536"/>
                  <a:gd name="T17" fmla="*/ 0 60000 65536"/>
                  <a:gd name="T18" fmla="*/ 0 60000 65536"/>
                  <a:gd name="T19" fmla="*/ 0 60000 65536"/>
                  <a:gd name="T20" fmla="*/ 0 60000 65536"/>
                  <a:gd name="T21" fmla="*/ 0 w 305"/>
                  <a:gd name="T22" fmla="*/ 0 h 262"/>
                  <a:gd name="T23" fmla="*/ 305 w 305"/>
                  <a:gd name="T24" fmla="*/ 262 h 2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2">
                    <a:moveTo>
                      <a:pt x="228" y="0"/>
                    </a:moveTo>
                    <a:lnTo>
                      <a:pt x="76" y="0"/>
                    </a:lnTo>
                    <a:lnTo>
                      <a:pt x="0" y="131"/>
                    </a:lnTo>
                    <a:lnTo>
                      <a:pt x="76" y="262"/>
                    </a:lnTo>
                    <a:lnTo>
                      <a:pt x="228" y="262"/>
                    </a:lnTo>
                    <a:lnTo>
                      <a:pt x="305" y="131"/>
                    </a:lnTo>
                    <a:lnTo>
                      <a:pt x="228" y="0"/>
                    </a:lnTo>
                  </a:path>
                </a:pathLst>
              </a:custGeom>
              <a:noFill/>
              <a:ln w="3175" cap="rnd">
                <a:solidFill>
                  <a:srgbClr val="000000"/>
                </a:solidFill>
                <a:round/>
              </a:ln>
            </p:spPr>
            <p:txBody>
              <a:bodyPr/>
              <a:lstStyle/>
              <a:p>
                <a:endParaRPr lang="zh-CN" altLang="en-US"/>
              </a:p>
            </p:txBody>
          </p:sp>
          <p:sp>
            <p:nvSpPr>
              <p:cNvPr id="73748" name="Rectangle 20"/>
              <p:cNvSpPr>
                <a:spLocks noChangeArrowheads="1"/>
              </p:cNvSpPr>
              <p:nvPr/>
            </p:nvSpPr>
            <p:spPr bwMode="auto">
              <a:xfrm>
                <a:off x="2624" y="2682"/>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3</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08" name="Freeform 21"/>
              <p:cNvSpPr/>
              <p:nvPr/>
            </p:nvSpPr>
            <p:spPr bwMode="auto">
              <a:xfrm>
                <a:off x="2011" y="2608"/>
                <a:ext cx="305" cy="262"/>
              </a:xfrm>
              <a:custGeom>
                <a:avLst/>
                <a:gdLst>
                  <a:gd name="T0" fmla="*/ 229 w 305"/>
                  <a:gd name="T1" fmla="*/ 0 h 262"/>
                  <a:gd name="T2" fmla="*/ 76 w 305"/>
                  <a:gd name="T3" fmla="*/ 0 h 262"/>
                  <a:gd name="T4" fmla="*/ 0 w 305"/>
                  <a:gd name="T5" fmla="*/ 131 h 262"/>
                  <a:gd name="T6" fmla="*/ 76 w 305"/>
                  <a:gd name="T7" fmla="*/ 262 h 262"/>
                  <a:gd name="T8" fmla="*/ 229 w 305"/>
                  <a:gd name="T9" fmla="*/ 262 h 262"/>
                  <a:gd name="T10" fmla="*/ 305 w 305"/>
                  <a:gd name="T11" fmla="*/ 131 h 262"/>
                  <a:gd name="T12" fmla="*/ 229 w 305"/>
                  <a:gd name="T13" fmla="*/ 0 h 262"/>
                  <a:gd name="T14" fmla="*/ 0 60000 65536"/>
                  <a:gd name="T15" fmla="*/ 0 60000 65536"/>
                  <a:gd name="T16" fmla="*/ 0 60000 65536"/>
                  <a:gd name="T17" fmla="*/ 0 60000 65536"/>
                  <a:gd name="T18" fmla="*/ 0 60000 65536"/>
                  <a:gd name="T19" fmla="*/ 0 60000 65536"/>
                  <a:gd name="T20" fmla="*/ 0 60000 65536"/>
                  <a:gd name="T21" fmla="*/ 0 w 305"/>
                  <a:gd name="T22" fmla="*/ 0 h 262"/>
                  <a:gd name="T23" fmla="*/ 305 w 305"/>
                  <a:gd name="T24" fmla="*/ 262 h 2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2">
                    <a:moveTo>
                      <a:pt x="229" y="0"/>
                    </a:moveTo>
                    <a:lnTo>
                      <a:pt x="76" y="0"/>
                    </a:lnTo>
                    <a:lnTo>
                      <a:pt x="0" y="131"/>
                    </a:lnTo>
                    <a:lnTo>
                      <a:pt x="76" y="262"/>
                    </a:lnTo>
                    <a:lnTo>
                      <a:pt x="229" y="262"/>
                    </a:lnTo>
                    <a:lnTo>
                      <a:pt x="305" y="131"/>
                    </a:lnTo>
                    <a:lnTo>
                      <a:pt x="229" y="0"/>
                    </a:lnTo>
                  </a:path>
                </a:pathLst>
              </a:custGeom>
              <a:noFill/>
              <a:ln w="3175" cap="rnd">
                <a:solidFill>
                  <a:srgbClr val="000000"/>
                </a:solidFill>
                <a:round/>
              </a:ln>
            </p:spPr>
            <p:txBody>
              <a:bodyPr/>
              <a:lstStyle/>
              <a:p>
                <a:endParaRPr lang="zh-CN" altLang="en-US"/>
              </a:p>
            </p:txBody>
          </p:sp>
          <p:sp>
            <p:nvSpPr>
              <p:cNvPr id="73750" name="Rectangle 22"/>
              <p:cNvSpPr>
                <a:spLocks noChangeArrowheads="1"/>
              </p:cNvSpPr>
              <p:nvPr/>
            </p:nvSpPr>
            <p:spPr bwMode="auto">
              <a:xfrm>
                <a:off x="2166" y="2682"/>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7</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0" name="Freeform 23"/>
              <p:cNvSpPr/>
              <p:nvPr/>
            </p:nvSpPr>
            <p:spPr bwMode="auto">
              <a:xfrm>
                <a:off x="2011" y="2874"/>
                <a:ext cx="305" cy="262"/>
              </a:xfrm>
              <a:custGeom>
                <a:avLst/>
                <a:gdLst>
                  <a:gd name="T0" fmla="*/ 229 w 305"/>
                  <a:gd name="T1" fmla="*/ 0 h 262"/>
                  <a:gd name="T2" fmla="*/ 76 w 305"/>
                  <a:gd name="T3" fmla="*/ 0 h 262"/>
                  <a:gd name="T4" fmla="*/ 0 w 305"/>
                  <a:gd name="T5" fmla="*/ 131 h 262"/>
                  <a:gd name="T6" fmla="*/ 76 w 305"/>
                  <a:gd name="T7" fmla="*/ 262 h 262"/>
                  <a:gd name="T8" fmla="*/ 229 w 305"/>
                  <a:gd name="T9" fmla="*/ 262 h 262"/>
                  <a:gd name="T10" fmla="*/ 305 w 305"/>
                  <a:gd name="T11" fmla="*/ 131 h 262"/>
                  <a:gd name="T12" fmla="*/ 229 w 305"/>
                  <a:gd name="T13" fmla="*/ 0 h 262"/>
                  <a:gd name="T14" fmla="*/ 0 60000 65536"/>
                  <a:gd name="T15" fmla="*/ 0 60000 65536"/>
                  <a:gd name="T16" fmla="*/ 0 60000 65536"/>
                  <a:gd name="T17" fmla="*/ 0 60000 65536"/>
                  <a:gd name="T18" fmla="*/ 0 60000 65536"/>
                  <a:gd name="T19" fmla="*/ 0 60000 65536"/>
                  <a:gd name="T20" fmla="*/ 0 60000 65536"/>
                  <a:gd name="T21" fmla="*/ 0 w 305"/>
                  <a:gd name="T22" fmla="*/ 0 h 262"/>
                  <a:gd name="T23" fmla="*/ 305 w 305"/>
                  <a:gd name="T24" fmla="*/ 262 h 2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2">
                    <a:moveTo>
                      <a:pt x="229" y="0"/>
                    </a:moveTo>
                    <a:lnTo>
                      <a:pt x="76" y="0"/>
                    </a:lnTo>
                    <a:lnTo>
                      <a:pt x="0" y="131"/>
                    </a:lnTo>
                    <a:lnTo>
                      <a:pt x="76" y="262"/>
                    </a:lnTo>
                    <a:lnTo>
                      <a:pt x="229" y="262"/>
                    </a:lnTo>
                    <a:lnTo>
                      <a:pt x="305" y="131"/>
                    </a:lnTo>
                    <a:lnTo>
                      <a:pt x="229" y="0"/>
                    </a:lnTo>
                  </a:path>
                </a:pathLst>
              </a:custGeom>
              <a:noFill/>
              <a:ln w="3175" cap="rnd">
                <a:solidFill>
                  <a:srgbClr val="000000"/>
                </a:solidFill>
                <a:round/>
              </a:ln>
            </p:spPr>
            <p:txBody>
              <a:bodyPr/>
              <a:lstStyle/>
              <a:p>
                <a:endParaRPr lang="zh-CN" altLang="en-US"/>
              </a:p>
            </p:txBody>
          </p:sp>
          <p:sp>
            <p:nvSpPr>
              <p:cNvPr id="73752" name="Rectangle 24"/>
              <p:cNvSpPr>
                <a:spLocks noChangeArrowheads="1"/>
              </p:cNvSpPr>
              <p:nvPr/>
            </p:nvSpPr>
            <p:spPr bwMode="auto">
              <a:xfrm>
                <a:off x="2166" y="2946"/>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6</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2" name="Freeform 25"/>
              <p:cNvSpPr/>
              <p:nvPr/>
            </p:nvSpPr>
            <p:spPr bwMode="auto">
              <a:xfrm>
                <a:off x="1783" y="3005"/>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54" name="Rectangle 26"/>
              <p:cNvSpPr>
                <a:spLocks noChangeArrowheads="1"/>
              </p:cNvSpPr>
              <p:nvPr/>
            </p:nvSpPr>
            <p:spPr bwMode="auto">
              <a:xfrm>
                <a:off x="1889" y="3078"/>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4" name="Freeform 27"/>
              <p:cNvSpPr/>
              <p:nvPr/>
            </p:nvSpPr>
            <p:spPr bwMode="auto">
              <a:xfrm>
                <a:off x="1783" y="2742"/>
                <a:ext cx="305" cy="263"/>
              </a:xfrm>
              <a:custGeom>
                <a:avLst/>
                <a:gdLst>
                  <a:gd name="T0" fmla="*/ 229 w 305"/>
                  <a:gd name="T1" fmla="*/ 0 h 263"/>
                  <a:gd name="T2" fmla="*/ 76 w 305"/>
                  <a:gd name="T3" fmla="*/ 0 h 263"/>
                  <a:gd name="T4" fmla="*/ 0 w 305"/>
                  <a:gd name="T5" fmla="*/ 132 h 263"/>
                  <a:gd name="T6" fmla="*/ 76 w 305"/>
                  <a:gd name="T7" fmla="*/ 263 h 263"/>
                  <a:gd name="T8" fmla="*/ 229 w 305"/>
                  <a:gd name="T9" fmla="*/ 263 h 263"/>
                  <a:gd name="T10" fmla="*/ 305 w 305"/>
                  <a:gd name="T11" fmla="*/ 132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2"/>
                    </a:lnTo>
                    <a:lnTo>
                      <a:pt x="76" y="263"/>
                    </a:lnTo>
                    <a:lnTo>
                      <a:pt x="229" y="263"/>
                    </a:lnTo>
                    <a:lnTo>
                      <a:pt x="305" y="132"/>
                    </a:lnTo>
                    <a:lnTo>
                      <a:pt x="229" y="0"/>
                    </a:lnTo>
                  </a:path>
                </a:pathLst>
              </a:custGeom>
              <a:noFill/>
              <a:ln w="3175" cap="rnd">
                <a:solidFill>
                  <a:srgbClr val="000000"/>
                </a:solidFill>
                <a:round/>
              </a:ln>
            </p:spPr>
            <p:txBody>
              <a:bodyPr/>
              <a:lstStyle/>
              <a:p>
                <a:endParaRPr lang="zh-CN" altLang="en-US"/>
              </a:p>
            </p:txBody>
          </p:sp>
          <p:sp>
            <p:nvSpPr>
              <p:cNvPr id="73756" name="Rectangle 28"/>
              <p:cNvSpPr>
                <a:spLocks noChangeArrowheads="1"/>
              </p:cNvSpPr>
              <p:nvPr/>
            </p:nvSpPr>
            <p:spPr bwMode="auto">
              <a:xfrm>
                <a:off x="1889" y="2814"/>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6" name="Freeform 29"/>
              <p:cNvSpPr/>
              <p:nvPr/>
            </p:nvSpPr>
            <p:spPr bwMode="auto">
              <a:xfrm>
                <a:off x="2239" y="2742"/>
                <a:ext cx="305" cy="263"/>
              </a:xfrm>
              <a:custGeom>
                <a:avLst/>
                <a:gdLst>
                  <a:gd name="T0" fmla="*/ 229 w 305"/>
                  <a:gd name="T1" fmla="*/ 0 h 263"/>
                  <a:gd name="T2" fmla="*/ 76 w 305"/>
                  <a:gd name="T3" fmla="*/ 0 h 263"/>
                  <a:gd name="T4" fmla="*/ 0 w 305"/>
                  <a:gd name="T5" fmla="*/ 132 h 263"/>
                  <a:gd name="T6" fmla="*/ 76 w 305"/>
                  <a:gd name="T7" fmla="*/ 263 h 263"/>
                  <a:gd name="T8" fmla="*/ 229 w 305"/>
                  <a:gd name="T9" fmla="*/ 263 h 263"/>
                  <a:gd name="T10" fmla="*/ 305 w 305"/>
                  <a:gd name="T11" fmla="*/ 132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2"/>
                    </a:lnTo>
                    <a:lnTo>
                      <a:pt x="76" y="263"/>
                    </a:lnTo>
                    <a:lnTo>
                      <a:pt x="229" y="263"/>
                    </a:lnTo>
                    <a:lnTo>
                      <a:pt x="305" y="132"/>
                    </a:lnTo>
                    <a:lnTo>
                      <a:pt x="229" y="0"/>
                    </a:lnTo>
                  </a:path>
                </a:pathLst>
              </a:custGeom>
              <a:solidFill>
                <a:srgbClr val="FF9933"/>
              </a:solidFill>
              <a:ln w="3175" cap="rnd">
                <a:solidFill>
                  <a:srgbClr val="000000"/>
                </a:solidFill>
                <a:round/>
              </a:ln>
            </p:spPr>
            <p:txBody>
              <a:bodyPr/>
              <a:lstStyle/>
              <a:p>
                <a:endParaRPr lang="zh-CN" altLang="en-US"/>
              </a:p>
            </p:txBody>
          </p:sp>
          <p:sp>
            <p:nvSpPr>
              <p:cNvPr id="73758" name="Rectangle 30"/>
              <p:cNvSpPr>
                <a:spLocks noChangeArrowheads="1"/>
              </p:cNvSpPr>
              <p:nvPr/>
            </p:nvSpPr>
            <p:spPr bwMode="auto">
              <a:xfrm>
                <a:off x="2395" y="2814"/>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18" name="Freeform 31"/>
              <p:cNvSpPr/>
              <p:nvPr/>
            </p:nvSpPr>
            <p:spPr bwMode="auto">
              <a:xfrm>
                <a:off x="2239" y="3005"/>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60" name="Rectangle 32"/>
              <p:cNvSpPr>
                <a:spLocks noChangeArrowheads="1"/>
              </p:cNvSpPr>
              <p:nvPr/>
            </p:nvSpPr>
            <p:spPr bwMode="auto">
              <a:xfrm>
                <a:off x="2395" y="3078"/>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5</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0" name="Freeform 33"/>
              <p:cNvSpPr/>
              <p:nvPr/>
            </p:nvSpPr>
            <p:spPr bwMode="auto">
              <a:xfrm>
                <a:off x="2011" y="3135"/>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62" name="Rectangle 34"/>
              <p:cNvSpPr>
                <a:spLocks noChangeArrowheads="1"/>
              </p:cNvSpPr>
              <p:nvPr/>
            </p:nvSpPr>
            <p:spPr bwMode="auto">
              <a:xfrm>
                <a:off x="2116" y="3210"/>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2" name="Freeform 35"/>
              <p:cNvSpPr/>
              <p:nvPr/>
            </p:nvSpPr>
            <p:spPr bwMode="auto">
              <a:xfrm>
                <a:off x="2927" y="2608"/>
                <a:ext cx="304" cy="263"/>
              </a:xfrm>
              <a:custGeom>
                <a:avLst/>
                <a:gdLst>
                  <a:gd name="T0" fmla="*/ 228 w 304"/>
                  <a:gd name="T1" fmla="*/ 0 h 263"/>
                  <a:gd name="T2" fmla="*/ 76 w 304"/>
                  <a:gd name="T3" fmla="*/ 0 h 263"/>
                  <a:gd name="T4" fmla="*/ 0 w 304"/>
                  <a:gd name="T5" fmla="*/ 132 h 263"/>
                  <a:gd name="T6" fmla="*/ 76 w 304"/>
                  <a:gd name="T7" fmla="*/ 263 h 263"/>
                  <a:gd name="T8" fmla="*/ 228 w 304"/>
                  <a:gd name="T9" fmla="*/ 263 h 263"/>
                  <a:gd name="T10" fmla="*/ 304 w 304"/>
                  <a:gd name="T11" fmla="*/ 132 h 263"/>
                  <a:gd name="T12" fmla="*/ 228 w 304"/>
                  <a:gd name="T13" fmla="*/ 0 h 263"/>
                  <a:gd name="T14" fmla="*/ 0 60000 65536"/>
                  <a:gd name="T15" fmla="*/ 0 60000 65536"/>
                  <a:gd name="T16" fmla="*/ 0 60000 65536"/>
                  <a:gd name="T17" fmla="*/ 0 60000 65536"/>
                  <a:gd name="T18" fmla="*/ 0 60000 65536"/>
                  <a:gd name="T19" fmla="*/ 0 60000 65536"/>
                  <a:gd name="T20" fmla="*/ 0 60000 65536"/>
                  <a:gd name="T21" fmla="*/ 0 w 304"/>
                  <a:gd name="T22" fmla="*/ 0 h 263"/>
                  <a:gd name="T23" fmla="*/ 304 w 304"/>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4" h="263">
                    <a:moveTo>
                      <a:pt x="228" y="0"/>
                    </a:moveTo>
                    <a:lnTo>
                      <a:pt x="76" y="0"/>
                    </a:lnTo>
                    <a:lnTo>
                      <a:pt x="0" y="132"/>
                    </a:lnTo>
                    <a:lnTo>
                      <a:pt x="76" y="263"/>
                    </a:lnTo>
                    <a:lnTo>
                      <a:pt x="228" y="263"/>
                    </a:lnTo>
                    <a:lnTo>
                      <a:pt x="304" y="132"/>
                    </a:lnTo>
                    <a:lnTo>
                      <a:pt x="228" y="0"/>
                    </a:lnTo>
                  </a:path>
                </a:pathLst>
              </a:custGeom>
              <a:noFill/>
              <a:ln w="3175" cap="rnd">
                <a:solidFill>
                  <a:srgbClr val="000000"/>
                </a:solidFill>
                <a:round/>
              </a:ln>
            </p:spPr>
            <p:txBody>
              <a:bodyPr/>
              <a:lstStyle/>
              <a:p>
                <a:endParaRPr lang="zh-CN" altLang="en-US"/>
              </a:p>
            </p:txBody>
          </p:sp>
          <p:sp>
            <p:nvSpPr>
              <p:cNvPr id="73764" name="Rectangle 36"/>
              <p:cNvSpPr>
                <a:spLocks noChangeArrowheads="1"/>
              </p:cNvSpPr>
              <p:nvPr/>
            </p:nvSpPr>
            <p:spPr bwMode="auto">
              <a:xfrm>
                <a:off x="3065" y="2706"/>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4" name="Freeform 37"/>
              <p:cNvSpPr/>
              <p:nvPr/>
            </p:nvSpPr>
            <p:spPr bwMode="auto">
              <a:xfrm>
                <a:off x="3155" y="2738"/>
                <a:ext cx="304" cy="263"/>
              </a:xfrm>
              <a:custGeom>
                <a:avLst/>
                <a:gdLst>
                  <a:gd name="T0" fmla="*/ 228 w 304"/>
                  <a:gd name="T1" fmla="*/ 0 h 263"/>
                  <a:gd name="T2" fmla="*/ 76 w 304"/>
                  <a:gd name="T3" fmla="*/ 0 h 263"/>
                  <a:gd name="T4" fmla="*/ 0 w 304"/>
                  <a:gd name="T5" fmla="*/ 131 h 263"/>
                  <a:gd name="T6" fmla="*/ 76 w 304"/>
                  <a:gd name="T7" fmla="*/ 263 h 263"/>
                  <a:gd name="T8" fmla="*/ 228 w 304"/>
                  <a:gd name="T9" fmla="*/ 263 h 263"/>
                  <a:gd name="T10" fmla="*/ 304 w 304"/>
                  <a:gd name="T11" fmla="*/ 131 h 263"/>
                  <a:gd name="T12" fmla="*/ 228 w 304"/>
                  <a:gd name="T13" fmla="*/ 0 h 263"/>
                  <a:gd name="T14" fmla="*/ 0 60000 65536"/>
                  <a:gd name="T15" fmla="*/ 0 60000 65536"/>
                  <a:gd name="T16" fmla="*/ 0 60000 65536"/>
                  <a:gd name="T17" fmla="*/ 0 60000 65536"/>
                  <a:gd name="T18" fmla="*/ 0 60000 65536"/>
                  <a:gd name="T19" fmla="*/ 0 60000 65536"/>
                  <a:gd name="T20" fmla="*/ 0 60000 65536"/>
                  <a:gd name="T21" fmla="*/ 0 w 304"/>
                  <a:gd name="T22" fmla="*/ 0 h 263"/>
                  <a:gd name="T23" fmla="*/ 304 w 304"/>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4" h="263">
                    <a:moveTo>
                      <a:pt x="228" y="0"/>
                    </a:moveTo>
                    <a:lnTo>
                      <a:pt x="76" y="0"/>
                    </a:lnTo>
                    <a:lnTo>
                      <a:pt x="0" y="131"/>
                    </a:lnTo>
                    <a:lnTo>
                      <a:pt x="76" y="263"/>
                    </a:lnTo>
                    <a:lnTo>
                      <a:pt x="228" y="263"/>
                    </a:lnTo>
                    <a:lnTo>
                      <a:pt x="304" y="131"/>
                    </a:lnTo>
                    <a:lnTo>
                      <a:pt x="228" y="0"/>
                    </a:lnTo>
                  </a:path>
                </a:pathLst>
              </a:custGeom>
              <a:noFill/>
              <a:ln w="3175" cap="rnd">
                <a:solidFill>
                  <a:srgbClr val="000000"/>
                </a:solidFill>
                <a:round/>
              </a:ln>
            </p:spPr>
            <p:txBody>
              <a:bodyPr/>
              <a:lstStyle/>
              <a:p>
                <a:endParaRPr lang="zh-CN" altLang="en-US"/>
              </a:p>
            </p:txBody>
          </p:sp>
          <p:sp>
            <p:nvSpPr>
              <p:cNvPr id="73766" name="Rectangle 38"/>
              <p:cNvSpPr>
                <a:spLocks noChangeArrowheads="1"/>
              </p:cNvSpPr>
              <p:nvPr/>
            </p:nvSpPr>
            <p:spPr bwMode="auto">
              <a:xfrm>
                <a:off x="3259" y="2814"/>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6" name="Freeform 39"/>
              <p:cNvSpPr/>
              <p:nvPr/>
            </p:nvSpPr>
            <p:spPr bwMode="auto">
              <a:xfrm>
                <a:off x="2697" y="2738"/>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68" name="Rectangle 40"/>
              <p:cNvSpPr>
                <a:spLocks noChangeArrowheads="1"/>
              </p:cNvSpPr>
              <p:nvPr/>
            </p:nvSpPr>
            <p:spPr bwMode="auto">
              <a:xfrm>
                <a:off x="2851" y="2814"/>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7</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28" name="Freeform 41"/>
              <p:cNvSpPr/>
              <p:nvPr/>
            </p:nvSpPr>
            <p:spPr bwMode="auto">
              <a:xfrm>
                <a:off x="2697" y="3004"/>
                <a:ext cx="305" cy="263"/>
              </a:xfrm>
              <a:custGeom>
                <a:avLst/>
                <a:gdLst>
                  <a:gd name="T0" fmla="*/ 228 w 305"/>
                  <a:gd name="T1" fmla="*/ 0 h 263"/>
                  <a:gd name="T2" fmla="*/ 76 w 305"/>
                  <a:gd name="T3" fmla="*/ 0 h 263"/>
                  <a:gd name="T4" fmla="*/ 0 w 305"/>
                  <a:gd name="T5" fmla="*/ 132 h 263"/>
                  <a:gd name="T6" fmla="*/ 76 w 305"/>
                  <a:gd name="T7" fmla="*/ 263 h 263"/>
                  <a:gd name="T8" fmla="*/ 228 w 305"/>
                  <a:gd name="T9" fmla="*/ 263 h 263"/>
                  <a:gd name="T10" fmla="*/ 305 w 305"/>
                  <a:gd name="T11" fmla="*/ 132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2"/>
                    </a:lnTo>
                    <a:lnTo>
                      <a:pt x="76" y="263"/>
                    </a:lnTo>
                    <a:lnTo>
                      <a:pt x="228" y="263"/>
                    </a:lnTo>
                    <a:lnTo>
                      <a:pt x="305" y="132"/>
                    </a:lnTo>
                    <a:lnTo>
                      <a:pt x="228" y="0"/>
                    </a:lnTo>
                  </a:path>
                </a:pathLst>
              </a:custGeom>
              <a:noFill/>
              <a:ln w="3175" cap="rnd">
                <a:solidFill>
                  <a:srgbClr val="000000"/>
                </a:solidFill>
                <a:round/>
              </a:ln>
            </p:spPr>
            <p:txBody>
              <a:bodyPr/>
              <a:lstStyle/>
              <a:p>
                <a:endParaRPr lang="zh-CN" altLang="en-US"/>
              </a:p>
            </p:txBody>
          </p:sp>
          <p:sp>
            <p:nvSpPr>
              <p:cNvPr id="73770" name="Rectangle 42"/>
              <p:cNvSpPr>
                <a:spLocks noChangeArrowheads="1"/>
              </p:cNvSpPr>
              <p:nvPr/>
            </p:nvSpPr>
            <p:spPr bwMode="auto">
              <a:xfrm>
                <a:off x="2851" y="3078"/>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6</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0" name="Freeform 43"/>
              <p:cNvSpPr/>
              <p:nvPr/>
            </p:nvSpPr>
            <p:spPr bwMode="auto">
              <a:xfrm>
                <a:off x="2469" y="3136"/>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72" name="Rectangle 44"/>
              <p:cNvSpPr>
                <a:spLocks noChangeArrowheads="1"/>
              </p:cNvSpPr>
              <p:nvPr/>
            </p:nvSpPr>
            <p:spPr bwMode="auto">
              <a:xfrm>
                <a:off x="2573" y="3210"/>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2" name="Freeform 45"/>
              <p:cNvSpPr/>
              <p:nvPr/>
            </p:nvSpPr>
            <p:spPr bwMode="auto">
              <a:xfrm>
                <a:off x="2469" y="2872"/>
                <a:ext cx="305" cy="264"/>
              </a:xfrm>
              <a:custGeom>
                <a:avLst/>
                <a:gdLst>
                  <a:gd name="T0" fmla="*/ 228 w 305"/>
                  <a:gd name="T1" fmla="*/ 0 h 264"/>
                  <a:gd name="T2" fmla="*/ 76 w 305"/>
                  <a:gd name="T3" fmla="*/ 0 h 264"/>
                  <a:gd name="T4" fmla="*/ 0 w 305"/>
                  <a:gd name="T5" fmla="*/ 132 h 264"/>
                  <a:gd name="T6" fmla="*/ 76 w 305"/>
                  <a:gd name="T7" fmla="*/ 264 h 264"/>
                  <a:gd name="T8" fmla="*/ 228 w 305"/>
                  <a:gd name="T9" fmla="*/ 264 h 264"/>
                  <a:gd name="T10" fmla="*/ 305 w 305"/>
                  <a:gd name="T11" fmla="*/ 132 h 264"/>
                  <a:gd name="T12" fmla="*/ 228 w 305"/>
                  <a:gd name="T13" fmla="*/ 0 h 264"/>
                  <a:gd name="T14" fmla="*/ 0 60000 65536"/>
                  <a:gd name="T15" fmla="*/ 0 60000 65536"/>
                  <a:gd name="T16" fmla="*/ 0 60000 65536"/>
                  <a:gd name="T17" fmla="*/ 0 60000 65536"/>
                  <a:gd name="T18" fmla="*/ 0 60000 65536"/>
                  <a:gd name="T19" fmla="*/ 0 60000 65536"/>
                  <a:gd name="T20" fmla="*/ 0 60000 65536"/>
                  <a:gd name="T21" fmla="*/ 0 w 305"/>
                  <a:gd name="T22" fmla="*/ 0 h 264"/>
                  <a:gd name="T23" fmla="*/ 305 w 305"/>
                  <a:gd name="T24" fmla="*/ 264 h 2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4">
                    <a:moveTo>
                      <a:pt x="228" y="0"/>
                    </a:moveTo>
                    <a:lnTo>
                      <a:pt x="76" y="0"/>
                    </a:lnTo>
                    <a:lnTo>
                      <a:pt x="0" y="132"/>
                    </a:lnTo>
                    <a:lnTo>
                      <a:pt x="76" y="264"/>
                    </a:lnTo>
                    <a:lnTo>
                      <a:pt x="228" y="264"/>
                    </a:lnTo>
                    <a:lnTo>
                      <a:pt x="305" y="132"/>
                    </a:lnTo>
                    <a:lnTo>
                      <a:pt x="228" y="0"/>
                    </a:lnTo>
                  </a:path>
                </a:pathLst>
              </a:custGeom>
              <a:noFill/>
              <a:ln w="3175" cap="rnd">
                <a:solidFill>
                  <a:srgbClr val="000000"/>
                </a:solidFill>
                <a:round/>
              </a:ln>
            </p:spPr>
            <p:txBody>
              <a:bodyPr/>
              <a:lstStyle/>
              <a:p>
                <a:endParaRPr lang="zh-CN" altLang="en-US"/>
              </a:p>
            </p:txBody>
          </p:sp>
          <p:sp>
            <p:nvSpPr>
              <p:cNvPr id="73774" name="Rectangle 46"/>
              <p:cNvSpPr>
                <a:spLocks noChangeArrowheads="1"/>
              </p:cNvSpPr>
              <p:nvPr/>
            </p:nvSpPr>
            <p:spPr bwMode="auto">
              <a:xfrm>
                <a:off x="2624" y="2946"/>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4</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4" name="Freeform 47"/>
              <p:cNvSpPr/>
              <p:nvPr/>
            </p:nvSpPr>
            <p:spPr bwMode="auto">
              <a:xfrm>
                <a:off x="2925" y="2872"/>
                <a:ext cx="305" cy="264"/>
              </a:xfrm>
              <a:custGeom>
                <a:avLst/>
                <a:gdLst>
                  <a:gd name="T0" fmla="*/ 228 w 305"/>
                  <a:gd name="T1" fmla="*/ 0 h 264"/>
                  <a:gd name="T2" fmla="*/ 76 w 305"/>
                  <a:gd name="T3" fmla="*/ 0 h 264"/>
                  <a:gd name="T4" fmla="*/ 0 w 305"/>
                  <a:gd name="T5" fmla="*/ 132 h 264"/>
                  <a:gd name="T6" fmla="*/ 76 w 305"/>
                  <a:gd name="T7" fmla="*/ 264 h 264"/>
                  <a:gd name="T8" fmla="*/ 228 w 305"/>
                  <a:gd name="T9" fmla="*/ 264 h 264"/>
                  <a:gd name="T10" fmla="*/ 305 w 305"/>
                  <a:gd name="T11" fmla="*/ 132 h 264"/>
                  <a:gd name="T12" fmla="*/ 228 w 305"/>
                  <a:gd name="T13" fmla="*/ 0 h 264"/>
                  <a:gd name="T14" fmla="*/ 0 60000 65536"/>
                  <a:gd name="T15" fmla="*/ 0 60000 65536"/>
                  <a:gd name="T16" fmla="*/ 0 60000 65536"/>
                  <a:gd name="T17" fmla="*/ 0 60000 65536"/>
                  <a:gd name="T18" fmla="*/ 0 60000 65536"/>
                  <a:gd name="T19" fmla="*/ 0 60000 65536"/>
                  <a:gd name="T20" fmla="*/ 0 60000 65536"/>
                  <a:gd name="T21" fmla="*/ 0 w 305"/>
                  <a:gd name="T22" fmla="*/ 0 h 264"/>
                  <a:gd name="T23" fmla="*/ 305 w 305"/>
                  <a:gd name="T24" fmla="*/ 264 h 2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4">
                    <a:moveTo>
                      <a:pt x="228" y="0"/>
                    </a:moveTo>
                    <a:lnTo>
                      <a:pt x="76" y="0"/>
                    </a:lnTo>
                    <a:lnTo>
                      <a:pt x="0" y="132"/>
                    </a:lnTo>
                    <a:lnTo>
                      <a:pt x="76" y="264"/>
                    </a:lnTo>
                    <a:lnTo>
                      <a:pt x="228" y="264"/>
                    </a:lnTo>
                    <a:lnTo>
                      <a:pt x="305" y="132"/>
                    </a:lnTo>
                    <a:lnTo>
                      <a:pt x="228" y="0"/>
                    </a:lnTo>
                  </a:path>
                </a:pathLst>
              </a:custGeom>
              <a:solidFill>
                <a:srgbClr val="FF9933"/>
              </a:solidFill>
              <a:ln w="3175" cap="rnd">
                <a:solidFill>
                  <a:srgbClr val="000000"/>
                </a:solidFill>
                <a:round/>
              </a:ln>
            </p:spPr>
            <p:txBody>
              <a:bodyPr/>
              <a:lstStyle/>
              <a:p>
                <a:endParaRPr lang="zh-CN" altLang="en-US"/>
              </a:p>
            </p:txBody>
          </p:sp>
          <p:sp>
            <p:nvSpPr>
              <p:cNvPr id="73776" name="Rectangle 48"/>
              <p:cNvSpPr>
                <a:spLocks noChangeArrowheads="1"/>
              </p:cNvSpPr>
              <p:nvPr/>
            </p:nvSpPr>
            <p:spPr bwMode="auto">
              <a:xfrm>
                <a:off x="3080" y="2946"/>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6" name="Freeform 49"/>
              <p:cNvSpPr/>
              <p:nvPr/>
            </p:nvSpPr>
            <p:spPr bwMode="auto">
              <a:xfrm>
                <a:off x="2925" y="3136"/>
                <a:ext cx="305" cy="263"/>
              </a:xfrm>
              <a:custGeom>
                <a:avLst/>
                <a:gdLst>
                  <a:gd name="T0" fmla="*/ 228 w 305"/>
                  <a:gd name="T1" fmla="*/ 0 h 263"/>
                  <a:gd name="T2" fmla="*/ 76 w 305"/>
                  <a:gd name="T3" fmla="*/ 0 h 263"/>
                  <a:gd name="T4" fmla="*/ 0 w 305"/>
                  <a:gd name="T5" fmla="*/ 131 h 263"/>
                  <a:gd name="T6" fmla="*/ 76 w 305"/>
                  <a:gd name="T7" fmla="*/ 263 h 263"/>
                  <a:gd name="T8" fmla="*/ 228 w 305"/>
                  <a:gd name="T9" fmla="*/ 263 h 263"/>
                  <a:gd name="T10" fmla="*/ 305 w 305"/>
                  <a:gd name="T11" fmla="*/ 131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1"/>
                    </a:lnTo>
                    <a:lnTo>
                      <a:pt x="76" y="263"/>
                    </a:lnTo>
                    <a:lnTo>
                      <a:pt x="228" y="263"/>
                    </a:lnTo>
                    <a:lnTo>
                      <a:pt x="305" y="131"/>
                    </a:lnTo>
                    <a:lnTo>
                      <a:pt x="228" y="0"/>
                    </a:lnTo>
                  </a:path>
                </a:pathLst>
              </a:custGeom>
              <a:noFill/>
              <a:ln w="3175" cap="rnd">
                <a:solidFill>
                  <a:srgbClr val="000000"/>
                </a:solidFill>
                <a:round/>
              </a:ln>
            </p:spPr>
            <p:txBody>
              <a:bodyPr/>
              <a:lstStyle/>
              <a:p>
                <a:endParaRPr lang="zh-CN" altLang="en-US"/>
              </a:p>
            </p:txBody>
          </p:sp>
          <p:sp>
            <p:nvSpPr>
              <p:cNvPr id="73778" name="Rectangle 50"/>
              <p:cNvSpPr>
                <a:spLocks noChangeArrowheads="1"/>
              </p:cNvSpPr>
              <p:nvPr/>
            </p:nvSpPr>
            <p:spPr bwMode="auto">
              <a:xfrm>
                <a:off x="3029" y="3210"/>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38" name="Freeform 51"/>
              <p:cNvSpPr/>
              <p:nvPr/>
            </p:nvSpPr>
            <p:spPr bwMode="auto">
              <a:xfrm>
                <a:off x="2697" y="3265"/>
                <a:ext cx="305" cy="263"/>
              </a:xfrm>
              <a:custGeom>
                <a:avLst/>
                <a:gdLst>
                  <a:gd name="T0" fmla="*/ 228 w 305"/>
                  <a:gd name="T1" fmla="*/ 0 h 263"/>
                  <a:gd name="T2" fmla="*/ 76 w 305"/>
                  <a:gd name="T3" fmla="*/ 0 h 263"/>
                  <a:gd name="T4" fmla="*/ 0 w 305"/>
                  <a:gd name="T5" fmla="*/ 132 h 263"/>
                  <a:gd name="T6" fmla="*/ 76 w 305"/>
                  <a:gd name="T7" fmla="*/ 263 h 263"/>
                  <a:gd name="T8" fmla="*/ 228 w 305"/>
                  <a:gd name="T9" fmla="*/ 263 h 263"/>
                  <a:gd name="T10" fmla="*/ 305 w 305"/>
                  <a:gd name="T11" fmla="*/ 132 h 263"/>
                  <a:gd name="T12" fmla="*/ 228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8" y="0"/>
                    </a:moveTo>
                    <a:lnTo>
                      <a:pt x="76" y="0"/>
                    </a:lnTo>
                    <a:lnTo>
                      <a:pt x="0" y="132"/>
                    </a:lnTo>
                    <a:lnTo>
                      <a:pt x="76" y="263"/>
                    </a:lnTo>
                    <a:lnTo>
                      <a:pt x="228" y="263"/>
                    </a:lnTo>
                    <a:lnTo>
                      <a:pt x="305" y="132"/>
                    </a:lnTo>
                    <a:lnTo>
                      <a:pt x="228" y="0"/>
                    </a:lnTo>
                  </a:path>
                </a:pathLst>
              </a:custGeom>
              <a:noFill/>
              <a:ln w="3175" cap="rnd">
                <a:solidFill>
                  <a:srgbClr val="000000"/>
                </a:solidFill>
                <a:round/>
              </a:ln>
            </p:spPr>
            <p:txBody>
              <a:bodyPr/>
              <a:lstStyle/>
              <a:p>
                <a:endParaRPr lang="zh-CN" altLang="en-US"/>
              </a:p>
            </p:txBody>
          </p:sp>
          <p:sp>
            <p:nvSpPr>
              <p:cNvPr id="73780" name="Rectangle 52"/>
              <p:cNvSpPr>
                <a:spLocks noChangeArrowheads="1"/>
              </p:cNvSpPr>
              <p:nvPr/>
            </p:nvSpPr>
            <p:spPr bwMode="auto">
              <a:xfrm>
                <a:off x="2803" y="3342"/>
                <a:ext cx="105"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40" name="Freeform 53"/>
              <p:cNvSpPr/>
              <p:nvPr/>
            </p:nvSpPr>
            <p:spPr bwMode="auto">
              <a:xfrm>
                <a:off x="2927" y="2349"/>
                <a:ext cx="305" cy="263"/>
              </a:xfrm>
              <a:custGeom>
                <a:avLst/>
                <a:gdLst>
                  <a:gd name="T0" fmla="*/ 229 w 305"/>
                  <a:gd name="T1" fmla="*/ 0 h 263"/>
                  <a:gd name="T2" fmla="*/ 76 w 305"/>
                  <a:gd name="T3" fmla="*/ 0 h 263"/>
                  <a:gd name="T4" fmla="*/ 0 w 305"/>
                  <a:gd name="T5" fmla="*/ 131 h 263"/>
                  <a:gd name="T6" fmla="*/ 76 w 305"/>
                  <a:gd name="T7" fmla="*/ 263 h 263"/>
                  <a:gd name="T8" fmla="*/ 229 w 305"/>
                  <a:gd name="T9" fmla="*/ 263 h 263"/>
                  <a:gd name="T10" fmla="*/ 305 w 305"/>
                  <a:gd name="T11" fmla="*/ 131 h 263"/>
                  <a:gd name="T12" fmla="*/ 229 w 305"/>
                  <a:gd name="T13" fmla="*/ 0 h 263"/>
                  <a:gd name="T14" fmla="*/ 0 60000 65536"/>
                  <a:gd name="T15" fmla="*/ 0 60000 65536"/>
                  <a:gd name="T16" fmla="*/ 0 60000 65536"/>
                  <a:gd name="T17" fmla="*/ 0 60000 65536"/>
                  <a:gd name="T18" fmla="*/ 0 60000 65536"/>
                  <a:gd name="T19" fmla="*/ 0 60000 65536"/>
                  <a:gd name="T20" fmla="*/ 0 60000 65536"/>
                  <a:gd name="T21" fmla="*/ 0 w 305"/>
                  <a:gd name="T22" fmla="*/ 0 h 263"/>
                  <a:gd name="T23" fmla="*/ 305 w 305"/>
                  <a:gd name="T24" fmla="*/ 263 h 2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5" h="263">
                    <a:moveTo>
                      <a:pt x="229" y="0"/>
                    </a:moveTo>
                    <a:lnTo>
                      <a:pt x="76" y="0"/>
                    </a:lnTo>
                    <a:lnTo>
                      <a:pt x="0" y="131"/>
                    </a:lnTo>
                    <a:lnTo>
                      <a:pt x="76" y="263"/>
                    </a:lnTo>
                    <a:lnTo>
                      <a:pt x="229" y="263"/>
                    </a:lnTo>
                    <a:lnTo>
                      <a:pt x="305" y="131"/>
                    </a:lnTo>
                    <a:lnTo>
                      <a:pt x="229" y="0"/>
                    </a:lnTo>
                  </a:path>
                </a:pathLst>
              </a:custGeom>
              <a:noFill/>
              <a:ln w="3175" cap="rnd">
                <a:solidFill>
                  <a:srgbClr val="000000"/>
                </a:solidFill>
                <a:round/>
              </a:ln>
            </p:spPr>
            <p:txBody>
              <a:bodyPr/>
              <a:lstStyle/>
              <a:p>
                <a:endParaRPr lang="zh-CN" altLang="en-US"/>
              </a:p>
            </p:txBody>
          </p:sp>
          <p:sp>
            <p:nvSpPr>
              <p:cNvPr id="73782" name="Rectangle 54"/>
              <p:cNvSpPr>
                <a:spLocks noChangeArrowheads="1"/>
              </p:cNvSpPr>
              <p:nvPr/>
            </p:nvSpPr>
            <p:spPr bwMode="auto">
              <a:xfrm>
                <a:off x="3086" y="2423"/>
                <a:ext cx="52" cy="1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400" b="1">
                    <a:solidFill>
                      <a:srgbClr val="000000"/>
                    </a:solidFill>
                    <a:latin typeface="宋体" panose="02010600030101010101" pitchFamily="2" charset="-122"/>
                  </a:rPr>
                  <a:t>4</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3142" name="Freeform 55"/>
              <p:cNvSpPr/>
              <p:nvPr/>
            </p:nvSpPr>
            <p:spPr bwMode="auto">
              <a:xfrm>
                <a:off x="2835" y="2341"/>
                <a:ext cx="227" cy="662"/>
              </a:xfrm>
              <a:custGeom>
                <a:avLst/>
                <a:gdLst>
                  <a:gd name="T0" fmla="*/ 0 w 273"/>
                  <a:gd name="T1" fmla="*/ 0 h 659"/>
                  <a:gd name="T2" fmla="*/ 131 w 273"/>
                  <a:gd name="T3" fmla="*/ 140 h 659"/>
                  <a:gd name="T4" fmla="*/ 131 w 273"/>
                  <a:gd name="T5" fmla="*/ 671 h 659"/>
                  <a:gd name="T6" fmla="*/ 0 60000 65536"/>
                  <a:gd name="T7" fmla="*/ 0 60000 65536"/>
                  <a:gd name="T8" fmla="*/ 0 60000 65536"/>
                  <a:gd name="T9" fmla="*/ 0 w 273"/>
                  <a:gd name="T10" fmla="*/ 0 h 659"/>
                  <a:gd name="T11" fmla="*/ 273 w 273"/>
                  <a:gd name="T12" fmla="*/ 659 h 659"/>
                </a:gdLst>
                <a:ahLst/>
                <a:cxnLst>
                  <a:cxn ang="T6">
                    <a:pos x="T0" y="T1"/>
                  </a:cxn>
                  <a:cxn ang="T7">
                    <a:pos x="T2" y="T3"/>
                  </a:cxn>
                  <a:cxn ang="T8">
                    <a:pos x="T4" y="T5"/>
                  </a:cxn>
                </a:cxnLst>
                <a:rect l="T9" t="T10" r="T11" b="T12"/>
                <a:pathLst>
                  <a:path w="273" h="659">
                    <a:moveTo>
                      <a:pt x="0" y="0"/>
                    </a:moveTo>
                    <a:lnTo>
                      <a:pt x="273" y="136"/>
                    </a:lnTo>
                    <a:lnTo>
                      <a:pt x="273" y="659"/>
                    </a:lnTo>
                  </a:path>
                </a:pathLst>
              </a:custGeom>
              <a:noFill/>
              <a:ln w="15875" cap="rnd">
                <a:solidFill>
                  <a:srgbClr val="000000"/>
                </a:solidFill>
                <a:round/>
              </a:ln>
            </p:spPr>
            <p:txBody>
              <a:bodyPr/>
              <a:lstStyle/>
              <a:p>
                <a:endParaRPr lang="zh-CN" altLang="en-US"/>
              </a:p>
            </p:txBody>
          </p:sp>
          <p:sp>
            <p:nvSpPr>
              <p:cNvPr id="3143" name="Line 56"/>
              <p:cNvSpPr>
                <a:spLocks noChangeShapeType="1"/>
              </p:cNvSpPr>
              <p:nvPr/>
            </p:nvSpPr>
            <p:spPr bwMode="auto">
              <a:xfrm>
                <a:off x="2835" y="2341"/>
                <a:ext cx="225" cy="662"/>
              </a:xfrm>
              <a:prstGeom prst="line">
                <a:avLst/>
              </a:prstGeom>
              <a:noFill/>
              <a:ln w="15875" cap="rnd">
                <a:solidFill>
                  <a:srgbClr val="000000"/>
                </a:solidFill>
                <a:round/>
              </a:ln>
            </p:spPr>
            <p:txBody>
              <a:bodyPr/>
              <a:lstStyle/>
              <a:p>
                <a:endParaRPr lang="zh-CN" altLang="en-US"/>
              </a:p>
            </p:txBody>
          </p:sp>
          <p:sp>
            <p:nvSpPr>
              <p:cNvPr id="73785" name="Rectangle 57"/>
              <p:cNvSpPr>
                <a:spLocks noChangeArrowheads="1"/>
              </p:cNvSpPr>
              <p:nvPr/>
            </p:nvSpPr>
            <p:spPr bwMode="auto">
              <a:xfrm>
                <a:off x="2862" y="2523"/>
                <a:ext cx="61" cy="1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FF1919"/>
                    </a:solidFill>
                    <a:latin typeface="宋体" panose="02010600030101010101" pitchFamily="2" charset="-122"/>
                  </a:rPr>
                  <a:t>D</a:t>
                </a:r>
                <a:endParaRPr lang="en-US" altLang="zh-CN" sz="1600" b="1">
                  <a:solidFill>
                    <a:srgbClr val="FF1919"/>
                  </a:solidFill>
                  <a:effectLst>
                    <a:outerShdw blurRad="38100" dist="38100" dir="2700000" algn="tl">
                      <a:srgbClr val="C0C0C0"/>
                    </a:outerShdw>
                  </a:effectLst>
                  <a:latin typeface="Times New Roman" panose="02020603050405020304" pitchFamily="18" charset="0"/>
                </a:endParaRPr>
              </a:p>
            </p:txBody>
          </p:sp>
          <p:sp>
            <p:nvSpPr>
              <p:cNvPr id="73786" name="Rectangle 58"/>
              <p:cNvSpPr>
                <a:spLocks noChangeArrowheads="1"/>
              </p:cNvSpPr>
              <p:nvPr/>
            </p:nvSpPr>
            <p:spPr bwMode="auto">
              <a:xfrm>
                <a:off x="3063" y="2568"/>
                <a:ext cx="61" cy="1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FF1919"/>
                    </a:solidFill>
                    <a:latin typeface="宋体" panose="02010600030101010101" pitchFamily="2" charset="-122"/>
                  </a:rPr>
                  <a:t>J</a:t>
                </a:r>
                <a:endParaRPr lang="en-US" altLang="zh-CN" sz="1600" b="1">
                  <a:solidFill>
                    <a:srgbClr val="FF1919"/>
                  </a:solidFill>
                  <a:effectLst>
                    <a:outerShdw blurRad="38100" dist="38100" dir="2700000" algn="tl">
                      <a:srgbClr val="C0C0C0"/>
                    </a:outerShdw>
                  </a:effectLst>
                  <a:latin typeface="Times New Roman" panose="02020603050405020304" pitchFamily="18" charset="0"/>
                </a:endParaRPr>
              </a:p>
            </p:txBody>
          </p:sp>
          <p:sp>
            <p:nvSpPr>
              <p:cNvPr id="73787" name="Rectangle 59"/>
              <p:cNvSpPr>
                <a:spLocks noChangeArrowheads="1"/>
              </p:cNvSpPr>
              <p:nvPr/>
            </p:nvSpPr>
            <p:spPr bwMode="auto">
              <a:xfrm>
                <a:off x="2882" y="2205"/>
                <a:ext cx="61" cy="1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FF1919"/>
                    </a:solidFill>
                    <a:latin typeface="宋体" panose="02010600030101010101" pitchFamily="2" charset="-122"/>
                  </a:rPr>
                  <a:t>I</a:t>
                </a:r>
                <a:endParaRPr lang="en-US" altLang="zh-CN" sz="1600" b="1">
                  <a:solidFill>
                    <a:srgbClr val="FF1919"/>
                  </a:solidFill>
                  <a:effectLst>
                    <a:outerShdw blurRad="38100" dist="38100" dir="2700000" algn="tl">
                      <a:srgbClr val="C0C0C0"/>
                    </a:outerShdw>
                  </a:effectLst>
                  <a:latin typeface="Times New Roman" panose="02020603050405020304" pitchFamily="18" charset="0"/>
                </a:endParaRPr>
              </a:p>
            </p:txBody>
          </p:sp>
        </p:grpSp>
        <p:sp>
          <p:nvSpPr>
            <p:cNvPr id="3092" name="Freeform 60"/>
            <p:cNvSpPr/>
            <p:nvPr/>
          </p:nvSpPr>
          <p:spPr bwMode="auto">
            <a:xfrm>
              <a:off x="5012" y="2750"/>
              <a:ext cx="91" cy="136"/>
            </a:xfrm>
            <a:custGeom>
              <a:avLst/>
              <a:gdLst>
                <a:gd name="T0" fmla="*/ 0 w 91"/>
                <a:gd name="T1" fmla="*/ 0 h 136"/>
                <a:gd name="T2" fmla="*/ 45 w 91"/>
                <a:gd name="T3" fmla="*/ 90 h 136"/>
                <a:gd name="T4" fmla="*/ 91 w 91"/>
                <a:gd name="T5" fmla="*/ 136 h 136"/>
                <a:gd name="T6" fmla="*/ 0 60000 65536"/>
                <a:gd name="T7" fmla="*/ 0 60000 65536"/>
                <a:gd name="T8" fmla="*/ 0 60000 65536"/>
                <a:gd name="T9" fmla="*/ 0 w 91"/>
                <a:gd name="T10" fmla="*/ 0 h 136"/>
                <a:gd name="T11" fmla="*/ 91 w 91"/>
                <a:gd name="T12" fmla="*/ 136 h 136"/>
              </a:gdLst>
              <a:ahLst/>
              <a:cxnLst>
                <a:cxn ang="T6">
                  <a:pos x="T0" y="T1"/>
                </a:cxn>
                <a:cxn ang="T7">
                  <a:pos x="T2" y="T3"/>
                </a:cxn>
                <a:cxn ang="T8">
                  <a:pos x="T4" y="T5"/>
                </a:cxn>
              </a:cxnLst>
              <a:rect l="T9" t="T10" r="T11" b="T12"/>
              <a:pathLst>
                <a:path w="91" h="136">
                  <a:moveTo>
                    <a:pt x="0" y="0"/>
                  </a:moveTo>
                  <a:cubicBezTo>
                    <a:pt x="15" y="33"/>
                    <a:pt x="30" y="67"/>
                    <a:pt x="45" y="90"/>
                  </a:cubicBezTo>
                  <a:cubicBezTo>
                    <a:pt x="60" y="113"/>
                    <a:pt x="83" y="128"/>
                    <a:pt x="91" y="136"/>
                  </a:cubicBezTo>
                </a:path>
              </a:pathLst>
            </a:custGeom>
            <a:noFill/>
            <a:ln w="12700">
              <a:solidFill>
                <a:srgbClr val="000000"/>
              </a:solidFill>
              <a:round/>
            </a:ln>
          </p:spPr>
          <p:txBody>
            <a:bodyPr wrap="none" anchor="ctr"/>
            <a:lstStyle/>
            <a:p>
              <a:endParaRPr lang="zh-CN" altLang="en-US"/>
            </a:p>
          </p:txBody>
        </p:sp>
      </p:grpSp>
      <p:sp>
        <p:nvSpPr>
          <p:cNvPr id="3084" name="Rectangle 61"/>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3085" name="Rectangle 63"/>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3086" name="Rectangle 65"/>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3087" name="Rectangle 67"/>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3088" name="Rectangle 69"/>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graphicFrame>
        <p:nvGraphicFramePr>
          <p:cNvPr id="3078" name="Object 70"/>
          <p:cNvGraphicFramePr>
            <a:graphicFrameLocks noChangeAspect="1"/>
          </p:cNvGraphicFramePr>
          <p:nvPr/>
        </p:nvGraphicFramePr>
        <p:xfrm>
          <a:off x="2483768" y="1562348"/>
          <a:ext cx="1833214" cy="433338"/>
        </p:xfrm>
        <a:graphic>
          <a:graphicData uri="http://schemas.openxmlformats.org/presentationml/2006/ole">
            <mc:AlternateContent xmlns:mc="http://schemas.openxmlformats.org/markup-compatibility/2006">
              <mc:Choice xmlns:v="urn:schemas-microsoft-com:vml" Requires="v">
                <p:oleObj spid="_x0000_s2049" name="" r:id="rId1" imgW="17373600" imgH="5486400" progId="">
                  <p:embed/>
                </p:oleObj>
              </mc:Choice>
              <mc:Fallback>
                <p:oleObj name="" r:id="rId1" imgW="17373600" imgH="5486400" progId="">
                  <p:embed/>
                  <p:pic>
                    <p:nvPicPr>
                      <p:cNvPr id="0" name="Object 70"/>
                      <p:cNvPicPr>
                        <a:picLocks noChangeAspect="1"/>
                      </p:cNvPicPr>
                      <p:nvPr/>
                    </p:nvPicPr>
                    <p:blipFill>
                      <a:blip r:embed="rId2"/>
                      <a:stretch>
                        <a:fillRect/>
                      </a:stretch>
                    </p:blipFill>
                    <p:spPr>
                      <a:xfrm>
                        <a:off x="2483768" y="1562348"/>
                        <a:ext cx="1833214" cy="433338"/>
                      </a:xfrm>
                      <a:prstGeom prst="rect">
                        <a:avLst/>
                      </a:prstGeom>
                      <a:solidFill>
                        <a:srgbClr val="61CB61"/>
                      </a:solidFill>
                      <a:ln w="9525">
                        <a:noFill/>
                      </a:ln>
                    </p:spPr>
                  </p:pic>
                </p:oleObj>
              </mc:Fallback>
            </mc:AlternateContent>
          </a:graphicData>
        </a:graphic>
      </p:graphicFrame>
      <p:sp>
        <p:nvSpPr>
          <p:cNvPr id="3089" name="Rectangle 71"/>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graphicFrame>
        <p:nvGraphicFramePr>
          <p:cNvPr id="3079" name="Object 72"/>
          <p:cNvGraphicFramePr>
            <a:graphicFrameLocks noChangeAspect="1"/>
          </p:cNvGraphicFramePr>
          <p:nvPr/>
        </p:nvGraphicFramePr>
        <p:xfrm>
          <a:off x="4788024" y="1563638"/>
          <a:ext cx="2288294" cy="425004"/>
        </p:xfrm>
        <a:graphic>
          <a:graphicData uri="http://schemas.openxmlformats.org/presentationml/2006/ole">
            <mc:AlternateContent xmlns:mc="http://schemas.openxmlformats.org/markup-compatibility/2006">
              <mc:Choice xmlns:v="urn:schemas-microsoft-com:vml" Requires="v">
                <p:oleObj spid="_x0000_s2050" name="" r:id="rId3" imgW="22250400" imgH="5486400" progId="">
                  <p:embed/>
                </p:oleObj>
              </mc:Choice>
              <mc:Fallback>
                <p:oleObj name="" r:id="rId3" imgW="22250400" imgH="5486400" progId="">
                  <p:embed/>
                  <p:pic>
                    <p:nvPicPr>
                      <p:cNvPr id="0" name="Object 72"/>
                      <p:cNvPicPr>
                        <a:picLocks noChangeAspect="1"/>
                      </p:cNvPicPr>
                      <p:nvPr/>
                    </p:nvPicPr>
                    <p:blipFill>
                      <a:blip r:embed="rId4"/>
                      <a:stretch>
                        <a:fillRect/>
                      </a:stretch>
                    </p:blipFill>
                    <p:spPr>
                      <a:xfrm>
                        <a:off x="4788024" y="1563638"/>
                        <a:ext cx="2288294" cy="425004"/>
                      </a:xfrm>
                      <a:prstGeom prst="rect">
                        <a:avLst/>
                      </a:prstGeom>
                      <a:noFill/>
                      <a:ln w="9525">
                        <a:noFill/>
                      </a:ln>
                    </p:spPr>
                  </p:pic>
                </p:oleObj>
              </mc:Fallback>
            </mc:AlternateContent>
          </a:graphicData>
        </a:graphic>
      </p:graphicFrame>
      <p:sp>
        <p:nvSpPr>
          <p:cNvPr id="73801" name="Text Box 73"/>
          <p:cNvSpPr txBox="1">
            <a:spLocks noChangeArrowheads="1"/>
          </p:cNvSpPr>
          <p:nvPr/>
        </p:nvSpPr>
        <p:spPr bwMode="auto">
          <a:xfrm>
            <a:off x="5999630" y="4407694"/>
            <a:ext cx="2661306" cy="307777"/>
          </a:xfrm>
          <a:prstGeom prst="rect">
            <a:avLst/>
          </a:prstGeom>
          <a:noFill/>
          <a:ln w="12700" algn="ctr">
            <a:noFill/>
            <a:miter lim="800000"/>
          </a:ln>
        </p:spPr>
        <p:txBody>
          <a:bodyPr wrap="none">
            <a:spAutoFit/>
          </a:bodyPr>
          <a:lstStyle/>
          <a:p>
            <a:pPr marL="342900" indent="-342900" algn="ctr">
              <a:spcBef>
                <a:spcPct val="20000"/>
              </a:spcBef>
              <a:buClr>
                <a:schemeClr val="hlink"/>
              </a:buClr>
            </a:pPr>
            <a:r>
              <a:rPr lang="zh-CN" altLang="en-US" sz="1400" b="1">
                <a:latin typeface="Times New Roman" panose="02020603050405020304" pitchFamily="18" charset="0"/>
              </a:rPr>
              <a:t>图</a:t>
            </a:r>
            <a:r>
              <a:rPr lang="en-US" altLang="zh-CN" sz="1400" b="1">
                <a:latin typeface="Times New Roman" panose="02020603050405020304" pitchFamily="18" charset="0"/>
              </a:rPr>
              <a:t>5</a:t>
            </a:r>
            <a:r>
              <a:rPr lang="zh-CN" altLang="en-US" sz="1400" b="1">
                <a:latin typeface="Times New Roman" panose="02020603050405020304" pitchFamily="18" charset="0"/>
              </a:rPr>
              <a:t>－</a:t>
            </a:r>
            <a:r>
              <a:rPr lang="en-US" altLang="zh-CN" sz="1400" b="1">
                <a:latin typeface="Times New Roman" panose="02020603050405020304" pitchFamily="18" charset="0"/>
              </a:rPr>
              <a:t>3  N=7 </a:t>
            </a:r>
            <a:r>
              <a:rPr lang="zh-CN" altLang="en-US" sz="1400" b="1">
                <a:latin typeface="Times New Roman" panose="02020603050405020304" pitchFamily="18" charset="0"/>
              </a:rPr>
              <a:t>频率复用设计示例 </a:t>
            </a:r>
            <a:endParaRPr lang="zh-CN" altLang="en-US" sz="1400" b="1">
              <a:latin typeface="Times New Roman" panose="02020603050405020304" pitchFamily="18" charset="0"/>
            </a:endParaRPr>
          </a:p>
        </p:txBody>
      </p:sp>
      <p:graphicFrame>
        <p:nvGraphicFramePr>
          <p:cNvPr id="448520" name="Object 62"/>
          <p:cNvGraphicFramePr>
            <a:graphicFrameLocks noChangeAspect="1"/>
          </p:cNvGraphicFramePr>
          <p:nvPr/>
        </p:nvGraphicFramePr>
        <p:xfrm>
          <a:off x="323528" y="1131590"/>
          <a:ext cx="6296025" cy="323850"/>
        </p:xfrm>
        <a:graphic>
          <a:graphicData uri="http://schemas.openxmlformats.org/presentationml/2006/ole">
            <mc:AlternateContent xmlns:mc="http://schemas.openxmlformats.org/markup-compatibility/2006">
              <mc:Choice xmlns:v="urn:schemas-microsoft-com:vml" Requires="v">
                <p:oleObj spid="_x0000_s2051" name="" r:id="rId5" imgW="60655200" imgH="4876800" progId="">
                  <p:embed/>
                </p:oleObj>
              </mc:Choice>
              <mc:Fallback>
                <p:oleObj name="" r:id="rId5" imgW="60655200" imgH="4876800" progId="">
                  <p:embed/>
                  <p:pic>
                    <p:nvPicPr>
                      <p:cNvPr id="0" name="Object 62"/>
                      <p:cNvPicPr>
                        <a:picLocks noChangeAspect="1"/>
                      </p:cNvPicPr>
                      <p:nvPr/>
                    </p:nvPicPr>
                    <p:blipFill>
                      <a:blip r:embed="rId6"/>
                      <a:srcRect t="15910"/>
                      <a:stretch>
                        <a:fillRect/>
                      </a:stretch>
                    </p:blipFill>
                    <p:spPr>
                      <a:xfrm>
                        <a:off x="323528" y="1131590"/>
                        <a:ext cx="6296025" cy="323850"/>
                      </a:xfrm>
                      <a:prstGeom prst="rect">
                        <a:avLst/>
                      </a:prstGeom>
                      <a:noFill/>
                      <a:ln w="9525">
                        <a:noFill/>
                      </a:ln>
                    </p:spPr>
                  </p:pic>
                </p:oleObj>
              </mc:Fallback>
            </mc:AlternateContent>
          </a:graphicData>
        </a:graphic>
      </p:graphicFrame>
      <p:sp>
        <p:nvSpPr>
          <p:cNvPr id="77" name="Rectangle 2"/>
          <p:cNvSpPr txBox="1">
            <a:spLocks noChangeArrowheads="1"/>
          </p:cNvSpPr>
          <p:nvPr/>
        </p:nvSpPr>
        <p:spPr>
          <a:xfrm>
            <a:off x="107504" y="627534"/>
            <a:ext cx="7772400" cy="504056"/>
          </a:xfrm>
          <a:prstGeom prst="rect">
            <a:avLst/>
          </a:prstGeom>
          <a:noFill/>
          <a:ln w="9525">
            <a:noFill/>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dirty="0" smtClean="0">
                <a:ln>
                  <a:noFill/>
                </a:ln>
                <a:solidFill>
                  <a:srgbClr val="002A7E"/>
                </a:solidFill>
                <a:effectLst/>
                <a:uLnTx/>
                <a:uFillTx/>
                <a:latin typeface="+mj-lt"/>
                <a:ea typeface="+mj-ea"/>
                <a:cs typeface="+mj-cs"/>
              </a:rPr>
              <a:t>（</a:t>
            </a:r>
            <a:r>
              <a:rPr kumimoji="0" lang="en-US" altLang="zh-CN" sz="2200" b="1" i="0" u="none" strike="noStrike" kern="0" cap="none" spc="0" normalizeH="0" baseline="0" noProof="0" dirty="0" smtClean="0">
                <a:ln>
                  <a:noFill/>
                </a:ln>
                <a:solidFill>
                  <a:srgbClr val="002A7E"/>
                </a:solidFill>
                <a:effectLst/>
                <a:uLnTx/>
                <a:uFillTx/>
                <a:latin typeface="+mj-lt"/>
                <a:ea typeface="+mj-ea"/>
                <a:cs typeface="+mj-cs"/>
              </a:rPr>
              <a:t>4</a:t>
            </a:r>
            <a:r>
              <a:rPr kumimoji="0" lang="zh-CN" altLang="en-US" sz="2200" b="1" i="0" u="none" strike="noStrike" kern="0" cap="none" spc="0" normalizeH="0" baseline="0" noProof="0" dirty="0" smtClean="0">
                <a:ln>
                  <a:noFill/>
                </a:ln>
                <a:solidFill>
                  <a:srgbClr val="002A7E"/>
                </a:solidFill>
                <a:effectLst/>
                <a:uLnTx/>
                <a:uFillTx/>
                <a:latin typeface="+mj-lt"/>
                <a:ea typeface="+mj-ea"/>
                <a:cs typeface="+mj-cs"/>
              </a:rPr>
              <a:t>）频率复用距离与小区簇的关系</a:t>
            </a:r>
            <a:endParaRPr kumimoji="0" lang="zh-CN" altLang="en-US" sz="2200" b="1" i="0" u="none" strike="noStrike" kern="0" cap="none" spc="0" normalizeH="0" baseline="0" noProof="0" dirty="0" smtClean="0">
              <a:ln>
                <a:noFill/>
              </a:ln>
              <a:solidFill>
                <a:srgbClr val="002A7E"/>
              </a:solidFill>
              <a:effectLst/>
              <a:uLnTx/>
              <a:uFillTx/>
              <a:latin typeface="+mj-lt"/>
              <a:ea typeface="+mj-ea"/>
              <a:cs typeface="+mj-cs"/>
            </a:endParaRPr>
          </a:p>
        </p:txBody>
      </p:sp>
      <p:sp>
        <p:nvSpPr>
          <p:cNvPr id="78"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9" name="图片 78" descr="5bc6fc52-b49d-4298-b410-192e1f0ef3a5.gif"/>
          <p:cNvPicPr>
            <a:picLocks noChangeAspect="1"/>
          </p:cNvPicPr>
          <p:nvPr/>
        </p:nvPicPr>
        <p:blipFill>
          <a:blip r:embed="rId7" cstate="print"/>
          <a:srcRect l="36267" t="33821" r="11138" b="38327"/>
          <a:stretch>
            <a:fillRect/>
          </a:stretch>
        </p:blipFill>
        <p:spPr>
          <a:xfrm>
            <a:off x="7308304" y="4495428"/>
            <a:ext cx="1835696" cy="648072"/>
          </a:xfrm>
          <a:prstGeom prst="rect">
            <a:avLst/>
          </a:prstGeom>
        </p:spPr>
      </p:pic>
      <p:pic>
        <p:nvPicPr>
          <p:cNvPr id="80" name="图片 79" descr="5bc6fc52-b49d-4298-b410-192e1f0ef3a5.gif"/>
          <p:cNvPicPr>
            <a:picLocks noChangeAspect="1"/>
          </p:cNvPicPr>
          <p:nvPr/>
        </p:nvPicPr>
        <p:blipFill>
          <a:blip r:embed="rId7"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3801"/>
                                        </p:tgtEl>
                                        <p:attrNameLst>
                                          <p:attrName>style.visibility</p:attrName>
                                        </p:attrNameLst>
                                      </p:cBhvr>
                                      <p:to>
                                        <p:strVal val="visible"/>
                                      </p:to>
                                    </p:set>
                                    <p:animEffect transition="in" filter="dissolve">
                                      <p:cBhvr>
                                        <p:cTn id="7" dur="500"/>
                                        <p:tgtEl>
                                          <p:spTgt spid="73801"/>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0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4105" name="Rectangle 2"/>
          <p:cNvSpPr>
            <a:spLocks noGrp="1" noChangeArrowheads="1"/>
          </p:cNvSpPr>
          <p:nvPr>
            <p:ph type="title"/>
          </p:nvPr>
        </p:nvSpPr>
        <p:spPr>
          <a:xfrm>
            <a:off x="0" y="771550"/>
            <a:ext cx="8243887" cy="789385"/>
          </a:xfrm>
        </p:spPr>
        <p:txBody>
          <a:bodyPr/>
          <a:lstStyle/>
          <a:p>
            <a:pPr eaLnBrk="1" hangingPunct="1"/>
            <a:r>
              <a:rPr lang="zh-CN" altLang="en-US" sz="2800" dirty="0" smtClean="0"/>
              <a:t>推导载波干扰比与小区簇的关系</a:t>
            </a:r>
            <a:endParaRPr lang="zh-CN" altLang="en-US" sz="2800" dirty="0" smtClean="0"/>
          </a:p>
        </p:txBody>
      </p:sp>
      <p:sp>
        <p:nvSpPr>
          <p:cNvPr id="4107" name="Rectangle 4"/>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08" name="Rectangle 6"/>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09" name="Rectangle 8"/>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0" name="Rectangle 10"/>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1" name="Rectangle 12"/>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2" name="Rectangle 14"/>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3" name="Rectangle 16"/>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4" name="Rectangle 18"/>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5" name="Rectangle 20"/>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6" name="Rectangle 22"/>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21"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22" name="图片 21"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23" name="图片 22"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24" name="Rectangle 2"/>
          <p:cNvSpPr txBox="1">
            <a:spLocks noChangeArrowheads="1"/>
          </p:cNvSpPr>
          <p:nvPr/>
        </p:nvSpPr>
        <p:spPr>
          <a:xfrm>
            <a:off x="107504" y="627534"/>
            <a:ext cx="7772400" cy="504056"/>
          </a:xfrm>
          <a:prstGeom prst="rect">
            <a:avLst/>
          </a:prstGeom>
          <a:noFill/>
          <a:ln w="9525">
            <a:noFill/>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dirty="0" smtClean="0">
                <a:ln>
                  <a:noFill/>
                </a:ln>
                <a:solidFill>
                  <a:srgbClr val="002A7E"/>
                </a:solidFill>
                <a:effectLst/>
                <a:uLnTx/>
                <a:uFillTx/>
                <a:latin typeface="+mj-lt"/>
                <a:ea typeface="+mj-ea"/>
                <a:cs typeface="+mj-cs"/>
              </a:rPr>
              <a:t>（</a:t>
            </a:r>
            <a:r>
              <a:rPr kumimoji="0" lang="en-US" altLang="zh-CN" sz="2200" b="1" i="0" u="none" strike="noStrike" kern="0" cap="none" spc="0" normalizeH="0" baseline="0" noProof="0" dirty="0" smtClean="0">
                <a:ln>
                  <a:noFill/>
                </a:ln>
                <a:solidFill>
                  <a:srgbClr val="002A7E"/>
                </a:solidFill>
                <a:effectLst/>
                <a:uLnTx/>
                <a:uFillTx/>
                <a:latin typeface="+mj-lt"/>
                <a:ea typeface="+mj-ea"/>
                <a:cs typeface="+mj-cs"/>
              </a:rPr>
              <a:t>5</a:t>
            </a:r>
            <a:r>
              <a:rPr kumimoji="0" lang="zh-CN" altLang="en-US" sz="2200" b="1" i="0" u="none" strike="noStrike" kern="0" cap="none" spc="0" normalizeH="0" baseline="0" noProof="0" dirty="0" smtClean="0">
                <a:ln>
                  <a:noFill/>
                </a:ln>
                <a:solidFill>
                  <a:srgbClr val="002A7E"/>
                </a:solidFill>
                <a:effectLst/>
                <a:uLnTx/>
                <a:uFillTx/>
                <a:latin typeface="+mj-lt"/>
                <a:ea typeface="+mj-ea"/>
                <a:cs typeface="+mj-cs"/>
              </a:rPr>
              <a:t>）</a:t>
            </a:r>
            <a:r>
              <a:rPr lang="zh-CN" altLang="en-US" sz="2200" b="1" kern="0" dirty="0" smtClean="0">
                <a:solidFill>
                  <a:srgbClr val="002A7E"/>
                </a:solidFill>
                <a:latin typeface="+mj-lt"/>
                <a:ea typeface="+mj-ea"/>
                <a:cs typeface="+mj-cs"/>
              </a:rPr>
              <a:t>同频小区干扰</a:t>
            </a:r>
            <a:endParaRPr kumimoji="0" lang="zh-CN" altLang="en-US" sz="2200" b="1" i="0" u="none" strike="noStrike" kern="0" cap="none" spc="0" normalizeH="0" baseline="0" noProof="0" dirty="0" smtClean="0">
              <a:ln>
                <a:noFill/>
              </a:ln>
              <a:solidFill>
                <a:srgbClr val="002A7E"/>
              </a:solidFill>
              <a:effectLst/>
              <a:uLnTx/>
              <a:uFillTx/>
              <a:latin typeface="+mj-lt"/>
              <a:ea typeface="+mj-ea"/>
              <a:cs typeface="+mj-cs"/>
            </a:endParaRPr>
          </a:p>
        </p:txBody>
      </p:sp>
      <p:grpSp>
        <p:nvGrpSpPr>
          <p:cNvPr id="243" name="组合 242"/>
          <p:cNvGrpSpPr/>
          <p:nvPr/>
        </p:nvGrpSpPr>
        <p:grpSpPr>
          <a:xfrm>
            <a:off x="467544" y="1707654"/>
            <a:ext cx="3964001" cy="2578311"/>
            <a:chOff x="4716464" y="2031207"/>
            <a:chExt cx="3964001" cy="2578311"/>
          </a:xfrm>
        </p:grpSpPr>
        <p:grpSp>
          <p:nvGrpSpPr>
            <p:cNvPr id="244" name="Group 4"/>
            <p:cNvGrpSpPr/>
            <p:nvPr/>
          </p:nvGrpSpPr>
          <p:grpSpPr bwMode="auto">
            <a:xfrm>
              <a:off x="4716464" y="2191941"/>
              <a:ext cx="3240087" cy="2160984"/>
              <a:chOff x="1248" y="663"/>
              <a:chExt cx="3764" cy="3674"/>
            </a:xfrm>
          </p:grpSpPr>
          <p:grpSp>
            <p:nvGrpSpPr>
              <p:cNvPr id="257" name="Group 5"/>
              <p:cNvGrpSpPr/>
              <p:nvPr/>
            </p:nvGrpSpPr>
            <p:grpSpPr bwMode="auto">
              <a:xfrm>
                <a:off x="3560" y="1434"/>
                <a:ext cx="1452" cy="1316"/>
                <a:chOff x="4324" y="1344"/>
                <a:chExt cx="688" cy="635"/>
              </a:xfrm>
            </p:grpSpPr>
            <p:cxnSp>
              <p:nvCxnSpPr>
                <p:cNvPr id="432" name="AutoShape 6"/>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433" name="Group 7"/>
                <p:cNvGrpSpPr/>
                <p:nvPr/>
              </p:nvGrpSpPr>
              <p:grpSpPr bwMode="auto">
                <a:xfrm>
                  <a:off x="4324" y="1344"/>
                  <a:ext cx="688" cy="635"/>
                  <a:chOff x="1202" y="2115"/>
                  <a:chExt cx="824" cy="688"/>
                </a:xfrm>
              </p:grpSpPr>
              <p:sp>
                <p:nvSpPr>
                  <p:cNvPr id="453" name="Freeform 8"/>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454" name="Freeform 9"/>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455" name="Freeform 10"/>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456" name="Freeform 11"/>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457" name="Freeform 12"/>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458" name="Freeform 13"/>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459" name="Freeform 14"/>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434" name="AutoShape 15"/>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435" name="AutoShape 16"/>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436" name="AutoShape 17"/>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437" name="AutoShape 18"/>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438" name="AutoShape 19"/>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439" name="AutoShape 20"/>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440" name="AutoShape 21"/>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441" name="AutoShape 22"/>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442" name="AutoShape 23"/>
                <p:cNvCxnSpPr>
                  <a:cxnSpLocks noChangeShapeType="1"/>
                  <a:stCxn id="457" idx="6"/>
                </p:cNvCxnSpPr>
                <p:nvPr/>
              </p:nvCxnSpPr>
              <p:spPr bwMode="auto">
                <a:xfrm>
                  <a:off x="4324" y="1597"/>
                  <a:ext cx="0" cy="124"/>
                </a:xfrm>
                <a:prstGeom prst="straightConnector1">
                  <a:avLst/>
                </a:prstGeom>
                <a:noFill/>
                <a:ln w="25400">
                  <a:solidFill>
                    <a:srgbClr val="000000"/>
                  </a:solidFill>
                  <a:round/>
                </a:ln>
              </p:spPr>
            </p:cxnSp>
            <p:grpSp>
              <p:nvGrpSpPr>
                <p:cNvPr id="443" name="Group 24"/>
                <p:cNvGrpSpPr/>
                <p:nvPr/>
              </p:nvGrpSpPr>
              <p:grpSpPr bwMode="auto">
                <a:xfrm>
                  <a:off x="4778" y="1344"/>
                  <a:ext cx="234" cy="571"/>
                  <a:chOff x="1746" y="2115"/>
                  <a:chExt cx="280" cy="619"/>
                </a:xfrm>
              </p:grpSpPr>
              <p:cxnSp>
                <p:nvCxnSpPr>
                  <p:cNvPr id="446" name="AutoShape 25"/>
                  <p:cNvCxnSpPr>
                    <a:cxnSpLocks noChangeShapeType="1"/>
                    <a:stCxn id="454" idx="4"/>
                  </p:cNvCxnSpPr>
                  <p:nvPr/>
                </p:nvCxnSpPr>
                <p:spPr bwMode="auto">
                  <a:xfrm flipV="1">
                    <a:off x="1888" y="2523"/>
                    <a:ext cx="132" cy="74"/>
                  </a:xfrm>
                  <a:prstGeom prst="straightConnector1">
                    <a:avLst/>
                  </a:prstGeom>
                  <a:noFill/>
                  <a:ln w="25400">
                    <a:solidFill>
                      <a:srgbClr val="000000"/>
                    </a:solidFill>
                    <a:round/>
                  </a:ln>
                </p:spPr>
              </p:cxnSp>
              <p:grpSp>
                <p:nvGrpSpPr>
                  <p:cNvPr id="447" name="Group 26"/>
                  <p:cNvGrpSpPr/>
                  <p:nvPr/>
                </p:nvGrpSpPr>
                <p:grpSpPr bwMode="auto">
                  <a:xfrm>
                    <a:off x="1746" y="2115"/>
                    <a:ext cx="280" cy="415"/>
                    <a:chOff x="1746" y="2115"/>
                    <a:chExt cx="280" cy="415"/>
                  </a:xfrm>
                </p:grpSpPr>
                <p:cxnSp>
                  <p:nvCxnSpPr>
                    <p:cNvPr id="449" name="AutoShape 27"/>
                    <p:cNvCxnSpPr>
                      <a:cxnSpLocks noChangeShapeType="1"/>
                      <a:stCxn id="456" idx="5"/>
                      <a:endCxn id="456" idx="4"/>
                    </p:cNvCxnSpPr>
                    <p:nvPr/>
                  </p:nvCxnSpPr>
                  <p:spPr bwMode="auto">
                    <a:xfrm>
                      <a:off x="1889" y="2324"/>
                      <a:ext cx="137" cy="69"/>
                    </a:xfrm>
                    <a:prstGeom prst="straightConnector1">
                      <a:avLst/>
                    </a:prstGeom>
                    <a:noFill/>
                    <a:ln w="25400">
                      <a:solidFill>
                        <a:srgbClr val="000000"/>
                      </a:solidFill>
                      <a:round/>
                    </a:ln>
                  </p:spPr>
                </p:cxnSp>
                <p:cxnSp>
                  <p:nvCxnSpPr>
                    <p:cNvPr id="450" name="AutoShape 28"/>
                    <p:cNvCxnSpPr>
                      <a:cxnSpLocks noChangeShapeType="1"/>
                      <a:endCxn id="459" idx="4"/>
                    </p:cNvCxnSpPr>
                    <p:nvPr/>
                  </p:nvCxnSpPr>
                  <p:spPr bwMode="auto">
                    <a:xfrm>
                      <a:off x="1746" y="2115"/>
                      <a:ext cx="142" cy="79"/>
                    </a:xfrm>
                    <a:prstGeom prst="straightConnector1">
                      <a:avLst/>
                    </a:prstGeom>
                    <a:noFill/>
                    <a:ln w="25400">
                      <a:solidFill>
                        <a:srgbClr val="000000"/>
                      </a:solidFill>
                      <a:round/>
                    </a:ln>
                  </p:spPr>
                </p:cxnSp>
                <p:cxnSp>
                  <p:nvCxnSpPr>
                    <p:cNvPr id="451" name="AutoShape 29"/>
                    <p:cNvCxnSpPr>
                      <a:cxnSpLocks noChangeShapeType="1"/>
                      <a:endCxn id="456" idx="3"/>
                    </p:cNvCxnSpPr>
                    <p:nvPr/>
                  </p:nvCxnSpPr>
                  <p:spPr bwMode="auto">
                    <a:xfrm>
                      <a:off x="2018" y="2387"/>
                      <a:ext cx="8" cy="143"/>
                    </a:xfrm>
                    <a:prstGeom prst="straightConnector1">
                      <a:avLst/>
                    </a:prstGeom>
                    <a:noFill/>
                    <a:ln w="25400">
                      <a:solidFill>
                        <a:srgbClr val="000000"/>
                      </a:solidFill>
                      <a:round/>
                    </a:ln>
                  </p:spPr>
                </p:cxnSp>
                <p:cxnSp>
                  <p:nvCxnSpPr>
                    <p:cNvPr id="452" name="AutoShape 30"/>
                    <p:cNvCxnSpPr>
                      <a:cxnSpLocks noChangeShapeType="1"/>
                      <a:stCxn id="459" idx="4"/>
                      <a:endCxn id="456" idx="5"/>
                    </p:cNvCxnSpPr>
                    <p:nvPr/>
                  </p:nvCxnSpPr>
                  <p:spPr bwMode="auto">
                    <a:xfrm>
                      <a:off x="1888" y="2194"/>
                      <a:ext cx="1" cy="130"/>
                    </a:xfrm>
                    <a:prstGeom prst="straightConnector1">
                      <a:avLst/>
                    </a:prstGeom>
                    <a:noFill/>
                    <a:ln w="25400">
                      <a:solidFill>
                        <a:srgbClr val="000000"/>
                      </a:solidFill>
                      <a:round/>
                    </a:ln>
                  </p:spPr>
                </p:cxnSp>
              </p:grpSp>
              <p:cxnSp>
                <p:nvCxnSpPr>
                  <p:cNvPr id="448" name="AutoShape 31"/>
                  <p:cNvCxnSpPr>
                    <a:cxnSpLocks noChangeShapeType="1"/>
                    <a:stCxn id="456" idx="2"/>
                    <a:endCxn id="454" idx="3"/>
                  </p:cNvCxnSpPr>
                  <p:nvPr/>
                </p:nvCxnSpPr>
                <p:spPr bwMode="auto">
                  <a:xfrm flipH="1">
                    <a:off x="1888" y="2599"/>
                    <a:ext cx="1" cy="135"/>
                  </a:xfrm>
                  <a:prstGeom prst="straightConnector1">
                    <a:avLst/>
                  </a:prstGeom>
                  <a:noFill/>
                  <a:ln w="25400">
                    <a:solidFill>
                      <a:srgbClr val="000000"/>
                    </a:solidFill>
                    <a:round/>
                  </a:ln>
                </p:spPr>
              </p:cxnSp>
            </p:grpSp>
            <p:cxnSp>
              <p:nvCxnSpPr>
                <p:cNvPr id="444" name="AutoShape 32"/>
                <p:cNvCxnSpPr>
                  <a:cxnSpLocks noChangeShapeType="1"/>
                  <a:stCxn id="457" idx="2"/>
                  <a:endCxn id="453" idx="1"/>
                </p:cNvCxnSpPr>
                <p:nvPr/>
              </p:nvCxnSpPr>
              <p:spPr bwMode="auto">
                <a:xfrm flipH="1">
                  <a:off x="4438" y="1787"/>
                  <a:ext cx="1" cy="126"/>
                </a:xfrm>
                <a:prstGeom prst="straightConnector1">
                  <a:avLst/>
                </a:prstGeom>
                <a:noFill/>
                <a:ln w="25400">
                  <a:solidFill>
                    <a:srgbClr val="000000"/>
                  </a:solidFill>
                  <a:round/>
                </a:ln>
              </p:spPr>
            </p:cxnSp>
            <p:cxnSp>
              <p:nvCxnSpPr>
                <p:cNvPr id="445" name="AutoShape 33"/>
                <p:cNvCxnSpPr>
                  <a:cxnSpLocks noChangeShapeType="1"/>
                  <a:stCxn id="458" idx="6"/>
                  <a:endCxn id="457" idx="5"/>
                </p:cNvCxnSpPr>
                <p:nvPr/>
              </p:nvCxnSpPr>
              <p:spPr bwMode="auto">
                <a:xfrm>
                  <a:off x="4438" y="1407"/>
                  <a:ext cx="1" cy="126"/>
                </a:xfrm>
                <a:prstGeom prst="straightConnector1">
                  <a:avLst/>
                </a:prstGeom>
                <a:noFill/>
                <a:ln w="25400">
                  <a:solidFill>
                    <a:srgbClr val="000000"/>
                  </a:solidFill>
                  <a:round/>
                </a:ln>
              </p:spPr>
            </p:cxnSp>
          </p:grpSp>
          <p:grpSp>
            <p:nvGrpSpPr>
              <p:cNvPr id="258" name="Group 34"/>
              <p:cNvGrpSpPr/>
              <p:nvPr/>
            </p:nvGrpSpPr>
            <p:grpSpPr bwMode="auto">
              <a:xfrm>
                <a:off x="3334" y="2614"/>
                <a:ext cx="1451" cy="1360"/>
                <a:chOff x="4324" y="1344"/>
                <a:chExt cx="688" cy="635"/>
              </a:xfrm>
            </p:grpSpPr>
            <p:cxnSp>
              <p:nvCxnSpPr>
                <p:cNvPr id="404" name="AutoShape 35"/>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405" name="Group 36"/>
                <p:cNvGrpSpPr/>
                <p:nvPr/>
              </p:nvGrpSpPr>
              <p:grpSpPr bwMode="auto">
                <a:xfrm>
                  <a:off x="4324" y="1344"/>
                  <a:ext cx="688" cy="635"/>
                  <a:chOff x="1202" y="2115"/>
                  <a:chExt cx="824" cy="688"/>
                </a:xfrm>
              </p:grpSpPr>
              <p:sp>
                <p:nvSpPr>
                  <p:cNvPr id="425" name="Freeform 37"/>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426" name="Freeform 38"/>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427" name="Freeform 39"/>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428" name="Freeform 40"/>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429" name="Freeform 41"/>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430" name="Freeform 42"/>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431" name="Freeform 43"/>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406" name="AutoShape 44"/>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407" name="AutoShape 45"/>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408" name="AutoShape 46"/>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409" name="AutoShape 47"/>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410" name="AutoShape 48"/>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411" name="AutoShape 49"/>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412" name="AutoShape 50"/>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413" name="AutoShape 51"/>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414" name="AutoShape 52"/>
                <p:cNvCxnSpPr>
                  <a:cxnSpLocks noChangeShapeType="1"/>
                  <a:stCxn id="429" idx="6"/>
                </p:cNvCxnSpPr>
                <p:nvPr/>
              </p:nvCxnSpPr>
              <p:spPr bwMode="auto">
                <a:xfrm>
                  <a:off x="4324" y="1597"/>
                  <a:ext cx="0" cy="124"/>
                </a:xfrm>
                <a:prstGeom prst="straightConnector1">
                  <a:avLst/>
                </a:prstGeom>
                <a:noFill/>
                <a:ln w="25400">
                  <a:solidFill>
                    <a:srgbClr val="000000"/>
                  </a:solidFill>
                  <a:round/>
                </a:ln>
              </p:spPr>
            </p:cxnSp>
            <p:grpSp>
              <p:nvGrpSpPr>
                <p:cNvPr id="415" name="Group 53"/>
                <p:cNvGrpSpPr/>
                <p:nvPr/>
              </p:nvGrpSpPr>
              <p:grpSpPr bwMode="auto">
                <a:xfrm>
                  <a:off x="4778" y="1344"/>
                  <a:ext cx="234" cy="571"/>
                  <a:chOff x="1746" y="2115"/>
                  <a:chExt cx="280" cy="619"/>
                </a:xfrm>
              </p:grpSpPr>
              <p:cxnSp>
                <p:nvCxnSpPr>
                  <p:cNvPr id="418" name="AutoShape 54"/>
                  <p:cNvCxnSpPr>
                    <a:cxnSpLocks noChangeShapeType="1"/>
                    <a:stCxn id="426" idx="4"/>
                  </p:cNvCxnSpPr>
                  <p:nvPr/>
                </p:nvCxnSpPr>
                <p:spPr bwMode="auto">
                  <a:xfrm flipV="1">
                    <a:off x="1888" y="2523"/>
                    <a:ext cx="132" cy="74"/>
                  </a:xfrm>
                  <a:prstGeom prst="straightConnector1">
                    <a:avLst/>
                  </a:prstGeom>
                  <a:noFill/>
                  <a:ln w="25400">
                    <a:solidFill>
                      <a:srgbClr val="000000"/>
                    </a:solidFill>
                    <a:round/>
                  </a:ln>
                </p:spPr>
              </p:cxnSp>
              <p:grpSp>
                <p:nvGrpSpPr>
                  <p:cNvPr id="419" name="Group 55"/>
                  <p:cNvGrpSpPr/>
                  <p:nvPr/>
                </p:nvGrpSpPr>
                <p:grpSpPr bwMode="auto">
                  <a:xfrm>
                    <a:off x="1746" y="2115"/>
                    <a:ext cx="280" cy="415"/>
                    <a:chOff x="1746" y="2115"/>
                    <a:chExt cx="280" cy="415"/>
                  </a:xfrm>
                </p:grpSpPr>
                <p:cxnSp>
                  <p:nvCxnSpPr>
                    <p:cNvPr id="421" name="AutoShape 56"/>
                    <p:cNvCxnSpPr>
                      <a:cxnSpLocks noChangeShapeType="1"/>
                      <a:stCxn id="428" idx="5"/>
                      <a:endCxn id="428" idx="4"/>
                    </p:cNvCxnSpPr>
                    <p:nvPr/>
                  </p:nvCxnSpPr>
                  <p:spPr bwMode="auto">
                    <a:xfrm>
                      <a:off x="1889" y="2324"/>
                      <a:ext cx="137" cy="69"/>
                    </a:xfrm>
                    <a:prstGeom prst="straightConnector1">
                      <a:avLst/>
                    </a:prstGeom>
                    <a:noFill/>
                    <a:ln w="25400">
                      <a:solidFill>
                        <a:srgbClr val="000000"/>
                      </a:solidFill>
                      <a:round/>
                    </a:ln>
                  </p:spPr>
                </p:cxnSp>
                <p:cxnSp>
                  <p:nvCxnSpPr>
                    <p:cNvPr id="422" name="AutoShape 57"/>
                    <p:cNvCxnSpPr>
                      <a:cxnSpLocks noChangeShapeType="1"/>
                      <a:endCxn id="431" idx="4"/>
                    </p:cNvCxnSpPr>
                    <p:nvPr/>
                  </p:nvCxnSpPr>
                  <p:spPr bwMode="auto">
                    <a:xfrm>
                      <a:off x="1746" y="2115"/>
                      <a:ext cx="142" cy="79"/>
                    </a:xfrm>
                    <a:prstGeom prst="straightConnector1">
                      <a:avLst/>
                    </a:prstGeom>
                    <a:noFill/>
                    <a:ln w="25400">
                      <a:solidFill>
                        <a:srgbClr val="000000"/>
                      </a:solidFill>
                      <a:round/>
                    </a:ln>
                  </p:spPr>
                </p:cxnSp>
                <p:cxnSp>
                  <p:nvCxnSpPr>
                    <p:cNvPr id="423" name="AutoShape 58"/>
                    <p:cNvCxnSpPr>
                      <a:cxnSpLocks noChangeShapeType="1"/>
                      <a:endCxn id="428" idx="3"/>
                    </p:cNvCxnSpPr>
                    <p:nvPr/>
                  </p:nvCxnSpPr>
                  <p:spPr bwMode="auto">
                    <a:xfrm>
                      <a:off x="2018" y="2387"/>
                      <a:ext cx="8" cy="143"/>
                    </a:xfrm>
                    <a:prstGeom prst="straightConnector1">
                      <a:avLst/>
                    </a:prstGeom>
                    <a:noFill/>
                    <a:ln w="25400">
                      <a:solidFill>
                        <a:srgbClr val="000000"/>
                      </a:solidFill>
                      <a:round/>
                    </a:ln>
                  </p:spPr>
                </p:cxnSp>
                <p:cxnSp>
                  <p:nvCxnSpPr>
                    <p:cNvPr id="424" name="AutoShape 59"/>
                    <p:cNvCxnSpPr>
                      <a:cxnSpLocks noChangeShapeType="1"/>
                      <a:stCxn id="431" idx="4"/>
                      <a:endCxn id="428" idx="5"/>
                    </p:cNvCxnSpPr>
                    <p:nvPr/>
                  </p:nvCxnSpPr>
                  <p:spPr bwMode="auto">
                    <a:xfrm>
                      <a:off x="1888" y="2194"/>
                      <a:ext cx="1" cy="130"/>
                    </a:xfrm>
                    <a:prstGeom prst="straightConnector1">
                      <a:avLst/>
                    </a:prstGeom>
                    <a:noFill/>
                    <a:ln w="25400">
                      <a:solidFill>
                        <a:srgbClr val="000000"/>
                      </a:solidFill>
                      <a:round/>
                    </a:ln>
                  </p:spPr>
                </p:cxnSp>
              </p:grpSp>
              <p:cxnSp>
                <p:nvCxnSpPr>
                  <p:cNvPr id="420" name="AutoShape 60"/>
                  <p:cNvCxnSpPr>
                    <a:cxnSpLocks noChangeShapeType="1"/>
                    <a:stCxn id="428" idx="2"/>
                    <a:endCxn id="426" idx="3"/>
                  </p:cNvCxnSpPr>
                  <p:nvPr/>
                </p:nvCxnSpPr>
                <p:spPr bwMode="auto">
                  <a:xfrm flipH="1">
                    <a:off x="1888" y="2599"/>
                    <a:ext cx="1" cy="135"/>
                  </a:xfrm>
                  <a:prstGeom prst="straightConnector1">
                    <a:avLst/>
                  </a:prstGeom>
                  <a:noFill/>
                  <a:ln w="25400">
                    <a:solidFill>
                      <a:srgbClr val="000000"/>
                    </a:solidFill>
                    <a:round/>
                  </a:ln>
                </p:spPr>
              </p:cxnSp>
            </p:grpSp>
            <p:cxnSp>
              <p:nvCxnSpPr>
                <p:cNvPr id="416" name="AutoShape 61"/>
                <p:cNvCxnSpPr>
                  <a:cxnSpLocks noChangeShapeType="1"/>
                  <a:stCxn id="429" idx="2"/>
                  <a:endCxn id="425" idx="1"/>
                </p:cNvCxnSpPr>
                <p:nvPr/>
              </p:nvCxnSpPr>
              <p:spPr bwMode="auto">
                <a:xfrm flipH="1">
                  <a:off x="4438" y="1787"/>
                  <a:ext cx="1" cy="126"/>
                </a:xfrm>
                <a:prstGeom prst="straightConnector1">
                  <a:avLst/>
                </a:prstGeom>
                <a:noFill/>
                <a:ln w="25400">
                  <a:solidFill>
                    <a:srgbClr val="000000"/>
                  </a:solidFill>
                  <a:round/>
                </a:ln>
              </p:spPr>
            </p:cxnSp>
            <p:cxnSp>
              <p:nvCxnSpPr>
                <p:cNvPr id="417" name="AutoShape 62"/>
                <p:cNvCxnSpPr>
                  <a:cxnSpLocks noChangeShapeType="1"/>
                  <a:stCxn id="430" idx="6"/>
                  <a:endCxn id="429" idx="5"/>
                </p:cNvCxnSpPr>
                <p:nvPr/>
              </p:nvCxnSpPr>
              <p:spPr bwMode="auto">
                <a:xfrm>
                  <a:off x="4438" y="1407"/>
                  <a:ext cx="1" cy="126"/>
                </a:xfrm>
                <a:prstGeom prst="straightConnector1">
                  <a:avLst/>
                </a:prstGeom>
                <a:noFill/>
                <a:ln w="25400">
                  <a:solidFill>
                    <a:srgbClr val="000000"/>
                  </a:solidFill>
                  <a:round/>
                </a:ln>
              </p:spPr>
            </p:cxnSp>
          </p:grpSp>
          <p:grpSp>
            <p:nvGrpSpPr>
              <p:cNvPr id="259" name="Group 63"/>
              <p:cNvGrpSpPr/>
              <p:nvPr/>
            </p:nvGrpSpPr>
            <p:grpSpPr bwMode="auto">
              <a:xfrm>
                <a:off x="2653" y="663"/>
                <a:ext cx="1406" cy="1316"/>
                <a:chOff x="4324" y="1344"/>
                <a:chExt cx="688" cy="635"/>
              </a:xfrm>
            </p:grpSpPr>
            <p:cxnSp>
              <p:nvCxnSpPr>
                <p:cNvPr id="376" name="AutoShape 64"/>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377" name="Group 65"/>
                <p:cNvGrpSpPr/>
                <p:nvPr/>
              </p:nvGrpSpPr>
              <p:grpSpPr bwMode="auto">
                <a:xfrm>
                  <a:off x="4324" y="1344"/>
                  <a:ext cx="688" cy="635"/>
                  <a:chOff x="1202" y="2115"/>
                  <a:chExt cx="824" cy="688"/>
                </a:xfrm>
              </p:grpSpPr>
              <p:sp>
                <p:nvSpPr>
                  <p:cNvPr id="397" name="Freeform 66"/>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398" name="Freeform 67"/>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399" name="Freeform 68"/>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400" name="Freeform 69"/>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401" name="Freeform 70"/>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402" name="Freeform 71"/>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403" name="Freeform 72"/>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378" name="AutoShape 73"/>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379" name="AutoShape 74"/>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380" name="AutoShape 75"/>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381" name="AutoShape 76"/>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382" name="AutoShape 77"/>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383" name="AutoShape 78"/>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384" name="AutoShape 79"/>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385" name="AutoShape 80"/>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386" name="AutoShape 81"/>
                <p:cNvCxnSpPr>
                  <a:cxnSpLocks noChangeShapeType="1"/>
                  <a:stCxn id="401" idx="6"/>
                </p:cNvCxnSpPr>
                <p:nvPr/>
              </p:nvCxnSpPr>
              <p:spPr bwMode="auto">
                <a:xfrm>
                  <a:off x="4324" y="1597"/>
                  <a:ext cx="0" cy="124"/>
                </a:xfrm>
                <a:prstGeom prst="straightConnector1">
                  <a:avLst/>
                </a:prstGeom>
                <a:noFill/>
                <a:ln w="25400">
                  <a:solidFill>
                    <a:srgbClr val="000000"/>
                  </a:solidFill>
                  <a:round/>
                </a:ln>
              </p:spPr>
            </p:cxnSp>
            <p:grpSp>
              <p:nvGrpSpPr>
                <p:cNvPr id="387" name="Group 82"/>
                <p:cNvGrpSpPr/>
                <p:nvPr/>
              </p:nvGrpSpPr>
              <p:grpSpPr bwMode="auto">
                <a:xfrm>
                  <a:off x="4778" y="1344"/>
                  <a:ext cx="234" cy="571"/>
                  <a:chOff x="1746" y="2115"/>
                  <a:chExt cx="280" cy="619"/>
                </a:xfrm>
              </p:grpSpPr>
              <p:cxnSp>
                <p:nvCxnSpPr>
                  <p:cNvPr id="390" name="AutoShape 83"/>
                  <p:cNvCxnSpPr>
                    <a:cxnSpLocks noChangeShapeType="1"/>
                    <a:stCxn id="398" idx="4"/>
                  </p:cNvCxnSpPr>
                  <p:nvPr/>
                </p:nvCxnSpPr>
                <p:spPr bwMode="auto">
                  <a:xfrm flipV="1">
                    <a:off x="1888" y="2523"/>
                    <a:ext cx="132" cy="74"/>
                  </a:xfrm>
                  <a:prstGeom prst="straightConnector1">
                    <a:avLst/>
                  </a:prstGeom>
                  <a:noFill/>
                  <a:ln w="25400">
                    <a:solidFill>
                      <a:srgbClr val="000000"/>
                    </a:solidFill>
                    <a:round/>
                  </a:ln>
                </p:spPr>
              </p:cxnSp>
              <p:grpSp>
                <p:nvGrpSpPr>
                  <p:cNvPr id="391" name="Group 84"/>
                  <p:cNvGrpSpPr/>
                  <p:nvPr/>
                </p:nvGrpSpPr>
                <p:grpSpPr bwMode="auto">
                  <a:xfrm>
                    <a:off x="1746" y="2115"/>
                    <a:ext cx="280" cy="415"/>
                    <a:chOff x="1746" y="2115"/>
                    <a:chExt cx="280" cy="415"/>
                  </a:xfrm>
                </p:grpSpPr>
                <p:cxnSp>
                  <p:nvCxnSpPr>
                    <p:cNvPr id="393" name="AutoShape 85"/>
                    <p:cNvCxnSpPr>
                      <a:cxnSpLocks noChangeShapeType="1"/>
                      <a:stCxn id="400" idx="5"/>
                      <a:endCxn id="400" idx="4"/>
                    </p:cNvCxnSpPr>
                    <p:nvPr/>
                  </p:nvCxnSpPr>
                  <p:spPr bwMode="auto">
                    <a:xfrm>
                      <a:off x="1889" y="2324"/>
                      <a:ext cx="137" cy="69"/>
                    </a:xfrm>
                    <a:prstGeom prst="straightConnector1">
                      <a:avLst/>
                    </a:prstGeom>
                    <a:noFill/>
                    <a:ln w="25400">
                      <a:solidFill>
                        <a:srgbClr val="000000"/>
                      </a:solidFill>
                      <a:round/>
                    </a:ln>
                  </p:spPr>
                </p:cxnSp>
                <p:cxnSp>
                  <p:nvCxnSpPr>
                    <p:cNvPr id="394" name="AutoShape 86"/>
                    <p:cNvCxnSpPr>
                      <a:cxnSpLocks noChangeShapeType="1"/>
                      <a:endCxn id="403" idx="4"/>
                    </p:cNvCxnSpPr>
                    <p:nvPr/>
                  </p:nvCxnSpPr>
                  <p:spPr bwMode="auto">
                    <a:xfrm>
                      <a:off x="1746" y="2115"/>
                      <a:ext cx="142" cy="79"/>
                    </a:xfrm>
                    <a:prstGeom prst="straightConnector1">
                      <a:avLst/>
                    </a:prstGeom>
                    <a:noFill/>
                    <a:ln w="25400">
                      <a:solidFill>
                        <a:srgbClr val="000000"/>
                      </a:solidFill>
                      <a:round/>
                    </a:ln>
                  </p:spPr>
                </p:cxnSp>
                <p:cxnSp>
                  <p:nvCxnSpPr>
                    <p:cNvPr id="395" name="AutoShape 87"/>
                    <p:cNvCxnSpPr>
                      <a:cxnSpLocks noChangeShapeType="1"/>
                      <a:endCxn id="400" idx="3"/>
                    </p:cNvCxnSpPr>
                    <p:nvPr/>
                  </p:nvCxnSpPr>
                  <p:spPr bwMode="auto">
                    <a:xfrm>
                      <a:off x="2018" y="2387"/>
                      <a:ext cx="8" cy="143"/>
                    </a:xfrm>
                    <a:prstGeom prst="straightConnector1">
                      <a:avLst/>
                    </a:prstGeom>
                    <a:noFill/>
                    <a:ln w="25400">
                      <a:solidFill>
                        <a:srgbClr val="000000"/>
                      </a:solidFill>
                      <a:round/>
                    </a:ln>
                  </p:spPr>
                </p:cxnSp>
                <p:cxnSp>
                  <p:nvCxnSpPr>
                    <p:cNvPr id="396" name="AutoShape 88"/>
                    <p:cNvCxnSpPr>
                      <a:cxnSpLocks noChangeShapeType="1"/>
                      <a:stCxn id="403" idx="4"/>
                      <a:endCxn id="400" idx="5"/>
                    </p:cNvCxnSpPr>
                    <p:nvPr/>
                  </p:nvCxnSpPr>
                  <p:spPr bwMode="auto">
                    <a:xfrm>
                      <a:off x="1888" y="2194"/>
                      <a:ext cx="1" cy="130"/>
                    </a:xfrm>
                    <a:prstGeom prst="straightConnector1">
                      <a:avLst/>
                    </a:prstGeom>
                    <a:noFill/>
                    <a:ln w="25400">
                      <a:solidFill>
                        <a:srgbClr val="000000"/>
                      </a:solidFill>
                      <a:round/>
                    </a:ln>
                  </p:spPr>
                </p:cxnSp>
              </p:grpSp>
              <p:cxnSp>
                <p:nvCxnSpPr>
                  <p:cNvPr id="392" name="AutoShape 89"/>
                  <p:cNvCxnSpPr>
                    <a:cxnSpLocks noChangeShapeType="1"/>
                    <a:stCxn id="400" idx="2"/>
                    <a:endCxn id="398" idx="3"/>
                  </p:cNvCxnSpPr>
                  <p:nvPr/>
                </p:nvCxnSpPr>
                <p:spPr bwMode="auto">
                  <a:xfrm flipH="1">
                    <a:off x="1888" y="2599"/>
                    <a:ext cx="1" cy="135"/>
                  </a:xfrm>
                  <a:prstGeom prst="straightConnector1">
                    <a:avLst/>
                  </a:prstGeom>
                  <a:noFill/>
                  <a:ln w="25400">
                    <a:solidFill>
                      <a:srgbClr val="000000"/>
                    </a:solidFill>
                    <a:round/>
                  </a:ln>
                </p:spPr>
              </p:cxnSp>
            </p:grpSp>
            <p:cxnSp>
              <p:nvCxnSpPr>
                <p:cNvPr id="388" name="AutoShape 90"/>
                <p:cNvCxnSpPr>
                  <a:cxnSpLocks noChangeShapeType="1"/>
                  <a:stCxn id="401" idx="2"/>
                  <a:endCxn id="397" idx="1"/>
                </p:cNvCxnSpPr>
                <p:nvPr/>
              </p:nvCxnSpPr>
              <p:spPr bwMode="auto">
                <a:xfrm flipH="1">
                  <a:off x="4438" y="1787"/>
                  <a:ext cx="1" cy="126"/>
                </a:xfrm>
                <a:prstGeom prst="straightConnector1">
                  <a:avLst/>
                </a:prstGeom>
                <a:noFill/>
                <a:ln w="25400">
                  <a:solidFill>
                    <a:srgbClr val="000000"/>
                  </a:solidFill>
                  <a:round/>
                </a:ln>
              </p:spPr>
            </p:cxnSp>
            <p:cxnSp>
              <p:nvCxnSpPr>
                <p:cNvPr id="389" name="AutoShape 91"/>
                <p:cNvCxnSpPr>
                  <a:cxnSpLocks noChangeShapeType="1"/>
                  <a:stCxn id="402" idx="6"/>
                  <a:endCxn id="401" idx="5"/>
                </p:cNvCxnSpPr>
                <p:nvPr/>
              </p:nvCxnSpPr>
              <p:spPr bwMode="auto">
                <a:xfrm>
                  <a:off x="4438" y="1407"/>
                  <a:ext cx="1" cy="126"/>
                </a:xfrm>
                <a:prstGeom prst="straightConnector1">
                  <a:avLst/>
                </a:prstGeom>
                <a:noFill/>
                <a:ln w="25400">
                  <a:solidFill>
                    <a:srgbClr val="000000"/>
                  </a:solidFill>
                  <a:round/>
                </a:ln>
              </p:spPr>
            </p:cxnSp>
          </p:grpSp>
          <p:grpSp>
            <p:nvGrpSpPr>
              <p:cNvPr id="260" name="Group 92"/>
              <p:cNvGrpSpPr/>
              <p:nvPr/>
            </p:nvGrpSpPr>
            <p:grpSpPr bwMode="auto">
              <a:xfrm>
                <a:off x="2426" y="1797"/>
                <a:ext cx="1406" cy="1361"/>
                <a:chOff x="4324" y="1344"/>
                <a:chExt cx="688" cy="635"/>
              </a:xfrm>
            </p:grpSpPr>
            <p:cxnSp>
              <p:nvCxnSpPr>
                <p:cNvPr id="348" name="AutoShape 93"/>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349" name="Group 94"/>
                <p:cNvGrpSpPr/>
                <p:nvPr/>
              </p:nvGrpSpPr>
              <p:grpSpPr bwMode="auto">
                <a:xfrm>
                  <a:off x="4324" y="1344"/>
                  <a:ext cx="688" cy="635"/>
                  <a:chOff x="1202" y="2115"/>
                  <a:chExt cx="824" cy="688"/>
                </a:xfrm>
              </p:grpSpPr>
              <p:sp>
                <p:nvSpPr>
                  <p:cNvPr id="369" name="Freeform 95"/>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370" name="Freeform 96"/>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377AFF"/>
                  </a:solidFill>
                  <a:ln w="11176">
                    <a:noFill/>
                    <a:round/>
                  </a:ln>
                </p:spPr>
                <p:txBody>
                  <a:bodyPr/>
                  <a:lstStyle/>
                  <a:p>
                    <a:endParaRPr lang="zh-CN" altLang="en-US"/>
                  </a:p>
                </p:txBody>
              </p:sp>
              <p:sp>
                <p:nvSpPr>
                  <p:cNvPr id="371" name="Freeform 97"/>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372" name="Freeform 98"/>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373" name="Freeform 99"/>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374" name="Freeform 100"/>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375" name="Freeform 101"/>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76">
                    <a:noFill/>
                    <a:round/>
                  </a:ln>
                </p:spPr>
                <p:txBody>
                  <a:bodyPr/>
                  <a:lstStyle/>
                  <a:p>
                    <a:endParaRPr lang="zh-CN" altLang="en-US"/>
                  </a:p>
                </p:txBody>
              </p:sp>
            </p:grpSp>
            <p:cxnSp>
              <p:nvCxnSpPr>
                <p:cNvPr id="350" name="AutoShape 102"/>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351" name="AutoShape 103"/>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352" name="AutoShape 104"/>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353" name="AutoShape 105"/>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354" name="AutoShape 106"/>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355" name="AutoShape 107"/>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356" name="AutoShape 108"/>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357" name="AutoShape 109"/>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358" name="AutoShape 110"/>
                <p:cNvCxnSpPr>
                  <a:cxnSpLocks noChangeShapeType="1"/>
                  <a:stCxn id="373" idx="6"/>
                </p:cNvCxnSpPr>
                <p:nvPr/>
              </p:nvCxnSpPr>
              <p:spPr bwMode="auto">
                <a:xfrm>
                  <a:off x="4324" y="1597"/>
                  <a:ext cx="0" cy="124"/>
                </a:xfrm>
                <a:prstGeom prst="straightConnector1">
                  <a:avLst/>
                </a:prstGeom>
                <a:noFill/>
                <a:ln w="25400">
                  <a:solidFill>
                    <a:srgbClr val="000000"/>
                  </a:solidFill>
                  <a:round/>
                </a:ln>
              </p:spPr>
            </p:cxnSp>
            <p:grpSp>
              <p:nvGrpSpPr>
                <p:cNvPr id="359" name="Group 111"/>
                <p:cNvGrpSpPr/>
                <p:nvPr/>
              </p:nvGrpSpPr>
              <p:grpSpPr bwMode="auto">
                <a:xfrm>
                  <a:off x="4778" y="1344"/>
                  <a:ext cx="234" cy="571"/>
                  <a:chOff x="1746" y="2115"/>
                  <a:chExt cx="280" cy="619"/>
                </a:xfrm>
              </p:grpSpPr>
              <p:cxnSp>
                <p:nvCxnSpPr>
                  <p:cNvPr id="362" name="AutoShape 112"/>
                  <p:cNvCxnSpPr>
                    <a:cxnSpLocks noChangeShapeType="1"/>
                    <a:stCxn id="370" idx="4"/>
                  </p:cNvCxnSpPr>
                  <p:nvPr/>
                </p:nvCxnSpPr>
                <p:spPr bwMode="auto">
                  <a:xfrm flipV="1">
                    <a:off x="1888" y="2523"/>
                    <a:ext cx="132" cy="74"/>
                  </a:xfrm>
                  <a:prstGeom prst="straightConnector1">
                    <a:avLst/>
                  </a:prstGeom>
                  <a:noFill/>
                  <a:ln w="25400">
                    <a:solidFill>
                      <a:srgbClr val="000000"/>
                    </a:solidFill>
                    <a:round/>
                  </a:ln>
                </p:spPr>
              </p:cxnSp>
              <p:grpSp>
                <p:nvGrpSpPr>
                  <p:cNvPr id="363" name="Group 113"/>
                  <p:cNvGrpSpPr/>
                  <p:nvPr/>
                </p:nvGrpSpPr>
                <p:grpSpPr bwMode="auto">
                  <a:xfrm>
                    <a:off x="1746" y="2115"/>
                    <a:ext cx="280" cy="415"/>
                    <a:chOff x="1746" y="2115"/>
                    <a:chExt cx="280" cy="415"/>
                  </a:xfrm>
                </p:grpSpPr>
                <p:cxnSp>
                  <p:nvCxnSpPr>
                    <p:cNvPr id="365" name="AutoShape 114"/>
                    <p:cNvCxnSpPr>
                      <a:cxnSpLocks noChangeShapeType="1"/>
                      <a:stCxn id="372" idx="5"/>
                      <a:endCxn id="372" idx="4"/>
                    </p:cNvCxnSpPr>
                    <p:nvPr/>
                  </p:nvCxnSpPr>
                  <p:spPr bwMode="auto">
                    <a:xfrm>
                      <a:off x="1889" y="2324"/>
                      <a:ext cx="137" cy="69"/>
                    </a:xfrm>
                    <a:prstGeom prst="straightConnector1">
                      <a:avLst/>
                    </a:prstGeom>
                    <a:noFill/>
                    <a:ln w="25400">
                      <a:solidFill>
                        <a:srgbClr val="000000"/>
                      </a:solidFill>
                      <a:round/>
                    </a:ln>
                  </p:spPr>
                </p:cxnSp>
                <p:cxnSp>
                  <p:nvCxnSpPr>
                    <p:cNvPr id="366" name="AutoShape 115"/>
                    <p:cNvCxnSpPr>
                      <a:cxnSpLocks noChangeShapeType="1"/>
                      <a:endCxn id="375" idx="4"/>
                    </p:cNvCxnSpPr>
                    <p:nvPr/>
                  </p:nvCxnSpPr>
                  <p:spPr bwMode="auto">
                    <a:xfrm>
                      <a:off x="1746" y="2115"/>
                      <a:ext cx="142" cy="79"/>
                    </a:xfrm>
                    <a:prstGeom prst="straightConnector1">
                      <a:avLst/>
                    </a:prstGeom>
                    <a:noFill/>
                    <a:ln w="25400">
                      <a:solidFill>
                        <a:srgbClr val="000000"/>
                      </a:solidFill>
                      <a:round/>
                    </a:ln>
                  </p:spPr>
                </p:cxnSp>
                <p:cxnSp>
                  <p:nvCxnSpPr>
                    <p:cNvPr id="367" name="AutoShape 116"/>
                    <p:cNvCxnSpPr>
                      <a:cxnSpLocks noChangeShapeType="1"/>
                      <a:endCxn id="372" idx="3"/>
                    </p:cNvCxnSpPr>
                    <p:nvPr/>
                  </p:nvCxnSpPr>
                  <p:spPr bwMode="auto">
                    <a:xfrm>
                      <a:off x="2018" y="2387"/>
                      <a:ext cx="8" cy="143"/>
                    </a:xfrm>
                    <a:prstGeom prst="straightConnector1">
                      <a:avLst/>
                    </a:prstGeom>
                    <a:noFill/>
                    <a:ln w="25400">
                      <a:solidFill>
                        <a:srgbClr val="000000"/>
                      </a:solidFill>
                      <a:round/>
                    </a:ln>
                  </p:spPr>
                </p:cxnSp>
                <p:cxnSp>
                  <p:nvCxnSpPr>
                    <p:cNvPr id="368" name="AutoShape 117"/>
                    <p:cNvCxnSpPr>
                      <a:cxnSpLocks noChangeShapeType="1"/>
                      <a:stCxn id="375" idx="4"/>
                      <a:endCxn id="372" idx="5"/>
                    </p:cNvCxnSpPr>
                    <p:nvPr/>
                  </p:nvCxnSpPr>
                  <p:spPr bwMode="auto">
                    <a:xfrm>
                      <a:off x="1888" y="2194"/>
                      <a:ext cx="1" cy="130"/>
                    </a:xfrm>
                    <a:prstGeom prst="straightConnector1">
                      <a:avLst/>
                    </a:prstGeom>
                    <a:noFill/>
                    <a:ln w="25400">
                      <a:solidFill>
                        <a:srgbClr val="000000"/>
                      </a:solidFill>
                      <a:round/>
                    </a:ln>
                  </p:spPr>
                </p:cxnSp>
              </p:grpSp>
              <p:cxnSp>
                <p:nvCxnSpPr>
                  <p:cNvPr id="364" name="AutoShape 118"/>
                  <p:cNvCxnSpPr>
                    <a:cxnSpLocks noChangeShapeType="1"/>
                    <a:stCxn id="372" idx="2"/>
                    <a:endCxn id="370" idx="3"/>
                  </p:cNvCxnSpPr>
                  <p:nvPr/>
                </p:nvCxnSpPr>
                <p:spPr bwMode="auto">
                  <a:xfrm flipH="1">
                    <a:off x="1888" y="2599"/>
                    <a:ext cx="1" cy="135"/>
                  </a:xfrm>
                  <a:prstGeom prst="straightConnector1">
                    <a:avLst/>
                  </a:prstGeom>
                  <a:noFill/>
                  <a:ln w="25400">
                    <a:solidFill>
                      <a:srgbClr val="000000"/>
                    </a:solidFill>
                    <a:round/>
                  </a:ln>
                </p:spPr>
              </p:cxnSp>
            </p:grpSp>
            <p:cxnSp>
              <p:nvCxnSpPr>
                <p:cNvPr id="360" name="AutoShape 119"/>
                <p:cNvCxnSpPr>
                  <a:cxnSpLocks noChangeShapeType="1"/>
                  <a:stCxn id="373" idx="2"/>
                  <a:endCxn id="369" idx="1"/>
                </p:cNvCxnSpPr>
                <p:nvPr/>
              </p:nvCxnSpPr>
              <p:spPr bwMode="auto">
                <a:xfrm flipH="1">
                  <a:off x="4438" y="1787"/>
                  <a:ext cx="1" cy="126"/>
                </a:xfrm>
                <a:prstGeom prst="straightConnector1">
                  <a:avLst/>
                </a:prstGeom>
                <a:noFill/>
                <a:ln w="25400">
                  <a:solidFill>
                    <a:srgbClr val="000000"/>
                  </a:solidFill>
                  <a:round/>
                </a:ln>
              </p:spPr>
            </p:cxnSp>
            <p:cxnSp>
              <p:nvCxnSpPr>
                <p:cNvPr id="361" name="AutoShape 120"/>
                <p:cNvCxnSpPr>
                  <a:cxnSpLocks noChangeShapeType="1"/>
                  <a:stCxn id="374" idx="6"/>
                  <a:endCxn id="373" idx="5"/>
                </p:cNvCxnSpPr>
                <p:nvPr/>
              </p:nvCxnSpPr>
              <p:spPr bwMode="auto">
                <a:xfrm>
                  <a:off x="4438" y="1407"/>
                  <a:ext cx="1" cy="126"/>
                </a:xfrm>
                <a:prstGeom prst="straightConnector1">
                  <a:avLst/>
                </a:prstGeom>
                <a:noFill/>
                <a:ln w="25400">
                  <a:solidFill>
                    <a:srgbClr val="000000"/>
                  </a:solidFill>
                  <a:round/>
                </a:ln>
              </p:spPr>
            </p:cxnSp>
          </p:grpSp>
          <p:grpSp>
            <p:nvGrpSpPr>
              <p:cNvPr id="261" name="Group 121"/>
              <p:cNvGrpSpPr/>
              <p:nvPr/>
            </p:nvGrpSpPr>
            <p:grpSpPr bwMode="auto">
              <a:xfrm>
                <a:off x="1474" y="1026"/>
                <a:ext cx="1406" cy="1361"/>
                <a:chOff x="4324" y="1344"/>
                <a:chExt cx="688" cy="635"/>
              </a:xfrm>
            </p:grpSpPr>
            <p:cxnSp>
              <p:nvCxnSpPr>
                <p:cNvPr id="320" name="AutoShape 122"/>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321" name="Group 123"/>
                <p:cNvGrpSpPr/>
                <p:nvPr/>
              </p:nvGrpSpPr>
              <p:grpSpPr bwMode="auto">
                <a:xfrm>
                  <a:off x="4324" y="1344"/>
                  <a:ext cx="688" cy="635"/>
                  <a:chOff x="1202" y="2115"/>
                  <a:chExt cx="824" cy="688"/>
                </a:xfrm>
              </p:grpSpPr>
              <p:sp>
                <p:nvSpPr>
                  <p:cNvPr id="341" name="Freeform 124"/>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342" name="Freeform 125"/>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343" name="Freeform 126"/>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344" name="Freeform 127"/>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345" name="Freeform 128"/>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346" name="Freeform 129"/>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347" name="Freeform 130"/>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322" name="AutoShape 131"/>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323" name="AutoShape 132"/>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324" name="AutoShape 133"/>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325" name="AutoShape 134"/>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326" name="AutoShape 135"/>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327" name="AutoShape 136"/>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328" name="AutoShape 137"/>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329" name="AutoShape 138"/>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330" name="AutoShape 139"/>
                <p:cNvCxnSpPr>
                  <a:cxnSpLocks noChangeShapeType="1"/>
                  <a:stCxn id="345" idx="6"/>
                </p:cNvCxnSpPr>
                <p:nvPr/>
              </p:nvCxnSpPr>
              <p:spPr bwMode="auto">
                <a:xfrm>
                  <a:off x="4324" y="1597"/>
                  <a:ext cx="0" cy="124"/>
                </a:xfrm>
                <a:prstGeom prst="straightConnector1">
                  <a:avLst/>
                </a:prstGeom>
                <a:noFill/>
                <a:ln w="25400">
                  <a:solidFill>
                    <a:srgbClr val="000000"/>
                  </a:solidFill>
                  <a:round/>
                </a:ln>
              </p:spPr>
            </p:cxnSp>
            <p:grpSp>
              <p:nvGrpSpPr>
                <p:cNvPr id="331" name="Group 140"/>
                <p:cNvGrpSpPr/>
                <p:nvPr/>
              </p:nvGrpSpPr>
              <p:grpSpPr bwMode="auto">
                <a:xfrm>
                  <a:off x="4778" y="1344"/>
                  <a:ext cx="234" cy="571"/>
                  <a:chOff x="1746" y="2115"/>
                  <a:chExt cx="280" cy="619"/>
                </a:xfrm>
              </p:grpSpPr>
              <p:cxnSp>
                <p:nvCxnSpPr>
                  <p:cNvPr id="334" name="AutoShape 141"/>
                  <p:cNvCxnSpPr>
                    <a:cxnSpLocks noChangeShapeType="1"/>
                    <a:stCxn id="342" idx="4"/>
                  </p:cNvCxnSpPr>
                  <p:nvPr/>
                </p:nvCxnSpPr>
                <p:spPr bwMode="auto">
                  <a:xfrm flipV="1">
                    <a:off x="1888" y="2523"/>
                    <a:ext cx="132" cy="74"/>
                  </a:xfrm>
                  <a:prstGeom prst="straightConnector1">
                    <a:avLst/>
                  </a:prstGeom>
                  <a:noFill/>
                  <a:ln w="28575">
                    <a:solidFill>
                      <a:srgbClr val="000000"/>
                    </a:solidFill>
                    <a:round/>
                  </a:ln>
                </p:spPr>
              </p:cxnSp>
              <p:grpSp>
                <p:nvGrpSpPr>
                  <p:cNvPr id="335" name="Group 142"/>
                  <p:cNvGrpSpPr/>
                  <p:nvPr/>
                </p:nvGrpSpPr>
                <p:grpSpPr bwMode="auto">
                  <a:xfrm>
                    <a:off x="1746" y="2115"/>
                    <a:ext cx="280" cy="415"/>
                    <a:chOff x="1746" y="2115"/>
                    <a:chExt cx="280" cy="415"/>
                  </a:xfrm>
                </p:grpSpPr>
                <p:cxnSp>
                  <p:nvCxnSpPr>
                    <p:cNvPr id="337" name="AutoShape 143"/>
                    <p:cNvCxnSpPr>
                      <a:cxnSpLocks noChangeShapeType="1"/>
                      <a:stCxn id="344" idx="5"/>
                      <a:endCxn id="344" idx="4"/>
                    </p:cNvCxnSpPr>
                    <p:nvPr/>
                  </p:nvCxnSpPr>
                  <p:spPr bwMode="auto">
                    <a:xfrm>
                      <a:off x="1889" y="2324"/>
                      <a:ext cx="137" cy="69"/>
                    </a:xfrm>
                    <a:prstGeom prst="straightConnector1">
                      <a:avLst/>
                    </a:prstGeom>
                    <a:noFill/>
                    <a:ln w="25400">
                      <a:solidFill>
                        <a:srgbClr val="000000"/>
                      </a:solidFill>
                      <a:round/>
                    </a:ln>
                  </p:spPr>
                </p:cxnSp>
                <p:cxnSp>
                  <p:nvCxnSpPr>
                    <p:cNvPr id="338" name="AutoShape 144"/>
                    <p:cNvCxnSpPr>
                      <a:cxnSpLocks noChangeShapeType="1"/>
                      <a:endCxn id="347" idx="4"/>
                    </p:cNvCxnSpPr>
                    <p:nvPr/>
                  </p:nvCxnSpPr>
                  <p:spPr bwMode="auto">
                    <a:xfrm>
                      <a:off x="1746" y="2115"/>
                      <a:ext cx="142" cy="79"/>
                    </a:xfrm>
                    <a:prstGeom prst="straightConnector1">
                      <a:avLst/>
                    </a:prstGeom>
                    <a:noFill/>
                    <a:ln w="25400">
                      <a:solidFill>
                        <a:srgbClr val="000000"/>
                      </a:solidFill>
                      <a:round/>
                    </a:ln>
                  </p:spPr>
                </p:cxnSp>
                <p:cxnSp>
                  <p:nvCxnSpPr>
                    <p:cNvPr id="339" name="AutoShape 145"/>
                    <p:cNvCxnSpPr>
                      <a:cxnSpLocks noChangeShapeType="1"/>
                      <a:endCxn id="344" idx="3"/>
                    </p:cNvCxnSpPr>
                    <p:nvPr/>
                  </p:nvCxnSpPr>
                  <p:spPr bwMode="auto">
                    <a:xfrm>
                      <a:off x="2018" y="2387"/>
                      <a:ext cx="8" cy="143"/>
                    </a:xfrm>
                    <a:prstGeom prst="straightConnector1">
                      <a:avLst/>
                    </a:prstGeom>
                    <a:noFill/>
                    <a:ln w="25400">
                      <a:solidFill>
                        <a:srgbClr val="000000"/>
                      </a:solidFill>
                      <a:round/>
                    </a:ln>
                  </p:spPr>
                </p:cxnSp>
                <p:cxnSp>
                  <p:nvCxnSpPr>
                    <p:cNvPr id="340" name="AutoShape 146"/>
                    <p:cNvCxnSpPr>
                      <a:cxnSpLocks noChangeShapeType="1"/>
                      <a:stCxn id="347" idx="4"/>
                      <a:endCxn id="344" idx="5"/>
                    </p:cNvCxnSpPr>
                    <p:nvPr/>
                  </p:nvCxnSpPr>
                  <p:spPr bwMode="auto">
                    <a:xfrm>
                      <a:off x="1888" y="2194"/>
                      <a:ext cx="1" cy="130"/>
                    </a:xfrm>
                    <a:prstGeom prst="straightConnector1">
                      <a:avLst/>
                    </a:prstGeom>
                    <a:noFill/>
                    <a:ln w="25400">
                      <a:solidFill>
                        <a:srgbClr val="000000"/>
                      </a:solidFill>
                      <a:round/>
                    </a:ln>
                  </p:spPr>
                </p:cxnSp>
              </p:grpSp>
              <p:cxnSp>
                <p:nvCxnSpPr>
                  <p:cNvPr id="336" name="AutoShape 147"/>
                  <p:cNvCxnSpPr>
                    <a:cxnSpLocks noChangeShapeType="1"/>
                    <a:stCxn id="344" idx="2"/>
                    <a:endCxn id="342" idx="3"/>
                  </p:cNvCxnSpPr>
                  <p:nvPr/>
                </p:nvCxnSpPr>
                <p:spPr bwMode="auto">
                  <a:xfrm flipH="1">
                    <a:off x="1888" y="2599"/>
                    <a:ext cx="1" cy="135"/>
                  </a:xfrm>
                  <a:prstGeom prst="straightConnector1">
                    <a:avLst/>
                  </a:prstGeom>
                  <a:noFill/>
                  <a:ln w="25400">
                    <a:solidFill>
                      <a:srgbClr val="000000"/>
                    </a:solidFill>
                    <a:round/>
                  </a:ln>
                </p:spPr>
              </p:cxnSp>
            </p:grpSp>
            <p:cxnSp>
              <p:nvCxnSpPr>
                <p:cNvPr id="332" name="AutoShape 148"/>
                <p:cNvCxnSpPr>
                  <a:cxnSpLocks noChangeShapeType="1"/>
                  <a:stCxn id="345" idx="2"/>
                  <a:endCxn id="341" idx="1"/>
                </p:cNvCxnSpPr>
                <p:nvPr/>
              </p:nvCxnSpPr>
              <p:spPr bwMode="auto">
                <a:xfrm flipH="1">
                  <a:off x="4438" y="1787"/>
                  <a:ext cx="1" cy="126"/>
                </a:xfrm>
                <a:prstGeom prst="straightConnector1">
                  <a:avLst/>
                </a:prstGeom>
                <a:noFill/>
                <a:ln w="25400">
                  <a:solidFill>
                    <a:srgbClr val="000000"/>
                  </a:solidFill>
                  <a:round/>
                </a:ln>
              </p:spPr>
            </p:cxnSp>
            <p:cxnSp>
              <p:nvCxnSpPr>
                <p:cNvPr id="333" name="AutoShape 149"/>
                <p:cNvCxnSpPr>
                  <a:cxnSpLocks noChangeShapeType="1"/>
                  <a:stCxn id="346" idx="6"/>
                  <a:endCxn id="345" idx="5"/>
                </p:cNvCxnSpPr>
                <p:nvPr/>
              </p:nvCxnSpPr>
              <p:spPr bwMode="auto">
                <a:xfrm>
                  <a:off x="4438" y="1407"/>
                  <a:ext cx="1" cy="126"/>
                </a:xfrm>
                <a:prstGeom prst="straightConnector1">
                  <a:avLst/>
                </a:prstGeom>
                <a:noFill/>
                <a:ln w="25400">
                  <a:solidFill>
                    <a:srgbClr val="000000"/>
                  </a:solidFill>
                  <a:round/>
                </a:ln>
              </p:spPr>
            </p:cxnSp>
          </p:grpSp>
          <p:grpSp>
            <p:nvGrpSpPr>
              <p:cNvPr id="262" name="Group 150"/>
              <p:cNvGrpSpPr/>
              <p:nvPr/>
            </p:nvGrpSpPr>
            <p:grpSpPr bwMode="auto">
              <a:xfrm>
                <a:off x="1248" y="2205"/>
                <a:ext cx="1405" cy="1361"/>
                <a:chOff x="4324" y="1344"/>
                <a:chExt cx="688" cy="635"/>
              </a:xfrm>
            </p:grpSpPr>
            <p:cxnSp>
              <p:nvCxnSpPr>
                <p:cNvPr id="292" name="AutoShape 151"/>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293" name="Group 152"/>
                <p:cNvGrpSpPr/>
                <p:nvPr/>
              </p:nvGrpSpPr>
              <p:grpSpPr bwMode="auto">
                <a:xfrm>
                  <a:off x="4324" y="1344"/>
                  <a:ext cx="688" cy="635"/>
                  <a:chOff x="1202" y="2115"/>
                  <a:chExt cx="824" cy="688"/>
                </a:xfrm>
              </p:grpSpPr>
              <p:sp>
                <p:nvSpPr>
                  <p:cNvPr id="313" name="Freeform 153"/>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314" name="Freeform 154"/>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315" name="Freeform 155"/>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316" name="Freeform 156"/>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317" name="Freeform 157"/>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318" name="Freeform 158"/>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319" name="Freeform 159"/>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294" name="AutoShape 160"/>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295" name="AutoShape 161"/>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296" name="AutoShape 162"/>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297" name="AutoShape 163"/>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298" name="AutoShape 164"/>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299" name="AutoShape 165"/>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300" name="AutoShape 166"/>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301" name="AutoShape 167"/>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302" name="AutoShape 168"/>
                <p:cNvCxnSpPr>
                  <a:cxnSpLocks noChangeShapeType="1"/>
                  <a:stCxn id="317" idx="6"/>
                </p:cNvCxnSpPr>
                <p:nvPr/>
              </p:nvCxnSpPr>
              <p:spPr bwMode="auto">
                <a:xfrm>
                  <a:off x="4324" y="1597"/>
                  <a:ext cx="0" cy="124"/>
                </a:xfrm>
                <a:prstGeom prst="straightConnector1">
                  <a:avLst/>
                </a:prstGeom>
                <a:noFill/>
                <a:ln w="25400">
                  <a:solidFill>
                    <a:srgbClr val="000000"/>
                  </a:solidFill>
                  <a:round/>
                </a:ln>
              </p:spPr>
            </p:cxnSp>
            <p:grpSp>
              <p:nvGrpSpPr>
                <p:cNvPr id="303" name="Group 169"/>
                <p:cNvGrpSpPr/>
                <p:nvPr/>
              </p:nvGrpSpPr>
              <p:grpSpPr bwMode="auto">
                <a:xfrm>
                  <a:off x="4778" y="1344"/>
                  <a:ext cx="234" cy="571"/>
                  <a:chOff x="1746" y="2115"/>
                  <a:chExt cx="280" cy="619"/>
                </a:xfrm>
              </p:grpSpPr>
              <p:cxnSp>
                <p:nvCxnSpPr>
                  <p:cNvPr id="306" name="AutoShape 170"/>
                  <p:cNvCxnSpPr>
                    <a:cxnSpLocks noChangeShapeType="1"/>
                    <a:stCxn id="314" idx="4"/>
                  </p:cNvCxnSpPr>
                  <p:nvPr/>
                </p:nvCxnSpPr>
                <p:spPr bwMode="auto">
                  <a:xfrm flipV="1">
                    <a:off x="1888" y="2523"/>
                    <a:ext cx="132" cy="74"/>
                  </a:xfrm>
                  <a:prstGeom prst="straightConnector1">
                    <a:avLst/>
                  </a:prstGeom>
                  <a:noFill/>
                  <a:ln w="25400">
                    <a:solidFill>
                      <a:srgbClr val="000000"/>
                    </a:solidFill>
                    <a:round/>
                  </a:ln>
                </p:spPr>
              </p:cxnSp>
              <p:grpSp>
                <p:nvGrpSpPr>
                  <p:cNvPr id="307" name="Group 171"/>
                  <p:cNvGrpSpPr/>
                  <p:nvPr/>
                </p:nvGrpSpPr>
                <p:grpSpPr bwMode="auto">
                  <a:xfrm>
                    <a:off x="1746" y="2115"/>
                    <a:ext cx="280" cy="415"/>
                    <a:chOff x="1746" y="2115"/>
                    <a:chExt cx="280" cy="415"/>
                  </a:xfrm>
                </p:grpSpPr>
                <p:cxnSp>
                  <p:nvCxnSpPr>
                    <p:cNvPr id="309" name="AutoShape 172"/>
                    <p:cNvCxnSpPr>
                      <a:cxnSpLocks noChangeShapeType="1"/>
                      <a:stCxn id="316" idx="5"/>
                      <a:endCxn id="316" idx="4"/>
                    </p:cNvCxnSpPr>
                    <p:nvPr/>
                  </p:nvCxnSpPr>
                  <p:spPr bwMode="auto">
                    <a:xfrm>
                      <a:off x="1889" y="2324"/>
                      <a:ext cx="137" cy="69"/>
                    </a:xfrm>
                    <a:prstGeom prst="straightConnector1">
                      <a:avLst/>
                    </a:prstGeom>
                    <a:noFill/>
                    <a:ln w="25400">
                      <a:solidFill>
                        <a:srgbClr val="000000"/>
                      </a:solidFill>
                      <a:round/>
                    </a:ln>
                  </p:spPr>
                </p:cxnSp>
                <p:cxnSp>
                  <p:nvCxnSpPr>
                    <p:cNvPr id="310" name="AutoShape 173"/>
                    <p:cNvCxnSpPr>
                      <a:cxnSpLocks noChangeShapeType="1"/>
                      <a:endCxn id="319" idx="4"/>
                    </p:cNvCxnSpPr>
                    <p:nvPr/>
                  </p:nvCxnSpPr>
                  <p:spPr bwMode="auto">
                    <a:xfrm>
                      <a:off x="1746" y="2115"/>
                      <a:ext cx="142" cy="79"/>
                    </a:xfrm>
                    <a:prstGeom prst="straightConnector1">
                      <a:avLst/>
                    </a:prstGeom>
                    <a:noFill/>
                    <a:ln w="25400">
                      <a:solidFill>
                        <a:srgbClr val="000000"/>
                      </a:solidFill>
                      <a:round/>
                    </a:ln>
                  </p:spPr>
                </p:cxnSp>
                <p:cxnSp>
                  <p:nvCxnSpPr>
                    <p:cNvPr id="311" name="AutoShape 174"/>
                    <p:cNvCxnSpPr>
                      <a:cxnSpLocks noChangeShapeType="1"/>
                      <a:endCxn id="316" idx="3"/>
                    </p:cNvCxnSpPr>
                    <p:nvPr/>
                  </p:nvCxnSpPr>
                  <p:spPr bwMode="auto">
                    <a:xfrm>
                      <a:off x="2018" y="2387"/>
                      <a:ext cx="8" cy="143"/>
                    </a:xfrm>
                    <a:prstGeom prst="straightConnector1">
                      <a:avLst/>
                    </a:prstGeom>
                    <a:noFill/>
                    <a:ln w="25400">
                      <a:solidFill>
                        <a:srgbClr val="000000"/>
                      </a:solidFill>
                      <a:round/>
                    </a:ln>
                  </p:spPr>
                </p:cxnSp>
                <p:cxnSp>
                  <p:nvCxnSpPr>
                    <p:cNvPr id="312" name="AutoShape 175"/>
                    <p:cNvCxnSpPr>
                      <a:cxnSpLocks noChangeShapeType="1"/>
                      <a:stCxn id="319" idx="4"/>
                      <a:endCxn id="316" idx="5"/>
                    </p:cNvCxnSpPr>
                    <p:nvPr/>
                  </p:nvCxnSpPr>
                  <p:spPr bwMode="auto">
                    <a:xfrm>
                      <a:off x="1888" y="2194"/>
                      <a:ext cx="1" cy="130"/>
                    </a:xfrm>
                    <a:prstGeom prst="straightConnector1">
                      <a:avLst/>
                    </a:prstGeom>
                    <a:noFill/>
                    <a:ln w="25400">
                      <a:solidFill>
                        <a:srgbClr val="000000"/>
                      </a:solidFill>
                      <a:round/>
                    </a:ln>
                  </p:spPr>
                </p:cxnSp>
              </p:grpSp>
              <p:cxnSp>
                <p:nvCxnSpPr>
                  <p:cNvPr id="308" name="AutoShape 176"/>
                  <p:cNvCxnSpPr>
                    <a:cxnSpLocks noChangeShapeType="1"/>
                    <a:stCxn id="316" idx="2"/>
                    <a:endCxn id="314" idx="3"/>
                  </p:cNvCxnSpPr>
                  <p:nvPr/>
                </p:nvCxnSpPr>
                <p:spPr bwMode="auto">
                  <a:xfrm flipH="1">
                    <a:off x="1888" y="2599"/>
                    <a:ext cx="1" cy="135"/>
                  </a:xfrm>
                  <a:prstGeom prst="straightConnector1">
                    <a:avLst/>
                  </a:prstGeom>
                  <a:noFill/>
                  <a:ln w="25400">
                    <a:solidFill>
                      <a:srgbClr val="000000"/>
                    </a:solidFill>
                    <a:round/>
                  </a:ln>
                </p:spPr>
              </p:cxnSp>
            </p:grpSp>
            <p:cxnSp>
              <p:nvCxnSpPr>
                <p:cNvPr id="304" name="AutoShape 177"/>
                <p:cNvCxnSpPr>
                  <a:cxnSpLocks noChangeShapeType="1"/>
                  <a:stCxn id="317" idx="2"/>
                  <a:endCxn id="313" idx="1"/>
                </p:cNvCxnSpPr>
                <p:nvPr/>
              </p:nvCxnSpPr>
              <p:spPr bwMode="auto">
                <a:xfrm flipH="1">
                  <a:off x="4438" y="1787"/>
                  <a:ext cx="1" cy="126"/>
                </a:xfrm>
                <a:prstGeom prst="straightConnector1">
                  <a:avLst/>
                </a:prstGeom>
                <a:noFill/>
                <a:ln w="25400">
                  <a:solidFill>
                    <a:srgbClr val="000000"/>
                  </a:solidFill>
                  <a:round/>
                </a:ln>
              </p:spPr>
            </p:cxnSp>
            <p:cxnSp>
              <p:nvCxnSpPr>
                <p:cNvPr id="305" name="AutoShape 178"/>
                <p:cNvCxnSpPr>
                  <a:cxnSpLocks noChangeShapeType="1"/>
                  <a:stCxn id="318" idx="6"/>
                  <a:endCxn id="317" idx="5"/>
                </p:cNvCxnSpPr>
                <p:nvPr/>
              </p:nvCxnSpPr>
              <p:spPr bwMode="auto">
                <a:xfrm>
                  <a:off x="4438" y="1407"/>
                  <a:ext cx="1" cy="126"/>
                </a:xfrm>
                <a:prstGeom prst="straightConnector1">
                  <a:avLst/>
                </a:prstGeom>
                <a:noFill/>
                <a:ln w="25400">
                  <a:solidFill>
                    <a:srgbClr val="000000"/>
                  </a:solidFill>
                  <a:round/>
                </a:ln>
              </p:spPr>
            </p:cxnSp>
          </p:grpSp>
          <p:grpSp>
            <p:nvGrpSpPr>
              <p:cNvPr id="263" name="Group 179"/>
              <p:cNvGrpSpPr/>
              <p:nvPr/>
            </p:nvGrpSpPr>
            <p:grpSpPr bwMode="auto">
              <a:xfrm>
                <a:off x="2200" y="3021"/>
                <a:ext cx="1406" cy="1316"/>
                <a:chOff x="4324" y="1344"/>
                <a:chExt cx="688" cy="635"/>
              </a:xfrm>
            </p:grpSpPr>
            <p:cxnSp>
              <p:nvCxnSpPr>
                <p:cNvPr id="264" name="AutoShape 180"/>
                <p:cNvCxnSpPr>
                  <a:cxnSpLocks noChangeShapeType="1"/>
                </p:cNvCxnSpPr>
                <p:nvPr/>
              </p:nvCxnSpPr>
              <p:spPr bwMode="auto">
                <a:xfrm flipV="1">
                  <a:off x="4665" y="1344"/>
                  <a:ext cx="115" cy="63"/>
                </a:xfrm>
                <a:prstGeom prst="straightConnector1">
                  <a:avLst/>
                </a:prstGeom>
                <a:noFill/>
                <a:ln w="25400">
                  <a:solidFill>
                    <a:srgbClr val="000000"/>
                  </a:solidFill>
                  <a:round/>
                </a:ln>
              </p:spPr>
            </p:cxnSp>
            <p:grpSp>
              <p:nvGrpSpPr>
                <p:cNvPr id="265" name="Group 181"/>
                <p:cNvGrpSpPr/>
                <p:nvPr/>
              </p:nvGrpSpPr>
              <p:grpSpPr bwMode="auto">
                <a:xfrm>
                  <a:off x="4324" y="1344"/>
                  <a:ext cx="688" cy="635"/>
                  <a:chOff x="1202" y="2115"/>
                  <a:chExt cx="824" cy="688"/>
                </a:xfrm>
              </p:grpSpPr>
              <p:sp>
                <p:nvSpPr>
                  <p:cNvPr id="285" name="Freeform 182"/>
                  <p:cNvSpPr/>
                  <p:nvPr/>
                </p:nvSpPr>
                <p:spPr bwMode="auto">
                  <a:xfrm>
                    <a:off x="1339" y="2526"/>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1919"/>
                  </a:solidFill>
                  <a:ln w="11113">
                    <a:noFill/>
                    <a:round/>
                  </a:ln>
                </p:spPr>
                <p:txBody>
                  <a:bodyPr/>
                  <a:lstStyle/>
                  <a:p>
                    <a:endParaRPr lang="zh-CN" altLang="en-US"/>
                  </a:p>
                </p:txBody>
              </p:sp>
              <p:sp>
                <p:nvSpPr>
                  <p:cNvPr id="286" name="Freeform 183"/>
                  <p:cNvSpPr/>
                  <p:nvPr/>
                </p:nvSpPr>
                <p:spPr bwMode="auto">
                  <a:xfrm>
                    <a:off x="1614" y="2528"/>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chemeClr val="tx2">
                      <a:alpha val="76077"/>
                    </a:schemeClr>
                  </a:solidFill>
                  <a:ln w="11176">
                    <a:noFill/>
                    <a:round/>
                  </a:ln>
                </p:spPr>
                <p:txBody>
                  <a:bodyPr/>
                  <a:lstStyle/>
                  <a:p>
                    <a:endParaRPr lang="zh-CN" altLang="en-US"/>
                  </a:p>
                </p:txBody>
              </p:sp>
              <p:sp>
                <p:nvSpPr>
                  <p:cNvPr id="287" name="Freeform 184"/>
                  <p:cNvSpPr/>
                  <p:nvPr/>
                </p:nvSpPr>
                <p:spPr bwMode="auto">
                  <a:xfrm>
                    <a:off x="1477" y="2322"/>
                    <a:ext cx="275" cy="274"/>
                  </a:xfrm>
                  <a:custGeom>
                    <a:avLst/>
                    <a:gdLst>
                      <a:gd name="T0" fmla="*/ 0 w 694"/>
                      <a:gd name="T1" fmla="*/ 3 h 802"/>
                      <a:gd name="T2" fmla="*/ 0 w 694"/>
                      <a:gd name="T3" fmla="*/ 8 h 802"/>
                      <a:gd name="T4" fmla="*/ 9 w 694"/>
                      <a:gd name="T5" fmla="*/ 11 h 802"/>
                      <a:gd name="T6" fmla="*/ 17 w 694"/>
                      <a:gd name="T7" fmla="*/ 8 h 802"/>
                      <a:gd name="T8" fmla="*/ 17 w 694"/>
                      <a:gd name="T9" fmla="*/ 3 h 802"/>
                      <a:gd name="T10" fmla="*/ 9 w 694"/>
                      <a:gd name="T11" fmla="*/ 0 h 802"/>
                      <a:gd name="T12" fmla="*/ 0 w 694"/>
                      <a:gd name="T13" fmla="*/ 3 h 802"/>
                      <a:gd name="T14" fmla="*/ 0 60000 65536"/>
                      <a:gd name="T15" fmla="*/ 0 60000 65536"/>
                      <a:gd name="T16" fmla="*/ 0 60000 65536"/>
                      <a:gd name="T17" fmla="*/ 0 60000 65536"/>
                      <a:gd name="T18" fmla="*/ 0 60000 65536"/>
                      <a:gd name="T19" fmla="*/ 0 60000 65536"/>
                      <a:gd name="T20" fmla="*/ 0 60000 65536"/>
                      <a:gd name="T21" fmla="*/ 0 w 694"/>
                      <a:gd name="T22" fmla="*/ 0 h 802"/>
                      <a:gd name="T23" fmla="*/ 694 w 694"/>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2">
                        <a:moveTo>
                          <a:pt x="0" y="201"/>
                        </a:moveTo>
                        <a:lnTo>
                          <a:pt x="0" y="601"/>
                        </a:lnTo>
                        <a:lnTo>
                          <a:pt x="347" y="802"/>
                        </a:lnTo>
                        <a:lnTo>
                          <a:pt x="694" y="601"/>
                        </a:lnTo>
                        <a:lnTo>
                          <a:pt x="694" y="201"/>
                        </a:lnTo>
                        <a:lnTo>
                          <a:pt x="347" y="0"/>
                        </a:lnTo>
                        <a:lnTo>
                          <a:pt x="0" y="201"/>
                        </a:lnTo>
                        <a:close/>
                      </a:path>
                    </a:pathLst>
                  </a:custGeom>
                  <a:solidFill>
                    <a:srgbClr val="FFFF0D"/>
                  </a:solidFill>
                  <a:ln w="11113">
                    <a:noFill/>
                    <a:round/>
                  </a:ln>
                </p:spPr>
                <p:txBody>
                  <a:bodyPr/>
                  <a:lstStyle/>
                  <a:p>
                    <a:endParaRPr lang="zh-CN" altLang="en-US"/>
                  </a:p>
                </p:txBody>
              </p:sp>
              <p:sp>
                <p:nvSpPr>
                  <p:cNvPr id="288" name="Freeform 185"/>
                  <p:cNvSpPr/>
                  <p:nvPr/>
                </p:nvSpPr>
                <p:spPr bwMode="auto">
                  <a:xfrm>
                    <a:off x="1752" y="2324"/>
                    <a:ext cx="274" cy="275"/>
                  </a:xfrm>
                  <a:custGeom>
                    <a:avLst/>
                    <a:gdLst>
                      <a:gd name="T0" fmla="*/ 0 w 695"/>
                      <a:gd name="T1" fmla="*/ 3 h 802"/>
                      <a:gd name="T2" fmla="*/ 0 w 695"/>
                      <a:gd name="T3" fmla="*/ 8 h 802"/>
                      <a:gd name="T4" fmla="*/ 8 w 695"/>
                      <a:gd name="T5" fmla="*/ 11 h 802"/>
                      <a:gd name="T6" fmla="*/ 17 w 695"/>
                      <a:gd name="T7" fmla="*/ 8 h 802"/>
                      <a:gd name="T8" fmla="*/ 17 w 695"/>
                      <a:gd name="T9" fmla="*/ 3 h 802"/>
                      <a:gd name="T10" fmla="*/ 8 w 695"/>
                      <a:gd name="T11" fmla="*/ 0 h 802"/>
                      <a:gd name="T12" fmla="*/ 0 w 695"/>
                      <a:gd name="T13" fmla="*/ 3 h 802"/>
                      <a:gd name="T14" fmla="*/ 0 60000 65536"/>
                      <a:gd name="T15" fmla="*/ 0 60000 65536"/>
                      <a:gd name="T16" fmla="*/ 0 60000 65536"/>
                      <a:gd name="T17" fmla="*/ 0 60000 65536"/>
                      <a:gd name="T18" fmla="*/ 0 60000 65536"/>
                      <a:gd name="T19" fmla="*/ 0 60000 65536"/>
                      <a:gd name="T20" fmla="*/ 0 60000 65536"/>
                      <a:gd name="T21" fmla="*/ 0 w 695"/>
                      <a:gd name="T22" fmla="*/ 0 h 802"/>
                      <a:gd name="T23" fmla="*/ 695 w 695"/>
                      <a:gd name="T24" fmla="*/ 802 h 8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2">
                        <a:moveTo>
                          <a:pt x="0" y="201"/>
                        </a:moveTo>
                        <a:lnTo>
                          <a:pt x="0" y="601"/>
                        </a:lnTo>
                        <a:lnTo>
                          <a:pt x="348" y="802"/>
                        </a:lnTo>
                        <a:lnTo>
                          <a:pt x="695" y="601"/>
                        </a:lnTo>
                        <a:lnTo>
                          <a:pt x="695" y="201"/>
                        </a:lnTo>
                        <a:lnTo>
                          <a:pt x="348" y="0"/>
                        </a:lnTo>
                        <a:lnTo>
                          <a:pt x="0" y="201"/>
                        </a:lnTo>
                        <a:close/>
                      </a:path>
                    </a:pathLst>
                  </a:custGeom>
                  <a:solidFill>
                    <a:srgbClr val="CC81FF"/>
                  </a:solidFill>
                  <a:ln w="11113">
                    <a:noFill/>
                    <a:round/>
                  </a:ln>
                </p:spPr>
                <p:txBody>
                  <a:bodyPr/>
                  <a:lstStyle/>
                  <a:p>
                    <a:endParaRPr lang="zh-CN" altLang="en-US"/>
                  </a:p>
                </p:txBody>
              </p:sp>
              <p:sp>
                <p:nvSpPr>
                  <p:cNvPr id="289" name="Freeform 186"/>
                  <p:cNvSpPr/>
                  <p:nvPr/>
                </p:nvSpPr>
                <p:spPr bwMode="auto">
                  <a:xfrm>
                    <a:off x="1202" y="2320"/>
                    <a:ext cx="274" cy="275"/>
                  </a:xfrm>
                  <a:custGeom>
                    <a:avLst/>
                    <a:gdLst>
                      <a:gd name="T0" fmla="*/ 0 w 694"/>
                      <a:gd name="T1" fmla="*/ 3 h 803"/>
                      <a:gd name="T2" fmla="*/ 0 w 694"/>
                      <a:gd name="T3" fmla="*/ 8 h 803"/>
                      <a:gd name="T4" fmla="*/ 8 w 694"/>
                      <a:gd name="T5" fmla="*/ 11 h 803"/>
                      <a:gd name="T6" fmla="*/ 17 w 694"/>
                      <a:gd name="T7" fmla="*/ 8 h 803"/>
                      <a:gd name="T8" fmla="*/ 17 w 694"/>
                      <a:gd name="T9" fmla="*/ 3 h 803"/>
                      <a:gd name="T10" fmla="*/ 8 w 694"/>
                      <a:gd name="T11" fmla="*/ 0 h 803"/>
                      <a:gd name="T12" fmla="*/ 0 w 694"/>
                      <a:gd name="T13" fmla="*/ 3 h 803"/>
                      <a:gd name="T14" fmla="*/ 0 60000 65536"/>
                      <a:gd name="T15" fmla="*/ 0 60000 65536"/>
                      <a:gd name="T16" fmla="*/ 0 60000 65536"/>
                      <a:gd name="T17" fmla="*/ 0 60000 65536"/>
                      <a:gd name="T18" fmla="*/ 0 60000 65536"/>
                      <a:gd name="T19" fmla="*/ 0 60000 65536"/>
                      <a:gd name="T20" fmla="*/ 0 60000 65536"/>
                      <a:gd name="T21" fmla="*/ 0 w 694"/>
                      <a:gd name="T22" fmla="*/ 0 h 803"/>
                      <a:gd name="T23" fmla="*/ 694 w 694"/>
                      <a:gd name="T24" fmla="*/ 803 h 8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3">
                        <a:moveTo>
                          <a:pt x="0" y="201"/>
                        </a:moveTo>
                        <a:lnTo>
                          <a:pt x="0" y="603"/>
                        </a:lnTo>
                        <a:lnTo>
                          <a:pt x="347" y="803"/>
                        </a:lnTo>
                        <a:lnTo>
                          <a:pt x="694" y="603"/>
                        </a:lnTo>
                        <a:lnTo>
                          <a:pt x="694" y="201"/>
                        </a:lnTo>
                        <a:lnTo>
                          <a:pt x="347" y="0"/>
                        </a:lnTo>
                        <a:lnTo>
                          <a:pt x="0" y="201"/>
                        </a:lnTo>
                        <a:close/>
                      </a:path>
                    </a:pathLst>
                  </a:custGeom>
                  <a:solidFill>
                    <a:schemeClr val="hlink"/>
                  </a:solidFill>
                  <a:ln w="11113">
                    <a:noFill/>
                    <a:round/>
                  </a:ln>
                </p:spPr>
                <p:txBody>
                  <a:bodyPr/>
                  <a:lstStyle/>
                  <a:p>
                    <a:endParaRPr lang="zh-CN" altLang="en-US"/>
                  </a:p>
                </p:txBody>
              </p:sp>
              <p:sp>
                <p:nvSpPr>
                  <p:cNvPr id="290" name="Freeform 187"/>
                  <p:cNvSpPr/>
                  <p:nvPr/>
                </p:nvSpPr>
                <p:spPr bwMode="auto">
                  <a:xfrm>
                    <a:off x="1339" y="2115"/>
                    <a:ext cx="275" cy="275"/>
                  </a:xfrm>
                  <a:custGeom>
                    <a:avLst/>
                    <a:gdLst>
                      <a:gd name="T0" fmla="*/ 0 w 694"/>
                      <a:gd name="T1" fmla="*/ 3 h 805"/>
                      <a:gd name="T2" fmla="*/ 0 w 694"/>
                      <a:gd name="T3" fmla="*/ 8 h 805"/>
                      <a:gd name="T4" fmla="*/ 9 w 694"/>
                      <a:gd name="T5" fmla="*/ 11 h 805"/>
                      <a:gd name="T6" fmla="*/ 17 w 694"/>
                      <a:gd name="T7" fmla="*/ 8 h 805"/>
                      <a:gd name="T8" fmla="*/ 17 w 694"/>
                      <a:gd name="T9" fmla="*/ 3 h 805"/>
                      <a:gd name="T10" fmla="*/ 9 w 694"/>
                      <a:gd name="T11" fmla="*/ 0 h 805"/>
                      <a:gd name="T12" fmla="*/ 0 w 694"/>
                      <a:gd name="T13" fmla="*/ 3 h 805"/>
                      <a:gd name="T14" fmla="*/ 0 60000 65536"/>
                      <a:gd name="T15" fmla="*/ 0 60000 65536"/>
                      <a:gd name="T16" fmla="*/ 0 60000 65536"/>
                      <a:gd name="T17" fmla="*/ 0 60000 65536"/>
                      <a:gd name="T18" fmla="*/ 0 60000 65536"/>
                      <a:gd name="T19" fmla="*/ 0 60000 65536"/>
                      <a:gd name="T20" fmla="*/ 0 60000 65536"/>
                      <a:gd name="T21" fmla="*/ 0 w 694"/>
                      <a:gd name="T22" fmla="*/ 0 h 805"/>
                      <a:gd name="T23" fmla="*/ 694 w 694"/>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4" h="805">
                        <a:moveTo>
                          <a:pt x="0" y="201"/>
                        </a:moveTo>
                        <a:lnTo>
                          <a:pt x="0" y="604"/>
                        </a:lnTo>
                        <a:lnTo>
                          <a:pt x="347" y="805"/>
                        </a:lnTo>
                        <a:lnTo>
                          <a:pt x="694" y="604"/>
                        </a:lnTo>
                        <a:lnTo>
                          <a:pt x="694" y="201"/>
                        </a:lnTo>
                        <a:lnTo>
                          <a:pt x="347" y="0"/>
                        </a:lnTo>
                        <a:lnTo>
                          <a:pt x="0" y="201"/>
                        </a:lnTo>
                        <a:close/>
                      </a:path>
                    </a:pathLst>
                  </a:custGeom>
                  <a:solidFill>
                    <a:srgbClr val="FF8F43"/>
                  </a:solidFill>
                  <a:ln w="11176">
                    <a:noFill/>
                    <a:round/>
                  </a:ln>
                </p:spPr>
                <p:txBody>
                  <a:bodyPr/>
                  <a:lstStyle/>
                  <a:p>
                    <a:endParaRPr lang="zh-CN" altLang="en-US"/>
                  </a:p>
                </p:txBody>
              </p:sp>
              <p:sp>
                <p:nvSpPr>
                  <p:cNvPr id="291" name="Freeform 188"/>
                  <p:cNvSpPr/>
                  <p:nvPr/>
                </p:nvSpPr>
                <p:spPr bwMode="auto">
                  <a:xfrm>
                    <a:off x="1614" y="2125"/>
                    <a:ext cx="274" cy="275"/>
                  </a:xfrm>
                  <a:custGeom>
                    <a:avLst/>
                    <a:gdLst>
                      <a:gd name="T0" fmla="*/ 0 w 695"/>
                      <a:gd name="T1" fmla="*/ 3 h 805"/>
                      <a:gd name="T2" fmla="*/ 0 w 695"/>
                      <a:gd name="T3" fmla="*/ 8 h 805"/>
                      <a:gd name="T4" fmla="*/ 8 w 695"/>
                      <a:gd name="T5" fmla="*/ 11 h 805"/>
                      <a:gd name="T6" fmla="*/ 17 w 695"/>
                      <a:gd name="T7" fmla="*/ 8 h 805"/>
                      <a:gd name="T8" fmla="*/ 17 w 695"/>
                      <a:gd name="T9" fmla="*/ 3 h 805"/>
                      <a:gd name="T10" fmla="*/ 8 w 695"/>
                      <a:gd name="T11" fmla="*/ 0 h 805"/>
                      <a:gd name="T12" fmla="*/ 0 w 695"/>
                      <a:gd name="T13" fmla="*/ 3 h 805"/>
                      <a:gd name="T14" fmla="*/ 0 60000 65536"/>
                      <a:gd name="T15" fmla="*/ 0 60000 65536"/>
                      <a:gd name="T16" fmla="*/ 0 60000 65536"/>
                      <a:gd name="T17" fmla="*/ 0 60000 65536"/>
                      <a:gd name="T18" fmla="*/ 0 60000 65536"/>
                      <a:gd name="T19" fmla="*/ 0 60000 65536"/>
                      <a:gd name="T20" fmla="*/ 0 60000 65536"/>
                      <a:gd name="T21" fmla="*/ 0 w 695"/>
                      <a:gd name="T22" fmla="*/ 0 h 805"/>
                      <a:gd name="T23" fmla="*/ 695 w 695"/>
                      <a:gd name="T24" fmla="*/ 805 h 8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5" h="805">
                        <a:moveTo>
                          <a:pt x="0" y="201"/>
                        </a:moveTo>
                        <a:lnTo>
                          <a:pt x="0" y="604"/>
                        </a:lnTo>
                        <a:lnTo>
                          <a:pt x="348" y="805"/>
                        </a:lnTo>
                        <a:lnTo>
                          <a:pt x="695" y="604"/>
                        </a:lnTo>
                        <a:lnTo>
                          <a:pt x="695" y="201"/>
                        </a:lnTo>
                        <a:lnTo>
                          <a:pt x="348" y="0"/>
                        </a:lnTo>
                        <a:lnTo>
                          <a:pt x="0" y="201"/>
                        </a:lnTo>
                        <a:close/>
                      </a:path>
                    </a:pathLst>
                  </a:custGeom>
                  <a:solidFill>
                    <a:srgbClr val="4DFF15"/>
                  </a:solidFill>
                  <a:ln w="11113">
                    <a:noFill/>
                    <a:round/>
                  </a:ln>
                </p:spPr>
                <p:txBody>
                  <a:bodyPr/>
                  <a:lstStyle/>
                  <a:p>
                    <a:endParaRPr lang="zh-CN" altLang="en-US"/>
                  </a:p>
                </p:txBody>
              </p:sp>
            </p:grpSp>
            <p:cxnSp>
              <p:nvCxnSpPr>
                <p:cNvPr id="266" name="AutoShape 189"/>
                <p:cNvCxnSpPr>
                  <a:cxnSpLocks noChangeShapeType="1"/>
                </p:cNvCxnSpPr>
                <p:nvPr/>
              </p:nvCxnSpPr>
              <p:spPr bwMode="auto">
                <a:xfrm flipV="1">
                  <a:off x="4438" y="1344"/>
                  <a:ext cx="115" cy="63"/>
                </a:xfrm>
                <a:prstGeom prst="straightConnector1">
                  <a:avLst/>
                </a:prstGeom>
                <a:noFill/>
                <a:ln w="25400">
                  <a:solidFill>
                    <a:srgbClr val="000000"/>
                  </a:solidFill>
                  <a:round/>
                </a:ln>
              </p:spPr>
            </p:cxnSp>
            <p:cxnSp>
              <p:nvCxnSpPr>
                <p:cNvPr id="267" name="AutoShape 190"/>
                <p:cNvCxnSpPr>
                  <a:cxnSpLocks noChangeShapeType="1"/>
                </p:cNvCxnSpPr>
                <p:nvPr/>
              </p:nvCxnSpPr>
              <p:spPr bwMode="auto">
                <a:xfrm flipV="1">
                  <a:off x="4777" y="1909"/>
                  <a:ext cx="115" cy="63"/>
                </a:xfrm>
                <a:prstGeom prst="straightConnector1">
                  <a:avLst/>
                </a:prstGeom>
                <a:noFill/>
                <a:ln w="25400">
                  <a:solidFill>
                    <a:srgbClr val="000000"/>
                  </a:solidFill>
                  <a:round/>
                </a:ln>
              </p:spPr>
            </p:cxnSp>
            <p:cxnSp>
              <p:nvCxnSpPr>
                <p:cNvPr id="268" name="AutoShape 191"/>
                <p:cNvCxnSpPr>
                  <a:cxnSpLocks noChangeShapeType="1"/>
                </p:cNvCxnSpPr>
                <p:nvPr/>
              </p:nvCxnSpPr>
              <p:spPr bwMode="auto">
                <a:xfrm flipV="1">
                  <a:off x="4551" y="1909"/>
                  <a:ext cx="115" cy="63"/>
                </a:xfrm>
                <a:prstGeom prst="straightConnector1">
                  <a:avLst/>
                </a:prstGeom>
                <a:noFill/>
                <a:ln w="25400">
                  <a:solidFill>
                    <a:srgbClr val="000000"/>
                  </a:solidFill>
                  <a:round/>
                </a:ln>
              </p:spPr>
            </p:cxnSp>
            <p:cxnSp>
              <p:nvCxnSpPr>
                <p:cNvPr id="269" name="AutoShape 192"/>
                <p:cNvCxnSpPr>
                  <a:cxnSpLocks noChangeShapeType="1"/>
                </p:cNvCxnSpPr>
                <p:nvPr/>
              </p:nvCxnSpPr>
              <p:spPr bwMode="auto">
                <a:xfrm flipV="1">
                  <a:off x="4324" y="1532"/>
                  <a:ext cx="115" cy="63"/>
                </a:xfrm>
                <a:prstGeom prst="straightConnector1">
                  <a:avLst/>
                </a:prstGeom>
                <a:noFill/>
                <a:ln w="25400">
                  <a:solidFill>
                    <a:srgbClr val="000000"/>
                  </a:solidFill>
                  <a:round/>
                </a:ln>
              </p:spPr>
            </p:cxnSp>
            <p:cxnSp>
              <p:nvCxnSpPr>
                <p:cNvPr id="270" name="AutoShape 193"/>
                <p:cNvCxnSpPr>
                  <a:cxnSpLocks noChangeShapeType="1"/>
                </p:cNvCxnSpPr>
                <p:nvPr/>
              </p:nvCxnSpPr>
              <p:spPr bwMode="auto">
                <a:xfrm>
                  <a:off x="4324" y="1721"/>
                  <a:ext cx="114" cy="63"/>
                </a:xfrm>
                <a:prstGeom prst="straightConnector1">
                  <a:avLst/>
                </a:prstGeom>
                <a:noFill/>
                <a:ln w="25400">
                  <a:solidFill>
                    <a:srgbClr val="000000"/>
                  </a:solidFill>
                  <a:round/>
                </a:ln>
              </p:spPr>
            </p:cxnSp>
            <p:cxnSp>
              <p:nvCxnSpPr>
                <p:cNvPr id="271" name="AutoShape 194"/>
                <p:cNvCxnSpPr>
                  <a:cxnSpLocks noChangeShapeType="1"/>
                </p:cNvCxnSpPr>
                <p:nvPr/>
              </p:nvCxnSpPr>
              <p:spPr bwMode="auto">
                <a:xfrm>
                  <a:off x="4438" y="1908"/>
                  <a:ext cx="114" cy="64"/>
                </a:xfrm>
                <a:prstGeom prst="straightConnector1">
                  <a:avLst/>
                </a:prstGeom>
                <a:noFill/>
                <a:ln w="25400">
                  <a:solidFill>
                    <a:srgbClr val="000000"/>
                  </a:solidFill>
                  <a:round/>
                </a:ln>
              </p:spPr>
            </p:cxnSp>
            <p:cxnSp>
              <p:nvCxnSpPr>
                <p:cNvPr id="272" name="AutoShape 195"/>
                <p:cNvCxnSpPr>
                  <a:cxnSpLocks noChangeShapeType="1"/>
                </p:cNvCxnSpPr>
                <p:nvPr/>
              </p:nvCxnSpPr>
              <p:spPr bwMode="auto">
                <a:xfrm>
                  <a:off x="4551" y="1344"/>
                  <a:ext cx="114" cy="64"/>
                </a:xfrm>
                <a:prstGeom prst="straightConnector1">
                  <a:avLst/>
                </a:prstGeom>
                <a:noFill/>
                <a:ln w="25400">
                  <a:solidFill>
                    <a:srgbClr val="000000"/>
                  </a:solidFill>
                  <a:round/>
                </a:ln>
              </p:spPr>
            </p:cxnSp>
            <p:cxnSp>
              <p:nvCxnSpPr>
                <p:cNvPr id="273" name="AutoShape 196"/>
                <p:cNvCxnSpPr>
                  <a:cxnSpLocks noChangeShapeType="1"/>
                </p:cNvCxnSpPr>
                <p:nvPr/>
              </p:nvCxnSpPr>
              <p:spPr bwMode="auto">
                <a:xfrm>
                  <a:off x="4665" y="1908"/>
                  <a:ext cx="114" cy="64"/>
                </a:xfrm>
                <a:prstGeom prst="straightConnector1">
                  <a:avLst/>
                </a:prstGeom>
                <a:noFill/>
                <a:ln w="25400">
                  <a:solidFill>
                    <a:srgbClr val="000000"/>
                  </a:solidFill>
                  <a:round/>
                </a:ln>
              </p:spPr>
            </p:cxnSp>
            <p:cxnSp>
              <p:nvCxnSpPr>
                <p:cNvPr id="274" name="AutoShape 197"/>
                <p:cNvCxnSpPr>
                  <a:cxnSpLocks noChangeShapeType="1"/>
                  <a:stCxn id="289" idx="6"/>
                </p:cNvCxnSpPr>
                <p:nvPr/>
              </p:nvCxnSpPr>
              <p:spPr bwMode="auto">
                <a:xfrm>
                  <a:off x="4324" y="1597"/>
                  <a:ext cx="0" cy="124"/>
                </a:xfrm>
                <a:prstGeom prst="straightConnector1">
                  <a:avLst/>
                </a:prstGeom>
                <a:noFill/>
                <a:ln w="25400">
                  <a:solidFill>
                    <a:srgbClr val="000000"/>
                  </a:solidFill>
                  <a:round/>
                </a:ln>
              </p:spPr>
            </p:cxnSp>
            <p:grpSp>
              <p:nvGrpSpPr>
                <p:cNvPr id="275" name="Group 198"/>
                <p:cNvGrpSpPr/>
                <p:nvPr/>
              </p:nvGrpSpPr>
              <p:grpSpPr bwMode="auto">
                <a:xfrm>
                  <a:off x="4778" y="1344"/>
                  <a:ext cx="234" cy="571"/>
                  <a:chOff x="1746" y="2115"/>
                  <a:chExt cx="280" cy="619"/>
                </a:xfrm>
              </p:grpSpPr>
              <p:cxnSp>
                <p:nvCxnSpPr>
                  <p:cNvPr id="278" name="AutoShape 199"/>
                  <p:cNvCxnSpPr>
                    <a:cxnSpLocks noChangeShapeType="1"/>
                    <a:stCxn id="286" idx="4"/>
                  </p:cNvCxnSpPr>
                  <p:nvPr/>
                </p:nvCxnSpPr>
                <p:spPr bwMode="auto">
                  <a:xfrm flipV="1">
                    <a:off x="1888" y="2523"/>
                    <a:ext cx="132" cy="74"/>
                  </a:xfrm>
                  <a:prstGeom prst="straightConnector1">
                    <a:avLst/>
                  </a:prstGeom>
                  <a:noFill/>
                  <a:ln w="25400">
                    <a:solidFill>
                      <a:srgbClr val="000000"/>
                    </a:solidFill>
                    <a:round/>
                  </a:ln>
                </p:spPr>
              </p:cxnSp>
              <p:grpSp>
                <p:nvGrpSpPr>
                  <p:cNvPr id="279" name="Group 200"/>
                  <p:cNvGrpSpPr/>
                  <p:nvPr/>
                </p:nvGrpSpPr>
                <p:grpSpPr bwMode="auto">
                  <a:xfrm>
                    <a:off x="1746" y="2115"/>
                    <a:ext cx="280" cy="415"/>
                    <a:chOff x="1746" y="2115"/>
                    <a:chExt cx="280" cy="415"/>
                  </a:xfrm>
                </p:grpSpPr>
                <p:cxnSp>
                  <p:nvCxnSpPr>
                    <p:cNvPr id="281" name="AutoShape 201"/>
                    <p:cNvCxnSpPr>
                      <a:cxnSpLocks noChangeShapeType="1"/>
                      <a:stCxn id="288" idx="5"/>
                      <a:endCxn id="288" idx="4"/>
                    </p:cNvCxnSpPr>
                    <p:nvPr/>
                  </p:nvCxnSpPr>
                  <p:spPr bwMode="auto">
                    <a:xfrm>
                      <a:off x="1889" y="2324"/>
                      <a:ext cx="137" cy="69"/>
                    </a:xfrm>
                    <a:prstGeom prst="straightConnector1">
                      <a:avLst/>
                    </a:prstGeom>
                    <a:noFill/>
                    <a:ln w="25400">
                      <a:solidFill>
                        <a:srgbClr val="000000"/>
                      </a:solidFill>
                      <a:round/>
                    </a:ln>
                  </p:spPr>
                </p:cxnSp>
                <p:cxnSp>
                  <p:nvCxnSpPr>
                    <p:cNvPr id="282" name="AutoShape 202"/>
                    <p:cNvCxnSpPr>
                      <a:cxnSpLocks noChangeShapeType="1"/>
                      <a:endCxn id="291" idx="4"/>
                    </p:cNvCxnSpPr>
                    <p:nvPr/>
                  </p:nvCxnSpPr>
                  <p:spPr bwMode="auto">
                    <a:xfrm>
                      <a:off x="1746" y="2115"/>
                      <a:ext cx="142" cy="79"/>
                    </a:xfrm>
                    <a:prstGeom prst="straightConnector1">
                      <a:avLst/>
                    </a:prstGeom>
                    <a:noFill/>
                    <a:ln w="25400">
                      <a:solidFill>
                        <a:srgbClr val="000000"/>
                      </a:solidFill>
                      <a:round/>
                    </a:ln>
                  </p:spPr>
                </p:cxnSp>
                <p:cxnSp>
                  <p:nvCxnSpPr>
                    <p:cNvPr id="283" name="AutoShape 203"/>
                    <p:cNvCxnSpPr>
                      <a:cxnSpLocks noChangeShapeType="1"/>
                      <a:endCxn id="288" idx="3"/>
                    </p:cNvCxnSpPr>
                    <p:nvPr/>
                  </p:nvCxnSpPr>
                  <p:spPr bwMode="auto">
                    <a:xfrm>
                      <a:off x="2018" y="2387"/>
                      <a:ext cx="8" cy="143"/>
                    </a:xfrm>
                    <a:prstGeom prst="straightConnector1">
                      <a:avLst/>
                    </a:prstGeom>
                    <a:noFill/>
                    <a:ln w="25400">
                      <a:solidFill>
                        <a:srgbClr val="000000"/>
                      </a:solidFill>
                      <a:round/>
                    </a:ln>
                  </p:spPr>
                </p:cxnSp>
                <p:cxnSp>
                  <p:nvCxnSpPr>
                    <p:cNvPr id="284" name="AutoShape 204"/>
                    <p:cNvCxnSpPr>
                      <a:cxnSpLocks noChangeShapeType="1"/>
                      <a:stCxn id="291" idx="4"/>
                      <a:endCxn id="288" idx="5"/>
                    </p:cNvCxnSpPr>
                    <p:nvPr/>
                  </p:nvCxnSpPr>
                  <p:spPr bwMode="auto">
                    <a:xfrm>
                      <a:off x="1888" y="2194"/>
                      <a:ext cx="1" cy="130"/>
                    </a:xfrm>
                    <a:prstGeom prst="straightConnector1">
                      <a:avLst/>
                    </a:prstGeom>
                    <a:noFill/>
                    <a:ln w="25400">
                      <a:solidFill>
                        <a:srgbClr val="000000"/>
                      </a:solidFill>
                      <a:round/>
                    </a:ln>
                  </p:spPr>
                </p:cxnSp>
              </p:grpSp>
              <p:cxnSp>
                <p:nvCxnSpPr>
                  <p:cNvPr id="280" name="AutoShape 205"/>
                  <p:cNvCxnSpPr>
                    <a:cxnSpLocks noChangeShapeType="1"/>
                    <a:stCxn id="288" idx="2"/>
                    <a:endCxn id="286" idx="3"/>
                  </p:cNvCxnSpPr>
                  <p:nvPr/>
                </p:nvCxnSpPr>
                <p:spPr bwMode="auto">
                  <a:xfrm flipH="1">
                    <a:off x="1888" y="2599"/>
                    <a:ext cx="1" cy="135"/>
                  </a:xfrm>
                  <a:prstGeom prst="straightConnector1">
                    <a:avLst/>
                  </a:prstGeom>
                  <a:noFill/>
                  <a:ln w="25400">
                    <a:solidFill>
                      <a:srgbClr val="000000"/>
                    </a:solidFill>
                    <a:round/>
                  </a:ln>
                </p:spPr>
              </p:cxnSp>
            </p:grpSp>
            <p:cxnSp>
              <p:nvCxnSpPr>
                <p:cNvPr id="276" name="AutoShape 206"/>
                <p:cNvCxnSpPr>
                  <a:cxnSpLocks noChangeShapeType="1"/>
                  <a:stCxn id="289" idx="2"/>
                  <a:endCxn id="285" idx="1"/>
                </p:cNvCxnSpPr>
                <p:nvPr/>
              </p:nvCxnSpPr>
              <p:spPr bwMode="auto">
                <a:xfrm flipH="1">
                  <a:off x="4438" y="1787"/>
                  <a:ext cx="1" cy="126"/>
                </a:xfrm>
                <a:prstGeom prst="straightConnector1">
                  <a:avLst/>
                </a:prstGeom>
                <a:noFill/>
                <a:ln w="25400">
                  <a:solidFill>
                    <a:srgbClr val="000000"/>
                  </a:solidFill>
                  <a:round/>
                </a:ln>
              </p:spPr>
            </p:cxnSp>
            <p:cxnSp>
              <p:nvCxnSpPr>
                <p:cNvPr id="277" name="AutoShape 207"/>
                <p:cNvCxnSpPr>
                  <a:cxnSpLocks noChangeShapeType="1"/>
                  <a:stCxn id="290" idx="6"/>
                  <a:endCxn id="289" idx="5"/>
                </p:cNvCxnSpPr>
                <p:nvPr/>
              </p:nvCxnSpPr>
              <p:spPr bwMode="auto">
                <a:xfrm>
                  <a:off x="4438" y="1407"/>
                  <a:ext cx="1" cy="126"/>
                </a:xfrm>
                <a:prstGeom prst="straightConnector1">
                  <a:avLst/>
                </a:prstGeom>
                <a:noFill/>
                <a:ln w="25400">
                  <a:solidFill>
                    <a:srgbClr val="000000"/>
                  </a:solidFill>
                  <a:round/>
                </a:ln>
              </p:spPr>
            </p:cxnSp>
          </p:grpSp>
        </p:grpSp>
        <p:sp>
          <p:nvSpPr>
            <p:cNvPr id="245" name="Text Box 303"/>
            <p:cNvSpPr txBox="1">
              <a:spLocks noChangeArrowheads="1"/>
            </p:cNvSpPr>
            <p:nvPr/>
          </p:nvSpPr>
          <p:spPr bwMode="auto">
            <a:xfrm>
              <a:off x="7561248" y="3975498"/>
              <a:ext cx="1119217" cy="634020"/>
            </a:xfrm>
            <a:prstGeom prst="rect">
              <a:avLst/>
            </a:prstGeom>
            <a:noFill/>
            <a:ln w="25400" algn="ctr">
              <a:noFill/>
              <a:miter lim="800000"/>
            </a:ln>
          </p:spPr>
          <p:txBody>
            <a:bodyPr wrap="none">
              <a:spAutoFit/>
            </a:bodyPr>
            <a:lstStyle/>
            <a:p>
              <a:pPr marL="342900" indent="-342900" algn="ctr">
                <a:spcBef>
                  <a:spcPct val="20000"/>
                </a:spcBef>
                <a:buClr>
                  <a:schemeClr val="hlink"/>
                </a:buClr>
              </a:pPr>
              <a:r>
                <a:rPr lang="en-US" altLang="zh-CN" sz="1600" b="1" i="1">
                  <a:latin typeface="Times New Roman" panose="02020603050405020304" pitchFamily="18" charset="0"/>
                </a:rPr>
                <a:t>q=D/R=4.6</a:t>
              </a:r>
              <a:endParaRPr lang="en-US" altLang="zh-CN" sz="1600" b="1" i="1">
                <a:latin typeface="Times New Roman" panose="02020603050405020304" pitchFamily="18" charset="0"/>
              </a:endParaRPr>
            </a:p>
            <a:p>
              <a:pPr marL="342900" indent="-342900" algn="ctr">
                <a:spcBef>
                  <a:spcPct val="20000"/>
                </a:spcBef>
                <a:buClr>
                  <a:schemeClr val="hlink"/>
                </a:buClr>
              </a:pPr>
              <a:r>
                <a:rPr lang="en-US" altLang="zh-CN" sz="1600" b="1" i="1">
                  <a:latin typeface="Times New Roman" panose="02020603050405020304" pitchFamily="18" charset="0"/>
                </a:rPr>
                <a:t>N=7</a:t>
              </a:r>
              <a:endParaRPr lang="en-US" altLang="zh-CN" sz="1600" b="1" i="1">
                <a:latin typeface="Times New Roman" panose="02020603050405020304" pitchFamily="18" charset="0"/>
              </a:endParaRPr>
            </a:p>
          </p:txBody>
        </p:sp>
        <p:sp>
          <p:nvSpPr>
            <p:cNvPr id="246" name="Line 304"/>
            <p:cNvSpPr>
              <a:spLocks noChangeShapeType="1"/>
            </p:cNvSpPr>
            <p:nvPr/>
          </p:nvSpPr>
          <p:spPr bwMode="auto">
            <a:xfrm flipV="1">
              <a:off x="6804026" y="2085975"/>
              <a:ext cx="144463" cy="161925"/>
            </a:xfrm>
            <a:prstGeom prst="line">
              <a:avLst/>
            </a:prstGeom>
            <a:noFill/>
            <a:ln w="12700">
              <a:solidFill>
                <a:srgbClr val="000000"/>
              </a:solidFill>
              <a:round/>
            </a:ln>
          </p:spPr>
          <p:txBody>
            <a:bodyPr wrap="none" anchor="ctr"/>
            <a:lstStyle/>
            <a:p>
              <a:endParaRPr lang="zh-CN" altLang="en-US"/>
            </a:p>
          </p:txBody>
        </p:sp>
        <p:sp>
          <p:nvSpPr>
            <p:cNvPr id="247" name="Line 305"/>
            <p:cNvSpPr>
              <a:spLocks noChangeShapeType="1"/>
            </p:cNvSpPr>
            <p:nvPr/>
          </p:nvSpPr>
          <p:spPr bwMode="auto">
            <a:xfrm flipV="1">
              <a:off x="7667626" y="2518172"/>
              <a:ext cx="144463" cy="161925"/>
            </a:xfrm>
            <a:prstGeom prst="line">
              <a:avLst/>
            </a:prstGeom>
            <a:noFill/>
            <a:ln w="12700">
              <a:solidFill>
                <a:srgbClr val="000000"/>
              </a:solidFill>
              <a:round/>
            </a:ln>
          </p:spPr>
          <p:txBody>
            <a:bodyPr wrap="none" anchor="ctr"/>
            <a:lstStyle/>
            <a:p>
              <a:endParaRPr lang="zh-CN" altLang="en-US"/>
            </a:p>
          </p:txBody>
        </p:sp>
        <p:sp>
          <p:nvSpPr>
            <p:cNvPr id="248" name="Line 306"/>
            <p:cNvSpPr>
              <a:spLocks noChangeShapeType="1"/>
            </p:cNvSpPr>
            <p:nvPr/>
          </p:nvSpPr>
          <p:spPr bwMode="auto">
            <a:xfrm>
              <a:off x="7451726" y="2463404"/>
              <a:ext cx="288925" cy="161925"/>
            </a:xfrm>
            <a:prstGeom prst="line">
              <a:avLst/>
            </a:prstGeom>
            <a:noFill/>
            <a:ln w="12700">
              <a:solidFill>
                <a:srgbClr val="000000"/>
              </a:solidFill>
              <a:round/>
              <a:tailEnd type="triangle" w="med" len="med"/>
            </a:ln>
          </p:spPr>
          <p:txBody>
            <a:bodyPr wrap="none" anchor="ctr"/>
            <a:lstStyle/>
            <a:p>
              <a:endParaRPr lang="zh-CN" altLang="en-US"/>
            </a:p>
          </p:txBody>
        </p:sp>
        <p:sp>
          <p:nvSpPr>
            <p:cNvPr id="249" name="Line 307"/>
            <p:cNvSpPr>
              <a:spLocks noChangeShapeType="1"/>
            </p:cNvSpPr>
            <p:nvPr/>
          </p:nvSpPr>
          <p:spPr bwMode="auto">
            <a:xfrm flipH="1" flipV="1">
              <a:off x="6877050" y="2139554"/>
              <a:ext cx="287338" cy="161925"/>
            </a:xfrm>
            <a:prstGeom prst="line">
              <a:avLst/>
            </a:prstGeom>
            <a:noFill/>
            <a:ln w="12700">
              <a:solidFill>
                <a:srgbClr val="000000"/>
              </a:solidFill>
              <a:round/>
              <a:tailEnd type="triangle" w="med" len="med"/>
            </a:ln>
          </p:spPr>
          <p:txBody>
            <a:bodyPr wrap="none" anchor="ctr"/>
            <a:lstStyle/>
            <a:p>
              <a:endParaRPr lang="zh-CN" altLang="en-US"/>
            </a:p>
          </p:txBody>
        </p:sp>
        <p:sp>
          <p:nvSpPr>
            <p:cNvPr id="250" name="Text Box 308"/>
            <p:cNvSpPr txBox="1">
              <a:spLocks noChangeArrowheads="1"/>
            </p:cNvSpPr>
            <p:nvPr/>
          </p:nvSpPr>
          <p:spPr bwMode="auto">
            <a:xfrm rot="1391494">
              <a:off x="7163324" y="2200752"/>
              <a:ext cx="351378" cy="369332"/>
            </a:xfrm>
            <a:prstGeom prst="rect">
              <a:avLst/>
            </a:prstGeom>
            <a:noFill/>
            <a:ln w="25400" algn="ctr">
              <a:noFill/>
              <a:miter lim="800000"/>
            </a:ln>
            <a:effectLst/>
          </p:spPr>
          <p:txBody>
            <a:bodyPr wrap="none">
              <a:spAutoFit/>
            </a:bodyPr>
            <a:lstStyle/>
            <a:p>
              <a:pPr marL="342900" indent="-342900" algn="ctr">
                <a:spcBef>
                  <a:spcPct val="20000"/>
                </a:spcBef>
                <a:buClr>
                  <a:schemeClr val="hlink"/>
                </a:buClr>
                <a:defRPr/>
              </a:pPr>
              <a:r>
                <a:rPr lang="en-US" altLang="zh-CN" b="1" i="1">
                  <a:effectLst>
                    <a:outerShdw blurRad="38100" dist="38100" dir="2700000" algn="tl">
                      <a:srgbClr val="C0C0C0"/>
                    </a:outerShdw>
                  </a:effectLst>
                  <a:latin typeface="Times New Roman" panose="02020603050405020304" pitchFamily="18" charset="0"/>
                </a:rPr>
                <a:t>D</a:t>
              </a:r>
              <a:endParaRPr lang="en-US" altLang="zh-CN" b="1" i="1">
                <a:effectLst>
                  <a:outerShdw blurRad="38100" dist="38100" dir="2700000" algn="tl">
                    <a:srgbClr val="C0C0C0"/>
                  </a:outerShdw>
                </a:effectLst>
                <a:latin typeface="Times New Roman" panose="02020603050405020304" pitchFamily="18" charset="0"/>
              </a:endParaRPr>
            </a:p>
          </p:txBody>
        </p:sp>
        <p:sp>
          <p:nvSpPr>
            <p:cNvPr id="251" name="Line 309"/>
            <p:cNvSpPr>
              <a:spLocks noChangeShapeType="1"/>
            </p:cNvSpPr>
            <p:nvPr/>
          </p:nvSpPr>
          <p:spPr bwMode="auto">
            <a:xfrm flipH="1" flipV="1">
              <a:off x="6084889" y="2031207"/>
              <a:ext cx="142875" cy="216694"/>
            </a:xfrm>
            <a:prstGeom prst="line">
              <a:avLst/>
            </a:prstGeom>
            <a:noFill/>
            <a:ln w="12700">
              <a:solidFill>
                <a:srgbClr val="000000"/>
              </a:solidFill>
              <a:round/>
            </a:ln>
          </p:spPr>
          <p:txBody>
            <a:bodyPr wrap="none" anchor="ctr"/>
            <a:lstStyle/>
            <a:p>
              <a:endParaRPr lang="zh-CN" altLang="en-US"/>
            </a:p>
          </p:txBody>
        </p:sp>
        <p:sp>
          <p:nvSpPr>
            <p:cNvPr id="252" name="Line 310"/>
            <p:cNvSpPr>
              <a:spLocks noChangeShapeType="1"/>
            </p:cNvSpPr>
            <p:nvPr/>
          </p:nvSpPr>
          <p:spPr bwMode="auto">
            <a:xfrm flipH="1" flipV="1">
              <a:off x="5867400" y="2031207"/>
              <a:ext cx="217488" cy="378619"/>
            </a:xfrm>
            <a:prstGeom prst="line">
              <a:avLst/>
            </a:prstGeom>
            <a:noFill/>
            <a:ln w="12700">
              <a:solidFill>
                <a:srgbClr val="000000"/>
              </a:solidFill>
              <a:round/>
            </a:ln>
          </p:spPr>
          <p:txBody>
            <a:bodyPr wrap="none" anchor="ctr"/>
            <a:lstStyle/>
            <a:p>
              <a:endParaRPr lang="zh-CN" altLang="en-US"/>
            </a:p>
          </p:txBody>
        </p:sp>
        <p:sp>
          <p:nvSpPr>
            <p:cNvPr id="253" name="Line 311"/>
            <p:cNvSpPr>
              <a:spLocks noChangeShapeType="1"/>
            </p:cNvSpPr>
            <p:nvPr/>
          </p:nvSpPr>
          <p:spPr bwMode="auto">
            <a:xfrm flipV="1">
              <a:off x="5795963" y="2139554"/>
              <a:ext cx="144462" cy="53578"/>
            </a:xfrm>
            <a:prstGeom prst="line">
              <a:avLst/>
            </a:prstGeom>
            <a:noFill/>
            <a:ln w="12700">
              <a:solidFill>
                <a:srgbClr val="000000"/>
              </a:solidFill>
              <a:round/>
              <a:tailEnd type="triangle" w="med" len="med"/>
            </a:ln>
          </p:spPr>
          <p:txBody>
            <a:bodyPr wrap="none" anchor="ctr"/>
            <a:lstStyle/>
            <a:p>
              <a:endParaRPr lang="zh-CN" altLang="en-US"/>
            </a:p>
          </p:txBody>
        </p:sp>
        <p:sp>
          <p:nvSpPr>
            <p:cNvPr id="254" name="Line 312"/>
            <p:cNvSpPr>
              <a:spLocks noChangeShapeType="1"/>
            </p:cNvSpPr>
            <p:nvPr/>
          </p:nvSpPr>
          <p:spPr bwMode="auto">
            <a:xfrm flipH="1">
              <a:off x="6084888" y="2031207"/>
              <a:ext cx="215900" cy="54769"/>
            </a:xfrm>
            <a:prstGeom prst="line">
              <a:avLst/>
            </a:prstGeom>
            <a:noFill/>
            <a:ln w="12700">
              <a:solidFill>
                <a:srgbClr val="000000"/>
              </a:solidFill>
              <a:round/>
              <a:tailEnd type="triangle" w="med" len="med"/>
            </a:ln>
          </p:spPr>
          <p:txBody>
            <a:bodyPr wrap="none" anchor="ctr"/>
            <a:lstStyle/>
            <a:p>
              <a:endParaRPr lang="zh-CN" altLang="en-US"/>
            </a:p>
          </p:txBody>
        </p:sp>
        <p:sp>
          <p:nvSpPr>
            <p:cNvPr id="255" name="Text Box 313"/>
            <p:cNvSpPr txBox="1">
              <a:spLocks noChangeArrowheads="1"/>
            </p:cNvSpPr>
            <p:nvPr/>
          </p:nvSpPr>
          <p:spPr bwMode="auto">
            <a:xfrm rot="-1078149">
              <a:off x="5434598" y="2038827"/>
              <a:ext cx="338554" cy="369332"/>
            </a:xfrm>
            <a:prstGeom prst="rect">
              <a:avLst/>
            </a:prstGeom>
            <a:noFill/>
            <a:ln w="12700" algn="ctr">
              <a:noFill/>
              <a:miter lim="800000"/>
            </a:ln>
            <a:effectLst/>
          </p:spPr>
          <p:txBody>
            <a:bodyPr wrap="none">
              <a:spAutoFit/>
            </a:bodyPr>
            <a:lstStyle/>
            <a:p>
              <a:pPr marL="342900" indent="-342900" algn="ctr">
                <a:spcBef>
                  <a:spcPct val="20000"/>
                </a:spcBef>
                <a:buClr>
                  <a:schemeClr val="hlink"/>
                </a:buClr>
                <a:defRPr/>
              </a:pPr>
              <a:r>
                <a:rPr lang="en-US" altLang="zh-CN" b="1" i="1">
                  <a:effectLst>
                    <a:outerShdw blurRad="38100" dist="38100" dir="2700000" algn="tl">
                      <a:srgbClr val="C0C0C0"/>
                    </a:outerShdw>
                  </a:effectLst>
                  <a:latin typeface="Times New Roman" panose="02020603050405020304" pitchFamily="18" charset="0"/>
                </a:rPr>
                <a:t>R</a:t>
              </a:r>
              <a:endParaRPr lang="en-US" altLang="zh-CN" b="1" i="1">
                <a:effectLst>
                  <a:outerShdw blurRad="38100" dist="38100" dir="2700000" algn="tl">
                    <a:srgbClr val="C0C0C0"/>
                  </a:outerShdw>
                </a:effectLst>
                <a:latin typeface="Times New Roman" panose="02020603050405020304" pitchFamily="18" charset="0"/>
              </a:endParaRPr>
            </a:p>
          </p:txBody>
        </p:sp>
        <p:pic>
          <p:nvPicPr>
            <p:cNvPr id="256" name="Picture 324" descr="图片1"/>
            <p:cNvPicPr>
              <a:picLocks noChangeAspect="1" noChangeArrowheads="1"/>
            </p:cNvPicPr>
            <p:nvPr/>
          </p:nvPicPr>
          <p:blipFill>
            <a:blip r:embed="rId2" cstate="print"/>
            <a:srcRect/>
            <a:stretch>
              <a:fillRect/>
            </a:stretch>
          </p:blipFill>
          <p:spPr bwMode="auto">
            <a:xfrm>
              <a:off x="4787901" y="2247900"/>
              <a:ext cx="3400425" cy="2328863"/>
            </a:xfrm>
            <a:prstGeom prst="rect">
              <a:avLst/>
            </a:prstGeom>
            <a:noFill/>
            <a:ln w="9525">
              <a:noFill/>
              <a:miter lim="800000"/>
              <a:headEnd/>
              <a:tailEnd/>
            </a:ln>
          </p:spPr>
        </p:pic>
      </p:grpSp>
      <p:graphicFrame>
        <p:nvGraphicFramePr>
          <p:cNvPr id="449544" name="Object 11"/>
          <p:cNvGraphicFramePr>
            <a:graphicFrameLocks noChangeAspect="1"/>
          </p:cNvGraphicFramePr>
          <p:nvPr/>
        </p:nvGraphicFramePr>
        <p:xfrm>
          <a:off x="5868144" y="771550"/>
          <a:ext cx="1224136" cy="875906"/>
        </p:xfrm>
        <a:graphic>
          <a:graphicData uri="http://schemas.openxmlformats.org/presentationml/2006/ole">
            <mc:AlternateContent xmlns:mc="http://schemas.openxmlformats.org/markup-compatibility/2006">
              <mc:Choice xmlns:v="urn:schemas-microsoft-com:vml" Requires="v">
                <p:oleObj spid="_x0000_s3073" name="" r:id="rId3" imgW="15544800" imgH="14935200" progId="">
                  <p:embed/>
                </p:oleObj>
              </mc:Choice>
              <mc:Fallback>
                <p:oleObj name="" r:id="rId3" imgW="15544800" imgH="14935200" progId="">
                  <p:embed/>
                  <p:pic>
                    <p:nvPicPr>
                      <p:cNvPr id="0" name="Object 11"/>
                      <p:cNvPicPr>
                        <a:picLocks noChangeAspect="1"/>
                      </p:cNvPicPr>
                      <p:nvPr/>
                    </p:nvPicPr>
                    <p:blipFill>
                      <a:blip r:embed="rId4"/>
                      <a:stretch>
                        <a:fillRect/>
                      </a:stretch>
                    </p:blipFill>
                    <p:spPr>
                      <a:xfrm>
                        <a:off x="5868144" y="771550"/>
                        <a:ext cx="1224136" cy="875906"/>
                      </a:xfrm>
                      <a:prstGeom prst="rect">
                        <a:avLst/>
                      </a:prstGeom>
                      <a:noFill/>
                      <a:ln w="9525">
                        <a:noFill/>
                      </a:ln>
                    </p:spPr>
                  </p:pic>
                </p:oleObj>
              </mc:Fallback>
            </mc:AlternateContent>
          </a:graphicData>
        </a:graphic>
      </p:graphicFrame>
      <p:graphicFrame>
        <p:nvGraphicFramePr>
          <p:cNvPr id="461" name="对象 460"/>
          <p:cNvGraphicFramePr>
            <a:graphicFrameLocks noChangeAspect="1"/>
          </p:cNvGraphicFramePr>
          <p:nvPr/>
        </p:nvGraphicFramePr>
        <p:xfrm>
          <a:off x="6012160" y="2643758"/>
          <a:ext cx="2664296" cy="1370209"/>
        </p:xfrm>
        <a:graphic>
          <a:graphicData uri="http://schemas.openxmlformats.org/presentationml/2006/ole">
            <mc:AlternateContent xmlns:mc="http://schemas.openxmlformats.org/markup-compatibility/2006">
              <mc:Choice xmlns:v="urn:schemas-microsoft-com:vml" Requires="v">
                <p:oleObj spid="_x0000_s3074" name="公式" r:id="rId5" imgW="42672000" imgH="21945600" progId="Equation.KSEE3">
                  <p:embed/>
                </p:oleObj>
              </mc:Choice>
              <mc:Fallback>
                <p:oleObj name="公式" r:id="rId5" imgW="42672000" imgH="21945600" progId="Equation.KSEE3">
                  <p:embed/>
                  <p:pic>
                    <p:nvPicPr>
                      <p:cNvPr id="0" name="图片 3073"/>
                      <p:cNvPicPr>
                        <a:picLocks noChangeAspect="1"/>
                      </p:cNvPicPr>
                      <p:nvPr/>
                    </p:nvPicPr>
                    <p:blipFill>
                      <a:blip r:embed="rId6"/>
                      <a:stretch>
                        <a:fillRect/>
                      </a:stretch>
                    </p:blipFill>
                    <p:spPr>
                      <a:xfrm>
                        <a:off x="6012160" y="2643758"/>
                        <a:ext cx="2664296" cy="1370209"/>
                      </a:xfrm>
                      <a:prstGeom prst="rect">
                        <a:avLst/>
                      </a:prstGeom>
                      <a:noFill/>
                      <a:ln w="9525">
                        <a:noFill/>
                      </a:ln>
                    </p:spPr>
                  </p:pic>
                </p:oleObj>
              </mc:Fallback>
            </mc:AlternateContent>
          </a:graphicData>
        </a:graphic>
      </p:graphicFrame>
      <p:sp>
        <p:nvSpPr>
          <p:cNvPr id="462" name="TextBox 461"/>
          <p:cNvSpPr txBox="1"/>
          <p:nvPr/>
        </p:nvSpPr>
        <p:spPr>
          <a:xfrm>
            <a:off x="4067944" y="1563638"/>
            <a:ext cx="4464496" cy="1042208"/>
          </a:xfrm>
          <a:prstGeom prst="rect">
            <a:avLst/>
          </a:prstGeom>
          <a:noFill/>
        </p:spPr>
        <p:txBody>
          <a:bodyPr wrap="square" rtlCol="0">
            <a:spAutoFit/>
          </a:bodyPr>
          <a:lstStyle/>
          <a:p>
            <a:pPr>
              <a:lnSpc>
                <a:spcPct val="150000"/>
              </a:lnSpc>
            </a:pPr>
            <a:r>
              <a:rPr lang="zh-CN" altLang="en-US" sz="2200" dirty="0" smtClean="0"/>
              <a:t>考虑最坏情况，移动台位于小区边缘，考虑第一层干扰。</a:t>
            </a:r>
            <a:endParaRPr lang="zh-CN" altLang="en-US" sz="2200" dirty="0"/>
          </a:p>
        </p:txBody>
      </p:sp>
      <p:graphicFrame>
        <p:nvGraphicFramePr>
          <p:cNvPr id="449546" name="Object 17"/>
          <p:cNvGraphicFramePr>
            <a:graphicFrameLocks noChangeAspect="1"/>
          </p:cNvGraphicFramePr>
          <p:nvPr/>
        </p:nvGraphicFramePr>
        <p:xfrm>
          <a:off x="3995936" y="3003798"/>
          <a:ext cx="1584176" cy="432048"/>
        </p:xfrm>
        <a:graphic>
          <a:graphicData uri="http://schemas.openxmlformats.org/presentationml/2006/ole">
            <mc:AlternateContent xmlns:mc="http://schemas.openxmlformats.org/markup-compatibility/2006">
              <mc:Choice xmlns:v="urn:schemas-microsoft-com:vml" Requires="v">
                <p:oleObj spid="_x0000_s3075" name="" r:id="rId7" imgW="18897600" imgH="5791200" progId="">
                  <p:embed/>
                </p:oleObj>
              </mc:Choice>
              <mc:Fallback>
                <p:oleObj name="" r:id="rId7" imgW="18897600" imgH="5791200" progId="">
                  <p:embed/>
                  <p:pic>
                    <p:nvPicPr>
                      <p:cNvPr id="0" name="Object 17"/>
                      <p:cNvPicPr>
                        <a:picLocks noChangeAspect="1"/>
                      </p:cNvPicPr>
                      <p:nvPr/>
                    </p:nvPicPr>
                    <p:blipFill>
                      <a:blip r:embed="rId8"/>
                      <a:stretch>
                        <a:fillRect/>
                      </a:stretch>
                    </p:blipFill>
                    <p:spPr>
                      <a:xfrm>
                        <a:off x="3995936" y="3003798"/>
                        <a:ext cx="1584176" cy="432048"/>
                      </a:xfrm>
                      <a:prstGeom prst="rect">
                        <a:avLst/>
                      </a:prstGeom>
                      <a:noFill/>
                      <a:ln w="9525">
                        <a:noFill/>
                      </a:ln>
                    </p:spPr>
                  </p:pic>
                </p:oleObj>
              </mc:Fallback>
            </mc:AlternateContent>
          </a:graphicData>
        </a:graphic>
      </p:graphicFrame>
      <p:graphicFrame>
        <p:nvGraphicFramePr>
          <p:cNvPr id="449547" name="Object 5"/>
          <p:cNvGraphicFramePr>
            <a:graphicFrameLocks noChangeAspect="1"/>
          </p:cNvGraphicFramePr>
          <p:nvPr/>
        </p:nvGraphicFramePr>
        <p:xfrm>
          <a:off x="4788024" y="4227934"/>
          <a:ext cx="2376264" cy="610526"/>
        </p:xfrm>
        <a:graphic>
          <a:graphicData uri="http://schemas.openxmlformats.org/presentationml/2006/ole">
            <mc:AlternateContent xmlns:mc="http://schemas.openxmlformats.org/markup-compatibility/2006">
              <mc:Choice xmlns:v="urn:schemas-microsoft-com:vml" Requires="v">
                <p:oleObj spid="_x0000_s3076" name="" r:id="rId9" imgW="21945600" imgH="9448800" progId="">
                  <p:embed/>
                </p:oleObj>
              </mc:Choice>
              <mc:Fallback>
                <p:oleObj name="" r:id="rId9" imgW="21945600" imgH="9448800" progId="">
                  <p:embed/>
                  <p:pic>
                    <p:nvPicPr>
                      <p:cNvPr id="0" name="Object 5"/>
                      <p:cNvPicPr>
                        <a:picLocks noChangeAspect="1"/>
                      </p:cNvPicPr>
                      <p:nvPr/>
                    </p:nvPicPr>
                    <p:blipFill>
                      <a:blip r:embed="rId10"/>
                      <a:stretch>
                        <a:fillRect/>
                      </a:stretch>
                    </p:blipFill>
                    <p:spPr>
                      <a:xfrm>
                        <a:off x="4788024" y="4227934"/>
                        <a:ext cx="2376264" cy="610526"/>
                      </a:xfrm>
                      <a:prstGeom prst="rect">
                        <a:avLst/>
                      </a:prstGeom>
                      <a:noFill/>
                      <a:ln w="9525">
                        <a:noFill/>
                      </a:ln>
                    </p:spPr>
                  </p:pic>
                </p:oleObj>
              </mc:Fallback>
            </mc:AlternateContent>
          </a:graphicData>
        </a:graphic>
      </p:graphicFrame>
      <p:sp>
        <p:nvSpPr>
          <p:cNvPr id="465" name="TextBox 464"/>
          <p:cNvSpPr txBox="1"/>
          <p:nvPr/>
        </p:nvSpPr>
        <p:spPr>
          <a:xfrm>
            <a:off x="1547664" y="4371950"/>
            <a:ext cx="3024336" cy="430887"/>
          </a:xfrm>
          <a:prstGeom prst="rect">
            <a:avLst/>
          </a:prstGeom>
          <a:noFill/>
        </p:spPr>
        <p:txBody>
          <a:bodyPr wrap="square" rtlCol="0">
            <a:spAutoFit/>
          </a:bodyPr>
          <a:lstStyle/>
          <a:p>
            <a:r>
              <a:rPr lang="zh-CN" altLang="en-US" sz="2200" dirty="0" smtClean="0"/>
              <a:t>称为同频干扰因子：</a:t>
            </a:r>
            <a:endParaRPr lang="zh-CN" altLang="en-US" sz="2200" dirty="0"/>
          </a:p>
        </p:txBody>
      </p:sp>
    </p:spTree>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4105" name="Rectangle 2"/>
          <p:cNvSpPr>
            <a:spLocks noGrp="1" noChangeArrowheads="1"/>
          </p:cNvSpPr>
          <p:nvPr>
            <p:ph type="title"/>
          </p:nvPr>
        </p:nvSpPr>
        <p:spPr>
          <a:xfrm>
            <a:off x="0" y="771551"/>
            <a:ext cx="8820472" cy="432048"/>
          </a:xfrm>
        </p:spPr>
        <p:txBody>
          <a:bodyPr/>
          <a:lstStyle/>
          <a:p>
            <a:pPr eaLnBrk="1" hangingPunct="1"/>
            <a:r>
              <a:rPr lang="zh-CN" altLang="en-US" sz="2800" dirty="0" smtClean="0"/>
              <a:t>推导载波干扰比与小区簇的关系</a:t>
            </a:r>
            <a:endParaRPr lang="zh-CN" altLang="en-US" sz="2800" dirty="0" smtClean="0"/>
          </a:p>
        </p:txBody>
      </p:sp>
      <p:sp>
        <p:nvSpPr>
          <p:cNvPr id="4107" name="Rectangle 4"/>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08" name="Rectangle 6"/>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09" name="Rectangle 8"/>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0" name="Rectangle 10"/>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1" name="Rectangle 12"/>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2" name="Rectangle 14"/>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3" name="Rectangle 16"/>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4" name="Rectangle 18"/>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5" name="Rectangle 20"/>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4116" name="Rectangle 22"/>
          <p:cNvSpPr>
            <a:spLocks noChangeArrowheads="1"/>
          </p:cNvSpPr>
          <p:nvPr/>
        </p:nvSpPr>
        <p:spPr bwMode="auto">
          <a:xfrm>
            <a:off x="0" y="-184666"/>
            <a:ext cx="184731" cy="369332"/>
          </a:xfrm>
          <a:prstGeom prst="rect">
            <a:avLst/>
          </a:prstGeom>
          <a:noFill/>
          <a:ln w="12700" algn="ctr">
            <a:noFill/>
            <a:miter lim="800000"/>
          </a:ln>
        </p:spPr>
        <p:txBody>
          <a:bodyPr wrap="none" anchor="ctr">
            <a:spAutoFit/>
          </a:bodyPr>
          <a:lstStyle/>
          <a:p>
            <a:endParaRPr lang="zh-CN" altLang="en-US"/>
          </a:p>
        </p:txBody>
      </p:sp>
      <p:sp>
        <p:nvSpPr>
          <p:cNvPr id="21"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22" name="图片 21"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23" name="图片 22"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24" name="Rectangle 2"/>
          <p:cNvSpPr txBox="1">
            <a:spLocks noChangeArrowheads="1"/>
          </p:cNvSpPr>
          <p:nvPr/>
        </p:nvSpPr>
        <p:spPr>
          <a:xfrm>
            <a:off x="107504" y="627534"/>
            <a:ext cx="7772400" cy="504056"/>
          </a:xfrm>
          <a:prstGeom prst="rect">
            <a:avLst/>
          </a:prstGeom>
          <a:noFill/>
          <a:ln w="9525">
            <a:noFill/>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dirty="0" smtClean="0">
                <a:ln>
                  <a:noFill/>
                </a:ln>
                <a:solidFill>
                  <a:srgbClr val="002A7E"/>
                </a:solidFill>
                <a:effectLst/>
                <a:uLnTx/>
                <a:uFillTx/>
                <a:latin typeface="+mj-lt"/>
                <a:ea typeface="+mj-ea"/>
                <a:cs typeface="+mj-cs"/>
              </a:rPr>
              <a:t>（</a:t>
            </a:r>
            <a:r>
              <a:rPr kumimoji="0" lang="en-US" altLang="zh-CN" sz="2200" b="1" i="0" u="none" strike="noStrike" kern="0" cap="none" spc="0" normalizeH="0" baseline="0" noProof="0" dirty="0" smtClean="0">
                <a:ln>
                  <a:noFill/>
                </a:ln>
                <a:solidFill>
                  <a:srgbClr val="002A7E"/>
                </a:solidFill>
                <a:effectLst/>
                <a:uLnTx/>
                <a:uFillTx/>
                <a:latin typeface="+mj-lt"/>
                <a:ea typeface="+mj-ea"/>
                <a:cs typeface="+mj-cs"/>
              </a:rPr>
              <a:t>5</a:t>
            </a:r>
            <a:r>
              <a:rPr kumimoji="0" lang="zh-CN" altLang="en-US" sz="2200" b="1" i="0" u="none" strike="noStrike" kern="0" cap="none" spc="0" normalizeH="0" baseline="0" noProof="0" dirty="0" smtClean="0">
                <a:ln>
                  <a:noFill/>
                </a:ln>
                <a:solidFill>
                  <a:srgbClr val="002A7E"/>
                </a:solidFill>
                <a:effectLst/>
                <a:uLnTx/>
                <a:uFillTx/>
                <a:latin typeface="+mj-lt"/>
                <a:ea typeface="+mj-ea"/>
                <a:cs typeface="+mj-cs"/>
              </a:rPr>
              <a:t>）</a:t>
            </a:r>
            <a:r>
              <a:rPr lang="zh-CN" altLang="en-US" sz="2200" b="1" kern="0" dirty="0" smtClean="0">
                <a:solidFill>
                  <a:srgbClr val="002A7E"/>
                </a:solidFill>
                <a:latin typeface="+mj-lt"/>
                <a:ea typeface="+mj-ea"/>
                <a:cs typeface="+mj-cs"/>
              </a:rPr>
              <a:t>同频小区干扰</a:t>
            </a:r>
            <a:endParaRPr kumimoji="0" lang="zh-CN" altLang="en-US" sz="2200" b="1" i="0" u="none" strike="noStrike" kern="0" cap="none" spc="0" normalizeH="0" baseline="0" noProof="0" dirty="0" smtClean="0">
              <a:ln>
                <a:noFill/>
              </a:ln>
              <a:solidFill>
                <a:srgbClr val="002A7E"/>
              </a:solidFill>
              <a:effectLst/>
              <a:uLnTx/>
              <a:uFillTx/>
              <a:latin typeface="+mj-lt"/>
              <a:ea typeface="+mj-ea"/>
              <a:cs typeface="+mj-cs"/>
            </a:endParaRPr>
          </a:p>
        </p:txBody>
      </p:sp>
      <p:sp>
        <p:nvSpPr>
          <p:cNvPr id="465" name="TextBox 464"/>
          <p:cNvSpPr txBox="1"/>
          <p:nvPr/>
        </p:nvSpPr>
        <p:spPr>
          <a:xfrm>
            <a:off x="251520" y="1131590"/>
            <a:ext cx="8280920" cy="2999740"/>
          </a:xfrm>
          <a:prstGeom prst="rect">
            <a:avLst/>
          </a:prstGeom>
          <a:noFill/>
        </p:spPr>
        <p:txBody>
          <a:bodyPr wrap="square" rtlCol="0">
            <a:spAutoFit/>
          </a:bodyPr>
          <a:lstStyle/>
          <a:p>
            <a:pPr>
              <a:lnSpc>
                <a:spcPct val="150000"/>
              </a:lnSpc>
            </a:pPr>
            <a:r>
              <a:rPr lang="zh-CN" altLang="en-US" sz="2100" dirty="0" smtClean="0"/>
              <a:t>称为同频干扰因子：</a:t>
            </a:r>
            <a:endParaRPr lang="en-US" altLang="zh-CN" sz="2100" dirty="0" smtClean="0"/>
          </a:p>
          <a:p>
            <a:pPr>
              <a:lnSpc>
                <a:spcPct val="150000"/>
              </a:lnSpc>
            </a:pPr>
            <a:r>
              <a:rPr lang="zh-CN" altLang="en-US" sz="2100" dirty="0" smtClean="0">
                <a:latin typeface="华文楷体" pitchFamily="2" charset="-122"/>
                <a:ea typeface="华文楷体" pitchFamily="2" charset="-122"/>
              </a:rPr>
              <a:t>式</a:t>
            </a:r>
            <a:r>
              <a:rPr lang="en-US" altLang="zh-CN" sz="2100" dirty="0" smtClean="0">
                <a:latin typeface="华文楷体" pitchFamily="2" charset="-122"/>
                <a:ea typeface="华文楷体" pitchFamily="2" charset="-122"/>
              </a:rPr>
              <a:t>            </a:t>
            </a:r>
            <a:r>
              <a:rPr lang="zh-CN" altLang="en-US" sz="2100" dirty="0" smtClean="0">
                <a:latin typeface="华文楷体" pitchFamily="2" charset="-122"/>
                <a:ea typeface="华文楷体" pitchFamily="2" charset="-122"/>
              </a:rPr>
              <a:t>                  表明了载干比和小区簇的关系</a:t>
            </a:r>
            <a:endParaRPr lang="zh-CN" altLang="en-US" sz="2100" dirty="0" smtClean="0">
              <a:latin typeface="华文楷体" pitchFamily="2" charset="-122"/>
              <a:ea typeface="华文楷体" pitchFamily="2" charset="-122"/>
            </a:endParaRPr>
          </a:p>
          <a:p>
            <a:pPr>
              <a:lnSpc>
                <a:spcPct val="150000"/>
              </a:lnSpc>
              <a:buBlip>
                <a:blip r:embed="rId2"/>
              </a:buBlip>
            </a:pPr>
            <a:r>
              <a:rPr lang="zh-CN" altLang="en-US" sz="2100" dirty="0" smtClean="0">
                <a:latin typeface="华文楷体" pitchFamily="2" charset="-122"/>
                <a:ea typeface="华文楷体" pitchFamily="2" charset="-122"/>
              </a:rPr>
              <a:t>一般</a:t>
            </a:r>
            <a:r>
              <a:rPr lang="zh-CN" altLang="en-US" sz="2100" dirty="0" smtClean="0">
                <a:solidFill>
                  <a:srgbClr val="003300"/>
                </a:solidFill>
                <a:latin typeface="华文楷体" pitchFamily="2" charset="-122"/>
                <a:ea typeface="华文楷体" pitchFamily="2" charset="-122"/>
              </a:rPr>
              <a:t>模拟移动通信系统</a:t>
            </a:r>
            <a:r>
              <a:rPr lang="zh-CN" altLang="en-US" sz="2100" dirty="0" smtClean="0">
                <a:latin typeface="华文楷体" pitchFamily="2" charset="-122"/>
                <a:ea typeface="华文楷体" pitchFamily="2" charset="-122"/>
              </a:rPr>
              <a:t>要求                       ，</a:t>
            </a:r>
            <a:endParaRPr lang="zh-CN" altLang="en-US" sz="2100" dirty="0" smtClean="0">
              <a:latin typeface="华文楷体" pitchFamily="2" charset="-122"/>
              <a:ea typeface="华文楷体" pitchFamily="2" charset="-122"/>
            </a:endParaRPr>
          </a:p>
          <a:p>
            <a:pPr>
              <a:lnSpc>
                <a:spcPct val="150000"/>
              </a:lnSpc>
            </a:pPr>
            <a:r>
              <a:rPr lang="zh-CN" altLang="en-US" sz="2100" dirty="0" smtClean="0">
                <a:latin typeface="华文楷体" pitchFamily="2" charset="-122"/>
                <a:ea typeface="华文楷体" pitchFamily="2" charset="-122"/>
              </a:rPr>
              <a:t>   假设</a:t>
            </a:r>
            <a:r>
              <a:rPr lang="en-US" altLang="zh-CN" sz="2100" dirty="0" smtClean="0">
                <a:latin typeface="华文楷体" pitchFamily="2" charset="-122"/>
                <a:ea typeface="华文楷体" pitchFamily="2" charset="-122"/>
              </a:rPr>
              <a:t>n</a:t>
            </a:r>
            <a:r>
              <a:rPr lang="zh-CN" altLang="en-US" sz="2100" dirty="0" smtClean="0">
                <a:latin typeface="华文楷体" pitchFamily="2" charset="-122"/>
                <a:ea typeface="华文楷体" pitchFamily="2" charset="-122"/>
              </a:rPr>
              <a:t>取值为</a:t>
            </a:r>
            <a:r>
              <a:rPr lang="en-US" altLang="zh-CN" sz="2100" dirty="0" smtClean="0">
                <a:latin typeface="华文楷体" pitchFamily="2" charset="-122"/>
                <a:ea typeface="华文楷体" pitchFamily="2" charset="-122"/>
              </a:rPr>
              <a:t>4</a:t>
            </a:r>
            <a:r>
              <a:rPr lang="zh-CN" altLang="en-US" sz="2100" dirty="0" smtClean="0">
                <a:latin typeface="华文楷体" pitchFamily="2" charset="-122"/>
                <a:ea typeface="华文楷体" pitchFamily="2" charset="-122"/>
              </a:rPr>
              <a:t>，根据上式可得出，簇</a:t>
            </a:r>
            <a:r>
              <a:rPr lang="en-US" altLang="zh-CN" sz="2100" dirty="0" smtClean="0">
                <a:latin typeface="华文楷体" pitchFamily="2" charset="-122"/>
                <a:ea typeface="华文楷体" pitchFamily="2" charset="-122"/>
              </a:rPr>
              <a:t>N</a:t>
            </a:r>
            <a:r>
              <a:rPr lang="zh-CN" altLang="en-US" sz="2100" dirty="0" smtClean="0">
                <a:latin typeface="华文楷体" pitchFamily="2" charset="-122"/>
                <a:ea typeface="华文楷体" pitchFamily="2" charset="-122"/>
              </a:rPr>
              <a:t>最小为</a:t>
            </a:r>
            <a:r>
              <a:rPr lang="en-US" altLang="zh-CN" sz="2100" dirty="0" smtClean="0">
                <a:latin typeface="华文楷体" pitchFamily="2" charset="-122"/>
                <a:ea typeface="华文楷体" pitchFamily="2" charset="-122"/>
              </a:rPr>
              <a:t>6.49</a:t>
            </a:r>
            <a:r>
              <a:rPr lang="zh-CN" altLang="en-US" sz="2100" dirty="0" smtClean="0">
                <a:latin typeface="华文楷体" pitchFamily="2" charset="-122"/>
                <a:ea typeface="华文楷体" pitchFamily="2" charset="-122"/>
              </a:rPr>
              <a:t>，故一般取簇</a:t>
            </a:r>
            <a:r>
              <a:rPr lang="en-US" altLang="zh-CN" sz="2100" dirty="0" smtClean="0">
                <a:latin typeface="华文楷体" pitchFamily="2" charset="-122"/>
                <a:ea typeface="华文楷体" pitchFamily="2" charset="-122"/>
              </a:rPr>
              <a:t>N</a:t>
            </a:r>
            <a:r>
              <a:rPr lang="zh-CN" altLang="en-US" sz="2100" dirty="0" smtClean="0">
                <a:latin typeface="华文楷体" pitchFamily="2" charset="-122"/>
                <a:ea typeface="华文楷体" pitchFamily="2" charset="-122"/>
              </a:rPr>
              <a:t>的最小值为</a:t>
            </a:r>
            <a:r>
              <a:rPr lang="en-US" altLang="zh-CN" sz="2100" dirty="0" smtClean="0">
                <a:latin typeface="华文楷体" pitchFamily="2" charset="-122"/>
                <a:ea typeface="华文楷体" pitchFamily="2" charset="-122"/>
              </a:rPr>
              <a:t>7</a:t>
            </a:r>
            <a:endParaRPr lang="en-US" altLang="zh-CN" sz="2100" dirty="0" smtClean="0">
              <a:latin typeface="华文楷体" pitchFamily="2" charset="-122"/>
              <a:ea typeface="华文楷体" pitchFamily="2" charset="-122"/>
            </a:endParaRPr>
          </a:p>
          <a:p>
            <a:pPr>
              <a:lnSpc>
                <a:spcPct val="150000"/>
              </a:lnSpc>
              <a:buBlip>
                <a:blip r:embed="rId2"/>
              </a:buBlip>
            </a:pPr>
            <a:r>
              <a:rPr lang="zh-CN" altLang="en-US" sz="2100" dirty="0" smtClean="0">
                <a:solidFill>
                  <a:srgbClr val="003300"/>
                </a:solidFill>
                <a:latin typeface="华文楷体" pitchFamily="2" charset="-122"/>
                <a:ea typeface="华文楷体" pitchFamily="2" charset="-122"/>
              </a:rPr>
              <a:t>通信系统</a:t>
            </a:r>
            <a:r>
              <a:rPr lang="zh-CN" altLang="en-US" sz="2100" dirty="0" smtClean="0">
                <a:latin typeface="华文楷体" pitchFamily="2" charset="-122"/>
                <a:ea typeface="华文楷体" pitchFamily="2" charset="-122"/>
              </a:rPr>
              <a:t>中                      ，所以可以采用较小的</a:t>
            </a:r>
            <a:r>
              <a:rPr lang="en-US" altLang="zh-CN" sz="2100" dirty="0" smtClean="0">
                <a:latin typeface="华文楷体" pitchFamily="2" charset="-122"/>
                <a:ea typeface="华文楷体" pitchFamily="2" charset="-122"/>
              </a:rPr>
              <a:t>N</a:t>
            </a:r>
            <a:r>
              <a:rPr lang="zh-CN" altLang="en-US" sz="2100" dirty="0" smtClean="0">
                <a:latin typeface="华文楷体" pitchFamily="2" charset="-122"/>
                <a:ea typeface="华文楷体" pitchFamily="2" charset="-122"/>
              </a:rPr>
              <a:t>值。</a:t>
            </a:r>
            <a:endParaRPr lang="zh-CN" altLang="en-US" sz="2100" dirty="0"/>
          </a:p>
        </p:txBody>
      </p:sp>
      <p:graphicFrame>
        <p:nvGraphicFramePr>
          <p:cNvPr id="449547" name="Object 5"/>
          <p:cNvGraphicFramePr>
            <a:graphicFrameLocks noChangeAspect="1"/>
          </p:cNvGraphicFramePr>
          <p:nvPr/>
        </p:nvGraphicFramePr>
        <p:xfrm>
          <a:off x="4139952" y="1131590"/>
          <a:ext cx="2376264" cy="610526"/>
        </p:xfrm>
        <a:graphic>
          <a:graphicData uri="http://schemas.openxmlformats.org/presentationml/2006/ole">
            <mc:AlternateContent xmlns:mc="http://schemas.openxmlformats.org/markup-compatibility/2006">
              <mc:Choice xmlns:v="urn:schemas-microsoft-com:vml" Requires="v">
                <p:oleObj spid="_x0000_s4097" name="" r:id="rId3" imgW="21945600" imgH="9448800" progId="">
                  <p:embed/>
                </p:oleObj>
              </mc:Choice>
              <mc:Fallback>
                <p:oleObj name="" r:id="rId3" imgW="21945600" imgH="9448800" progId="">
                  <p:embed/>
                  <p:pic>
                    <p:nvPicPr>
                      <p:cNvPr id="0" name="Object 5"/>
                      <p:cNvPicPr>
                        <a:picLocks noChangeAspect="1"/>
                      </p:cNvPicPr>
                      <p:nvPr/>
                    </p:nvPicPr>
                    <p:blipFill>
                      <a:blip r:embed="rId4"/>
                      <a:stretch>
                        <a:fillRect/>
                      </a:stretch>
                    </p:blipFill>
                    <p:spPr>
                      <a:xfrm>
                        <a:off x="4139952" y="1131590"/>
                        <a:ext cx="2376264" cy="610526"/>
                      </a:xfrm>
                      <a:prstGeom prst="rect">
                        <a:avLst/>
                      </a:prstGeom>
                      <a:noFill/>
                      <a:ln w="9525">
                        <a:noFill/>
                      </a:ln>
                    </p:spPr>
                  </p:pic>
                </p:oleObj>
              </mc:Fallback>
            </mc:AlternateContent>
          </a:graphicData>
        </a:graphic>
      </p:graphicFrame>
      <p:graphicFrame>
        <p:nvGraphicFramePr>
          <p:cNvPr id="450566" name="Object 5"/>
          <p:cNvGraphicFramePr>
            <a:graphicFrameLocks noChangeAspect="1"/>
          </p:cNvGraphicFramePr>
          <p:nvPr/>
        </p:nvGraphicFramePr>
        <p:xfrm>
          <a:off x="3995936" y="2211958"/>
          <a:ext cx="1800225" cy="431800"/>
        </p:xfrm>
        <a:graphic>
          <a:graphicData uri="http://schemas.openxmlformats.org/presentationml/2006/ole">
            <mc:AlternateContent xmlns:mc="http://schemas.openxmlformats.org/markup-compatibility/2006">
              <mc:Choice xmlns:v="urn:schemas-microsoft-com:vml" Requires="v">
                <p:oleObj spid="_x0000_s4098" name="" r:id="rId5" imgW="17983200" imgH="5181600" progId="">
                  <p:embed/>
                </p:oleObj>
              </mc:Choice>
              <mc:Fallback>
                <p:oleObj name="" r:id="rId5" imgW="17983200" imgH="5181600" progId="">
                  <p:embed/>
                  <p:pic>
                    <p:nvPicPr>
                      <p:cNvPr id="0" name="图片 4097"/>
                      <p:cNvPicPr>
                        <a:picLocks noChangeAspect="1"/>
                      </p:cNvPicPr>
                      <p:nvPr/>
                    </p:nvPicPr>
                    <p:blipFill>
                      <a:blip r:embed="rId6"/>
                      <a:stretch>
                        <a:fillRect/>
                      </a:stretch>
                    </p:blipFill>
                    <p:spPr>
                      <a:xfrm>
                        <a:off x="3995936" y="2211958"/>
                        <a:ext cx="1800225" cy="431800"/>
                      </a:xfrm>
                      <a:prstGeom prst="rect">
                        <a:avLst/>
                      </a:prstGeom>
                      <a:noFill/>
                      <a:ln w="9525">
                        <a:noFill/>
                      </a:ln>
                    </p:spPr>
                  </p:pic>
                </p:oleObj>
              </mc:Fallback>
            </mc:AlternateContent>
          </a:graphicData>
        </a:graphic>
      </p:graphicFrame>
      <p:graphicFrame>
        <p:nvGraphicFramePr>
          <p:cNvPr id="450567" name="Object 6"/>
          <p:cNvGraphicFramePr>
            <a:graphicFrameLocks noChangeAspect="1"/>
          </p:cNvGraphicFramePr>
          <p:nvPr/>
        </p:nvGraphicFramePr>
        <p:xfrm>
          <a:off x="827584" y="1635393"/>
          <a:ext cx="2033587" cy="557212"/>
        </p:xfrm>
        <a:graphic>
          <a:graphicData uri="http://schemas.openxmlformats.org/presentationml/2006/ole">
            <mc:AlternateContent xmlns:mc="http://schemas.openxmlformats.org/markup-compatibility/2006">
              <mc:Choice xmlns:v="urn:schemas-microsoft-com:vml" Requires="v">
                <p:oleObj spid="_x0000_s4099" name="" r:id="rId7" imgW="35661600" imgH="12496800" progId="">
                  <p:embed/>
                </p:oleObj>
              </mc:Choice>
              <mc:Fallback>
                <p:oleObj name="" r:id="rId7" imgW="35661600" imgH="12496800" progId="">
                  <p:embed/>
                  <p:pic>
                    <p:nvPicPr>
                      <p:cNvPr id="0" name="Object 6"/>
                      <p:cNvPicPr>
                        <a:picLocks noChangeAspect="1"/>
                      </p:cNvPicPr>
                      <p:nvPr/>
                    </p:nvPicPr>
                    <p:blipFill>
                      <a:blip r:embed="rId8"/>
                      <a:srcRect t="11063" b="4840"/>
                      <a:stretch>
                        <a:fillRect/>
                      </a:stretch>
                    </p:blipFill>
                    <p:spPr>
                      <a:xfrm>
                        <a:off x="827584" y="1635393"/>
                        <a:ext cx="2033587" cy="557212"/>
                      </a:xfrm>
                      <a:prstGeom prst="rect">
                        <a:avLst/>
                      </a:prstGeom>
                      <a:noFill/>
                      <a:ln w="9525">
                        <a:noFill/>
                      </a:ln>
                    </p:spPr>
                  </p:pic>
                </p:oleObj>
              </mc:Fallback>
            </mc:AlternateContent>
          </a:graphicData>
        </a:graphic>
      </p:graphicFrame>
      <p:graphicFrame>
        <p:nvGraphicFramePr>
          <p:cNvPr id="450568" name="Object 8"/>
          <p:cNvGraphicFramePr>
            <a:graphicFrameLocks noChangeAspect="1"/>
          </p:cNvGraphicFramePr>
          <p:nvPr/>
        </p:nvGraphicFramePr>
        <p:xfrm>
          <a:off x="2267744" y="3651870"/>
          <a:ext cx="2376487" cy="423862"/>
        </p:xfrm>
        <a:graphic>
          <a:graphicData uri="http://schemas.openxmlformats.org/presentationml/2006/ole">
            <mc:AlternateContent xmlns:mc="http://schemas.openxmlformats.org/markup-compatibility/2006">
              <mc:Choice xmlns:v="urn:schemas-microsoft-com:vml" Requires="v">
                <p:oleObj spid="_x0000_s4100" name="" r:id="rId9" imgW="23469600" imgH="5181600" progId="">
                  <p:embed/>
                </p:oleObj>
              </mc:Choice>
              <mc:Fallback>
                <p:oleObj name="" r:id="rId9" imgW="23469600" imgH="5181600" progId="">
                  <p:embed/>
                  <p:pic>
                    <p:nvPicPr>
                      <p:cNvPr id="0" name="Object 8"/>
                      <p:cNvPicPr>
                        <a:picLocks noChangeAspect="1"/>
                      </p:cNvPicPr>
                      <p:nvPr/>
                    </p:nvPicPr>
                    <p:blipFill>
                      <a:blip r:embed="rId10"/>
                      <a:stretch>
                        <a:fillRect/>
                      </a:stretch>
                    </p:blipFill>
                    <p:spPr>
                      <a:xfrm>
                        <a:off x="2267744" y="3651870"/>
                        <a:ext cx="2376487" cy="423862"/>
                      </a:xfrm>
                      <a:prstGeom prst="rect">
                        <a:avLst/>
                      </a:prstGeom>
                      <a:noFill/>
                      <a:ln w="9525">
                        <a:noFill/>
                      </a:ln>
                    </p:spPr>
                  </p:pic>
                </p:oleObj>
              </mc:Fallback>
            </mc:AlternateContent>
          </a:graphicData>
        </a:graphic>
      </p:graphicFrame>
    </p:spTree>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60419" name="Rectangle 2"/>
          <p:cNvSpPr>
            <a:spLocks noGrp="1" noChangeArrowheads="1"/>
          </p:cNvSpPr>
          <p:nvPr>
            <p:ph type="title"/>
          </p:nvPr>
        </p:nvSpPr>
        <p:spPr>
          <a:xfrm>
            <a:off x="134392" y="699542"/>
            <a:ext cx="7173912" cy="432048"/>
          </a:xfrm>
        </p:spPr>
        <p:txBody>
          <a:bodyPr/>
          <a:lstStyle/>
          <a:p>
            <a:pPr eaLnBrk="1" hangingPunct="1"/>
            <a:r>
              <a:rPr lang="zh-CN" altLang="en-US" sz="2200" dirty="0" smtClean="0">
                <a:solidFill>
                  <a:srgbClr val="002A7E"/>
                </a:solidFill>
              </a:rPr>
              <a:t>（</a:t>
            </a:r>
            <a:r>
              <a:rPr lang="en-US" altLang="zh-CN" sz="2200" dirty="0" smtClean="0">
                <a:solidFill>
                  <a:srgbClr val="002A7E"/>
                </a:solidFill>
              </a:rPr>
              <a:t>6</a:t>
            </a:r>
            <a:r>
              <a:rPr lang="zh-CN" altLang="en-US" sz="2200" dirty="0" smtClean="0">
                <a:solidFill>
                  <a:srgbClr val="002A7E"/>
                </a:solidFill>
              </a:rPr>
              <a:t>）同频相邻小区的找法</a:t>
            </a:r>
            <a:endParaRPr lang="zh-CN" altLang="en-US" sz="2200" dirty="0" smtClean="0">
              <a:solidFill>
                <a:srgbClr val="002A7E"/>
              </a:solidFill>
            </a:endParaRPr>
          </a:p>
        </p:txBody>
      </p:sp>
      <p:sp>
        <p:nvSpPr>
          <p:cNvPr id="60420" name="Rectangle 3"/>
          <p:cNvSpPr>
            <a:spLocks noGrp="1" noChangeArrowheads="1"/>
          </p:cNvSpPr>
          <p:nvPr>
            <p:ph type="body" idx="1"/>
          </p:nvPr>
        </p:nvSpPr>
        <p:spPr>
          <a:xfrm>
            <a:off x="1476375" y="1221582"/>
            <a:ext cx="6191250" cy="756047"/>
          </a:xfrm>
          <a:solidFill>
            <a:srgbClr val="D9B3FF"/>
          </a:solidFill>
        </p:spPr>
        <p:txBody>
          <a:bodyPr/>
          <a:lstStyle/>
          <a:p>
            <a:pPr eaLnBrk="1" hangingPunct="1">
              <a:lnSpc>
                <a:spcPct val="90000"/>
              </a:lnSpc>
              <a:buFont typeface="Wingdings" panose="05000000000000000000" pitchFamily="2" charset="2"/>
              <a:buBlip>
                <a:blip r:embed="rId1"/>
              </a:buBlip>
            </a:pPr>
            <a:r>
              <a:rPr lang="zh-CN" altLang="en-US" sz="2400" b="0" smtClean="0">
                <a:solidFill>
                  <a:schemeClr val="tx1"/>
                </a:solidFill>
                <a:latin typeface="华文楷体" pitchFamily="2" charset="-122"/>
                <a:ea typeface="华文楷体" pitchFamily="2" charset="-122"/>
              </a:rPr>
              <a:t>沿着任何一条六边形链移动</a:t>
            </a:r>
            <a:r>
              <a:rPr lang="en-US" altLang="zh-CN" sz="2400" b="0" smtClean="0">
                <a:solidFill>
                  <a:schemeClr val="tx1"/>
                </a:solidFill>
                <a:latin typeface="华文楷体" pitchFamily="2" charset="-122"/>
                <a:ea typeface="华文楷体" pitchFamily="2" charset="-122"/>
              </a:rPr>
              <a:t>i</a:t>
            </a:r>
            <a:r>
              <a:rPr lang="zh-CN" altLang="en-US" sz="2400" b="0" smtClean="0">
                <a:solidFill>
                  <a:schemeClr val="tx1"/>
                </a:solidFill>
                <a:latin typeface="华文楷体" pitchFamily="2" charset="-122"/>
                <a:ea typeface="华文楷体" pitchFamily="2" charset="-122"/>
              </a:rPr>
              <a:t>个小区</a:t>
            </a:r>
            <a:endParaRPr lang="zh-CN" altLang="en-US" sz="2400" b="0" smtClean="0">
              <a:solidFill>
                <a:schemeClr val="tx1"/>
              </a:solidFill>
              <a:latin typeface="华文楷体" pitchFamily="2" charset="-122"/>
              <a:ea typeface="华文楷体" pitchFamily="2" charset="-122"/>
            </a:endParaRPr>
          </a:p>
          <a:p>
            <a:pPr eaLnBrk="1" hangingPunct="1">
              <a:lnSpc>
                <a:spcPct val="90000"/>
              </a:lnSpc>
              <a:buFont typeface="Wingdings" panose="05000000000000000000" pitchFamily="2" charset="2"/>
              <a:buBlip>
                <a:blip r:embed="rId1"/>
              </a:buBlip>
            </a:pPr>
            <a:r>
              <a:rPr lang="zh-CN" altLang="en-US" sz="2400" b="0" smtClean="0">
                <a:solidFill>
                  <a:schemeClr val="tx1"/>
                </a:solidFill>
                <a:latin typeface="华文楷体" pitchFamily="2" charset="-122"/>
                <a:ea typeface="华文楷体" pitchFamily="2" charset="-122"/>
              </a:rPr>
              <a:t>逆时针旋转</a:t>
            </a:r>
            <a:r>
              <a:rPr lang="en-US" altLang="zh-CN" sz="2400" b="0" smtClean="0">
                <a:solidFill>
                  <a:schemeClr val="tx1"/>
                </a:solidFill>
                <a:latin typeface="华文楷体" pitchFamily="2" charset="-122"/>
                <a:ea typeface="华文楷体" pitchFamily="2" charset="-122"/>
              </a:rPr>
              <a:t>60</a:t>
            </a:r>
            <a:r>
              <a:rPr lang="zh-CN" altLang="en-US" sz="2400" b="0" smtClean="0">
                <a:solidFill>
                  <a:schemeClr val="tx1"/>
                </a:solidFill>
                <a:latin typeface="华文楷体" pitchFamily="2" charset="-122"/>
                <a:ea typeface="华文楷体" pitchFamily="2" charset="-122"/>
              </a:rPr>
              <a:t>度再移动</a:t>
            </a:r>
            <a:r>
              <a:rPr lang="en-US" altLang="zh-CN" sz="2400" b="0" smtClean="0">
                <a:solidFill>
                  <a:schemeClr val="tx1"/>
                </a:solidFill>
                <a:latin typeface="华文楷体" pitchFamily="2" charset="-122"/>
                <a:ea typeface="华文楷体" pitchFamily="2" charset="-122"/>
              </a:rPr>
              <a:t>j</a:t>
            </a:r>
            <a:r>
              <a:rPr lang="zh-CN" altLang="en-US" sz="2400" b="0" smtClean="0">
                <a:solidFill>
                  <a:schemeClr val="tx1"/>
                </a:solidFill>
                <a:latin typeface="华文楷体" pitchFamily="2" charset="-122"/>
                <a:ea typeface="华文楷体" pitchFamily="2" charset="-122"/>
              </a:rPr>
              <a:t>个小区</a:t>
            </a:r>
            <a:endParaRPr lang="zh-CN" altLang="en-US" sz="2400" b="0" smtClean="0">
              <a:solidFill>
                <a:schemeClr val="tx1"/>
              </a:solidFill>
              <a:latin typeface="华文楷体" pitchFamily="2" charset="-122"/>
              <a:ea typeface="华文楷体" pitchFamily="2" charset="-122"/>
            </a:endParaRPr>
          </a:p>
        </p:txBody>
      </p:sp>
      <p:pic>
        <p:nvPicPr>
          <p:cNvPr id="76804" name="Picture 4"/>
          <p:cNvPicPr>
            <a:picLocks noChangeAspect="1" noChangeArrowheads="1"/>
          </p:cNvPicPr>
          <p:nvPr/>
        </p:nvPicPr>
        <p:blipFill>
          <a:blip r:embed="rId2" cstate="print"/>
          <a:srcRect l="30928" r="19588" b="16013"/>
          <a:stretch>
            <a:fillRect/>
          </a:stretch>
        </p:blipFill>
        <p:spPr bwMode="auto">
          <a:xfrm>
            <a:off x="2700339" y="2052638"/>
            <a:ext cx="3671887" cy="2516981"/>
          </a:xfrm>
          <a:prstGeom prst="rect">
            <a:avLst/>
          </a:prstGeom>
          <a:solidFill>
            <a:srgbClr val="FF81D5"/>
          </a:solidFill>
          <a:ln w="9525">
            <a:noFill/>
            <a:miter lim="800000"/>
            <a:headEnd/>
            <a:tailEnd/>
          </a:ln>
        </p:spPr>
      </p:pic>
      <p:sp>
        <p:nvSpPr>
          <p:cNvPr id="76805" name="Rectangle 5"/>
          <p:cNvSpPr>
            <a:spLocks noChangeArrowheads="1"/>
          </p:cNvSpPr>
          <p:nvPr/>
        </p:nvSpPr>
        <p:spPr bwMode="auto">
          <a:xfrm>
            <a:off x="6862763" y="3470583"/>
            <a:ext cx="889987" cy="1200329"/>
          </a:xfrm>
          <a:prstGeom prst="rect">
            <a:avLst/>
          </a:prstGeom>
          <a:noFill/>
          <a:ln w="12700" algn="ctr">
            <a:noFill/>
            <a:miter lim="800000"/>
          </a:ln>
          <a:effectLst/>
        </p:spPr>
        <p:txBody>
          <a:bodyPr wrap="none" anchor="ctr">
            <a:spAutoFit/>
          </a:bodyPr>
          <a:lstStyle/>
          <a:p>
            <a:pPr>
              <a:defRPr/>
            </a:pPr>
            <a:r>
              <a:rPr lang="en-US" altLang="zh-CN" sz="2400" b="1">
                <a:latin typeface="Times New Roman" panose="02020603050405020304" pitchFamily="18" charset="0"/>
              </a:rPr>
              <a:t>i=3</a:t>
            </a:r>
            <a:endParaRPr lang="en-US" altLang="zh-CN" sz="2400" b="1">
              <a:latin typeface="Times New Roman" panose="02020603050405020304" pitchFamily="18" charset="0"/>
            </a:endParaRPr>
          </a:p>
          <a:p>
            <a:pPr>
              <a:defRPr/>
            </a:pPr>
            <a:r>
              <a:rPr lang="en-US" altLang="zh-CN" sz="2400" b="1">
                <a:latin typeface="Times New Roman" panose="02020603050405020304" pitchFamily="18" charset="0"/>
              </a:rPr>
              <a:t>j=2</a:t>
            </a:r>
            <a:endParaRPr lang="en-US" altLang="zh-CN" sz="2400" b="1">
              <a:latin typeface="Times New Roman" panose="02020603050405020304" pitchFamily="18" charset="0"/>
            </a:endParaRPr>
          </a:p>
          <a:p>
            <a:pPr>
              <a:defRPr/>
            </a:pPr>
            <a:r>
              <a:rPr lang="en-US" altLang="zh-CN" sz="2400" b="1">
                <a:latin typeface="Times New Roman" panose="02020603050405020304" pitchFamily="18" charset="0"/>
              </a:rPr>
              <a:t>N=19</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76806" name="Rectangle 6"/>
          <p:cNvSpPr>
            <a:spLocks noChangeArrowheads="1"/>
          </p:cNvSpPr>
          <p:nvPr/>
        </p:nvSpPr>
        <p:spPr bwMode="auto">
          <a:xfrm>
            <a:off x="2555875" y="4437609"/>
            <a:ext cx="4084773" cy="461665"/>
          </a:xfrm>
          <a:prstGeom prst="rect">
            <a:avLst/>
          </a:prstGeom>
          <a:noFill/>
          <a:ln w="12700" algn="ctr">
            <a:noFill/>
            <a:miter lim="800000"/>
          </a:ln>
          <a:effectLst/>
        </p:spPr>
        <p:txBody>
          <a:bodyPr wrap="none" anchor="ctr">
            <a:spAutoFit/>
          </a:bodyPr>
          <a:lstStyle/>
          <a:p>
            <a:pPr>
              <a:defRPr/>
            </a:pPr>
            <a:r>
              <a:rPr lang="zh-CN" altLang="en-US" sz="1600" b="1">
                <a:latin typeface="Times New Roman" panose="02020603050405020304" pitchFamily="18" charset="0"/>
              </a:rPr>
              <a:t>图</a:t>
            </a:r>
            <a:r>
              <a:rPr lang="en-US" altLang="zh-CN" sz="1600" b="1">
                <a:latin typeface="Times New Roman" panose="02020603050405020304" pitchFamily="18" charset="0"/>
              </a:rPr>
              <a:t>5</a:t>
            </a:r>
            <a:r>
              <a:rPr lang="zh-CN" altLang="en-US" sz="1600" b="1">
                <a:latin typeface="Times New Roman" panose="02020603050405020304" pitchFamily="18" charset="0"/>
              </a:rPr>
              <a:t>－</a:t>
            </a:r>
            <a:r>
              <a:rPr lang="en-US" altLang="zh-CN" sz="1600" b="1">
                <a:latin typeface="Times New Roman" panose="02020603050405020304" pitchFamily="18" charset="0"/>
              </a:rPr>
              <a:t>4  </a:t>
            </a:r>
            <a:r>
              <a:rPr lang="zh-CN" altLang="en-US" sz="1600" b="1">
                <a:latin typeface="Times New Roman" panose="02020603050405020304" pitchFamily="18" charset="0"/>
              </a:rPr>
              <a:t>在蜂窝小区中定位同频小区的方法</a:t>
            </a:r>
            <a:r>
              <a:rPr lang="zh-CN" altLang="en-US" sz="2400" b="1">
                <a:effectLst>
                  <a:outerShdw blurRad="38100" dist="38100" dir="2700000" algn="tl">
                    <a:srgbClr val="C0C0C0"/>
                  </a:outerShdw>
                </a:effectLst>
                <a:latin typeface="Times New Roman" panose="02020603050405020304" pitchFamily="18" charset="0"/>
              </a:rPr>
              <a:t> </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5.2  </a:t>
            </a:r>
            <a:r>
              <a:rPr lang="zh-CN" altLang="en-US" sz="3200" dirty="0" smtClean="0">
                <a:solidFill>
                  <a:schemeClr val="bg1"/>
                </a:solidFill>
              </a:rPr>
              <a:t>频率复用和蜂窝小区</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9" name="图片 8"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pic>
        <p:nvPicPr>
          <p:cNvPr id="10" name="图片 9"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checkerboard(across)">
                                      <p:cBhvr>
                                        <p:cTn id="7" dur="10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61444" name="Rectangle 3"/>
          <p:cNvSpPr>
            <a:spLocks noGrp="1" noChangeArrowheads="1"/>
          </p:cNvSpPr>
          <p:nvPr>
            <p:ph type="body" idx="1"/>
          </p:nvPr>
        </p:nvSpPr>
        <p:spPr>
          <a:xfrm>
            <a:off x="323528" y="771550"/>
            <a:ext cx="8424936" cy="3086100"/>
          </a:xfrm>
        </p:spPr>
        <p:txBody>
          <a:bodyPr/>
          <a:lstStyle/>
          <a:p>
            <a:pPr marL="0" eaLnBrk="1" latinLnBrk="0" hangingPunct="1">
              <a:lnSpc>
                <a:spcPct val="150000"/>
              </a:lnSpc>
              <a:spcBef>
                <a:spcPts val="0"/>
              </a:spcBef>
              <a:buFont typeface="Wingdings" panose="05000000000000000000" pitchFamily="2" charset="2"/>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多址接入方式</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endPar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50000"/>
              </a:lnSpc>
              <a:spcBef>
                <a:spcPts val="0"/>
              </a:spcBef>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频分多址方式（</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FDMA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）：当以传输信号的载波频率不同来区分信道建立多址接入时，称为频分多址（</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FDMA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50000"/>
              </a:lnSpc>
              <a:spcBef>
                <a:spcPts val="0"/>
              </a:spcBef>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时分多址方式（</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TDMA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）：当以传输信号存在的时间不同来区分信道建立多址接入时，称为时分多址（</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TDMA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50000"/>
              </a:lnSpc>
              <a:spcBef>
                <a:spcPts val="0"/>
              </a:spcBef>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码分多址方式（</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CDMA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）：当以传输信号的用户地址码型不同来区分信道建立多址接入时，称为码分多址（</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CDMA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50000"/>
              </a:lnSpc>
              <a:spcBef>
                <a:spcPts val="0"/>
              </a:spcBef>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空分多址方式（</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SDMA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p:txBody>
      </p:sp>
      <p:sp>
        <p:nvSpPr>
          <p:cNvPr id="5"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6" name="图片 5"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图片 182"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204" name="页脚占位符 3"/>
          <p:cNvSpPr>
            <a:spLocks noGrp="1"/>
          </p:cNvSpPr>
          <p:nvPr>
            <p:ph type="ftr" sz="quarter" idx="10"/>
          </p:nvPr>
        </p:nvSpPr>
        <p:spPr/>
        <p:txBody>
          <a:bodyPr/>
          <a:lstStyle/>
          <a:p>
            <a:pPr>
              <a:defRPr/>
            </a:pPr>
            <a:r>
              <a:rPr lang="en-US" altLang="zh-CN" dirty="0"/>
              <a:t>Principle of Mobile Communication</a:t>
            </a:r>
            <a:endParaRPr lang="en-US" altLang="zh-CN" dirty="0"/>
          </a:p>
        </p:txBody>
      </p:sp>
      <p:grpSp>
        <p:nvGrpSpPr>
          <p:cNvPr id="2" name="Group 4"/>
          <p:cNvGrpSpPr/>
          <p:nvPr/>
        </p:nvGrpSpPr>
        <p:grpSpPr bwMode="auto">
          <a:xfrm>
            <a:off x="539751" y="2139554"/>
            <a:ext cx="2879725" cy="1956793"/>
            <a:chOff x="385" y="1706"/>
            <a:chExt cx="2938" cy="1878"/>
          </a:xfrm>
        </p:grpSpPr>
        <p:grpSp>
          <p:nvGrpSpPr>
            <p:cNvPr id="3" name="Group 5"/>
            <p:cNvGrpSpPr/>
            <p:nvPr/>
          </p:nvGrpSpPr>
          <p:grpSpPr bwMode="auto">
            <a:xfrm>
              <a:off x="385" y="1706"/>
              <a:ext cx="2938" cy="1739"/>
              <a:chOff x="793" y="1706"/>
              <a:chExt cx="2938" cy="1739"/>
            </a:xfrm>
          </p:grpSpPr>
          <p:sp>
            <p:nvSpPr>
              <p:cNvPr id="62619" name="Line 6"/>
              <p:cNvSpPr>
                <a:spLocks noChangeShapeType="1"/>
              </p:cNvSpPr>
              <p:nvPr/>
            </p:nvSpPr>
            <p:spPr bwMode="auto">
              <a:xfrm flipV="1">
                <a:off x="2850" y="2192"/>
                <a:ext cx="179" cy="140"/>
              </a:xfrm>
              <a:prstGeom prst="line">
                <a:avLst/>
              </a:prstGeom>
              <a:noFill/>
              <a:ln w="14288">
                <a:solidFill>
                  <a:srgbClr val="000000"/>
                </a:solidFill>
                <a:round/>
              </a:ln>
            </p:spPr>
            <p:txBody>
              <a:bodyPr/>
              <a:lstStyle/>
              <a:p>
                <a:endParaRPr lang="zh-CN" altLang="en-US"/>
              </a:p>
            </p:txBody>
          </p:sp>
          <p:grpSp>
            <p:nvGrpSpPr>
              <p:cNvPr id="4" name="Group 7"/>
              <p:cNvGrpSpPr/>
              <p:nvPr/>
            </p:nvGrpSpPr>
            <p:grpSpPr bwMode="auto">
              <a:xfrm>
                <a:off x="3117" y="2719"/>
                <a:ext cx="535" cy="61"/>
                <a:chOff x="2729" y="2762"/>
                <a:chExt cx="435" cy="58"/>
              </a:xfrm>
            </p:grpSpPr>
            <p:sp>
              <p:nvSpPr>
                <p:cNvPr id="62655" name="Line 8"/>
                <p:cNvSpPr>
                  <a:spLocks noChangeShapeType="1"/>
                </p:cNvSpPr>
                <p:nvPr/>
              </p:nvSpPr>
              <p:spPr bwMode="auto">
                <a:xfrm>
                  <a:off x="2729" y="2790"/>
                  <a:ext cx="377" cy="1"/>
                </a:xfrm>
                <a:prstGeom prst="line">
                  <a:avLst/>
                </a:prstGeom>
                <a:noFill/>
                <a:ln w="14288">
                  <a:solidFill>
                    <a:srgbClr val="000000"/>
                  </a:solidFill>
                  <a:round/>
                </a:ln>
              </p:spPr>
              <p:txBody>
                <a:bodyPr/>
                <a:lstStyle/>
                <a:p>
                  <a:endParaRPr lang="zh-CN" altLang="en-US"/>
                </a:p>
              </p:txBody>
            </p:sp>
            <p:sp>
              <p:nvSpPr>
                <p:cNvPr id="62656" name="Freeform 9"/>
                <p:cNvSpPr/>
                <p:nvPr/>
              </p:nvSpPr>
              <p:spPr bwMode="auto">
                <a:xfrm>
                  <a:off x="3103" y="2762"/>
                  <a:ext cx="61" cy="58"/>
                </a:xfrm>
                <a:custGeom>
                  <a:avLst/>
                  <a:gdLst>
                    <a:gd name="T0" fmla="*/ 0 w 61"/>
                    <a:gd name="T1" fmla="*/ 58 h 58"/>
                    <a:gd name="T2" fmla="*/ 61 w 61"/>
                    <a:gd name="T3" fmla="*/ 28 h 58"/>
                    <a:gd name="T4" fmla="*/ 0 w 61"/>
                    <a:gd name="T5" fmla="*/ 0 h 58"/>
                    <a:gd name="T6" fmla="*/ 0 w 61"/>
                    <a:gd name="T7" fmla="*/ 58 h 58"/>
                    <a:gd name="T8" fmla="*/ 0 60000 65536"/>
                    <a:gd name="T9" fmla="*/ 0 60000 65536"/>
                    <a:gd name="T10" fmla="*/ 0 60000 65536"/>
                    <a:gd name="T11" fmla="*/ 0 60000 65536"/>
                    <a:gd name="T12" fmla="*/ 0 w 61"/>
                    <a:gd name="T13" fmla="*/ 0 h 58"/>
                    <a:gd name="T14" fmla="*/ 61 w 61"/>
                    <a:gd name="T15" fmla="*/ 58 h 58"/>
                  </a:gdLst>
                  <a:ahLst/>
                  <a:cxnLst>
                    <a:cxn ang="T8">
                      <a:pos x="T0" y="T1"/>
                    </a:cxn>
                    <a:cxn ang="T9">
                      <a:pos x="T2" y="T3"/>
                    </a:cxn>
                    <a:cxn ang="T10">
                      <a:pos x="T4" y="T5"/>
                    </a:cxn>
                    <a:cxn ang="T11">
                      <a:pos x="T6" y="T7"/>
                    </a:cxn>
                  </a:cxnLst>
                  <a:rect l="T12" t="T13" r="T14" b="T15"/>
                  <a:pathLst>
                    <a:path w="61" h="58">
                      <a:moveTo>
                        <a:pt x="0" y="58"/>
                      </a:moveTo>
                      <a:lnTo>
                        <a:pt x="61" y="28"/>
                      </a:lnTo>
                      <a:lnTo>
                        <a:pt x="0" y="0"/>
                      </a:lnTo>
                      <a:lnTo>
                        <a:pt x="0" y="58"/>
                      </a:lnTo>
                      <a:close/>
                    </a:path>
                  </a:pathLst>
                </a:custGeom>
                <a:solidFill>
                  <a:srgbClr val="000000"/>
                </a:solidFill>
                <a:ln w="9525">
                  <a:noFill/>
                  <a:round/>
                </a:ln>
              </p:spPr>
              <p:txBody>
                <a:bodyPr/>
                <a:lstStyle/>
                <a:p>
                  <a:endParaRPr lang="zh-CN" altLang="en-US"/>
                </a:p>
              </p:txBody>
            </p:sp>
          </p:grpSp>
          <p:sp>
            <p:nvSpPr>
              <p:cNvPr id="62621" name="Line 10"/>
              <p:cNvSpPr>
                <a:spLocks noChangeShapeType="1"/>
              </p:cNvSpPr>
              <p:nvPr/>
            </p:nvSpPr>
            <p:spPr bwMode="auto">
              <a:xfrm flipH="1">
                <a:off x="2495" y="2332"/>
                <a:ext cx="355" cy="278"/>
              </a:xfrm>
              <a:prstGeom prst="line">
                <a:avLst/>
              </a:prstGeom>
              <a:noFill/>
              <a:ln w="14288">
                <a:solidFill>
                  <a:srgbClr val="000000"/>
                </a:solidFill>
                <a:round/>
              </a:ln>
            </p:spPr>
            <p:txBody>
              <a:bodyPr/>
              <a:lstStyle/>
              <a:p>
                <a:endParaRPr lang="zh-CN" altLang="en-US"/>
              </a:p>
            </p:txBody>
          </p:sp>
          <p:grpSp>
            <p:nvGrpSpPr>
              <p:cNvPr id="5" name="Group 11"/>
              <p:cNvGrpSpPr/>
              <p:nvPr/>
            </p:nvGrpSpPr>
            <p:grpSpPr bwMode="auto">
              <a:xfrm>
                <a:off x="793" y="1706"/>
                <a:ext cx="2938" cy="1739"/>
                <a:chOff x="793" y="1706"/>
                <a:chExt cx="2938" cy="1739"/>
              </a:xfrm>
            </p:grpSpPr>
            <p:sp>
              <p:nvSpPr>
                <p:cNvPr id="62624" name="Line 12"/>
                <p:cNvSpPr>
                  <a:spLocks noChangeShapeType="1"/>
                </p:cNvSpPr>
                <p:nvPr/>
              </p:nvSpPr>
              <p:spPr bwMode="auto">
                <a:xfrm flipV="1">
                  <a:off x="2495" y="2749"/>
                  <a:ext cx="622" cy="487"/>
                </a:xfrm>
                <a:prstGeom prst="line">
                  <a:avLst/>
                </a:prstGeom>
                <a:noFill/>
                <a:ln w="14288">
                  <a:solidFill>
                    <a:srgbClr val="000000"/>
                  </a:solidFill>
                  <a:round/>
                </a:ln>
              </p:spPr>
              <p:txBody>
                <a:bodyPr/>
                <a:lstStyle/>
                <a:p>
                  <a:endParaRPr lang="zh-CN" altLang="en-US"/>
                </a:p>
              </p:txBody>
            </p:sp>
            <p:sp>
              <p:nvSpPr>
                <p:cNvPr id="62625" name="Line 13"/>
                <p:cNvSpPr>
                  <a:spLocks noChangeShapeType="1"/>
                </p:cNvSpPr>
                <p:nvPr/>
              </p:nvSpPr>
              <p:spPr bwMode="auto">
                <a:xfrm flipV="1">
                  <a:off x="1428" y="2192"/>
                  <a:ext cx="176" cy="140"/>
                </a:xfrm>
                <a:prstGeom prst="line">
                  <a:avLst/>
                </a:prstGeom>
                <a:noFill/>
                <a:ln w="14288">
                  <a:solidFill>
                    <a:srgbClr val="000000"/>
                  </a:solidFill>
                  <a:round/>
                </a:ln>
              </p:spPr>
              <p:txBody>
                <a:bodyPr/>
                <a:lstStyle/>
                <a:p>
                  <a:endParaRPr lang="zh-CN" altLang="en-US"/>
                </a:p>
              </p:txBody>
            </p:sp>
            <p:sp>
              <p:nvSpPr>
                <p:cNvPr id="62626" name="Line 14"/>
                <p:cNvSpPr>
                  <a:spLocks noChangeShapeType="1"/>
                </p:cNvSpPr>
                <p:nvPr/>
              </p:nvSpPr>
              <p:spPr bwMode="auto">
                <a:xfrm flipV="1">
                  <a:off x="1604" y="2123"/>
                  <a:ext cx="90" cy="69"/>
                </a:xfrm>
                <a:prstGeom prst="line">
                  <a:avLst/>
                </a:prstGeom>
                <a:noFill/>
                <a:ln w="14288">
                  <a:solidFill>
                    <a:srgbClr val="000000"/>
                  </a:solidFill>
                  <a:round/>
                </a:ln>
              </p:spPr>
              <p:txBody>
                <a:bodyPr/>
                <a:lstStyle/>
                <a:p>
                  <a:endParaRPr lang="zh-CN" altLang="en-US"/>
                </a:p>
              </p:txBody>
            </p:sp>
            <p:sp>
              <p:nvSpPr>
                <p:cNvPr id="62627" name="Line 15"/>
                <p:cNvSpPr>
                  <a:spLocks noChangeShapeType="1"/>
                </p:cNvSpPr>
                <p:nvPr/>
              </p:nvSpPr>
              <p:spPr bwMode="auto">
                <a:xfrm>
                  <a:off x="1071" y="2610"/>
                  <a:ext cx="1424" cy="1"/>
                </a:xfrm>
                <a:prstGeom prst="line">
                  <a:avLst/>
                </a:prstGeom>
                <a:noFill/>
                <a:ln w="14288">
                  <a:solidFill>
                    <a:srgbClr val="000000"/>
                  </a:solidFill>
                  <a:round/>
                </a:ln>
              </p:spPr>
              <p:txBody>
                <a:bodyPr/>
                <a:lstStyle/>
                <a:p>
                  <a:endParaRPr lang="zh-CN" altLang="en-US"/>
                </a:p>
              </p:txBody>
            </p:sp>
            <p:sp>
              <p:nvSpPr>
                <p:cNvPr id="62628" name="Line 16"/>
                <p:cNvSpPr>
                  <a:spLocks noChangeShapeType="1"/>
                </p:cNvSpPr>
                <p:nvPr/>
              </p:nvSpPr>
              <p:spPr bwMode="auto">
                <a:xfrm>
                  <a:off x="2495" y="2610"/>
                  <a:ext cx="2" cy="626"/>
                </a:xfrm>
                <a:prstGeom prst="line">
                  <a:avLst/>
                </a:prstGeom>
                <a:noFill/>
                <a:ln w="14288">
                  <a:solidFill>
                    <a:srgbClr val="000000"/>
                  </a:solidFill>
                  <a:round/>
                </a:ln>
              </p:spPr>
              <p:txBody>
                <a:bodyPr/>
                <a:lstStyle/>
                <a:p>
                  <a:endParaRPr lang="zh-CN" altLang="en-US"/>
                </a:p>
              </p:txBody>
            </p:sp>
            <p:sp>
              <p:nvSpPr>
                <p:cNvPr id="62629" name="Line 17"/>
                <p:cNvSpPr>
                  <a:spLocks noChangeShapeType="1"/>
                </p:cNvSpPr>
                <p:nvPr/>
              </p:nvSpPr>
              <p:spPr bwMode="auto">
                <a:xfrm>
                  <a:off x="1071" y="3236"/>
                  <a:ext cx="1426" cy="1"/>
                </a:xfrm>
                <a:prstGeom prst="line">
                  <a:avLst/>
                </a:prstGeom>
                <a:noFill/>
                <a:ln w="14288">
                  <a:solidFill>
                    <a:srgbClr val="000000"/>
                  </a:solidFill>
                  <a:round/>
                </a:ln>
              </p:spPr>
              <p:txBody>
                <a:bodyPr/>
                <a:lstStyle/>
                <a:p>
                  <a:endParaRPr lang="zh-CN" altLang="en-US"/>
                </a:p>
              </p:txBody>
            </p:sp>
            <p:sp>
              <p:nvSpPr>
                <p:cNvPr id="62630" name="Line 18"/>
                <p:cNvSpPr>
                  <a:spLocks noChangeShapeType="1"/>
                </p:cNvSpPr>
                <p:nvPr/>
              </p:nvSpPr>
              <p:spPr bwMode="auto">
                <a:xfrm flipV="1">
                  <a:off x="1071" y="2332"/>
                  <a:ext cx="357" cy="278"/>
                </a:xfrm>
                <a:prstGeom prst="line">
                  <a:avLst/>
                </a:prstGeom>
                <a:noFill/>
                <a:ln w="14288">
                  <a:solidFill>
                    <a:srgbClr val="000000"/>
                  </a:solidFill>
                  <a:round/>
                </a:ln>
              </p:spPr>
              <p:txBody>
                <a:bodyPr/>
                <a:lstStyle/>
                <a:p>
                  <a:endParaRPr lang="zh-CN" altLang="en-US"/>
                </a:p>
              </p:txBody>
            </p:sp>
            <p:grpSp>
              <p:nvGrpSpPr>
                <p:cNvPr id="6" name="Group 19"/>
                <p:cNvGrpSpPr/>
                <p:nvPr/>
              </p:nvGrpSpPr>
              <p:grpSpPr bwMode="auto">
                <a:xfrm>
                  <a:off x="793" y="1706"/>
                  <a:ext cx="2938" cy="1739"/>
                  <a:chOff x="804" y="1706"/>
                  <a:chExt cx="2938" cy="1739"/>
                </a:xfrm>
              </p:grpSpPr>
              <p:sp>
                <p:nvSpPr>
                  <p:cNvPr id="62632" name="Line 20"/>
                  <p:cNvSpPr>
                    <a:spLocks noChangeShapeType="1"/>
                  </p:cNvSpPr>
                  <p:nvPr/>
                </p:nvSpPr>
                <p:spPr bwMode="auto">
                  <a:xfrm>
                    <a:off x="2912" y="2288"/>
                    <a:ext cx="1" cy="626"/>
                  </a:xfrm>
                  <a:prstGeom prst="line">
                    <a:avLst/>
                  </a:prstGeom>
                  <a:noFill/>
                  <a:ln w="14288">
                    <a:solidFill>
                      <a:srgbClr val="000000"/>
                    </a:solidFill>
                    <a:round/>
                  </a:ln>
                </p:spPr>
                <p:txBody>
                  <a:bodyPr/>
                  <a:lstStyle/>
                  <a:p>
                    <a:endParaRPr lang="zh-CN" altLang="en-US"/>
                  </a:p>
                </p:txBody>
              </p:sp>
              <p:sp>
                <p:nvSpPr>
                  <p:cNvPr id="62633" name="Line 21"/>
                  <p:cNvSpPr>
                    <a:spLocks noChangeShapeType="1"/>
                  </p:cNvSpPr>
                  <p:nvPr/>
                </p:nvSpPr>
                <p:spPr bwMode="auto">
                  <a:xfrm>
                    <a:off x="2802" y="2381"/>
                    <a:ext cx="0" cy="627"/>
                  </a:xfrm>
                  <a:prstGeom prst="line">
                    <a:avLst/>
                  </a:prstGeom>
                  <a:noFill/>
                  <a:ln w="14288">
                    <a:solidFill>
                      <a:srgbClr val="000000"/>
                    </a:solidFill>
                    <a:round/>
                  </a:ln>
                </p:spPr>
                <p:txBody>
                  <a:bodyPr/>
                  <a:lstStyle/>
                  <a:p>
                    <a:endParaRPr lang="zh-CN" altLang="en-US"/>
                  </a:p>
                </p:txBody>
              </p:sp>
              <p:sp>
                <p:nvSpPr>
                  <p:cNvPr id="62634" name="Line 22"/>
                  <p:cNvSpPr>
                    <a:spLocks noChangeShapeType="1"/>
                  </p:cNvSpPr>
                  <p:nvPr/>
                </p:nvSpPr>
                <p:spPr bwMode="auto">
                  <a:xfrm>
                    <a:off x="3029" y="2192"/>
                    <a:ext cx="1" cy="627"/>
                  </a:xfrm>
                  <a:prstGeom prst="line">
                    <a:avLst/>
                  </a:prstGeom>
                  <a:noFill/>
                  <a:ln w="14288">
                    <a:solidFill>
                      <a:srgbClr val="000000"/>
                    </a:solidFill>
                    <a:round/>
                  </a:ln>
                </p:spPr>
                <p:txBody>
                  <a:bodyPr/>
                  <a:lstStyle/>
                  <a:p>
                    <a:endParaRPr lang="zh-CN" altLang="en-US"/>
                  </a:p>
                </p:txBody>
              </p:sp>
              <p:grpSp>
                <p:nvGrpSpPr>
                  <p:cNvPr id="7" name="Group 23"/>
                  <p:cNvGrpSpPr/>
                  <p:nvPr/>
                </p:nvGrpSpPr>
                <p:grpSpPr bwMode="auto">
                  <a:xfrm>
                    <a:off x="804" y="3236"/>
                    <a:ext cx="267" cy="209"/>
                    <a:chOff x="848" y="3265"/>
                    <a:chExt cx="217" cy="203"/>
                  </a:xfrm>
                </p:grpSpPr>
                <p:sp>
                  <p:nvSpPr>
                    <p:cNvPr id="62653" name="Line 24"/>
                    <p:cNvSpPr>
                      <a:spLocks noChangeShapeType="1"/>
                    </p:cNvSpPr>
                    <p:nvPr/>
                  </p:nvSpPr>
                  <p:spPr bwMode="auto">
                    <a:xfrm flipH="1">
                      <a:off x="887" y="3265"/>
                      <a:ext cx="178" cy="166"/>
                    </a:xfrm>
                    <a:prstGeom prst="line">
                      <a:avLst/>
                    </a:prstGeom>
                    <a:noFill/>
                    <a:ln w="14288">
                      <a:solidFill>
                        <a:srgbClr val="000000"/>
                      </a:solidFill>
                      <a:round/>
                    </a:ln>
                  </p:spPr>
                  <p:txBody>
                    <a:bodyPr/>
                    <a:lstStyle/>
                    <a:p>
                      <a:endParaRPr lang="zh-CN" altLang="en-US"/>
                    </a:p>
                  </p:txBody>
                </p:sp>
                <p:sp>
                  <p:nvSpPr>
                    <p:cNvPr id="62654" name="Freeform 25"/>
                    <p:cNvSpPr/>
                    <p:nvPr/>
                  </p:nvSpPr>
                  <p:spPr bwMode="auto">
                    <a:xfrm>
                      <a:off x="848" y="3407"/>
                      <a:ext cx="63" cy="61"/>
                    </a:xfrm>
                    <a:custGeom>
                      <a:avLst/>
                      <a:gdLst>
                        <a:gd name="T0" fmla="*/ 20 w 63"/>
                        <a:gd name="T1" fmla="*/ 0 h 61"/>
                        <a:gd name="T2" fmla="*/ 0 w 63"/>
                        <a:gd name="T3" fmla="*/ 61 h 61"/>
                        <a:gd name="T4" fmla="*/ 63 w 63"/>
                        <a:gd name="T5" fmla="*/ 41 h 61"/>
                        <a:gd name="T6" fmla="*/ 20 w 63"/>
                        <a:gd name="T7" fmla="*/ 0 h 61"/>
                        <a:gd name="T8" fmla="*/ 0 60000 65536"/>
                        <a:gd name="T9" fmla="*/ 0 60000 65536"/>
                        <a:gd name="T10" fmla="*/ 0 60000 65536"/>
                        <a:gd name="T11" fmla="*/ 0 60000 65536"/>
                        <a:gd name="T12" fmla="*/ 0 w 63"/>
                        <a:gd name="T13" fmla="*/ 0 h 61"/>
                        <a:gd name="T14" fmla="*/ 63 w 63"/>
                        <a:gd name="T15" fmla="*/ 61 h 61"/>
                      </a:gdLst>
                      <a:ahLst/>
                      <a:cxnLst>
                        <a:cxn ang="T8">
                          <a:pos x="T0" y="T1"/>
                        </a:cxn>
                        <a:cxn ang="T9">
                          <a:pos x="T2" y="T3"/>
                        </a:cxn>
                        <a:cxn ang="T10">
                          <a:pos x="T4" y="T5"/>
                        </a:cxn>
                        <a:cxn ang="T11">
                          <a:pos x="T6" y="T7"/>
                        </a:cxn>
                      </a:cxnLst>
                      <a:rect l="T12" t="T13" r="T14" b="T15"/>
                      <a:pathLst>
                        <a:path w="63" h="61">
                          <a:moveTo>
                            <a:pt x="20" y="0"/>
                          </a:moveTo>
                          <a:lnTo>
                            <a:pt x="0" y="61"/>
                          </a:lnTo>
                          <a:lnTo>
                            <a:pt x="63" y="41"/>
                          </a:lnTo>
                          <a:lnTo>
                            <a:pt x="20" y="0"/>
                          </a:lnTo>
                          <a:close/>
                        </a:path>
                      </a:pathLst>
                    </a:custGeom>
                    <a:solidFill>
                      <a:srgbClr val="000000"/>
                    </a:solidFill>
                    <a:ln w="9525">
                      <a:noFill/>
                      <a:round/>
                    </a:ln>
                  </p:spPr>
                  <p:txBody>
                    <a:bodyPr/>
                    <a:lstStyle/>
                    <a:p>
                      <a:endParaRPr lang="zh-CN" altLang="en-US"/>
                    </a:p>
                  </p:txBody>
                </p:sp>
              </p:grpSp>
              <p:grpSp>
                <p:nvGrpSpPr>
                  <p:cNvPr id="8" name="Group 26"/>
                  <p:cNvGrpSpPr/>
                  <p:nvPr/>
                </p:nvGrpSpPr>
                <p:grpSpPr bwMode="auto">
                  <a:xfrm>
                    <a:off x="1657" y="1775"/>
                    <a:ext cx="76" cy="348"/>
                    <a:chOff x="1542" y="1842"/>
                    <a:chExt cx="61" cy="338"/>
                  </a:xfrm>
                </p:grpSpPr>
                <p:sp>
                  <p:nvSpPr>
                    <p:cNvPr id="62651" name="Line 27"/>
                    <p:cNvSpPr>
                      <a:spLocks noChangeShapeType="1"/>
                    </p:cNvSpPr>
                    <p:nvPr/>
                  </p:nvSpPr>
                  <p:spPr bwMode="auto">
                    <a:xfrm flipV="1">
                      <a:off x="1572" y="1895"/>
                      <a:ext cx="1" cy="285"/>
                    </a:xfrm>
                    <a:prstGeom prst="line">
                      <a:avLst/>
                    </a:prstGeom>
                    <a:noFill/>
                    <a:ln w="14288">
                      <a:solidFill>
                        <a:srgbClr val="000000"/>
                      </a:solidFill>
                      <a:round/>
                    </a:ln>
                  </p:spPr>
                  <p:txBody>
                    <a:bodyPr/>
                    <a:lstStyle/>
                    <a:p>
                      <a:endParaRPr lang="zh-CN" altLang="en-US"/>
                    </a:p>
                  </p:txBody>
                </p:sp>
                <p:sp>
                  <p:nvSpPr>
                    <p:cNvPr id="62652" name="Freeform 28"/>
                    <p:cNvSpPr/>
                    <p:nvPr/>
                  </p:nvSpPr>
                  <p:spPr bwMode="auto">
                    <a:xfrm>
                      <a:off x="1542" y="1842"/>
                      <a:ext cx="61" cy="56"/>
                    </a:xfrm>
                    <a:custGeom>
                      <a:avLst/>
                      <a:gdLst>
                        <a:gd name="T0" fmla="*/ 61 w 61"/>
                        <a:gd name="T1" fmla="*/ 56 h 56"/>
                        <a:gd name="T2" fmla="*/ 30 w 61"/>
                        <a:gd name="T3" fmla="*/ 0 h 56"/>
                        <a:gd name="T4" fmla="*/ 0 w 61"/>
                        <a:gd name="T5" fmla="*/ 56 h 56"/>
                        <a:gd name="T6" fmla="*/ 61 w 61"/>
                        <a:gd name="T7" fmla="*/ 56 h 56"/>
                        <a:gd name="T8" fmla="*/ 0 60000 65536"/>
                        <a:gd name="T9" fmla="*/ 0 60000 65536"/>
                        <a:gd name="T10" fmla="*/ 0 60000 65536"/>
                        <a:gd name="T11" fmla="*/ 0 60000 65536"/>
                        <a:gd name="T12" fmla="*/ 0 w 61"/>
                        <a:gd name="T13" fmla="*/ 0 h 56"/>
                        <a:gd name="T14" fmla="*/ 61 w 61"/>
                        <a:gd name="T15" fmla="*/ 56 h 56"/>
                      </a:gdLst>
                      <a:ahLst/>
                      <a:cxnLst>
                        <a:cxn ang="T8">
                          <a:pos x="T0" y="T1"/>
                        </a:cxn>
                        <a:cxn ang="T9">
                          <a:pos x="T2" y="T3"/>
                        </a:cxn>
                        <a:cxn ang="T10">
                          <a:pos x="T4" y="T5"/>
                        </a:cxn>
                        <a:cxn ang="T11">
                          <a:pos x="T6" y="T7"/>
                        </a:cxn>
                      </a:cxnLst>
                      <a:rect l="T12" t="T13" r="T14" b="T15"/>
                      <a:pathLst>
                        <a:path w="61" h="56">
                          <a:moveTo>
                            <a:pt x="61" y="56"/>
                          </a:moveTo>
                          <a:lnTo>
                            <a:pt x="30" y="0"/>
                          </a:lnTo>
                          <a:lnTo>
                            <a:pt x="0" y="56"/>
                          </a:lnTo>
                          <a:lnTo>
                            <a:pt x="61" y="56"/>
                          </a:lnTo>
                          <a:close/>
                        </a:path>
                      </a:pathLst>
                    </a:custGeom>
                    <a:solidFill>
                      <a:srgbClr val="000000"/>
                    </a:solidFill>
                    <a:ln w="9525">
                      <a:noFill/>
                      <a:round/>
                    </a:ln>
                  </p:spPr>
                  <p:txBody>
                    <a:bodyPr/>
                    <a:lstStyle/>
                    <a:p>
                      <a:endParaRPr lang="zh-CN" altLang="en-US"/>
                    </a:p>
                  </p:txBody>
                </p:sp>
              </p:grpSp>
              <p:sp>
                <p:nvSpPr>
                  <p:cNvPr id="62637" name="Rectangle 29"/>
                  <p:cNvSpPr>
                    <a:spLocks noChangeArrowheads="1"/>
                  </p:cNvSpPr>
                  <p:nvPr/>
                </p:nvSpPr>
                <p:spPr bwMode="auto">
                  <a:xfrm>
                    <a:off x="3474" y="2749"/>
                    <a:ext cx="268" cy="196"/>
                  </a:xfrm>
                  <a:prstGeom prst="rect">
                    <a:avLst/>
                  </a:prstGeom>
                  <a:noFill/>
                  <a:ln w="9525">
                    <a:noFill/>
                    <a:miter lim="800000"/>
                  </a:ln>
                </p:spPr>
                <p:txBody>
                  <a:bodyPr/>
                  <a:lstStyle/>
                  <a:p>
                    <a:endParaRPr lang="zh-CN" altLang="en-US"/>
                  </a:p>
                </p:txBody>
              </p:sp>
              <p:sp>
                <p:nvSpPr>
                  <p:cNvPr id="62638" name="Rectangle 30"/>
                  <p:cNvSpPr>
                    <a:spLocks noChangeArrowheads="1"/>
                  </p:cNvSpPr>
                  <p:nvPr/>
                </p:nvSpPr>
                <p:spPr bwMode="auto">
                  <a:xfrm>
                    <a:off x="1694" y="1706"/>
                    <a:ext cx="268" cy="197"/>
                  </a:xfrm>
                  <a:prstGeom prst="rect">
                    <a:avLst/>
                  </a:prstGeom>
                  <a:noFill/>
                  <a:ln w="9525">
                    <a:noFill/>
                    <a:miter lim="800000"/>
                  </a:ln>
                </p:spPr>
                <p:txBody>
                  <a:bodyPr/>
                  <a:lstStyle/>
                  <a:p>
                    <a:endParaRPr lang="zh-CN" altLang="en-US"/>
                  </a:p>
                </p:txBody>
              </p:sp>
              <p:sp>
                <p:nvSpPr>
                  <p:cNvPr id="62639" name="Line 31"/>
                  <p:cNvSpPr>
                    <a:spLocks noChangeShapeType="1"/>
                  </p:cNvSpPr>
                  <p:nvPr/>
                </p:nvSpPr>
                <p:spPr bwMode="auto">
                  <a:xfrm>
                    <a:off x="1071" y="2610"/>
                    <a:ext cx="1" cy="626"/>
                  </a:xfrm>
                  <a:prstGeom prst="line">
                    <a:avLst/>
                  </a:prstGeom>
                  <a:noFill/>
                  <a:ln w="14288">
                    <a:solidFill>
                      <a:srgbClr val="000000"/>
                    </a:solidFill>
                    <a:round/>
                  </a:ln>
                </p:spPr>
                <p:txBody>
                  <a:bodyPr/>
                  <a:lstStyle/>
                  <a:p>
                    <a:endParaRPr lang="zh-CN" altLang="en-US"/>
                  </a:p>
                </p:txBody>
              </p:sp>
              <p:grpSp>
                <p:nvGrpSpPr>
                  <p:cNvPr id="9" name="Group 32"/>
                  <p:cNvGrpSpPr/>
                  <p:nvPr/>
                </p:nvGrpSpPr>
                <p:grpSpPr bwMode="auto">
                  <a:xfrm>
                    <a:off x="1183" y="2521"/>
                    <a:ext cx="1451" cy="626"/>
                    <a:chOff x="1156" y="2568"/>
                    <a:chExt cx="1180" cy="610"/>
                  </a:xfrm>
                </p:grpSpPr>
                <p:sp>
                  <p:nvSpPr>
                    <p:cNvPr id="62649" name="Line 33"/>
                    <p:cNvSpPr>
                      <a:spLocks noChangeShapeType="1"/>
                    </p:cNvSpPr>
                    <p:nvPr/>
                  </p:nvSpPr>
                  <p:spPr bwMode="auto">
                    <a:xfrm>
                      <a:off x="1156" y="2568"/>
                      <a:ext cx="1180" cy="1"/>
                    </a:xfrm>
                    <a:prstGeom prst="line">
                      <a:avLst/>
                    </a:prstGeom>
                    <a:noFill/>
                    <a:ln w="14288">
                      <a:solidFill>
                        <a:srgbClr val="000000"/>
                      </a:solidFill>
                      <a:round/>
                    </a:ln>
                  </p:spPr>
                  <p:txBody>
                    <a:bodyPr/>
                    <a:lstStyle/>
                    <a:p>
                      <a:endParaRPr lang="zh-CN" altLang="en-US"/>
                    </a:p>
                  </p:txBody>
                </p:sp>
                <p:sp>
                  <p:nvSpPr>
                    <p:cNvPr id="62650" name="Line 34"/>
                    <p:cNvSpPr>
                      <a:spLocks noChangeShapeType="1"/>
                    </p:cNvSpPr>
                    <p:nvPr/>
                  </p:nvSpPr>
                  <p:spPr bwMode="auto">
                    <a:xfrm>
                      <a:off x="2336" y="2568"/>
                      <a:ext cx="0" cy="610"/>
                    </a:xfrm>
                    <a:prstGeom prst="line">
                      <a:avLst/>
                    </a:prstGeom>
                    <a:noFill/>
                    <a:ln w="14288">
                      <a:solidFill>
                        <a:srgbClr val="000000"/>
                      </a:solidFill>
                      <a:round/>
                    </a:ln>
                  </p:spPr>
                  <p:txBody>
                    <a:bodyPr/>
                    <a:lstStyle/>
                    <a:p>
                      <a:endParaRPr lang="zh-CN" altLang="en-US"/>
                    </a:p>
                  </p:txBody>
                </p:sp>
              </p:grpSp>
              <p:sp>
                <p:nvSpPr>
                  <p:cNvPr id="62641" name="Line 35"/>
                  <p:cNvSpPr>
                    <a:spLocks noChangeShapeType="1"/>
                  </p:cNvSpPr>
                  <p:nvPr/>
                </p:nvSpPr>
                <p:spPr bwMode="auto">
                  <a:xfrm>
                    <a:off x="1378" y="2380"/>
                    <a:ext cx="1424" cy="1"/>
                  </a:xfrm>
                  <a:prstGeom prst="line">
                    <a:avLst/>
                  </a:prstGeom>
                  <a:noFill/>
                  <a:ln w="14288">
                    <a:solidFill>
                      <a:srgbClr val="000000"/>
                    </a:solidFill>
                    <a:round/>
                  </a:ln>
                </p:spPr>
                <p:txBody>
                  <a:bodyPr/>
                  <a:lstStyle/>
                  <a:p>
                    <a:endParaRPr lang="zh-CN" altLang="en-US"/>
                  </a:p>
                </p:txBody>
              </p:sp>
              <p:grpSp>
                <p:nvGrpSpPr>
                  <p:cNvPr id="10" name="Group 36"/>
                  <p:cNvGrpSpPr/>
                  <p:nvPr/>
                </p:nvGrpSpPr>
                <p:grpSpPr bwMode="auto">
                  <a:xfrm>
                    <a:off x="1485" y="2098"/>
                    <a:ext cx="1641" cy="567"/>
                    <a:chOff x="1519" y="2089"/>
                    <a:chExt cx="2045" cy="555"/>
                  </a:xfrm>
                </p:grpSpPr>
                <p:sp>
                  <p:nvSpPr>
                    <p:cNvPr id="62643" name="Line 37"/>
                    <p:cNvSpPr>
                      <a:spLocks noChangeShapeType="1"/>
                    </p:cNvSpPr>
                    <p:nvPr/>
                  </p:nvSpPr>
                  <p:spPr bwMode="auto">
                    <a:xfrm>
                      <a:off x="1655" y="2185"/>
                      <a:ext cx="1775" cy="1"/>
                    </a:xfrm>
                    <a:prstGeom prst="line">
                      <a:avLst/>
                    </a:prstGeom>
                    <a:noFill/>
                    <a:ln w="14288">
                      <a:solidFill>
                        <a:srgbClr val="000000"/>
                      </a:solidFill>
                      <a:round/>
                    </a:ln>
                  </p:spPr>
                  <p:txBody>
                    <a:bodyPr/>
                    <a:lstStyle/>
                    <a:p>
                      <a:endParaRPr lang="zh-CN" altLang="en-US"/>
                    </a:p>
                  </p:txBody>
                </p:sp>
                <p:sp>
                  <p:nvSpPr>
                    <p:cNvPr id="62644" name="Line 38"/>
                    <p:cNvSpPr>
                      <a:spLocks noChangeShapeType="1"/>
                    </p:cNvSpPr>
                    <p:nvPr/>
                  </p:nvSpPr>
                  <p:spPr bwMode="auto">
                    <a:xfrm>
                      <a:off x="1519" y="2275"/>
                      <a:ext cx="1774" cy="1"/>
                    </a:xfrm>
                    <a:prstGeom prst="line">
                      <a:avLst/>
                    </a:prstGeom>
                    <a:noFill/>
                    <a:ln w="14288">
                      <a:solidFill>
                        <a:srgbClr val="000000"/>
                      </a:solidFill>
                      <a:round/>
                    </a:ln>
                  </p:spPr>
                  <p:txBody>
                    <a:bodyPr/>
                    <a:lstStyle/>
                    <a:p>
                      <a:endParaRPr lang="zh-CN" altLang="en-US"/>
                    </a:p>
                  </p:txBody>
                </p:sp>
                <p:sp>
                  <p:nvSpPr>
                    <p:cNvPr id="82983" name="Rectangle 39"/>
                    <p:cNvSpPr>
                      <a:spLocks noChangeArrowheads="1"/>
                    </p:cNvSpPr>
                    <p:nvPr/>
                  </p:nvSpPr>
                  <p:spPr bwMode="auto">
                    <a:xfrm>
                      <a:off x="2134" y="2273"/>
                      <a:ext cx="404" cy="145"/>
                    </a:xfrm>
                    <a:prstGeom prst="rect">
                      <a:avLst/>
                    </a:prstGeom>
                    <a:noFill/>
                    <a:ln w="9525">
                      <a:noFill/>
                      <a:miter lim="800000"/>
                    </a:ln>
                  </p:spPr>
                  <p:txBody>
                    <a:bodyPr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r>
                        <a:rPr lang="en-US" altLang="zh-CN" sz="1000">
                          <a:solidFill>
                            <a:srgbClr val="000000"/>
                          </a:solidFill>
                          <a:latin typeface="宋体" panose="02010600030101010101" pitchFamily="2" charset="-122"/>
                        </a:rPr>
                        <a:t>3</a:t>
                      </a:r>
                      <a:endParaRPr lang="en-US" altLang="zh-CN" sz="1000" b="1">
                        <a:effectLst>
                          <a:outerShdw blurRad="38100" dist="38100" dir="2700000" algn="tl">
                            <a:srgbClr val="C0C0C0"/>
                          </a:outerShdw>
                        </a:effectLst>
                        <a:latin typeface="Times New Roman" panose="02020603050405020304" pitchFamily="18" charset="0"/>
                      </a:endParaRPr>
                    </a:p>
                  </p:txBody>
                </p:sp>
                <p:sp>
                  <p:nvSpPr>
                    <p:cNvPr id="62646" name="Line 40"/>
                    <p:cNvSpPr>
                      <a:spLocks noChangeShapeType="1"/>
                    </p:cNvSpPr>
                    <p:nvPr/>
                  </p:nvSpPr>
                  <p:spPr bwMode="auto">
                    <a:xfrm>
                      <a:off x="1791" y="2114"/>
                      <a:ext cx="1773" cy="1"/>
                    </a:xfrm>
                    <a:prstGeom prst="line">
                      <a:avLst/>
                    </a:prstGeom>
                    <a:noFill/>
                    <a:ln w="14288">
                      <a:solidFill>
                        <a:srgbClr val="000000"/>
                      </a:solidFill>
                      <a:round/>
                    </a:ln>
                  </p:spPr>
                  <p:txBody>
                    <a:bodyPr/>
                    <a:lstStyle/>
                    <a:p>
                      <a:endParaRPr lang="zh-CN" altLang="en-US"/>
                    </a:p>
                  </p:txBody>
                </p:sp>
                <p:sp>
                  <p:nvSpPr>
                    <p:cNvPr id="82985" name="Rectangle 41"/>
                    <p:cNvSpPr>
                      <a:spLocks noChangeArrowheads="1"/>
                    </p:cNvSpPr>
                    <p:nvPr/>
                  </p:nvSpPr>
                  <p:spPr bwMode="auto">
                    <a:xfrm>
                      <a:off x="2398" y="2089"/>
                      <a:ext cx="408" cy="145"/>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r>
                        <a:rPr lang="en-US" altLang="zh-CN" sz="1000">
                          <a:solidFill>
                            <a:srgbClr val="000000"/>
                          </a:solidFill>
                          <a:latin typeface="宋体" panose="02010600030101010101" pitchFamily="2" charset="-122"/>
                        </a:rPr>
                        <a:t>1</a:t>
                      </a:r>
                      <a:endParaRPr lang="en-US" altLang="zh-CN" sz="1000" b="1">
                        <a:effectLst>
                          <a:outerShdw blurRad="38100" dist="38100" dir="2700000" algn="tl">
                            <a:srgbClr val="C0C0C0"/>
                          </a:outerShdw>
                        </a:effectLst>
                        <a:latin typeface="Times New Roman" panose="02020603050405020304" pitchFamily="18" charset="0"/>
                      </a:endParaRPr>
                    </a:p>
                  </p:txBody>
                </p:sp>
                <p:sp>
                  <p:nvSpPr>
                    <p:cNvPr id="82986" name="Rectangle 42"/>
                    <p:cNvSpPr>
                      <a:spLocks noChangeArrowheads="1"/>
                    </p:cNvSpPr>
                    <p:nvPr/>
                  </p:nvSpPr>
                  <p:spPr bwMode="auto">
                    <a:xfrm>
                      <a:off x="1787" y="2499"/>
                      <a:ext cx="408" cy="145"/>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r>
                        <a:rPr lang="en-US" altLang="zh-CN" sz="1000">
                          <a:solidFill>
                            <a:srgbClr val="000000"/>
                          </a:solidFill>
                          <a:latin typeface="宋体" panose="02010600030101010101" pitchFamily="2" charset="-122"/>
                        </a:rPr>
                        <a:t>N</a:t>
                      </a:r>
                      <a:endParaRPr lang="en-US" altLang="zh-CN" sz="1000" b="1">
                        <a:effectLst>
                          <a:outerShdw blurRad="38100" dist="38100" dir="2700000" algn="tl">
                            <a:srgbClr val="C0C0C0"/>
                          </a:outerShdw>
                        </a:effectLst>
                        <a:latin typeface="Times New Roman" panose="02020603050405020304" pitchFamily="18" charset="0"/>
                      </a:endParaRPr>
                    </a:p>
                  </p:txBody>
                </p:sp>
              </p:grpSp>
            </p:grpSp>
          </p:grpSp>
          <p:sp>
            <p:nvSpPr>
              <p:cNvPr id="62623" name="Line 43"/>
              <p:cNvSpPr>
                <a:spLocks noChangeShapeType="1"/>
              </p:cNvSpPr>
              <p:nvPr/>
            </p:nvSpPr>
            <p:spPr bwMode="auto">
              <a:xfrm>
                <a:off x="3117" y="2123"/>
                <a:ext cx="1" cy="626"/>
              </a:xfrm>
              <a:prstGeom prst="line">
                <a:avLst/>
              </a:prstGeom>
              <a:noFill/>
              <a:ln w="14288">
                <a:solidFill>
                  <a:srgbClr val="000000"/>
                </a:solidFill>
                <a:round/>
              </a:ln>
            </p:spPr>
            <p:txBody>
              <a:bodyPr/>
              <a:lstStyle/>
              <a:p>
                <a:endParaRPr lang="zh-CN" altLang="en-US"/>
              </a:p>
            </p:txBody>
          </p:sp>
        </p:grpSp>
        <p:grpSp>
          <p:nvGrpSpPr>
            <p:cNvPr id="11" name="Group 44"/>
            <p:cNvGrpSpPr/>
            <p:nvPr/>
          </p:nvGrpSpPr>
          <p:grpSpPr bwMode="auto">
            <a:xfrm>
              <a:off x="385" y="1754"/>
              <a:ext cx="2838" cy="1830"/>
              <a:chOff x="804" y="1754"/>
              <a:chExt cx="2838" cy="1830"/>
            </a:xfrm>
          </p:grpSpPr>
          <p:sp>
            <p:nvSpPr>
              <p:cNvPr id="62608" name="Line 45"/>
              <p:cNvSpPr>
                <a:spLocks noChangeShapeType="1"/>
              </p:cNvSpPr>
              <p:nvPr/>
            </p:nvSpPr>
            <p:spPr bwMode="auto">
              <a:xfrm flipV="1">
                <a:off x="3029" y="2123"/>
                <a:ext cx="88" cy="69"/>
              </a:xfrm>
              <a:prstGeom prst="line">
                <a:avLst/>
              </a:prstGeom>
              <a:noFill/>
              <a:ln w="14288">
                <a:solidFill>
                  <a:srgbClr val="000000"/>
                </a:solidFill>
                <a:round/>
              </a:ln>
            </p:spPr>
            <p:txBody>
              <a:bodyPr/>
              <a:lstStyle/>
              <a:p>
                <a:endParaRPr lang="zh-CN" altLang="en-US"/>
              </a:p>
            </p:txBody>
          </p:sp>
          <p:sp>
            <p:nvSpPr>
              <p:cNvPr id="82990" name="Rectangle 46"/>
              <p:cNvSpPr>
                <a:spLocks noChangeArrowheads="1"/>
              </p:cNvSpPr>
              <p:nvPr/>
            </p:nvSpPr>
            <p:spPr bwMode="auto">
              <a:xfrm>
                <a:off x="2062" y="2190"/>
                <a:ext cx="327" cy="148"/>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r>
                  <a:rPr lang="en-US" altLang="zh-CN" sz="1000">
                    <a:solidFill>
                      <a:srgbClr val="000000"/>
                    </a:solidFill>
                    <a:latin typeface="宋体" panose="02010600030101010101" pitchFamily="2" charset="-122"/>
                  </a:rPr>
                  <a:t>2</a:t>
                </a:r>
                <a:endParaRPr lang="en-US" altLang="zh-CN" sz="1000" b="1">
                  <a:effectLst>
                    <a:outerShdw blurRad="38100" dist="38100" dir="2700000" algn="tl">
                      <a:srgbClr val="C0C0C0"/>
                    </a:outerShdw>
                  </a:effectLst>
                  <a:latin typeface="Times New Roman" panose="02020603050405020304" pitchFamily="18" charset="0"/>
                </a:endParaRPr>
              </a:p>
            </p:txBody>
          </p:sp>
          <p:sp>
            <p:nvSpPr>
              <p:cNvPr id="62610" name="Rectangle 47"/>
              <p:cNvSpPr>
                <a:spLocks noChangeArrowheads="1"/>
              </p:cNvSpPr>
              <p:nvPr/>
            </p:nvSpPr>
            <p:spPr bwMode="auto">
              <a:xfrm>
                <a:off x="804" y="3374"/>
                <a:ext cx="358" cy="198"/>
              </a:xfrm>
              <a:prstGeom prst="rect">
                <a:avLst/>
              </a:prstGeom>
              <a:noFill/>
              <a:ln w="9525">
                <a:noFill/>
                <a:miter lim="800000"/>
              </a:ln>
            </p:spPr>
            <p:txBody>
              <a:bodyPr/>
              <a:lstStyle/>
              <a:p>
                <a:endParaRPr lang="zh-CN" altLang="en-US"/>
              </a:p>
            </p:txBody>
          </p:sp>
          <p:sp>
            <p:nvSpPr>
              <p:cNvPr id="82992" name="Rectangle 48"/>
              <p:cNvSpPr>
                <a:spLocks noChangeArrowheads="1"/>
              </p:cNvSpPr>
              <p:nvPr/>
            </p:nvSpPr>
            <p:spPr bwMode="auto">
              <a:xfrm>
                <a:off x="935" y="3422"/>
                <a:ext cx="39" cy="162"/>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1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82993" name="Rectangle 49"/>
              <p:cNvSpPr>
                <a:spLocks noChangeArrowheads="1"/>
              </p:cNvSpPr>
              <p:nvPr/>
            </p:nvSpPr>
            <p:spPr bwMode="auto">
              <a:xfrm>
                <a:off x="3603" y="2800"/>
                <a:ext cx="39" cy="162"/>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100" i="1">
                    <a:solidFill>
                      <a:srgbClr val="000000"/>
                    </a:solidFill>
                    <a:latin typeface="Times New Roman" panose="02020603050405020304" pitchFamily="18" charset="0"/>
                  </a:rPr>
                  <a:t>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82994" name="Rectangle 50"/>
              <p:cNvSpPr>
                <a:spLocks noChangeArrowheads="1"/>
              </p:cNvSpPr>
              <p:nvPr/>
            </p:nvSpPr>
            <p:spPr bwMode="auto">
              <a:xfrm>
                <a:off x="1826" y="1754"/>
                <a:ext cx="64" cy="162"/>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1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nvGrpSpPr>
              <p:cNvPr id="12" name="Group 51"/>
              <p:cNvGrpSpPr/>
              <p:nvPr/>
            </p:nvGrpSpPr>
            <p:grpSpPr bwMode="auto">
              <a:xfrm>
                <a:off x="1955" y="2328"/>
                <a:ext cx="189" cy="147"/>
                <a:chOff x="1784" y="2380"/>
                <a:chExt cx="154" cy="144"/>
              </a:xfrm>
            </p:grpSpPr>
            <p:sp>
              <p:nvSpPr>
                <p:cNvPr id="62615" name="Freeform 52"/>
                <p:cNvSpPr/>
                <p:nvPr/>
              </p:nvSpPr>
              <p:spPr bwMode="auto">
                <a:xfrm>
                  <a:off x="1784" y="2491"/>
                  <a:ext cx="35" cy="33"/>
                </a:xfrm>
                <a:custGeom>
                  <a:avLst/>
                  <a:gdLst>
                    <a:gd name="T0" fmla="*/ 3 w 35"/>
                    <a:gd name="T1" fmla="*/ 25 h 33"/>
                    <a:gd name="T2" fmla="*/ 2 w 35"/>
                    <a:gd name="T3" fmla="*/ 27 h 33"/>
                    <a:gd name="T4" fmla="*/ 0 w 35"/>
                    <a:gd name="T5" fmla="*/ 28 h 33"/>
                    <a:gd name="T6" fmla="*/ 0 w 35"/>
                    <a:gd name="T7" fmla="*/ 28 h 33"/>
                    <a:gd name="T8" fmla="*/ 2 w 35"/>
                    <a:gd name="T9" fmla="*/ 30 h 33"/>
                    <a:gd name="T10" fmla="*/ 3 w 35"/>
                    <a:gd name="T11" fmla="*/ 31 h 33"/>
                    <a:gd name="T12" fmla="*/ 5 w 35"/>
                    <a:gd name="T13" fmla="*/ 33 h 33"/>
                    <a:gd name="T14" fmla="*/ 5 w 35"/>
                    <a:gd name="T15" fmla="*/ 33 h 33"/>
                    <a:gd name="T16" fmla="*/ 8 w 35"/>
                    <a:gd name="T17" fmla="*/ 33 h 33"/>
                    <a:gd name="T18" fmla="*/ 32 w 35"/>
                    <a:gd name="T19" fmla="*/ 9 h 33"/>
                    <a:gd name="T20" fmla="*/ 33 w 35"/>
                    <a:gd name="T21" fmla="*/ 7 h 33"/>
                    <a:gd name="T22" fmla="*/ 35 w 35"/>
                    <a:gd name="T23" fmla="*/ 6 h 33"/>
                    <a:gd name="T24" fmla="*/ 35 w 35"/>
                    <a:gd name="T25" fmla="*/ 4 h 33"/>
                    <a:gd name="T26" fmla="*/ 33 w 35"/>
                    <a:gd name="T27" fmla="*/ 3 h 33"/>
                    <a:gd name="T28" fmla="*/ 32 w 35"/>
                    <a:gd name="T29" fmla="*/ 1 h 33"/>
                    <a:gd name="T30" fmla="*/ 30 w 35"/>
                    <a:gd name="T31" fmla="*/ 0 h 33"/>
                    <a:gd name="T32" fmla="*/ 29 w 35"/>
                    <a:gd name="T33" fmla="*/ 0 h 33"/>
                    <a:gd name="T34" fmla="*/ 27 w 35"/>
                    <a:gd name="T35" fmla="*/ 1 h 33"/>
                    <a:gd name="T36" fmla="*/ 3 w 35"/>
                    <a:gd name="T37" fmla="*/ 25 h 3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5"/>
                    <a:gd name="T58" fmla="*/ 0 h 33"/>
                    <a:gd name="T59" fmla="*/ 35 w 35"/>
                    <a:gd name="T60" fmla="*/ 33 h 3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5" h="33">
                      <a:moveTo>
                        <a:pt x="3" y="25"/>
                      </a:moveTo>
                      <a:lnTo>
                        <a:pt x="2" y="27"/>
                      </a:lnTo>
                      <a:lnTo>
                        <a:pt x="0" y="28"/>
                      </a:lnTo>
                      <a:lnTo>
                        <a:pt x="2" y="30"/>
                      </a:lnTo>
                      <a:lnTo>
                        <a:pt x="3" y="31"/>
                      </a:lnTo>
                      <a:lnTo>
                        <a:pt x="5" y="33"/>
                      </a:lnTo>
                      <a:lnTo>
                        <a:pt x="8" y="33"/>
                      </a:lnTo>
                      <a:lnTo>
                        <a:pt x="32" y="9"/>
                      </a:lnTo>
                      <a:lnTo>
                        <a:pt x="33" y="7"/>
                      </a:lnTo>
                      <a:lnTo>
                        <a:pt x="35" y="6"/>
                      </a:lnTo>
                      <a:lnTo>
                        <a:pt x="35" y="4"/>
                      </a:lnTo>
                      <a:lnTo>
                        <a:pt x="33" y="3"/>
                      </a:lnTo>
                      <a:lnTo>
                        <a:pt x="32" y="1"/>
                      </a:lnTo>
                      <a:lnTo>
                        <a:pt x="30" y="0"/>
                      </a:lnTo>
                      <a:lnTo>
                        <a:pt x="29" y="0"/>
                      </a:lnTo>
                      <a:lnTo>
                        <a:pt x="27" y="1"/>
                      </a:lnTo>
                      <a:lnTo>
                        <a:pt x="3" y="25"/>
                      </a:lnTo>
                      <a:close/>
                    </a:path>
                  </a:pathLst>
                </a:custGeom>
                <a:solidFill>
                  <a:srgbClr val="000000"/>
                </a:solidFill>
                <a:ln w="9525">
                  <a:noFill/>
                  <a:round/>
                </a:ln>
              </p:spPr>
              <p:txBody>
                <a:bodyPr/>
                <a:lstStyle/>
                <a:p>
                  <a:endParaRPr lang="zh-CN" altLang="en-US"/>
                </a:p>
              </p:txBody>
            </p:sp>
            <p:sp>
              <p:nvSpPr>
                <p:cNvPr id="62616" name="Freeform 53"/>
                <p:cNvSpPr/>
                <p:nvPr/>
              </p:nvSpPr>
              <p:spPr bwMode="auto">
                <a:xfrm>
                  <a:off x="1829" y="2449"/>
                  <a:ext cx="35" cy="32"/>
                </a:xfrm>
                <a:custGeom>
                  <a:avLst/>
                  <a:gdLst>
                    <a:gd name="T0" fmla="*/ 2 w 35"/>
                    <a:gd name="T1" fmla="*/ 25 h 32"/>
                    <a:gd name="T2" fmla="*/ 0 w 35"/>
                    <a:gd name="T3" fmla="*/ 27 h 32"/>
                    <a:gd name="T4" fmla="*/ 0 w 35"/>
                    <a:gd name="T5" fmla="*/ 28 h 32"/>
                    <a:gd name="T6" fmla="*/ 0 w 35"/>
                    <a:gd name="T7" fmla="*/ 29 h 32"/>
                    <a:gd name="T8" fmla="*/ 0 w 35"/>
                    <a:gd name="T9" fmla="*/ 31 h 32"/>
                    <a:gd name="T10" fmla="*/ 2 w 35"/>
                    <a:gd name="T11" fmla="*/ 32 h 32"/>
                    <a:gd name="T12" fmla="*/ 3 w 35"/>
                    <a:gd name="T13" fmla="*/ 32 h 32"/>
                    <a:gd name="T14" fmla="*/ 5 w 35"/>
                    <a:gd name="T15" fmla="*/ 32 h 32"/>
                    <a:gd name="T16" fmla="*/ 6 w 35"/>
                    <a:gd name="T17" fmla="*/ 32 h 32"/>
                    <a:gd name="T18" fmla="*/ 32 w 35"/>
                    <a:gd name="T19" fmla="*/ 8 h 32"/>
                    <a:gd name="T20" fmla="*/ 34 w 35"/>
                    <a:gd name="T21" fmla="*/ 7 h 32"/>
                    <a:gd name="T22" fmla="*/ 35 w 35"/>
                    <a:gd name="T23" fmla="*/ 5 h 32"/>
                    <a:gd name="T24" fmla="*/ 35 w 35"/>
                    <a:gd name="T25" fmla="*/ 4 h 32"/>
                    <a:gd name="T26" fmla="*/ 34 w 35"/>
                    <a:gd name="T27" fmla="*/ 3 h 32"/>
                    <a:gd name="T28" fmla="*/ 32 w 35"/>
                    <a:gd name="T29" fmla="*/ 1 h 32"/>
                    <a:gd name="T30" fmla="*/ 31 w 35"/>
                    <a:gd name="T31" fmla="*/ 0 h 32"/>
                    <a:gd name="T32" fmla="*/ 29 w 35"/>
                    <a:gd name="T33" fmla="*/ 0 h 32"/>
                    <a:gd name="T34" fmla="*/ 28 w 35"/>
                    <a:gd name="T35" fmla="*/ 1 h 32"/>
                    <a:gd name="T36" fmla="*/ 2 w 35"/>
                    <a:gd name="T37" fmla="*/ 25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5"/>
                    <a:gd name="T58" fmla="*/ 0 h 32"/>
                    <a:gd name="T59" fmla="*/ 35 w 3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5" h="32">
                      <a:moveTo>
                        <a:pt x="2" y="25"/>
                      </a:moveTo>
                      <a:lnTo>
                        <a:pt x="0" y="27"/>
                      </a:lnTo>
                      <a:lnTo>
                        <a:pt x="0" y="28"/>
                      </a:lnTo>
                      <a:lnTo>
                        <a:pt x="0" y="29"/>
                      </a:lnTo>
                      <a:lnTo>
                        <a:pt x="0" y="31"/>
                      </a:lnTo>
                      <a:lnTo>
                        <a:pt x="2" y="32"/>
                      </a:lnTo>
                      <a:lnTo>
                        <a:pt x="3" y="32"/>
                      </a:lnTo>
                      <a:lnTo>
                        <a:pt x="5" y="32"/>
                      </a:lnTo>
                      <a:lnTo>
                        <a:pt x="6" y="32"/>
                      </a:lnTo>
                      <a:lnTo>
                        <a:pt x="32" y="8"/>
                      </a:lnTo>
                      <a:lnTo>
                        <a:pt x="34" y="7"/>
                      </a:lnTo>
                      <a:lnTo>
                        <a:pt x="35" y="5"/>
                      </a:lnTo>
                      <a:lnTo>
                        <a:pt x="35" y="4"/>
                      </a:lnTo>
                      <a:lnTo>
                        <a:pt x="34" y="3"/>
                      </a:lnTo>
                      <a:lnTo>
                        <a:pt x="32" y="1"/>
                      </a:lnTo>
                      <a:lnTo>
                        <a:pt x="31" y="0"/>
                      </a:lnTo>
                      <a:lnTo>
                        <a:pt x="29" y="0"/>
                      </a:lnTo>
                      <a:lnTo>
                        <a:pt x="28" y="1"/>
                      </a:lnTo>
                      <a:lnTo>
                        <a:pt x="2" y="25"/>
                      </a:lnTo>
                      <a:close/>
                    </a:path>
                  </a:pathLst>
                </a:custGeom>
                <a:solidFill>
                  <a:srgbClr val="000000"/>
                </a:solidFill>
                <a:ln w="9525">
                  <a:noFill/>
                  <a:round/>
                </a:ln>
              </p:spPr>
              <p:txBody>
                <a:bodyPr/>
                <a:lstStyle/>
                <a:p>
                  <a:endParaRPr lang="zh-CN" altLang="en-US"/>
                </a:p>
              </p:txBody>
            </p:sp>
            <p:sp>
              <p:nvSpPr>
                <p:cNvPr id="62617" name="Freeform 54"/>
                <p:cNvSpPr/>
                <p:nvPr/>
              </p:nvSpPr>
              <p:spPr bwMode="auto">
                <a:xfrm>
                  <a:off x="1873" y="2408"/>
                  <a:ext cx="35" cy="32"/>
                </a:xfrm>
                <a:custGeom>
                  <a:avLst/>
                  <a:gdLst>
                    <a:gd name="T0" fmla="*/ 3 w 35"/>
                    <a:gd name="T1" fmla="*/ 24 h 32"/>
                    <a:gd name="T2" fmla="*/ 2 w 35"/>
                    <a:gd name="T3" fmla="*/ 25 h 32"/>
                    <a:gd name="T4" fmla="*/ 0 w 35"/>
                    <a:gd name="T5" fmla="*/ 27 h 32"/>
                    <a:gd name="T6" fmla="*/ 0 w 35"/>
                    <a:gd name="T7" fmla="*/ 28 h 32"/>
                    <a:gd name="T8" fmla="*/ 2 w 35"/>
                    <a:gd name="T9" fmla="*/ 29 h 32"/>
                    <a:gd name="T10" fmla="*/ 3 w 35"/>
                    <a:gd name="T11" fmla="*/ 31 h 32"/>
                    <a:gd name="T12" fmla="*/ 5 w 35"/>
                    <a:gd name="T13" fmla="*/ 32 h 32"/>
                    <a:gd name="T14" fmla="*/ 6 w 35"/>
                    <a:gd name="T15" fmla="*/ 32 h 32"/>
                    <a:gd name="T16" fmla="*/ 8 w 35"/>
                    <a:gd name="T17" fmla="*/ 31 h 32"/>
                    <a:gd name="T18" fmla="*/ 33 w 35"/>
                    <a:gd name="T19" fmla="*/ 7 h 32"/>
                    <a:gd name="T20" fmla="*/ 35 w 35"/>
                    <a:gd name="T21" fmla="*/ 5 h 32"/>
                    <a:gd name="T22" fmla="*/ 35 w 35"/>
                    <a:gd name="T23" fmla="*/ 4 h 32"/>
                    <a:gd name="T24" fmla="*/ 35 w 35"/>
                    <a:gd name="T25" fmla="*/ 3 h 32"/>
                    <a:gd name="T26" fmla="*/ 35 w 35"/>
                    <a:gd name="T27" fmla="*/ 1 h 32"/>
                    <a:gd name="T28" fmla="*/ 33 w 35"/>
                    <a:gd name="T29" fmla="*/ 0 h 32"/>
                    <a:gd name="T30" fmla="*/ 32 w 35"/>
                    <a:gd name="T31" fmla="*/ 0 h 32"/>
                    <a:gd name="T32" fmla="*/ 30 w 35"/>
                    <a:gd name="T33" fmla="*/ 0 h 32"/>
                    <a:gd name="T34" fmla="*/ 29 w 35"/>
                    <a:gd name="T35" fmla="*/ 0 h 32"/>
                    <a:gd name="T36" fmla="*/ 3 w 35"/>
                    <a:gd name="T37" fmla="*/ 24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5"/>
                    <a:gd name="T58" fmla="*/ 0 h 32"/>
                    <a:gd name="T59" fmla="*/ 35 w 35"/>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5" h="32">
                      <a:moveTo>
                        <a:pt x="3" y="24"/>
                      </a:moveTo>
                      <a:lnTo>
                        <a:pt x="2" y="25"/>
                      </a:lnTo>
                      <a:lnTo>
                        <a:pt x="0" y="27"/>
                      </a:lnTo>
                      <a:lnTo>
                        <a:pt x="0" y="28"/>
                      </a:lnTo>
                      <a:lnTo>
                        <a:pt x="2" y="29"/>
                      </a:lnTo>
                      <a:lnTo>
                        <a:pt x="3" y="31"/>
                      </a:lnTo>
                      <a:lnTo>
                        <a:pt x="5" y="32"/>
                      </a:lnTo>
                      <a:lnTo>
                        <a:pt x="6" y="32"/>
                      </a:lnTo>
                      <a:lnTo>
                        <a:pt x="8" y="31"/>
                      </a:lnTo>
                      <a:lnTo>
                        <a:pt x="33" y="7"/>
                      </a:lnTo>
                      <a:lnTo>
                        <a:pt x="35" y="5"/>
                      </a:lnTo>
                      <a:lnTo>
                        <a:pt x="35" y="4"/>
                      </a:lnTo>
                      <a:lnTo>
                        <a:pt x="35" y="3"/>
                      </a:lnTo>
                      <a:lnTo>
                        <a:pt x="35" y="1"/>
                      </a:lnTo>
                      <a:lnTo>
                        <a:pt x="33" y="0"/>
                      </a:lnTo>
                      <a:lnTo>
                        <a:pt x="32" y="0"/>
                      </a:lnTo>
                      <a:lnTo>
                        <a:pt x="30" y="0"/>
                      </a:lnTo>
                      <a:lnTo>
                        <a:pt x="29" y="0"/>
                      </a:lnTo>
                      <a:lnTo>
                        <a:pt x="3" y="24"/>
                      </a:lnTo>
                      <a:close/>
                    </a:path>
                  </a:pathLst>
                </a:custGeom>
                <a:solidFill>
                  <a:srgbClr val="000000"/>
                </a:solidFill>
                <a:ln w="9525">
                  <a:noFill/>
                  <a:round/>
                </a:ln>
              </p:spPr>
              <p:txBody>
                <a:bodyPr/>
                <a:lstStyle/>
                <a:p>
                  <a:endParaRPr lang="zh-CN" altLang="en-US"/>
                </a:p>
              </p:txBody>
            </p:sp>
            <p:sp>
              <p:nvSpPr>
                <p:cNvPr id="62618" name="Freeform 55"/>
                <p:cNvSpPr/>
                <p:nvPr/>
              </p:nvSpPr>
              <p:spPr bwMode="auto">
                <a:xfrm>
                  <a:off x="1918" y="2380"/>
                  <a:ext cx="20" cy="18"/>
                </a:xfrm>
                <a:custGeom>
                  <a:avLst/>
                  <a:gdLst>
                    <a:gd name="T0" fmla="*/ 3 w 20"/>
                    <a:gd name="T1" fmla="*/ 9 h 18"/>
                    <a:gd name="T2" fmla="*/ 2 w 20"/>
                    <a:gd name="T3" fmla="*/ 11 h 18"/>
                    <a:gd name="T4" fmla="*/ 0 w 20"/>
                    <a:gd name="T5" fmla="*/ 12 h 18"/>
                    <a:gd name="T6" fmla="*/ 0 w 20"/>
                    <a:gd name="T7" fmla="*/ 14 h 18"/>
                    <a:gd name="T8" fmla="*/ 2 w 20"/>
                    <a:gd name="T9" fmla="*/ 15 h 18"/>
                    <a:gd name="T10" fmla="*/ 3 w 20"/>
                    <a:gd name="T11" fmla="*/ 16 h 18"/>
                    <a:gd name="T12" fmla="*/ 5 w 20"/>
                    <a:gd name="T13" fmla="*/ 18 h 18"/>
                    <a:gd name="T14" fmla="*/ 6 w 20"/>
                    <a:gd name="T15" fmla="*/ 18 h 18"/>
                    <a:gd name="T16" fmla="*/ 8 w 20"/>
                    <a:gd name="T17" fmla="*/ 16 h 18"/>
                    <a:gd name="T18" fmla="*/ 18 w 20"/>
                    <a:gd name="T19" fmla="*/ 8 h 18"/>
                    <a:gd name="T20" fmla="*/ 18 w 20"/>
                    <a:gd name="T21" fmla="*/ 5 h 18"/>
                    <a:gd name="T22" fmla="*/ 20 w 20"/>
                    <a:gd name="T23" fmla="*/ 4 h 18"/>
                    <a:gd name="T24" fmla="*/ 20 w 20"/>
                    <a:gd name="T25" fmla="*/ 4 h 18"/>
                    <a:gd name="T26" fmla="*/ 18 w 20"/>
                    <a:gd name="T27" fmla="*/ 2 h 18"/>
                    <a:gd name="T28" fmla="*/ 17 w 20"/>
                    <a:gd name="T29" fmla="*/ 1 h 18"/>
                    <a:gd name="T30" fmla="*/ 15 w 20"/>
                    <a:gd name="T31" fmla="*/ 0 h 18"/>
                    <a:gd name="T32" fmla="*/ 15 w 20"/>
                    <a:gd name="T33" fmla="*/ 0 h 18"/>
                    <a:gd name="T34" fmla="*/ 14 w 20"/>
                    <a:gd name="T35" fmla="*/ 1 h 18"/>
                    <a:gd name="T36" fmla="*/ 3 w 20"/>
                    <a:gd name="T37" fmla="*/ 9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
                    <a:gd name="T58" fmla="*/ 0 h 18"/>
                    <a:gd name="T59" fmla="*/ 20 w 20"/>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 h="18">
                      <a:moveTo>
                        <a:pt x="3" y="9"/>
                      </a:moveTo>
                      <a:lnTo>
                        <a:pt x="2" y="11"/>
                      </a:lnTo>
                      <a:lnTo>
                        <a:pt x="0" y="12"/>
                      </a:lnTo>
                      <a:lnTo>
                        <a:pt x="0" y="14"/>
                      </a:lnTo>
                      <a:lnTo>
                        <a:pt x="2" y="15"/>
                      </a:lnTo>
                      <a:lnTo>
                        <a:pt x="3" y="16"/>
                      </a:lnTo>
                      <a:lnTo>
                        <a:pt x="5" y="18"/>
                      </a:lnTo>
                      <a:lnTo>
                        <a:pt x="6" y="18"/>
                      </a:lnTo>
                      <a:lnTo>
                        <a:pt x="8" y="16"/>
                      </a:lnTo>
                      <a:lnTo>
                        <a:pt x="18" y="8"/>
                      </a:lnTo>
                      <a:lnTo>
                        <a:pt x="18" y="5"/>
                      </a:lnTo>
                      <a:lnTo>
                        <a:pt x="20" y="4"/>
                      </a:lnTo>
                      <a:lnTo>
                        <a:pt x="18" y="2"/>
                      </a:lnTo>
                      <a:lnTo>
                        <a:pt x="17" y="1"/>
                      </a:lnTo>
                      <a:lnTo>
                        <a:pt x="15" y="0"/>
                      </a:lnTo>
                      <a:lnTo>
                        <a:pt x="14" y="1"/>
                      </a:lnTo>
                      <a:lnTo>
                        <a:pt x="3" y="9"/>
                      </a:lnTo>
                      <a:close/>
                    </a:path>
                  </a:pathLst>
                </a:custGeom>
                <a:solidFill>
                  <a:srgbClr val="000000"/>
                </a:solidFill>
                <a:ln w="9525">
                  <a:noFill/>
                  <a:round/>
                </a:ln>
              </p:spPr>
              <p:txBody>
                <a:bodyPr/>
                <a:lstStyle/>
                <a:p>
                  <a:endParaRPr lang="zh-CN" altLang="en-US"/>
                </a:p>
              </p:txBody>
            </p:sp>
          </p:grpSp>
        </p:grpSp>
      </p:grpSp>
      <p:graphicFrame>
        <p:nvGraphicFramePr>
          <p:cNvPr id="83148" name="Group 204"/>
          <p:cNvGraphicFramePr>
            <a:graphicFrameLocks noGrp="1"/>
          </p:cNvGraphicFramePr>
          <p:nvPr/>
        </p:nvGraphicFramePr>
        <p:xfrm>
          <a:off x="755650" y="771550"/>
          <a:ext cx="7704138" cy="1376363"/>
        </p:xfrm>
        <a:graphic>
          <a:graphicData uri="http://schemas.openxmlformats.org/drawingml/2006/table">
            <a:tbl>
              <a:tblPr/>
              <a:tblGrid>
                <a:gridCol w="3529013"/>
                <a:gridCol w="4175125"/>
              </a:tblGrid>
              <a:tr h="27432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chemeClr val="tx2"/>
                          </a:solidFill>
                          <a:effectLst/>
                          <a:latin typeface="华文楷体" pitchFamily="2" charset="-122"/>
                          <a:ea typeface="华文楷体" pitchFamily="2" charset="-122"/>
                        </a:rPr>
                        <a:t>多址接入方式</a:t>
                      </a:r>
                      <a:endParaRPr kumimoji="0" lang="zh-CN" altLang="en-US" sz="1800" b="0" i="0" u="none" strike="noStrike" cap="none" normalizeH="0" baseline="0" dirty="0" smtClean="0">
                        <a:ln>
                          <a:noFill/>
                        </a:ln>
                        <a:solidFill>
                          <a:schemeClr val="tx2"/>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solidFill>
                      <a:srgbClr val="D9B3F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2"/>
                          </a:solidFill>
                          <a:effectLst/>
                          <a:latin typeface="华文楷体" pitchFamily="2" charset="-122"/>
                          <a:ea typeface="华文楷体" pitchFamily="2" charset="-122"/>
                        </a:rPr>
                        <a:t>建立多址接入时区分信道的依据</a:t>
                      </a:r>
                      <a:endParaRPr kumimoji="0" lang="zh-CN" altLang="en-US" sz="18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D9B3FF"/>
                    </a:solidFill>
                  </a:tcPr>
                </a:tc>
              </a:tr>
              <a:tr h="34766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rgbClr val="003300"/>
                          </a:solidFill>
                          <a:effectLst/>
                          <a:latin typeface="华文楷体" pitchFamily="2" charset="-122"/>
                          <a:ea typeface="华文楷体" pitchFamily="2" charset="-122"/>
                        </a:rPr>
                        <a:t>频分多址方式（</a:t>
                      </a:r>
                      <a:r>
                        <a:rPr kumimoji="0" lang="en-US" altLang="zh-CN" sz="1800" b="0" i="0" u="none" strike="noStrike" cap="none" normalizeH="0" baseline="0" smtClean="0">
                          <a:ln>
                            <a:noFill/>
                          </a:ln>
                          <a:solidFill>
                            <a:srgbClr val="003300"/>
                          </a:solidFill>
                          <a:effectLst/>
                          <a:latin typeface="华文楷体" pitchFamily="2" charset="-122"/>
                          <a:ea typeface="华文楷体" pitchFamily="2" charset="-122"/>
                        </a:rPr>
                        <a:t>FDMA</a:t>
                      </a:r>
                      <a:r>
                        <a:rPr kumimoji="0" lang="zh-CN" altLang="en-US" sz="1800" b="0" i="0" u="none" strike="noStrike" cap="none" normalizeH="0" baseline="0" smtClean="0">
                          <a:ln>
                            <a:noFill/>
                          </a:ln>
                          <a:solidFill>
                            <a:srgbClr val="003300"/>
                          </a:solidFill>
                          <a:effectLst/>
                          <a:latin typeface="华文楷体" pitchFamily="2" charset="-122"/>
                          <a:ea typeface="华文楷体" pitchFamily="2" charset="-122"/>
                        </a:rPr>
                        <a:t>）</a:t>
                      </a:r>
                      <a:endParaRPr kumimoji="0" lang="zh-CN" altLang="en-US" sz="1800" b="1" i="0" u="none" strike="noStrike" cap="none" normalizeH="0" baseline="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2"/>
                          </a:solidFill>
                          <a:effectLst/>
                          <a:latin typeface="华文楷体" pitchFamily="2" charset="-122"/>
                          <a:ea typeface="华文楷体" pitchFamily="2" charset="-122"/>
                        </a:rPr>
                        <a:t>传输信号的载波频率不同</a:t>
                      </a:r>
                      <a:endParaRPr kumimoji="0" lang="zh-CN" altLang="en-US" sz="18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27432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rgbClr val="003300"/>
                          </a:solidFill>
                          <a:effectLst/>
                          <a:latin typeface="华文楷体" pitchFamily="2" charset="-122"/>
                          <a:ea typeface="华文楷体" pitchFamily="2" charset="-122"/>
                        </a:rPr>
                        <a:t>时分多址方式（</a:t>
                      </a:r>
                      <a:r>
                        <a:rPr kumimoji="0" lang="en-US" altLang="zh-CN" sz="1800" b="0" i="0" u="none" strike="noStrike" cap="none" normalizeH="0" baseline="0" smtClean="0">
                          <a:ln>
                            <a:noFill/>
                          </a:ln>
                          <a:solidFill>
                            <a:srgbClr val="003300"/>
                          </a:solidFill>
                          <a:effectLst/>
                          <a:latin typeface="华文楷体" pitchFamily="2" charset="-122"/>
                          <a:ea typeface="华文楷体" pitchFamily="2" charset="-122"/>
                        </a:rPr>
                        <a:t>TDMA</a:t>
                      </a:r>
                      <a:r>
                        <a:rPr kumimoji="0" lang="zh-CN" altLang="en-US" sz="1800" b="0" i="0" u="none" strike="noStrike" cap="none" normalizeH="0" baseline="0" smtClean="0">
                          <a:ln>
                            <a:noFill/>
                          </a:ln>
                          <a:solidFill>
                            <a:srgbClr val="003300"/>
                          </a:solidFill>
                          <a:effectLst/>
                          <a:latin typeface="华文楷体" pitchFamily="2" charset="-122"/>
                          <a:ea typeface="华文楷体" pitchFamily="2" charset="-122"/>
                        </a:rPr>
                        <a:t>）</a:t>
                      </a:r>
                      <a:endParaRPr kumimoji="0" lang="zh-CN" altLang="en-US" sz="1800" b="0" i="0" u="none" strike="noStrike" cap="none" normalizeH="0" baseline="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D"/>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smtClean="0">
                          <a:ln>
                            <a:noFill/>
                          </a:ln>
                          <a:solidFill>
                            <a:schemeClr val="tx2"/>
                          </a:solidFill>
                          <a:effectLst/>
                          <a:latin typeface="华文楷体" pitchFamily="2" charset="-122"/>
                          <a:ea typeface="华文楷体" pitchFamily="2" charset="-122"/>
                        </a:rPr>
                        <a:t>传输信号存在的时间不同</a:t>
                      </a:r>
                      <a:endParaRPr kumimoji="0" lang="zh-CN" altLang="en-US" sz="18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D"/>
                    </a:solidFill>
                  </a:tcPr>
                </a:tc>
              </a:tr>
              <a:tr h="27432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rgbClr val="003300"/>
                          </a:solidFill>
                          <a:effectLst/>
                          <a:latin typeface="华文楷体" pitchFamily="2" charset="-122"/>
                          <a:ea typeface="华文楷体" pitchFamily="2" charset="-122"/>
                        </a:rPr>
                        <a:t>码分多址方式（</a:t>
                      </a:r>
                      <a:r>
                        <a:rPr kumimoji="0" lang="en-US" altLang="zh-CN" sz="1800" b="0" i="0" u="none" strike="noStrike" cap="none" normalizeH="0" baseline="0" dirty="0" smtClean="0">
                          <a:ln>
                            <a:noFill/>
                          </a:ln>
                          <a:solidFill>
                            <a:srgbClr val="003300"/>
                          </a:solidFill>
                          <a:effectLst/>
                          <a:latin typeface="华文楷体" pitchFamily="2" charset="-122"/>
                          <a:ea typeface="华文楷体" pitchFamily="2" charset="-122"/>
                        </a:rPr>
                        <a:t>CDMA</a:t>
                      </a:r>
                      <a:r>
                        <a:rPr kumimoji="0" lang="zh-CN" altLang="en-US" sz="1800" b="0" i="0" u="none" strike="noStrike" cap="none" normalizeH="0" baseline="0" dirty="0" smtClean="0">
                          <a:ln>
                            <a:noFill/>
                          </a:ln>
                          <a:solidFill>
                            <a:srgbClr val="003300"/>
                          </a:solidFill>
                          <a:effectLst/>
                          <a:latin typeface="华文楷体" pitchFamily="2" charset="-122"/>
                          <a:ea typeface="华文楷体" pitchFamily="2" charset="-122"/>
                        </a:rPr>
                        <a:t>）</a:t>
                      </a:r>
                      <a:endParaRPr kumimoji="0" lang="zh-CN" altLang="en-US" sz="1800" b="0" i="0" u="none" strike="noStrike" cap="none" normalizeH="0" baseline="0" dirty="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9933"/>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1800" b="0" i="0" u="none" strike="noStrike" cap="none" normalizeH="0" baseline="0" dirty="0" smtClean="0">
                          <a:ln>
                            <a:noFill/>
                          </a:ln>
                          <a:solidFill>
                            <a:schemeClr val="tx2"/>
                          </a:solidFill>
                          <a:effectLst/>
                          <a:latin typeface="华文楷体" pitchFamily="2" charset="-122"/>
                          <a:ea typeface="华文楷体" pitchFamily="2" charset="-122"/>
                        </a:rPr>
                        <a:t>传输信号的码型不同</a:t>
                      </a:r>
                      <a:endParaRPr kumimoji="0" lang="zh-CN" altLang="en-US" sz="1800" b="0" i="0" u="none" strike="noStrike" cap="none" normalizeH="0" baseline="0" dirty="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rgbClr val="FF9933"/>
                    </a:solidFill>
                  </a:tcPr>
                </a:tc>
              </a:tr>
            </a:tbl>
          </a:graphicData>
        </a:graphic>
      </p:graphicFrame>
      <p:sp>
        <p:nvSpPr>
          <p:cNvPr id="62468" name="Rectangle 3"/>
          <p:cNvSpPr>
            <a:spLocks noGrp="1" noChangeArrowheads="1"/>
          </p:cNvSpPr>
          <p:nvPr>
            <p:ph type="body" idx="1"/>
          </p:nvPr>
        </p:nvSpPr>
        <p:spPr>
          <a:xfrm>
            <a:off x="107950" y="4245769"/>
            <a:ext cx="9036050" cy="532210"/>
          </a:xfrm>
        </p:spPr>
        <p:txBody>
          <a:bodyPr/>
          <a:lstStyle/>
          <a:p>
            <a:pPr eaLnBrk="1" hangingPunct="1">
              <a:lnSpc>
                <a:spcPct val="90000"/>
              </a:lnSpc>
              <a:buFont typeface="Wingdings" panose="05000000000000000000" pitchFamily="2" charset="2"/>
              <a:buBlip>
                <a:blip r:embed="rId2"/>
              </a:buBlip>
            </a:pPr>
            <a:r>
              <a:rPr lang="zh-CN" altLang="en-US" sz="2000" b="0" dirty="0" smtClean="0">
                <a:latin typeface="华文楷体" pitchFamily="2" charset="-122"/>
                <a:ea typeface="华文楷体" pitchFamily="2" charset="-122"/>
              </a:rPr>
              <a:t>目前应用的</a:t>
            </a:r>
            <a:r>
              <a:rPr lang="zh-CN" altLang="en-US" sz="2000" b="0" dirty="0" smtClean="0">
                <a:solidFill>
                  <a:srgbClr val="003300"/>
                </a:solidFill>
                <a:latin typeface="华文楷体" pitchFamily="2" charset="-122"/>
                <a:ea typeface="华文楷体" pitchFamily="2" charset="-122"/>
              </a:rPr>
              <a:t>多址方式</a:t>
            </a:r>
            <a:r>
              <a:rPr lang="en-US" altLang="zh-CN" sz="2000" b="0" dirty="0" smtClean="0">
                <a:solidFill>
                  <a:srgbClr val="003300"/>
                </a:solidFill>
                <a:latin typeface="华文楷体" pitchFamily="2" charset="-122"/>
                <a:ea typeface="华文楷体" pitchFamily="2" charset="-122"/>
              </a:rPr>
              <a:t>:</a:t>
            </a:r>
            <a:r>
              <a:rPr lang="zh-CN" altLang="en-US" sz="2000" b="0" dirty="0" smtClean="0">
                <a:latin typeface="华文楷体" pitchFamily="2" charset="-122"/>
                <a:ea typeface="华文楷体" pitchFamily="2" charset="-122"/>
              </a:rPr>
              <a:t>频分多址</a:t>
            </a:r>
            <a:r>
              <a:rPr lang="en-US" altLang="zh-CN" sz="2000" b="0" dirty="0" smtClean="0">
                <a:latin typeface="华文楷体" pitchFamily="2" charset="-122"/>
                <a:ea typeface="华文楷体" pitchFamily="2" charset="-122"/>
              </a:rPr>
              <a:t>(FDMA)</a:t>
            </a:r>
            <a:r>
              <a:rPr lang="zh-CN" altLang="en-US" sz="2000" b="0" dirty="0" smtClean="0">
                <a:latin typeface="华文楷体" pitchFamily="2" charset="-122"/>
                <a:ea typeface="华文楷体" pitchFamily="2" charset="-122"/>
              </a:rPr>
              <a:t>、时分多址</a:t>
            </a:r>
            <a:r>
              <a:rPr lang="en-US" altLang="zh-CN" sz="2000" b="0" dirty="0" smtClean="0">
                <a:latin typeface="华文楷体" pitchFamily="2" charset="-122"/>
                <a:ea typeface="华文楷体" pitchFamily="2" charset="-122"/>
              </a:rPr>
              <a:t>(TDMA)</a:t>
            </a:r>
            <a:r>
              <a:rPr lang="zh-CN" altLang="en-US" sz="2000" b="0" dirty="0" smtClean="0">
                <a:latin typeface="华文楷体" pitchFamily="2" charset="-122"/>
                <a:ea typeface="华文楷体" pitchFamily="2" charset="-122"/>
              </a:rPr>
              <a:t>、码分多址</a:t>
            </a:r>
            <a:r>
              <a:rPr lang="en-US" altLang="zh-CN" sz="2000" b="0" dirty="0" smtClean="0">
                <a:latin typeface="华文楷体" pitchFamily="2" charset="-122"/>
                <a:ea typeface="华文楷体" pitchFamily="2" charset="-122"/>
              </a:rPr>
              <a:t>(CDMA)</a:t>
            </a:r>
            <a:r>
              <a:rPr lang="zh-CN" altLang="en-US" sz="2000" b="0" dirty="0" smtClean="0">
                <a:latin typeface="华文楷体" pitchFamily="2" charset="-122"/>
                <a:ea typeface="华文楷体" pitchFamily="2" charset="-122"/>
              </a:rPr>
              <a:t>及其混合方式等</a:t>
            </a:r>
            <a:endParaRPr lang="zh-CN" altLang="en-US" sz="2000" b="0" dirty="0" smtClean="0">
              <a:latin typeface="华文楷体" pitchFamily="2" charset="-122"/>
              <a:ea typeface="华文楷体" pitchFamily="2" charset="-122"/>
            </a:endParaRPr>
          </a:p>
        </p:txBody>
      </p:sp>
      <p:grpSp>
        <p:nvGrpSpPr>
          <p:cNvPr id="13" name="Group 81"/>
          <p:cNvGrpSpPr/>
          <p:nvPr/>
        </p:nvGrpSpPr>
        <p:grpSpPr bwMode="auto">
          <a:xfrm>
            <a:off x="3419475" y="2118122"/>
            <a:ext cx="2592388" cy="2127647"/>
            <a:chOff x="2064" y="2205"/>
            <a:chExt cx="1633" cy="1787"/>
          </a:xfrm>
        </p:grpSpPr>
        <p:sp>
          <p:nvSpPr>
            <p:cNvPr id="62550" name="AutoShape 82"/>
            <p:cNvSpPr>
              <a:spLocks noChangeAspect="1" noChangeArrowheads="1" noTextEdit="1"/>
            </p:cNvSpPr>
            <p:nvPr/>
          </p:nvSpPr>
          <p:spPr bwMode="auto">
            <a:xfrm>
              <a:off x="2064" y="2205"/>
              <a:ext cx="1633" cy="1787"/>
            </a:xfrm>
            <a:prstGeom prst="rect">
              <a:avLst/>
            </a:prstGeom>
            <a:noFill/>
            <a:ln w="9525">
              <a:noFill/>
              <a:miter lim="800000"/>
            </a:ln>
          </p:spPr>
          <p:txBody>
            <a:bodyPr/>
            <a:lstStyle/>
            <a:p>
              <a:endParaRPr lang="zh-CN" altLang="en-US"/>
            </a:p>
          </p:txBody>
        </p:sp>
        <p:sp>
          <p:nvSpPr>
            <p:cNvPr id="62551" name="Line 83"/>
            <p:cNvSpPr>
              <a:spLocks noChangeShapeType="1"/>
            </p:cNvSpPr>
            <p:nvPr/>
          </p:nvSpPr>
          <p:spPr bwMode="auto">
            <a:xfrm>
              <a:off x="2223" y="2925"/>
              <a:ext cx="101" cy="1"/>
            </a:xfrm>
            <a:prstGeom prst="line">
              <a:avLst/>
            </a:prstGeom>
            <a:noFill/>
            <a:ln w="9525">
              <a:solidFill>
                <a:srgbClr val="000000"/>
              </a:solidFill>
              <a:round/>
            </a:ln>
          </p:spPr>
          <p:txBody>
            <a:bodyPr/>
            <a:lstStyle/>
            <a:p>
              <a:endParaRPr lang="zh-CN" altLang="en-US"/>
            </a:p>
          </p:txBody>
        </p:sp>
        <p:sp>
          <p:nvSpPr>
            <p:cNvPr id="62552" name="Line 84"/>
            <p:cNvSpPr>
              <a:spLocks noChangeShapeType="1"/>
            </p:cNvSpPr>
            <p:nvPr/>
          </p:nvSpPr>
          <p:spPr bwMode="auto">
            <a:xfrm>
              <a:off x="2223" y="2925"/>
              <a:ext cx="1" cy="598"/>
            </a:xfrm>
            <a:prstGeom prst="line">
              <a:avLst/>
            </a:prstGeom>
            <a:noFill/>
            <a:ln w="9525">
              <a:solidFill>
                <a:srgbClr val="000000"/>
              </a:solidFill>
              <a:round/>
            </a:ln>
          </p:spPr>
          <p:txBody>
            <a:bodyPr/>
            <a:lstStyle/>
            <a:p>
              <a:endParaRPr lang="zh-CN" altLang="en-US"/>
            </a:p>
          </p:txBody>
        </p:sp>
        <p:sp>
          <p:nvSpPr>
            <p:cNvPr id="62553" name="Line 85"/>
            <p:cNvSpPr>
              <a:spLocks noChangeShapeType="1"/>
            </p:cNvSpPr>
            <p:nvPr/>
          </p:nvSpPr>
          <p:spPr bwMode="auto">
            <a:xfrm>
              <a:off x="2223" y="3523"/>
              <a:ext cx="101" cy="1"/>
            </a:xfrm>
            <a:prstGeom prst="line">
              <a:avLst/>
            </a:prstGeom>
            <a:noFill/>
            <a:ln w="9525">
              <a:solidFill>
                <a:srgbClr val="000000"/>
              </a:solidFill>
              <a:round/>
            </a:ln>
          </p:spPr>
          <p:txBody>
            <a:bodyPr/>
            <a:lstStyle/>
            <a:p>
              <a:endParaRPr lang="zh-CN" altLang="en-US"/>
            </a:p>
          </p:txBody>
        </p:sp>
        <p:sp>
          <p:nvSpPr>
            <p:cNvPr id="62554" name="Line 86"/>
            <p:cNvSpPr>
              <a:spLocks noChangeShapeType="1"/>
            </p:cNvSpPr>
            <p:nvPr/>
          </p:nvSpPr>
          <p:spPr bwMode="auto">
            <a:xfrm>
              <a:off x="2324" y="2925"/>
              <a:ext cx="1" cy="598"/>
            </a:xfrm>
            <a:prstGeom prst="line">
              <a:avLst/>
            </a:prstGeom>
            <a:noFill/>
            <a:ln w="9525">
              <a:solidFill>
                <a:srgbClr val="000000"/>
              </a:solidFill>
              <a:round/>
            </a:ln>
          </p:spPr>
          <p:txBody>
            <a:bodyPr/>
            <a:lstStyle/>
            <a:p>
              <a:endParaRPr lang="zh-CN" altLang="en-US"/>
            </a:p>
          </p:txBody>
        </p:sp>
        <p:sp>
          <p:nvSpPr>
            <p:cNvPr id="83031" name="Rectangle 87"/>
            <p:cNvSpPr>
              <a:spLocks noChangeArrowheads="1"/>
            </p:cNvSpPr>
            <p:nvPr/>
          </p:nvSpPr>
          <p:spPr bwMode="auto">
            <a:xfrm rot="16200000">
              <a:off x="2165" y="3195"/>
              <a:ext cx="215"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032" name="Rectangle 88"/>
            <p:cNvSpPr>
              <a:spLocks noChangeArrowheads="1"/>
            </p:cNvSpPr>
            <p:nvPr/>
          </p:nvSpPr>
          <p:spPr bwMode="auto">
            <a:xfrm rot="16200000">
              <a:off x="2242" y="3089"/>
              <a:ext cx="54"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57" name="Line 89"/>
            <p:cNvSpPr>
              <a:spLocks noChangeShapeType="1"/>
            </p:cNvSpPr>
            <p:nvPr/>
          </p:nvSpPr>
          <p:spPr bwMode="auto">
            <a:xfrm>
              <a:off x="2323" y="2925"/>
              <a:ext cx="102" cy="1"/>
            </a:xfrm>
            <a:prstGeom prst="line">
              <a:avLst/>
            </a:prstGeom>
            <a:noFill/>
            <a:ln w="9525">
              <a:solidFill>
                <a:srgbClr val="000000"/>
              </a:solidFill>
              <a:round/>
            </a:ln>
          </p:spPr>
          <p:txBody>
            <a:bodyPr/>
            <a:lstStyle/>
            <a:p>
              <a:endParaRPr lang="zh-CN" altLang="en-US"/>
            </a:p>
          </p:txBody>
        </p:sp>
        <p:sp>
          <p:nvSpPr>
            <p:cNvPr id="62558" name="Line 90"/>
            <p:cNvSpPr>
              <a:spLocks noChangeShapeType="1"/>
            </p:cNvSpPr>
            <p:nvPr/>
          </p:nvSpPr>
          <p:spPr bwMode="auto">
            <a:xfrm>
              <a:off x="2323" y="2925"/>
              <a:ext cx="1" cy="598"/>
            </a:xfrm>
            <a:prstGeom prst="line">
              <a:avLst/>
            </a:prstGeom>
            <a:noFill/>
            <a:ln w="9525">
              <a:solidFill>
                <a:srgbClr val="000000"/>
              </a:solidFill>
              <a:round/>
            </a:ln>
          </p:spPr>
          <p:txBody>
            <a:bodyPr/>
            <a:lstStyle/>
            <a:p>
              <a:endParaRPr lang="zh-CN" altLang="en-US"/>
            </a:p>
          </p:txBody>
        </p:sp>
        <p:sp>
          <p:nvSpPr>
            <p:cNvPr id="62559" name="Line 91"/>
            <p:cNvSpPr>
              <a:spLocks noChangeShapeType="1"/>
            </p:cNvSpPr>
            <p:nvPr/>
          </p:nvSpPr>
          <p:spPr bwMode="auto">
            <a:xfrm>
              <a:off x="2323" y="3523"/>
              <a:ext cx="102" cy="1"/>
            </a:xfrm>
            <a:prstGeom prst="line">
              <a:avLst/>
            </a:prstGeom>
            <a:noFill/>
            <a:ln w="9525">
              <a:solidFill>
                <a:srgbClr val="000000"/>
              </a:solidFill>
              <a:round/>
            </a:ln>
          </p:spPr>
          <p:txBody>
            <a:bodyPr/>
            <a:lstStyle/>
            <a:p>
              <a:endParaRPr lang="zh-CN" altLang="en-US"/>
            </a:p>
          </p:txBody>
        </p:sp>
        <p:sp>
          <p:nvSpPr>
            <p:cNvPr id="62560" name="Line 92"/>
            <p:cNvSpPr>
              <a:spLocks noChangeShapeType="1"/>
            </p:cNvSpPr>
            <p:nvPr/>
          </p:nvSpPr>
          <p:spPr bwMode="auto">
            <a:xfrm>
              <a:off x="2425" y="2925"/>
              <a:ext cx="1" cy="598"/>
            </a:xfrm>
            <a:prstGeom prst="line">
              <a:avLst/>
            </a:prstGeom>
            <a:noFill/>
            <a:ln w="9525">
              <a:solidFill>
                <a:srgbClr val="000000"/>
              </a:solidFill>
              <a:round/>
            </a:ln>
          </p:spPr>
          <p:txBody>
            <a:bodyPr/>
            <a:lstStyle/>
            <a:p>
              <a:endParaRPr lang="zh-CN" altLang="en-US"/>
            </a:p>
          </p:txBody>
        </p:sp>
        <p:sp>
          <p:nvSpPr>
            <p:cNvPr id="83037" name="Rectangle 93"/>
            <p:cNvSpPr>
              <a:spLocks noChangeArrowheads="1"/>
            </p:cNvSpPr>
            <p:nvPr/>
          </p:nvSpPr>
          <p:spPr bwMode="auto">
            <a:xfrm rot="16200000">
              <a:off x="2270" y="3195"/>
              <a:ext cx="215"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038" name="Rectangle 94"/>
            <p:cNvSpPr>
              <a:spLocks noChangeArrowheads="1"/>
            </p:cNvSpPr>
            <p:nvPr/>
          </p:nvSpPr>
          <p:spPr bwMode="auto">
            <a:xfrm rot="16200000">
              <a:off x="2347" y="3089"/>
              <a:ext cx="54"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63" name="Line 95"/>
            <p:cNvSpPr>
              <a:spLocks noChangeShapeType="1"/>
            </p:cNvSpPr>
            <p:nvPr/>
          </p:nvSpPr>
          <p:spPr bwMode="auto">
            <a:xfrm>
              <a:off x="2527" y="2925"/>
              <a:ext cx="318" cy="1"/>
            </a:xfrm>
            <a:prstGeom prst="line">
              <a:avLst/>
            </a:prstGeom>
            <a:noFill/>
            <a:ln w="9525">
              <a:solidFill>
                <a:srgbClr val="000000"/>
              </a:solidFill>
              <a:round/>
            </a:ln>
          </p:spPr>
          <p:txBody>
            <a:bodyPr/>
            <a:lstStyle/>
            <a:p>
              <a:endParaRPr lang="zh-CN" altLang="en-US"/>
            </a:p>
          </p:txBody>
        </p:sp>
        <p:sp>
          <p:nvSpPr>
            <p:cNvPr id="62564" name="Line 96"/>
            <p:cNvSpPr>
              <a:spLocks noChangeShapeType="1"/>
            </p:cNvSpPr>
            <p:nvPr/>
          </p:nvSpPr>
          <p:spPr bwMode="auto">
            <a:xfrm>
              <a:off x="2429" y="2925"/>
              <a:ext cx="101" cy="1"/>
            </a:xfrm>
            <a:prstGeom prst="line">
              <a:avLst/>
            </a:prstGeom>
            <a:noFill/>
            <a:ln w="9525">
              <a:solidFill>
                <a:srgbClr val="000000"/>
              </a:solidFill>
              <a:round/>
            </a:ln>
          </p:spPr>
          <p:txBody>
            <a:bodyPr/>
            <a:lstStyle/>
            <a:p>
              <a:endParaRPr lang="zh-CN" altLang="en-US"/>
            </a:p>
          </p:txBody>
        </p:sp>
        <p:sp>
          <p:nvSpPr>
            <p:cNvPr id="62565" name="Line 97"/>
            <p:cNvSpPr>
              <a:spLocks noChangeShapeType="1"/>
            </p:cNvSpPr>
            <p:nvPr/>
          </p:nvSpPr>
          <p:spPr bwMode="auto">
            <a:xfrm>
              <a:off x="2429" y="3523"/>
              <a:ext cx="101" cy="1"/>
            </a:xfrm>
            <a:prstGeom prst="line">
              <a:avLst/>
            </a:prstGeom>
            <a:noFill/>
            <a:ln w="9525">
              <a:solidFill>
                <a:srgbClr val="000000"/>
              </a:solidFill>
              <a:round/>
            </a:ln>
          </p:spPr>
          <p:txBody>
            <a:bodyPr/>
            <a:lstStyle/>
            <a:p>
              <a:endParaRPr lang="zh-CN" altLang="en-US"/>
            </a:p>
          </p:txBody>
        </p:sp>
        <p:sp>
          <p:nvSpPr>
            <p:cNvPr id="62566" name="Line 98"/>
            <p:cNvSpPr>
              <a:spLocks noChangeShapeType="1"/>
            </p:cNvSpPr>
            <p:nvPr/>
          </p:nvSpPr>
          <p:spPr bwMode="auto">
            <a:xfrm>
              <a:off x="2530" y="2925"/>
              <a:ext cx="1" cy="598"/>
            </a:xfrm>
            <a:prstGeom prst="line">
              <a:avLst/>
            </a:prstGeom>
            <a:noFill/>
            <a:ln w="9525">
              <a:solidFill>
                <a:srgbClr val="000000"/>
              </a:solidFill>
              <a:round/>
            </a:ln>
          </p:spPr>
          <p:txBody>
            <a:bodyPr/>
            <a:lstStyle/>
            <a:p>
              <a:endParaRPr lang="zh-CN" altLang="en-US"/>
            </a:p>
          </p:txBody>
        </p:sp>
        <p:sp>
          <p:nvSpPr>
            <p:cNvPr id="83043" name="Rectangle 99"/>
            <p:cNvSpPr>
              <a:spLocks noChangeArrowheads="1"/>
            </p:cNvSpPr>
            <p:nvPr/>
          </p:nvSpPr>
          <p:spPr bwMode="auto">
            <a:xfrm rot="16200000">
              <a:off x="2378" y="3192"/>
              <a:ext cx="215"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044" name="Rectangle 100"/>
            <p:cNvSpPr>
              <a:spLocks noChangeArrowheads="1"/>
            </p:cNvSpPr>
            <p:nvPr/>
          </p:nvSpPr>
          <p:spPr bwMode="auto">
            <a:xfrm rot="16200000">
              <a:off x="2455" y="3087"/>
              <a:ext cx="54"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3</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69" name="Line 101"/>
            <p:cNvSpPr>
              <a:spLocks noChangeShapeType="1"/>
            </p:cNvSpPr>
            <p:nvPr/>
          </p:nvSpPr>
          <p:spPr bwMode="auto">
            <a:xfrm flipH="1">
              <a:off x="2941" y="2506"/>
              <a:ext cx="500" cy="419"/>
            </a:xfrm>
            <a:prstGeom prst="line">
              <a:avLst/>
            </a:prstGeom>
            <a:noFill/>
            <a:ln w="9525">
              <a:solidFill>
                <a:srgbClr val="000000"/>
              </a:solidFill>
              <a:round/>
            </a:ln>
          </p:spPr>
          <p:txBody>
            <a:bodyPr/>
            <a:lstStyle/>
            <a:p>
              <a:endParaRPr lang="zh-CN" altLang="en-US"/>
            </a:p>
          </p:txBody>
        </p:sp>
        <p:sp>
          <p:nvSpPr>
            <p:cNvPr id="62570" name="Line 102"/>
            <p:cNvSpPr>
              <a:spLocks noChangeShapeType="1"/>
            </p:cNvSpPr>
            <p:nvPr/>
          </p:nvSpPr>
          <p:spPr bwMode="auto">
            <a:xfrm>
              <a:off x="2839" y="2925"/>
              <a:ext cx="102" cy="1"/>
            </a:xfrm>
            <a:prstGeom prst="line">
              <a:avLst/>
            </a:prstGeom>
            <a:noFill/>
            <a:ln w="9525">
              <a:solidFill>
                <a:srgbClr val="000000"/>
              </a:solidFill>
              <a:round/>
            </a:ln>
          </p:spPr>
          <p:txBody>
            <a:bodyPr/>
            <a:lstStyle/>
            <a:p>
              <a:endParaRPr lang="zh-CN" altLang="en-US"/>
            </a:p>
          </p:txBody>
        </p:sp>
        <p:sp>
          <p:nvSpPr>
            <p:cNvPr id="62571" name="Line 103"/>
            <p:cNvSpPr>
              <a:spLocks noChangeShapeType="1"/>
            </p:cNvSpPr>
            <p:nvPr/>
          </p:nvSpPr>
          <p:spPr bwMode="auto">
            <a:xfrm>
              <a:off x="2839" y="3523"/>
              <a:ext cx="102" cy="1"/>
            </a:xfrm>
            <a:prstGeom prst="line">
              <a:avLst/>
            </a:prstGeom>
            <a:noFill/>
            <a:ln w="9525">
              <a:solidFill>
                <a:srgbClr val="000000"/>
              </a:solidFill>
              <a:round/>
            </a:ln>
          </p:spPr>
          <p:txBody>
            <a:bodyPr/>
            <a:lstStyle/>
            <a:p>
              <a:endParaRPr lang="zh-CN" altLang="en-US"/>
            </a:p>
          </p:txBody>
        </p:sp>
        <p:sp>
          <p:nvSpPr>
            <p:cNvPr id="62572" name="Line 104"/>
            <p:cNvSpPr>
              <a:spLocks noChangeShapeType="1"/>
            </p:cNvSpPr>
            <p:nvPr/>
          </p:nvSpPr>
          <p:spPr bwMode="auto">
            <a:xfrm>
              <a:off x="2941" y="2925"/>
              <a:ext cx="1" cy="598"/>
            </a:xfrm>
            <a:prstGeom prst="line">
              <a:avLst/>
            </a:prstGeom>
            <a:noFill/>
            <a:ln w="9525">
              <a:solidFill>
                <a:srgbClr val="000000"/>
              </a:solidFill>
              <a:round/>
            </a:ln>
          </p:spPr>
          <p:txBody>
            <a:bodyPr/>
            <a:lstStyle/>
            <a:p>
              <a:endParaRPr lang="zh-CN" altLang="en-US"/>
            </a:p>
          </p:txBody>
        </p:sp>
        <p:sp>
          <p:nvSpPr>
            <p:cNvPr id="83049" name="Rectangle 105"/>
            <p:cNvSpPr>
              <a:spLocks noChangeArrowheads="1"/>
            </p:cNvSpPr>
            <p:nvPr/>
          </p:nvSpPr>
          <p:spPr bwMode="auto">
            <a:xfrm rot="16200000">
              <a:off x="2786" y="3193"/>
              <a:ext cx="215"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0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050" name="Rectangle 106"/>
            <p:cNvSpPr>
              <a:spLocks noChangeArrowheads="1"/>
            </p:cNvSpPr>
            <p:nvPr/>
          </p:nvSpPr>
          <p:spPr bwMode="auto">
            <a:xfrm rot="16200000">
              <a:off x="2851" y="3081"/>
              <a:ext cx="78" cy="97"/>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N</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75" name="Line 107"/>
            <p:cNvSpPr>
              <a:spLocks noChangeShapeType="1"/>
            </p:cNvSpPr>
            <p:nvPr/>
          </p:nvSpPr>
          <p:spPr bwMode="auto">
            <a:xfrm>
              <a:off x="2832" y="2925"/>
              <a:ext cx="1" cy="598"/>
            </a:xfrm>
            <a:prstGeom prst="line">
              <a:avLst/>
            </a:prstGeom>
            <a:noFill/>
            <a:ln w="9525">
              <a:solidFill>
                <a:srgbClr val="000000"/>
              </a:solidFill>
              <a:round/>
            </a:ln>
          </p:spPr>
          <p:txBody>
            <a:bodyPr/>
            <a:lstStyle/>
            <a:p>
              <a:endParaRPr lang="zh-CN" altLang="en-US"/>
            </a:p>
          </p:txBody>
        </p:sp>
        <p:sp>
          <p:nvSpPr>
            <p:cNvPr id="62576" name="Line 108"/>
            <p:cNvSpPr>
              <a:spLocks noChangeShapeType="1"/>
            </p:cNvSpPr>
            <p:nvPr/>
          </p:nvSpPr>
          <p:spPr bwMode="auto">
            <a:xfrm>
              <a:off x="2527" y="3523"/>
              <a:ext cx="318" cy="1"/>
            </a:xfrm>
            <a:prstGeom prst="line">
              <a:avLst/>
            </a:prstGeom>
            <a:noFill/>
            <a:ln w="9525">
              <a:solidFill>
                <a:srgbClr val="000000"/>
              </a:solidFill>
              <a:round/>
            </a:ln>
          </p:spPr>
          <p:txBody>
            <a:bodyPr/>
            <a:lstStyle/>
            <a:p>
              <a:endParaRPr lang="zh-CN" altLang="en-US"/>
            </a:p>
          </p:txBody>
        </p:sp>
        <p:sp>
          <p:nvSpPr>
            <p:cNvPr id="62577" name="Line 109"/>
            <p:cNvSpPr>
              <a:spLocks noChangeShapeType="1"/>
            </p:cNvSpPr>
            <p:nvPr/>
          </p:nvSpPr>
          <p:spPr bwMode="auto">
            <a:xfrm flipH="1">
              <a:off x="2933" y="3104"/>
              <a:ext cx="501" cy="419"/>
            </a:xfrm>
            <a:prstGeom prst="line">
              <a:avLst/>
            </a:prstGeom>
            <a:noFill/>
            <a:ln w="9525">
              <a:solidFill>
                <a:srgbClr val="000000"/>
              </a:solidFill>
              <a:round/>
            </a:ln>
          </p:spPr>
          <p:txBody>
            <a:bodyPr/>
            <a:lstStyle/>
            <a:p>
              <a:endParaRPr lang="zh-CN" altLang="en-US"/>
            </a:p>
          </p:txBody>
        </p:sp>
        <p:sp>
          <p:nvSpPr>
            <p:cNvPr id="62578" name="Line 110"/>
            <p:cNvSpPr>
              <a:spLocks noChangeShapeType="1"/>
            </p:cNvSpPr>
            <p:nvPr/>
          </p:nvSpPr>
          <p:spPr bwMode="auto">
            <a:xfrm>
              <a:off x="3441" y="2506"/>
              <a:ext cx="1" cy="598"/>
            </a:xfrm>
            <a:prstGeom prst="line">
              <a:avLst/>
            </a:prstGeom>
            <a:noFill/>
            <a:ln w="9525">
              <a:solidFill>
                <a:srgbClr val="000000"/>
              </a:solidFill>
              <a:round/>
            </a:ln>
          </p:spPr>
          <p:txBody>
            <a:bodyPr/>
            <a:lstStyle/>
            <a:p>
              <a:endParaRPr lang="zh-CN" altLang="en-US"/>
            </a:p>
          </p:txBody>
        </p:sp>
        <p:sp>
          <p:nvSpPr>
            <p:cNvPr id="62579" name="Line 111"/>
            <p:cNvSpPr>
              <a:spLocks noChangeShapeType="1"/>
            </p:cNvSpPr>
            <p:nvPr/>
          </p:nvSpPr>
          <p:spPr bwMode="auto">
            <a:xfrm>
              <a:off x="3340" y="2506"/>
              <a:ext cx="101" cy="1"/>
            </a:xfrm>
            <a:prstGeom prst="line">
              <a:avLst/>
            </a:prstGeom>
            <a:noFill/>
            <a:ln w="9525">
              <a:solidFill>
                <a:srgbClr val="000000"/>
              </a:solidFill>
              <a:round/>
            </a:ln>
          </p:spPr>
          <p:txBody>
            <a:bodyPr/>
            <a:lstStyle/>
            <a:p>
              <a:endParaRPr lang="zh-CN" altLang="en-US"/>
            </a:p>
          </p:txBody>
        </p:sp>
        <p:sp>
          <p:nvSpPr>
            <p:cNvPr id="62580" name="Line 112"/>
            <p:cNvSpPr>
              <a:spLocks noChangeShapeType="1"/>
            </p:cNvSpPr>
            <p:nvPr/>
          </p:nvSpPr>
          <p:spPr bwMode="auto">
            <a:xfrm flipH="1">
              <a:off x="2832" y="2506"/>
              <a:ext cx="500" cy="419"/>
            </a:xfrm>
            <a:prstGeom prst="line">
              <a:avLst/>
            </a:prstGeom>
            <a:noFill/>
            <a:ln w="9525">
              <a:solidFill>
                <a:srgbClr val="000000"/>
              </a:solidFill>
              <a:round/>
            </a:ln>
          </p:spPr>
          <p:txBody>
            <a:bodyPr/>
            <a:lstStyle/>
            <a:p>
              <a:endParaRPr lang="zh-CN" altLang="en-US"/>
            </a:p>
          </p:txBody>
        </p:sp>
        <p:sp>
          <p:nvSpPr>
            <p:cNvPr id="62581" name="Line 113"/>
            <p:cNvSpPr>
              <a:spLocks noChangeShapeType="1"/>
            </p:cNvSpPr>
            <p:nvPr/>
          </p:nvSpPr>
          <p:spPr bwMode="auto">
            <a:xfrm flipH="1">
              <a:off x="2527" y="2506"/>
              <a:ext cx="501" cy="419"/>
            </a:xfrm>
            <a:prstGeom prst="line">
              <a:avLst/>
            </a:prstGeom>
            <a:noFill/>
            <a:ln w="9525">
              <a:solidFill>
                <a:srgbClr val="000000"/>
              </a:solidFill>
              <a:round/>
            </a:ln>
          </p:spPr>
          <p:txBody>
            <a:bodyPr/>
            <a:lstStyle/>
            <a:p>
              <a:endParaRPr lang="zh-CN" altLang="en-US"/>
            </a:p>
          </p:txBody>
        </p:sp>
        <p:sp>
          <p:nvSpPr>
            <p:cNvPr id="62582" name="Line 114"/>
            <p:cNvSpPr>
              <a:spLocks noChangeShapeType="1"/>
            </p:cNvSpPr>
            <p:nvPr/>
          </p:nvSpPr>
          <p:spPr bwMode="auto">
            <a:xfrm flipH="1">
              <a:off x="2426" y="2506"/>
              <a:ext cx="500" cy="419"/>
            </a:xfrm>
            <a:prstGeom prst="line">
              <a:avLst/>
            </a:prstGeom>
            <a:noFill/>
            <a:ln w="9525">
              <a:solidFill>
                <a:srgbClr val="000000"/>
              </a:solidFill>
              <a:round/>
            </a:ln>
          </p:spPr>
          <p:txBody>
            <a:bodyPr/>
            <a:lstStyle/>
            <a:p>
              <a:endParaRPr lang="zh-CN" altLang="en-US"/>
            </a:p>
          </p:txBody>
        </p:sp>
        <p:sp>
          <p:nvSpPr>
            <p:cNvPr id="62583" name="Line 115"/>
            <p:cNvSpPr>
              <a:spLocks noChangeShapeType="1"/>
            </p:cNvSpPr>
            <p:nvPr/>
          </p:nvSpPr>
          <p:spPr bwMode="auto">
            <a:xfrm flipH="1">
              <a:off x="2324" y="2506"/>
              <a:ext cx="500" cy="419"/>
            </a:xfrm>
            <a:prstGeom prst="line">
              <a:avLst/>
            </a:prstGeom>
            <a:noFill/>
            <a:ln w="9525">
              <a:solidFill>
                <a:srgbClr val="000000"/>
              </a:solidFill>
              <a:round/>
            </a:ln>
          </p:spPr>
          <p:txBody>
            <a:bodyPr/>
            <a:lstStyle/>
            <a:p>
              <a:endParaRPr lang="zh-CN" altLang="en-US"/>
            </a:p>
          </p:txBody>
        </p:sp>
        <p:sp>
          <p:nvSpPr>
            <p:cNvPr id="62584" name="Line 116"/>
            <p:cNvSpPr>
              <a:spLocks noChangeShapeType="1"/>
            </p:cNvSpPr>
            <p:nvPr/>
          </p:nvSpPr>
          <p:spPr bwMode="auto">
            <a:xfrm flipH="1">
              <a:off x="2223" y="2506"/>
              <a:ext cx="500" cy="419"/>
            </a:xfrm>
            <a:prstGeom prst="line">
              <a:avLst/>
            </a:prstGeom>
            <a:noFill/>
            <a:ln w="9525">
              <a:solidFill>
                <a:srgbClr val="000000"/>
              </a:solidFill>
              <a:round/>
            </a:ln>
          </p:spPr>
          <p:txBody>
            <a:bodyPr/>
            <a:lstStyle/>
            <a:p>
              <a:endParaRPr lang="zh-CN" altLang="en-US"/>
            </a:p>
          </p:txBody>
        </p:sp>
        <p:sp>
          <p:nvSpPr>
            <p:cNvPr id="62585" name="Line 117"/>
            <p:cNvSpPr>
              <a:spLocks noChangeShapeType="1"/>
            </p:cNvSpPr>
            <p:nvPr/>
          </p:nvSpPr>
          <p:spPr bwMode="auto">
            <a:xfrm>
              <a:off x="2730" y="2506"/>
              <a:ext cx="610" cy="1"/>
            </a:xfrm>
            <a:prstGeom prst="line">
              <a:avLst/>
            </a:prstGeom>
            <a:noFill/>
            <a:ln w="9525">
              <a:solidFill>
                <a:srgbClr val="000000"/>
              </a:solidFill>
              <a:round/>
            </a:ln>
          </p:spPr>
          <p:txBody>
            <a:bodyPr/>
            <a:lstStyle/>
            <a:p>
              <a:endParaRPr lang="zh-CN" altLang="en-US"/>
            </a:p>
          </p:txBody>
        </p:sp>
        <p:grpSp>
          <p:nvGrpSpPr>
            <p:cNvPr id="14" name="Group 118"/>
            <p:cNvGrpSpPr/>
            <p:nvPr/>
          </p:nvGrpSpPr>
          <p:grpSpPr bwMode="auto">
            <a:xfrm>
              <a:off x="3441" y="3079"/>
              <a:ext cx="203" cy="51"/>
              <a:chOff x="3441" y="3079"/>
              <a:chExt cx="203" cy="51"/>
            </a:xfrm>
          </p:grpSpPr>
          <p:sp>
            <p:nvSpPr>
              <p:cNvPr id="62604" name="Line 119"/>
              <p:cNvSpPr>
                <a:spLocks noChangeShapeType="1"/>
              </p:cNvSpPr>
              <p:nvPr/>
            </p:nvSpPr>
            <p:spPr bwMode="auto">
              <a:xfrm>
                <a:off x="3441" y="3104"/>
                <a:ext cx="163" cy="1"/>
              </a:xfrm>
              <a:prstGeom prst="line">
                <a:avLst/>
              </a:prstGeom>
              <a:noFill/>
              <a:ln w="6350">
                <a:solidFill>
                  <a:srgbClr val="000000"/>
                </a:solidFill>
                <a:round/>
              </a:ln>
            </p:spPr>
            <p:txBody>
              <a:bodyPr/>
              <a:lstStyle/>
              <a:p>
                <a:endParaRPr lang="zh-CN" altLang="en-US"/>
              </a:p>
            </p:txBody>
          </p:sp>
          <p:sp>
            <p:nvSpPr>
              <p:cNvPr id="62605" name="Freeform 120"/>
              <p:cNvSpPr/>
              <p:nvPr/>
            </p:nvSpPr>
            <p:spPr bwMode="auto">
              <a:xfrm>
                <a:off x="3602" y="3079"/>
                <a:ext cx="42" cy="51"/>
              </a:xfrm>
              <a:custGeom>
                <a:avLst/>
                <a:gdLst>
                  <a:gd name="T0" fmla="*/ 0 w 42"/>
                  <a:gd name="T1" fmla="*/ 51 h 51"/>
                  <a:gd name="T2" fmla="*/ 42 w 42"/>
                  <a:gd name="T3" fmla="*/ 25 h 51"/>
                  <a:gd name="T4" fmla="*/ 0 w 42"/>
                  <a:gd name="T5" fmla="*/ 0 h 51"/>
                  <a:gd name="T6" fmla="*/ 0 w 42"/>
                  <a:gd name="T7" fmla="*/ 51 h 51"/>
                  <a:gd name="T8" fmla="*/ 0 60000 65536"/>
                  <a:gd name="T9" fmla="*/ 0 60000 65536"/>
                  <a:gd name="T10" fmla="*/ 0 60000 65536"/>
                  <a:gd name="T11" fmla="*/ 0 60000 65536"/>
                  <a:gd name="T12" fmla="*/ 0 w 42"/>
                  <a:gd name="T13" fmla="*/ 0 h 51"/>
                  <a:gd name="T14" fmla="*/ 42 w 42"/>
                  <a:gd name="T15" fmla="*/ 51 h 51"/>
                </a:gdLst>
                <a:ahLst/>
                <a:cxnLst>
                  <a:cxn ang="T8">
                    <a:pos x="T0" y="T1"/>
                  </a:cxn>
                  <a:cxn ang="T9">
                    <a:pos x="T2" y="T3"/>
                  </a:cxn>
                  <a:cxn ang="T10">
                    <a:pos x="T4" y="T5"/>
                  </a:cxn>
                  <a:cxn ang="T11">
                    <a:pos x="T6" y="T7"/>
                  </a:cxn>
                </a:cxnLst>
                <a:rect l="T12" t="T13" r="T14" b="T15"/>
                <a:pathLst>
                  <a:path w="42" h="51">
                    <a:moveTo>
                      <a:pt x="0" y="51"/>
                    </a:moveTo>
                    <a:lnTo>
                      <a:pt x="42" y="25"/>
                    </a:lnTo>
                    <a:lnTo>
                      <a:pt x="0" y="0"/>
                    </a:lnTo>
                    <a:lnTo>
                      <a:pt x="0" y="51"/>
                    </a:lnTo>
                    <a:close/>
                  </a:path>
                </a:pathLst>
              </a:custGeom>
              <a:solidFill>
                <a:srgbClr val="000000"/>
              </a:solidFill>
              <a:ln w="9525">
                <a:noFill/>
                <a:round/>
              </a:ln>
            </p:spPr>
            <p:txBody>
              <a:bodyPr/>
              <a:lstStyle/>
              <a:p>
                <a:endParaRPr lang="zh-CN" altLang="en-US"/>
              </a:p>
            </p:txBody>
          </p:sp>
        </p:grpSp>
        <p:grpSp>
          <p:nvGrpSpPr>
            <p:cNvPr id="15" name="Group 121"/>
            <p:cNvGrpSpPr/>
            <p:nvPr/>
          </p:nvGrpSpPr>
          <p:grpSpPr bwMode="auto">
            <a:xfrm>
              <a:off x="2109" y="3523"/>
              <a:ext cx="114" cy="134"/>
              <a:chOff x="2070" y="3523"/>
              <a:chExt cx="153" cy="119"/>
            </a:xfrm>
          </p:grpSpPr>
          <p:sp>
            <p:nvSpPr>
              <p:cNvPr id="62602" name="Line 122"/>
              <p:cNvSpPr>
                <a:spLocks noChangeShapeType="1"/>
              </p:cNvSpPr>
              <p:nvPr/>
            </p:nvSpPr>
            <p:spPr bwMode="auto">
              <a:xfrm flipH="1">
                <a:off x="2103" y="3523"/>
                <a:ext cx="120" cy="94"/>
              </a:xfrm>
              <a:prstGeom prst="line">
                <a:avLst/>
              </a:prstGeom>
              <a:noFill/>
              <a:ln w="9525">
                <a:solidFill>
                  <a:srgbClr val="000000"/>
                </a:solidFill>
                <a:round/>
              </a:ln>
            </p:spPr>
            <p:txBody>
              <a:bodyPr/>
              <a:lstStyle/>
              <a:p>
                <a:endParaRPr lang="zh-CN" altLang="en-US"/>
              </a:p>
            </p:txBody>
          </p:sp>
          <p:sp>
            <p:nvSpPr>
              <p:cNvPr id="62603" name="Freeform 123"/>
              <p:cNvSpPr/>
              <p:nvPr/>
            </p:nvSpPr>
            <p:spPr bwMode="auto">
              <a:xfrm>
                <a:off x="2070" y="3592"/>
                <a:ext cx="47" cy="50"/>
              </a:xfrm>
              <a:custGeom>
                <a:avLst/>
                <a:gdLst>
                  <a:gd name="T0" fmla="*/ 24 w 47"/>
                  <a:gd name="T1" fmla="*/ 0 h 50"/>
                  <a:gd name="T2" fmla="*/ 0 w 47"/>
                  <a:gd name="T3" fmla="*/ 50 h 50"/>
                  <a:gd name="T4" fmla="*/ 47 w 47"/>
                  <a:gd name="T5" fmla="*/ 43 h 50"/>
                  <a:gd name="T6" fmla="*/ 24 w 47"/>
                  <a:gd name="T7" fmla="*/ 0 h 50"/>
                  <a:gd name="T8" fmla="*/ 0 60000 65536"/>
                  <a:gd name="T9" fmla="*/ 0 60000 65536"/>
                  <a:gd name="T10" fmla="*/ 0 60000 65536"/>
                  <a:gd name="T11" fmla="*/ 0 60000 65536"/>
                  <a:gd name="T12" fmla="*/ 0 w 47"/>
                  <a:gd name="T13" fmla="*/ 0 h 50"/>
                  <a:gd name="T14" fmla="*/ 47 w 47"/>
                  <a:gd name="T15" fmla="*/ 50 h 50"/>
                </a:gdLst>
                <a:ahLst/>
                <a:cxnLst>
                  <a:cxn ang="T8">
                    <a:pos x="T0" y="T1"/>
                  </a:cxn>
                  <a:cxn ang="T9">
                    <a:pos x="T2" y="T3"/>
                  </a:cxn>
                  <a:cxn ang="T10">
                    <a:pos x="T4" y="T5"/>
                  </a:cxn>
                  <a:cxn ang="T11">
                    <a:pos x="T6" y="T7"/>
                  </a:cxn>
                </a:cxnLst>
                <a:rect l="T12" t="T13" r="T14" b="T15"/>
                <a:pathLst>
                  <a:path w="47" h="50">
                    <a:moveTo>
                      <a:pt x="24" y="0"/>
                    </a:moveTo>
                    <a:lnTo>
                      <a:pt x="0" y="50"/>
                    </a:lnTo>
                    <a:lnTo>
                      <a:pt x="47" y="43"/>
                    </a:lnTo>
                    <a:lnTo>
                      <a:pt x="24" y="0"/>
                    </a:lnTo>
                    <a:close/>
                  </a:path>
                </a:pathLst>
              </a:custGeom>
              <a:solidFill>
                <a:srgbClr val="000000"/>
              </a:solidFill>
              <a:ln w="9525">
                <a:noFill/>
                <a:round/>
              </a:ln>
            </p:spPr>
            <p:txBody>
              <a:bodyPr/>
              <a:lstStyle/>
              <a:p>
                <a:endParaRPr lang="zh-CN" altLang="en-US"/>
              </a:p>
            </p:txBody>
          </p:sp>
        </p:grpSp>
        <p:grpSp>
          <p:nvGrpSpPr>
            <p:cNvPr id="16" name="Group 124"/>
            <p:cNvGrpSpPr/>
            <p:nvPr/>
          </p:nvGrpSpPr>
          <p:grpSpPr bwMode="auto">
            <a:xfrm>
              <a:off x="2709" y="2267"/>
              <a:ext cx="44" cy="239"/>
              <a:chOff x="2709" y="2267"/>
              <a:chExt cx="44" cy="239"/>
            </a:xfrm>
          </p:grpSpPr>
          <p:sp>
            <p:nvSpPr>
              <p:cNvPr id="62600" name="Line 125"/>
              <p:cNvSpPr>
                <a:spLocks noChangeShapeType="1"/>
              </p:cNvSpPr>
              <p:nvPr/>
            </p:nvSpPr>
            <p:spPr bwMode="auto">
              <a:xfrm flipV="1">
                <a:off x="2730" y="2315"/>
                <a:ext cx="1" cy="191"/>
              </a:xfrm>
              <a:prstGeom prst="line">
                <a:avLst/>
              </a:prstGeom>
              <a:noFill/>
              <a:ln w="9525">
                <a:solidFill>
                  <a:srgbClr val="000000"/>
                </a:solidFill>
                <a:round/>
              </a:ln>
            </p:spPr>
            <p:txBody>
              <a:bodyPr/>
              <a:lstStyle/>
              <a:p>
                <a:endParaRPr lang="zh-CN" altLang="en-US"/>
              </a:p>
            </p:txBody>
          </p:sp>
          <p:sp>
            <p:nvSpPr>
              <p:cNvPr id="62601" name="Freeform 126"/>
              <p:cNvSpPr/>
              <p:nvPr/>
            </p:nvSpPr>
            <p:spPr bwMode="auto">
              <a:xfrm>
                <a:off x="2709" y="2267"/>
                <a:ext cx="44" cy="50"/>
              </a:xfrm>
              <a:custGeom>
                <a:avLst/>
                <a:gdLst>
                  <a:gd name="T0" fmla="*/ 44 w 44"/>
                  <a:gd name="T1" fmla="*/ 50 h 50"/>
                  <a:gd name="T2" fmla="*/ 21 w 44"/>
                  <a:gd name="T3" fmla="*/ 0 h 50"/>
                  <a:gd name="T4" fmla="*/ 0 w 44"/>
                  <a:gd name="T5" fmla="*/ 50 h 50"/>
                  <a:gd name="T6" fmla="*/ 44 w 44"/>
                  <a:gd name="T7" fmla="*/ 50 h 50"/>
                  <a:gd name="T8" fmla="*/ 0 60000 65536"/>
                  <a:gd name="T9" fmla="*/ 0 60000 65536"/>
                  <a:gd name="T10" fmla="*/ 0 60000 65536"/>
                  <a:gd name="T11" fmla="*/ 0 60000 65536"/>
                  <a:gd name="T12" fmla="*/ 0 w 44"/>
                  <a:gd name="T13" fmla="*/ 0 h 50"/>
                  <a:gd name="T14" fmla="*/ 44 w 44"/>
                  <a:gd name="T15" fmla="*/ 50 h 50"/>
                </a:gdLst>
                <a:ahLst/>
                <a:cxnLst>
                  <a:cxn ang="T8">
                    <a:pos x="T0" y="T1"/>
                  </a:cxn>
                  <a:cxn ang="T9">
                    <a:pos x="T2" y="T3"/>
                  </a:cxn>
                  <a:cxn ang="T10">
                    <a:pos x="T4" y="T5"/>
                  </a:cxn>
                  <a:cxn ang="T11">
                    <a:pos x="T6" y="T7"/>
                  </a:cxn>
                </a:cxnLst>
                <a:rect l="T12" t="T13" r="T14" b="T15"/>
                <a:pathLst>
                  <a:path w="44" h="50">
                    <a:moveTo>
                      <a:pt x="44" y="50"/>
                    </a:moveTo>
                    <a:lnTo>
                      <a:pt x="21" y="0"/>
                    </a:lnTo>
                    <a:lnTo>
                      <a:pt x="0" y="50"/>
                    </a:lnTo>
                    <a:lnTo>
                      <a:pt x="44" y="50"/>
                    </a:lnTo>
                    <a:close/>
                  </a:path>
                </a:pathLst>
              </a:custGeom>
              <a:solidFill>
                <a:srgbClr val="000000"/>
              </a:solidFill>
              <a:ln w="9525">
                <a:noFill/>
                <a:round/>
              </a:ln>
            </p:spPr>
            <p:txBody>
              <a:bodyPr/>
              <a:lstStyle/>
              <a:p>
                <a:endParaRPr lang="zh-CN" altLang="en-US"/>
              </a:p>
            </p:txBody>
          </p:sp>
        </p:grpSp>
        <p:sp>
          <p:nvSpPr>
            <p:cNvPr id="83071" name="Rectangle 127"/>
            <p:cNvSpPr>
              <a:spLocks noChangeArrowheads="1"/>
            </p:cNvSpPr>
            <p:nvPr/>
          </p:nvSpPr>
          <p:spPr bwMode="auto">
            <a:xfrm>
              <a:off x="2223" y="3624"/>
              <a:ext cx="22" cy="12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90" name="Rectangle 128"/>
            <p:cNvSpPr>
              <a:spLocks noChangeArrowheads="1"/>
            </p:cNvSpPr>
            <p:nvPr/>
          </p:nvSpPr>
          <p:spPr bwMode="auto">
            <a:xfrm>
              <a:off x="3543" y="3104"/>
              <a:ext cx="153" cy="169"/>
            </a:xfrm>
            <a:prstGeom prst="rect">
              <a:avLst/>
            </a:prstGeom>
            <a:noFill/>
            <a:ln w="9525">
              <a:noFill/>
              <a:miter lim="800000"/>
            </a:ln>
          </p:spPr>
          <p:txBody>
            <a:bodyPr/>
            <a:lstStyle/>
            <a:p>
              <a:endParaRPr lang="zh-CN" altLang="en-US"/>
            </a:p>
          </p:txBody>
        </p:sp>
        <p:sp>
          <p:nvSpPr>
            <p:cNvPr id="83073" name="Rectangle 129"/>
            <p:cNvSpPr>
              <a:spLocks noChangeArrowheads="1"/>
            </p:cNvSpPr>
            <p:nvPr/>
          </p:nvSpPr>
          <p:spPr bwMode="auto">
            <a:xfrm>
              <a:off x="3616" y="3145"/>
              <a:ext cx="22" cy="12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i="1">
                  <a:solidFill>
                    <a:srgbClr val="000000"/>
                  </a:solidFill>
                  <a:latin typeface="Times New Roman" panose="02020603050405020304" pitchFamily="18" charset="0"/>
                </a:rPr>
                <a:t>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92" name="Rectangle 130"/>
            <p:cNvSpPr>
              <a:spLocks noChangeArrowheads="1"/>
            </p:cNvSpPr>
            <p:nvPr/>
          </p:nvSpPr>
          <p:spPr bwMode="auto">
            <a:xfrm>
              <a:off x="2730" y="2207"/>
              <a:ext cx="154" cy="170"/>
            </a:xfrm>
            <a:prstGeom prst="rect">
              <a:avLst/>
            </a:prstGeom>
            <a:noFill/>
            <a:ln w="9525">
              <a:noFill/>
              <a:miter lim="800000"/>
            </a:ln>
          </p:spPr>
          <p:txBody>
            <a:bodyPr/>
            <a:lstStyle/>
            <a:p>
              <a:endParaRPr lang="zh-CN" altLang="en-US"/>
            </a:p>
          </p:txBody>
        </p:sp>
        <p:sp>
          <p:nvSpPr>
            <p:cNvPr id="83075" name="Rectangle 131"/>
            <p:cNvSpPr>
              <a:spLocks noChangeArrowheads="1"/>
            </p:cNvSpPr>
            <p:nvPr/>
          </p:nvSpPr>
          <p:spPr bwMode="auto">
            <a:xfrm>
              <a:off x="2802" y="2249"/>
              <a:ext cx="36" cy="12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nvGrpSpPr>
            <p:cNvPr id="17" name="Group 132"/>
            <p:cNvGrpSpPr/>
            <p:nvPr/>
          </p:nvGrpSpPr>
          <p:grpSpPr bwMode="auto">
            <a:xfrm>
              <a:off x="2575" y="3220"/>
              <a:ext cx="209" cy="7"/>
              <a:chOff x="2575" y="3220"/>
              <a:chExt cx="209" cy="7"/>
            </a:xfrm>
          </p:grpSpPr>
          <p:sp>
            <p:nvSpPr>
              <p:cNvPr id="62595" name="Freeform 133"/>
              <p:cNvSpPr/>
              <p:nvPr/>
            </p:nvSpPr>
            <p:spPr bwMode="auto">
              <a:xfrm>
                <a:off x="2575" y="3220"/>
                <a:ext cx="32" cy="7"/>
              </a:xfrm>
              <a:custGeom>
                <a:avLst/>
                <a:gdLst>
                  <a:gd name="T0" fmla="*/ 4 w 32"/>
                  <a:gd name="T1" fmla="*/ 0 h 7"/>
                  <a:gd name="T2" fmla="*/ 3 w 32"/>
                  <a:gd name="T3" fmla="*/ 0 h 7"/>
                  <a:gd name="T4" fmla="*/ 2 w 32"/>
                  <a:gd name="T5" fmla="*/ 1 h 7"/>
                  <a:gd name="T6" fmla="*/ 1 w 32"/>
                  <a:gd name="T7" fmla="*/ 2 h 7"/>
                  <a:gd name="T8" fmla="*/ 0 w 32"/>
                  <a:gd name="T9" fmla="*/ 4 h 7"/>
                  <a:gd name="T10" fmla="*/ 0 w 32"/>
                  <a:gd name="T11" fmla="*/ 4 h 7"/>
                  <a:gd name="T12" fmla="*/ 1 w 32"/>
                  <a:gd name="T13" fmla="*/ 5 h 7"/>
                  <a:gd name="T14" fmla="*/ 2 w 32"/>
                  <a:gd name="T15" fmla="*/ 6 h 7"/>
                  <a:gd name="T16" fmla="*/ 3 w 32"/>
                  <a:gd name="T17" fmla="*/ 7 h 7"/>
                  <a:gd name="T18" fmla="*/ 27 w 32"/>
                  <a:gd name="T19" fmla="*/ 7 h 7"/>
                  <a:gd name="T20" fmla="*/ 28 w 32"/>
                  <a:gd name="T21" fmla="*/ 7 h 7"/>
                  <a:gd name="T22" fmla="*/ 29 w 32"/>
                  <a:gd name="T23" fmla="*/ 7 h 7"/>
                  <a:gd name="T24" fmla="*/ 31 w 32"/>
                  <a:gd name="T25" fmla="*/ 6 h 7"/>
                  <a:gd name="T26" fmla="*/ 32 w 32"/>
                  <a:gd name="T27" fmla="*/ 5 h 7"/>
                  <a:gd name="T28" fmla="*/ 32 w 32"/>
                  <a:gd name="T29" fmla="*/ 4 h 7"/>
                  <a:gd name="T30" fmla="*/ 31 w 32"/>
                  <a:gd name="T31" fmla="*/ 2 h 7"/>
                  <a:gd name="T32" fmla="*/ 29 w 32"/>
                  <a:gd name="T33" fmla="*/ 1 h 7"/>
                  <a:gd name="T34" fmla="*/ 28 w 32"/>
                  <a:gd name="T35" fmla="*/ 0 h 7"/>
                  <a:gd name="T36" fmla="*/ 4 w 32"/>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
                  <a:gd name="T58" fmla="*/ 0 h 7"/>
                  <a:gd name="T59" fmla="*/ 32 w 32"/>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 h="7">
                    <a:moveTo>
                      <a:pt x="4" y="0"/>
                    </a:moveTo>
                    <a:lnTo>
                      <a:pt x="3" y="0"/>
                    </a:lnTo>
                    <a:lnTo>
                      <a:pt x="2" y="1"/>
                    </a:lnTo>
                    <a:lnTo>
                      <a:pt x="1" y="2"/>
                    </a:lnTo>
                    <a:lnTo>
                      <a:pt x="0" y="4"/>
                    </a:lnTo>
                    <a:lnTo>
                      <a:pt x="1" y="5"/>
                    </a:lnTo>
                    <a:lnTo>
                      <a:pt x="2" y="6"/>
                    </a:lnTo>
                    <a:lnTo>
                      <a:pt x="3" y="7"/>
                    </a:lnTo>
                    <a:lnTo>
                      <a:pt x="27" y="7"/>
                    </a:lnTo>
                    <a:lnTo>
                      <a:pt x="28" y="7"/>
                    </a:lnTo>
                    <a:lnTo>
                      <a:pt x="29" y="7"/>
                    </a:lnTo>
                    <a:lnTo>
                      <a:pt x="31" y="6"/>
                    </a:lnTo>
                    <a:lnTo>
                      <a:pt x="32" y="5"/>
                    </a:lnTo>
                    <a:lnTo>
                      <a:pt x="32" y="4"/>
                    </a:lnTo>
                    <a:lnTo>
                      <a:pt x="31" y="2"/>
                    </a:lnTo>
                    <a:lnTo>
                      <a:pt x="29" y="1"/>
                    </a:lnTo>
                    <a:lnTo>
                      <a:pt x="28" y="0"/>
                    </a:lnTo>
                    <a:lnTo>
                      <a:pt x="4" y="0"/>
                    </a:lnTo>
                    <a:close/>
                  </a:path>
                </a:pathLst>
              </a:custGeom>
              <a:solidFill>
                <a:srgbClr val="000000"/>
              </a:solidFill>
              <a:ln w="9525">
                <a:noFill/>
                <a:round/>
              </a:ln>
            </p:spPr>
            <p:txBody>
              <a:bodyPr/>
              <a:lstStyle/>
              <a:p>
                <a:endParaRPr lang="zh-CN" altLang="en-US"/>
              </a:p>
            </p:txBody>
          </p:sp>
          <p:sp>
            <p:nvSpPr>
              <p:cNvPr id="62596" name="Freeform 134"/>
              <p:cNvSpPr/>
              <p:nvPr/>
            </p:nvSpPr>
            <p:spPr bwMode="auto">
              <a:xfrm>
                <a:off x="2619" y="3220"/>
                <a:ext cx="32" cy="7"/>
              </a:xfrm>
              <a:custGeom>
                <a:avLst/>
                <a:gdLst>
                  <a:gd name="T0" fmla="*/ 3 w 32"/>
                  <a:gd name="T1" fmla="*/ 0 h 7"/>
                  <a:gd name="T2" fmla="*/ 2 w 32"/>
                  <a:gd name="T3" fmla="*/ 0 h 7"/>
                  <a:gd name="T4" fmla="*/ 1 w 32"/>
                  <a:gd name="T5" fmla="*/ 1 h 7"/>
                  <a:gd name="T6" fmla="*/ 0 w 32"/>
                  <a:gd name="T7" fmla="*/ 2 h 7"/>
                  <a:gd name="T8" fmla="*/ 0 w 32"/>
                  <a:gd name="T9" fmla="*/ 4 h 7"/>
                  <a:gd name="T10" fmla="*/ 0 w 32"/>
                  <a:gd name="T11" fmla="*/ 5 h 7"/>
                  <a:gd name="T12" fmla="*/ 0 w 32"/>
                  <a:gd name="T13" fmla="*/ 6 h 7"/>
                  <a:gd name="T14" fmla="*/ 1 w 32"/>
                  <a:gd name="T15" fmla="*/ 7 h 7"/>
                  <a:gd name="T16" fmla="*/ 2 w 32"/>
                  <a:gd name="T17" fmla="*/ 7 h 7"/>
                  <a:gd name="T18" fmla="*/ 28 w 32"/>
                  <a:gd name="T19" fmla="*/ 7 h 7"/>
                  <a:gd name="T20" fmla="*/ 29 w 32"/>
                  <a:gd name="T21" fmla="*/ 7 h 7"/>
                  <a:gd name="T22" fmla="*/ 30 w 32"/>
                  <a:gd name="T23" fmla="*/ 7 h 7"/>
                  <a:gd name="T24" fmla="*/ 31 w 32"/>
                  <a:gd name="T25" fmla="*/ 6 h 7"/>
                  <a:gd name="T26" fmla="*/ 32 w 32"/>
                  <a:gd name="T27" fmla="*/ 5 h 7"/>
                  <a:gd name="T28" fmla="*/ 32 w 32"/>
                  <a:gd name="T29" fmla="*/ 4 h 7"/>
                  <a:gd name="T30" fmla="*/ 31 w 32"/>
                  <a:gd name="T31" fmla="*/ 2 h 7"/>
                  <a:gd name="T32" fmla="*/ 30 w 32"/>
                  <a:gd name="T33" fmla="*/ 1 h 7"/>
                  <a:gd name="T34" fmla="*/ 29 w 32"/>
                  <a:gd name="T35" fmla="*/ 0 h 7"/>
                  <a:gd name="T36" fmla="*/ 3 w 32"/>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
                  <a:gd name="T58" fmla="*/ 0 h 7"/>
                  <a:gd name="T59" fmla="*/ 32 w 32"/>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 h="7">
                    <a:moveTo>
                      <a:pt x="3" y="0"/>
                    </a:moveTo>
                    <a:lnTo>
                      <a:pt x="2" y="0"/>
                    </a:lnTo>
                    <a:lnTo>
                      <a:pt x="1" y="1"/>
                    </a:lnTo>
                    <a:lnTo>
                      <a:pt x="0" y="2"/>
                    </a:lnTo>
                    <a:lnTo>
                      <a:pt x="0" y="4"/>
                    </a:lnTo>
                    <a:lnTo>
                      <a:pt x="0" y="5"/>
                    </a:lnTo>
                    <a:lnTo>
                      <a:pt x="0" y="6"/>
                    </a:lnTo>
                    <a:lnTo>
                      <a:pt x="1" y="7"/>
                    </a:lnTo>
                    <a:lnTo>
                      <a:pt x="2" y="7"/>
                    </a:lnTo>
                    <a:lnTo>
                      <a:pt x="28" y="7"/>
                    </a:lnTo>
                    <a:lnTo>
                      <a:pt x="29" y="7"/>
                    </a:lnTo>
                    <a:lnTo>
                      <a:pt x="30" y="7"/>
                    </a:lnTo>
                    <a:lnTo>
                      <a:pt x="31" y="6"/>
                    </a:lnTo>
                    <a:lnTo>
                      <a:pt x="32" y="5"/>
                    </a:lnTo>
                    <a:lnTo>
                      <a:pt x="32" y="4"/>
                    </a:lnTo>
                    <a:lnTo>
                      <a:pt x="31" y="2"/>
                    </a:lnTo>
                    <a:lnTo>
                      <a:pt x="30" y="1"/>
                    </a:lnTo>
                    <a:lnTo>
                      <a:pt x="29" y="0"/>
                    </a:lnTo>
                    <a:lnTo>
                      <a:pt x="3" y="0"/>
                    </a:lnTo>
                    <a:close/>
                  </a:path>
                </a:pathLst>
              </a:custGeom>
              <a:solidFill>
                <a:srgbClr val="000000"/>
              </a:solidFill>
              <a:ln w="9525">
                <a:noFill/>
                <a:round/>
              </a:ln>
            </p:spPr>
            <p:txBody>
              <a:bodyPr/>
              <a:lstStyle/>
              <a:p>
                <a:endParaRPr lang="zh-CN" altLang="en-US"/>
              </a:p>
            </p:txBody>
          </p:sp>
          <p:sp>
            <p:nvSpPr>
              <p:cNvPr id="62597" name="Freeform 135"/>
              <p:cNvSpPr/>
              <p:nvPr/>
            </p:nvSpPr>
            <p:spPr bwMode="auto">
              <a:xfrm>
                <a:off x="2664" y="3220"/>
                <a:ext cx="31" cy="7"/>
              </a:xfrm>
              <a:custGeom>
                <a:avLst/>
                <a:gdLst>
                  <a:gd name="T0" fmla="*/ 3 w 31"/>
                  <a:gd name="T1" fmla="*/ 0 h 7"/>
                  <a:gd name="T2" fmla="*/ 2 w 31"/>
                  <a:gd name="T3" fmla="*/ 0 h 7"/>
                  <a:gd name="T4" fmla="*/ 1 w 31"/>
                  <a:gd name="T5" fmla="*/ 1 h 7"/>
                  <a:gd name="T6" fmla="*/ 0 w 31"/>
                  <a:gd name="T7" fmla="*/ 2 h 7"/>
                  <a:gd name="T8" fmla="*/ 0 w 31"/>
                  <a:gd name="T9" fmla="*/ 4 h 7"/>
                  <a:gd name="T10" fmla="*/ 0 w 31"/>
                  <a:gd name="T11" fmla="*/ 5 h 7"/>
                  <a:gd name="T12" fmla="*/ 0 w 31"/>
                  <a:gd name="T13" fmla="*/ 6 h 7"/>
                  <a:gd name="T14" fmla="*/ 1 w 31"/>
                  <a:gd name="T15" fmla="*/ 7 h 7"/>
                  <a:gd name="T16" fmla="*/ 2 w 31"/>
                  <a:gd name="T17" fmla="*/ 7 h 7"/>
                  <a:gd name="T18" fmla="*/ 27 w 31"/>
                  <a:gd name="T19" fmla="*/ 7 h 7"/>
                  <a:gd name="T20" fmla="*/ 28 w 31"/>
                  <a:gd name="T21" fmla="*/ 7 h 7"/>
                  <a:gd name="T22" fmla="*/ 29 w 31"/>
                  <a:gd name="T23" fmla="*/ 7 h 7"/>
                  <a:gd name="T24" fmla="*/ 30 w 31"/>
                  <a:gd name="T25" fmla="*/ 6 h 7"/>
                  <a:gd name="T26" fmla="*/ 31 w 31"/>
                  <a:gd name="T27" fmla="*/ 5 h 7"/>
                  <a:gd name="T28" fmla="*/ 31 w 31"/>
                  <a:gd name="T29" fmla="*/ 4 h 7"/>
                  <a:gd name="T30" fmla="*/ 30 w 31"/>
                  <a:gd name="T31" fmla="*/ 2 h 7"/>
                  <a:gd name="T32" fmla="*/ 29 w 31"/>
                  <a:gd name="T33" fmla="*/ 1 h 7"/>
                  <a:gd name="T34" fmla="*/ 28 w 31"/>
                  <a:gd name="T35" fmla="*/ 0 h 7"/>
                  <a:gd name="T36" fmla="*/ 3 w 31"/>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
                  <a:gd name="T58" fmla="*/ 0 h 7"/>
                  <a:gd name="T59" fmla="*/ 31 w 31"/>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 h="7">
                    <a:moveTo>
                      <a:pt x="3" y="0"/>
                    </a:moveTo>
                    <a:lnTo>
                      <a:pt x="2" y="0"/>
                    </a:lnTo>
                    <a:lnTo>
                      <a:pt x="1" y="1"/>
                    </a:lnTo>
                    <a:lnTo>
                      <a:pt x="0" y="2"/>
                    </a:lnTo>
                    <a:lnTo>
                      <a:pt x="0" y="4"/>
                    </a:lnTo>
                    <a:lnTo>
                      <a:pt x="0" y="5"/>
                    </a:lnTo>
                    <a:lnTo>
                      <a:pt x="0" y="6"/>
                    </a:lnTo>
                    <a:lnTo>
                      <a:pt x="1" y="7"/>
                    </a:lnTo>
                    <a:lnTo>
                      <a:pt x="2" y="7"/>
                    </a:lnTo>
                    <a:lnTo>
                      <a:pt x="27" y="7"/>
                    </a:lnTo>
                    <a:lnTo>
                      <a:pt x="28" y="7"/>
                    </a:lnTo>
                    <a:lnTo>
                      <a:pt x="29" y="7"/>
                    </a:lnTo>
                    <a:lnTo>
                      <a:pt x="30" y="6"/>
                    </a:lnTo>
                    <a:lnTo>
                      <a:pt x="31" y="5"/>
                    </a:lnTo>
                    <a:lnTo>
                      <a:pt x="31" y="4"/>
                    </a:lnTo>
                    <a:lnTo>
                      <a:pt x="30" y="2"/>
                    </a:lnTo>
                    <a:lnTo>
                      <a:pt x="29" y="1"/>
                    </a:lnTo>
                    <a:lnTo>
                      <a:pt x="28" y="0"/>
                    </a:lnTo>
                    <a:lnTo>
                      <a:pt x="3" y="0"/>
                    </a:lnTo>
                    <a:close/>
                  </a:path>
                </a:pathLst>
              </a:custGeom>
              <a:solidFill>
                <a:srgbClr val="000000"/>
              </a:solidFill>
              <a:ln w="9525">
                <a:noFill/>
                <a:round/>
              </a:ln>
            </p:spPr>
            <p:txBody>
              <a:bodyPr/>
              <a:lstStyle/>
              <a:p>
                <a:endParaRPr lang="zh-CN" altLang="en-US"/>
              </a:p>
            </p:txBody>
          </p:sp>
          <p:sp>
            <p:nvSpPr>
              <p:cNvPr id="62598" name="Freeform 136"/>
              <p:cNvSpPr/>
              <p:nvPr/>
            </p:nvSpPr>
            <p:spPr bwMode="auto">
              <a:xfrm>
                <a:off x="2708" y="3220"/>
                <a:ext cx="32" cy="7"/>
              </a:xfrm>
              <a:custGeom>
                <a:avLst/>
                <a:gdLst>
                  <a:gd name="T0" fmla="*/ 3 w 32"/>
                  <a:gd name="T1" fmla="*/ 0 h 7"/>
                  <a:gd name="T2" fmla="*/ 2 w 32"/>
                  <a:gd name="T3" fmla="*/ 0 h 7"/>
                  <a:gd name="T4" fmla="*/ 1 w 32"/>
                  <a:gd name="T5" fmla="*/ 1 h 7"/>
                  <a:gd name="T6" fmla="*/ 0 w 32"/>
                  <a:gd name="T7" fmla="*/ 2 h 7"/>
                  <a:gd name="T8" fmla="*/ 0 w 32"/>
                  <a:gd name="T9" fmla="*/ 4 h 7"/>
                  <a:gd name="T10" fmla="*/ 0 w 32"/>
                  <a:gd name="T11" fmla="*/ 5 h 7"/>
                  <a:gd name="T12" fmla="*/ 0 w 32"/>
                  <a:gd name="T13" fmla="*/ 6 h 7"/>
                  <a:gd name="T14" fmla="*/ 1 w 32"/>
                  <a:gd name="T15" fmla="*/ 7 h 7"/>
                  <a:gd name="T16" fmla="*/ 2 w 32"/>
                  <a:gd name="T17" fmla="*/ 7 h 7"/>
                  <a:gd name="T18" fmla="*/ 28 w 32"/>
                  <a:gd name="T19" fmla="*/ 7 h 7"/>
                  <a:gd name="T20" fmla="*/ 29 w 32"/>
                  <a:gd name="T21" fmla="*/ 7 h 7"/>
                  <a:gd name="T22" fmla="*/ 30 w 32"/>
                  <a:gd name="T23" fmla="*/ 7 h 7"/>
                  <a:gd name="T24" fmla="*/ 31 w 32"/>
                  <a:gd name="T25" fmla="*/ 6 h 7"/>
                  <a:gd name="T26" fmla="*/ 32 w 32"/>
                  <a:gd name="T27" fmla="*/ 5 h 7"/>
                  <a:gd name="T28" fmla="*/ 32 w 32"/>
                  <a:gd name="T29" fmla="*/ 4 h 7"/>
                  <a:gd name="T30" fmla="*/ 31 w 32"/>
                  <a:gd name="T31" fmla="*/ 2 h 7"/>
                  <a:gd name="T32" fmla="*/ 30 w 32"/>
                  <a:gd name="T33" fmla="*/ 1 h 7"/>
                  <a:gd name="T34" fmla="*/ 29 w 32"/>
                  <a:gd name="T35" fmla="*/ 0 h 7"/>
                  <a:gd name="T36" fmla="*/ 3 w 32"/>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
                  <a:gd name="T58" fmla="*/ 0 h 7"/>
                  <a:gd name="T59" fmla="*/ 32 w 32"/>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 h="7">
                    <a:moveTo>
                      <a:pt x="3" y="0"/>
                    </a:moveTo>
                    <a:lnTo>
                      <a:pt x="2" y="0"/>
                    </a:lnTo>
                    <a:lnTo>
                      <a:pt x="1" y="1"/>
                    </a:lnTo>
                    <a:lnTo>
                      <a:pt x="0" y="2"/>
                    </a:lnTo>
                    <a:lnTo>
                      <a:pt x="0" y="4"/>
                    </a:lnTo>
                    <a:lnTo>
                      <a:pt x="0" y="5"/>
                    </a:lnTo>
                    <a:lnTo>
                      <a:pt x="0" y="6"/>
                    </a:lnTo>
                    <a:lnTo>
                      <a:pt x="1" y="7"/>
                    </a:lnTo>
                    <a:lnTo>
                      <a:pt x="2" y="7"/>
                    </a:lnTo>
                    <a:lnTo>
                      <a:pt x="28" y="7"/>
                    </a:lnTo>
                    <a:lnTo>
                      <a:pt x="29" y="7"/>
                    </a:lnTo>
                    <a:lnTo>
                      <a:pt x="30" y="7"/>
                    </a:lnTo>
                    <a:lnTo>
                      <a:pt x="31" y="6"/>
                    </a:lnTo>
                    <a:lnTo>
                      <a:pt x="32" y="5"/>
                    </a:lnTo>
                    <a:lnTo>
                      <a:pt x="32" y="4"/>
                    </a:lnTo>
                    <a:lnTo>
                      <a:pt x="31" y="2"/>
                    </a:lnTo>
                    <a:lnTo>
                      <a:pt x="30" y="1"/>
                    </a:lnTo>
                    <a:lnTo>
                      <a:pt x="29" y="0"/>
                    </a:lnTo>
                    <a:lnTo>
                      <a:pt x="3" y="0"/>
                    </a:lnTo>
                    <a:close/>
                  </a:path>
                </a:pathLst>
              </a:custGeom>
              <a:solidFill>
                <a:srgbClr val="000000"/>
              </a:solidFill>
              <a:ln w="9525">
                <a:noFill/>
                <a:round/>
              </a:ln>
            </p:spPr>
            <p:txBody>
              <a:bodyPr/>
              <a:lstStyle/>
              <a:p>
                <a:endParaRPr lang="zh-CN" altLang="en-US"/>
              </a:p>
            </p:txBody>
          </p:sp>
          <p:sp>
            <p:nvSpPr>
              <p:cNvPr id="62599" name="Freeform 137"/>
              <p:cNvSpPr/>
              <p:nvPr/>
            </p:nvSpPr>
            <p:spPr bwMode="auto">
              <a:xfrm>
                <a:off x="2753" y="3220"/>
                <a:ext cx="31" cy="7"/>
              </a:xfrm>
              <a:custGeom>
                <a:avLst/>
                <a:gdLst>
                  <a:gd name="T0" fmla="*/ 3 w 31"/>
                  <a:gd name="T1" fmla="*/ 0 h 7"/>
                  <a:gd name="T2" fmla="*/ 2 w 31"/>
                  <a:gd name="T3" fmla="*/ 0 h 7"/>
                  <a:gd name="T4" fmla="*/ 1 w 31"/>
                  <a:gd name="T5" fmla="*/ 1 h 7"/>
                  <a:gd name="T6" fmla="*/ 0 w 31"/>
                  <a:gd name="T7" fmla="*/ 2 h 7"/>
                  <a:gd name="T8" fmla="*/ 0 w 31"/>
                  <a:gd name="T9" fmla="*/ 4 h 7"/>
                  <a:gd name="T10" fmla="*/ 0 w 31"/>
                  <a:gd name="T11" fmla="*/ 5 h 7"/>
                  <a:gd name="T12" fmla="*/ 0 w 31"/>
                  <a:gd name="T13" fmla="*/ 6 h 7"/>
                  <a:gd name="T14" fmla="*/ 1 w 31"/>
                  <a:gd name="T15" fmla="*/ 7 h 7"/>
                  <a:gd name="T16" fmla="*/ 2 w 31"/>
                  <a:gd name="T17" fmla="*/ 7 h 7"/>
                  <a:gd name="T18" fmla="*/ 27 w 31"/>
                  <a:gd name="T19" fmla="*/ 7 h 7"/>
                  <a:gd name="T20" fmla="*/ 28 w 31"/>
                  <a:gd name="T21" fmla="*/ 7 h 7"/>
                  <a:gd name="T22" fmla="*/ 29 w 31"/>
                  <a:gd name="T23" fmla="*/ 7 h 7"/>
                  <a:gd name="T24" fmla="*/ 30 w 31"/>
                  <a:gd name="T25" fmla="*/ 6 h 7"/>
                  <a:gd name="T26" fmla="*/ 31 w 31"/>
                  <a:gd name="T27" fmla="*/ 5 h 7"/>
                  <a:gd name="T28" fmla="*/ 31 w 31"/>
                  <a:gd name="T29" fmla="*/ 4 h 7"/>
                  <a:gd name="T30" fmla="*/ 30 w 31"/>
                  <a:gd name="T31" fmla="*/ 2 h 7"/>
                  <a:gd name="T32" fmla="*/ 29 w 31"/>
                  <a:gd name="T33" fmla="*/ 1 h 7"/>
                  <a:gd name="T34" fmla="*/ 28 w 31"/>
                  <a:gd name="T35" fmla="*/ 0 h 7"/>
                  <a:gd name="T36" fmla="*/ 3 w 31"/>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1"/>
                  <a:gd name="T58" fmla="*/ 0 h 7"/>
                  <a:gd name="T59" fmla="*/ 31 w 31"/>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1" h="7">
                    <a:moveTo>
                      <a:pt x="3" y="0"/>
                    </a:moveTo>
                    <a:lnTo>
                      <a:pt x="2" y="0"/>
                    </a:lnTo>
                    <a:lnTo>
                      <a:pt x="1" y="1"/>
                    </a:lnTo>
                    <a:lnTo>
                      <a:pt x="0" y="2"/>
                    </a:lnTo>
                    <a:lnTo>
                      <a:pt x="0" y="4"/>
                    </a:lnTo>
                    <a:lnTo>
                      <a:pt x="0" y="5"/>
                    </a:lnTo>
                    <a:lnTo>
                      <a:pt x="0" y="6"/>
                    </a:lnTo>
                    <a:lnTo>
                      <a:pt x="1" y="7"/>
                    </a:lnTo>
                    <a:lnTo>
                      <a:pt x="2" y="7"/>
                    </a:lnTo>
                    <a:lnTo>
                      <a:pt x="27" y="7"/>
                    </a:lnTo>
                    <a:lnTo>
                      <a:pt x="28" y="7"/>
                    </a:lnTo>
                    <a:lnTo>
                      <a:pt x="29" y="7"/>
                    </a:lnTo>
                    <a:lnTo>
                      <a:pt x="30" y="6"/>
                    </a:lnTo>
                    <a:lnTo>
                      <a:pt x="31" y="5"/>
                    </a:lnTo>
                    <a:lnTo>
                      <a:pt x="31" y="4"/>
                    </a:lnTo>
                    <a:lnTo>
                      <a:pt x="30" y="2"/>
                    </a:lnTo>
                    <a:lnTo>
                      <a:pt x="29" y="1"/>
                    </a:lnTo>
                    <a:lnTo>
                      <a:pt x="28" y="0"/>
                    </a:lnTo>
                    <a:lnTo>
                      <a:pt x="3" y="0"/>
                    </a:lnTo>
                    <a:close/>
                  </a:path>
                </a:pathLst>
              </a:custGeom>
              <a:solidFill>
                <a:srgbClr val="000000"/>
              </a:solidFill>
              <a:ln w="9525">
                <a:noFill/>
                <a:round/>
              </a:ln>
            </p:spPr>
            <p:txBody>
              <a:bodyPr/>
              <a:lstStyle/>
              <a:p>
                <a:endParaRPr lang="zh-CN" altLang="en-US"/>
              </a:p>
            </p:txBody>
          </p:sp>
        </p:grpSp>
      </p:grpSp>
      <p:grpSp>
        <p:nvGrpSpPr>
          <p:cNvPr id="18" name="Group 138"/>
          <p:cNvGrpSpPr/>
          <p:nvPr/>
        </p:nvGrpSpPr>
        <p:grpSpPr bwMode="auto">
          <a:xfrm>
            <a:off x="6084888" y="2126457"/>
            <a:ext cx="2519362" cy="2012156"/>
            <a:chOff x="3833" y="2205"/>
            <a:chExt cx="1587" cy="1690"/>
          </a:xfrm>
        </p:grpSpPr>
        <p:sp>
          <p:nvSpPr>
            <p:cNvPr id="62490" name="AutoShape 139"/>
            <p:cNvSpPr>
              <a:spLocks noChangeAspect="1" noChangeArrowheads="1" noTextEdit="1"/>
            </p:cNvSpPr>
            <p:nvPr/>
          </p:nvSpPr>
          <p:spPr bwMode="auto">
            <a:xfrm>
              <a:off x="3833" y="2205"/>
              <a:ext cx="1587" cy="1690"/>
            </a:xfrm>
            <a:prstGeom prst="rect">
              <a:avLst/>
            </a:prstGeom>
            <a:noFill/>
            <a:ln w="9525">
              <a:noFill/>
              <a:miter lim="800000"/>
            </a:ln>
          </p:spPr>
          <p:txBody>
            <a:bodyPr/>
            <a:lstStyle/>
            <a:p>
              <a:endParaRPr lang="zh-CN" altLang="en-US"/>
            </a:p>
          </p:txBody>
        </p:sp>
        <p:sp>
          <p:nvSpPr>
            <p:cNvPr id="62491" name="Line 140"/>
            <p:cNvSpPr>
              <a:spLocks noChangeShapeType="1"/>
            </p:cNvSpPr>
            <p:nvPr/>
          </p:nvSpPr>
          <p:spPr bwMode="auto">
            <a:xfrm flipH="1">
              <a:off x="4690" y="2457"/>
              <a:ext cx="305" cy="374"/>
            </a:xfrm>
            <a:prstGeom prst="line">
              <a:avLst/>
            </a:prstGeom>
            <a:noFill/>
            <a:ln w="12700">
              <a:solidFill>
                <a:srgbClr val="000000"/>
              </a:solidFill>
              <a:round/>
            </a:ln>
          </p:spPr>
          <p:txBody>
            <a:bodyPr/>
            <a:lstStyle/>
            <a:p>
              <a:endParaRPr lang="zh-CN" altLang="en-US"/>
            </a:p>
          </p:txBody>
        </p:sp>
        <p:grpSp>
          <p:nvGrpSpPr>
            <p:cNvPr id="19" name="Group 141"/>
            <p:cNvGrpSpPr/>
            <p:nvPr/>
          </p:nvGrpSpPr>
          <p:grpSpPr bwMode="auto">
            <a:xfrm>
              <a:off x="4993" y="3134"/>
              <a:ext cx="364" cy="42"/>
              <a:chOff x="4993" y="3134"/>
              <a:chExt cx="364" cy="42"/>
            </a:xfrm>
          </p:grpSpPr>
          <p:sp>
            <p:nvSpPr>
              <p:cNvPr id="62548" name="Line 142"/>
              <p:cNvSpPr>
                <a:spLocks noChangeShapeType="1"/>
              </p:cNvSpPr>
              <p:nvPr/>
            </p:nvSpPr>
            <p:spPr bwMode="auto">
              <a:xfrm>
                <a:off x="4993" y="3154"/>
                <a:ext cx="316" cy="1"/>
              </a:xfrm>
              <a:prstGeom prst="line">
                <a:avLst/>
              </a:prstGeom>
              <a:noFill/>
              <a:ln w="7938">
                <a:solidFill>
                  <a:srgbClr val="000000"/>
                </a:solidFill>
                <a:round/>
              </a:ln>
            </p:spPr>
            <p:txBody>
              <a:bodyPr/>
              <a:lstStyle/>
              <a:p>
                <a:endParaRPr lang="zh-CN" altLang="en-US"/>
              </a:p>
            </p:txBody>
          </p:sp>
          <p:sp>
            <p:nvSpPr>
              <p:cNvPr id="62549" name="Freeform 143"/>
              <p:cNvSpPr/>
              <p:nvPr/>
            </p:nvSpPr>
            <p:spPr bwMode="auto">
              <a:xfrm>
                <a:off x="5306" y="3134"/>
                <a:ext cx="51" cy="42"/>
              </a:xfrm>
              <a:custGeom>
                <a:avLst/>
                <a:gdLst>
                  <a:gd name="T0" fmla="*/ 0 w 51"/>
                  <a:gd name="T1" fmla="*/ 42 h 42"/>
                  <a:gd name="T2" fmla="*/ 51 w 51"/>
                  <a:gd name="T3" fmla="*/ 20 h 42"/>
                  <a:gd name="T4" fmla="*/ 0 w 51"/>
                  <a:gd name="T5" fmla="*/ 0 h 42"/>
                  <a:gd name="T6" fmla="*/ 0 w 51"/>
                  <a:gd name="T7" fmla="*/ 42 h 42"/>
                  <a:gd name="T8" fmla="*/ 0 60000 65536"/>
                  <a:gd name="T9" fmla="*/ 0 60000 65536"/>
                  <a:gd name="T10" fmla="*/ 0 60000 65536"/>
                  <a:gd name="T11" fmla="*/ 0 60000 65536"/>
                  <a:gd name="T12" fmla="*/ 0 w 51"/>
                  <a:gd name="T13" fmla="*/ 0 h 42"/>
                  <a:gd name="T14" fmla="*/ 51 w 51"/>
                  <a:gd name="T15" fmla="*/ 42 h 42"/>
                </a:gdLst>
                <a:ahLst/>
                <a:cxnLst>
                  <a:cxn ang="T8">
                    <a:pos x="T0" y="T1"/>
                  </a:cxn>
                  <a:cxn ang="T9">
                    <a:pos x="T2" y="T3"/>
                  </a:cxn>
                  <a:cxn ang="T10">
                    <a:pos x="T4" y="T5"/>
                  </a:cxn>
                  <a:cxn ang="T11">
                    <a:pos x="T6" y="T7"/>
                  </a:cxn>
                </a:cxnLst>
                <a:rect l="T12" t="T13" r="T14" b="T15"/>
                <a:pathLst>
                  <a:path w="51" h="42">
                    <a:moveTo>
                      <a:pt x="0" y="42"/>
                    </a:moveTo>
                    <a:lnTo>
                      <a:pt x="51" y="20"/>
                    </a:lnTo>
                    <a:lnTo>
                      <a:pt x="0" y="0"/>
                    </a:lnTo>
                    <a:lnTo>
                      <a:pt x="0" y="42"/>
                    </a:lnTo>
                    <a:close/>
                  </a:path>
                </a:pathLst>
              </a:custGeom>
              <a:solidFill>
                <a:srgbClr val="000000"/>
              </a:solidFill>
              <a:ln w="9525">
                <a:noFill/>
                <a:round/>
              </a:ln>
            </p:spPr>
            <p:txBody>
              <a:bodyPr/>
              <a:lstStyle/>
              <a:p>
                <a:endParaRPr lang="zh-CN" altLang="en-US"/>
              </a:p>
            </p:txBody>
          </p:sp>
        </p:grpSp>
        <p:grpSp>
          <p:nvGrpSpPr>
            <p:cNvPr id="20" name="Group 144"/>
            <p:cNvGrpSpPr/>
            <p:nvPr/>
          </p:nvGrpSpPr>
          <p:grpSpPr bwMode="auto">
            <a:xfrm>
              <a:off x="4271" y="2257"/>
              <a:ext cx="52" cy="199"/>
              <a:chOff x="4271" y="2257"/>
              <a:chExt cx="52" cy="199"/>
            </a:xfrm>
          </p:grpSpPr>
          <p:sp>
            <p:nvSpPr>
              <p:cNvPr id="62546" name="Line 145"/>
              <p:cNvSpPr>
                <a:spLocks noChangeShapeType="1"/>
              </p:cNvSpPr>
              <p:nvPr/>
            </p:nvSpPr>
            <p:spPr bwMode="auto">
              <a:xfrm flipV="1">
                <a:off x="4297" y="2296"/>
                <a:ext cx="1" cy="160"/>
              </a:xfrm>
              <a:prstGeom prst="line">
                <a:avLst/>
              </a:prstGeom>
              <a:noFill/>
              <a:ln w="12700">
                <a:solidFill>
                  <a:srgbClr val="000000"/>
                </a:solidFill>
                <a:round/>
              </a:ln>
            </p:spPr>
            <p:txBody>
              <a:bodyPr/>
              <a:lstStyle/>
              <a:p>
                <a:endParaRPr lang="zh-CN" altLang="en-US"/>
              </a:p>
            </p:txBody>
          </p:sp>
          <p:sp>
            <p:nvSpPr>
              <p:cNvPr id="62547" name="Freeform 146"/>
              <p:cNvSpPr/>
              <p:nvPr/>
            </p:nvSpPr>
            <p:spPr bwMode="auto">
              <a:xfrm>
                <a:off x="4271" y="2257"/>
                <a:ext cx="52" cy="41"/>
              </a:xfrm>
              <a:custGeom>
                <a:avLst/>
                <a:gdLst>
                  <a:gd name="T0" fmla="*/ 52 w 52"/>
                  <a:gd name="T1" fmla="*/ 41 h 41"/>
                  <a:gd name="T2" fmla="*/ 26 w 52"/>
                  <a:gd name="T3" fmla="*/ 0 h 41"/>
                  <a:gd name="T4" fmla="*/ 0 w 52"/>
                  <a:gd name="T5" fmla="*/ 41 h 41"/>
                  <a:gd name="T6" fmla="*/ 52 w 52"/>
                  <a:gd name="T7" fmla="*/ 41 h 41"/>
                  <a:gd name="T8" fmla="*/ 0 60000 65536"/>
                  <a:gd name="T9" fmla="*/ 0 60000 65536"/>
                  <a:gd name="T10" fmla="*/ 0 60000 65536"/>
                  <a:gd name="T11" fmla="*/ 0 60000 65536"/>
                  <a:gd name="T12" fmla="*/ 0 w 52"/>
                  <a:gd name="T13" fmla="*/ 0 h 41"/>
                  <a:gd name="T14" fmla="*/ 52 w 52"/>
                  <a:gd name="T15" fmla="*/ 41 h 41"/>
                </a:gdLst>
                <a:ahLst/>
                <a:cxnLst>
                  <a:cxn ang="T8">
                    <a:pos x="T0" y="T1"/>
                  </a:cxn>
                  <a:cxn ang="T9">
                    <a:pos x="T2" y="T3"/>
                  </a:cxn>
                  <a:cxn ang="T10">
                    <a:pos x="T4" y="T5"/>
                  </a:cxn>
                  <a:cxn ang="T11">
                    <a:pos x="T6" y="T7"/>
                  </a:cxn>
                </a:cxnLst>
                <a:rect l="T12" t="T13" r="T14" b="T15"/>
                <a:pathLst>
                  <a:path w="52" h="41">
                    <a:moveTo>
                      <a:pt x="52" y="41"/>
                    </a:moveTo>
                    <a:lnTo>
                      <a:pt x="26" y="0"/>
                    </a:lnTo>
                    <a:lnTo>
                      <a:pt x="0" y="41"/>
                    </a:lnTo>
                    <a:lnTo>
                      <a:pt x="52" y="41"/>
                    </a:lnTo>
                    <a:close/>
                  </a:path>
                </a:pathLst>
              </a:custGeom>
              <a:solidFill>
                <a:srgbClr val="000000"/>
              </a:solidFill>
              <a:ln w="9525">
                <a:noFill/>
                <a:round/>
              </a:ln>
            </p:spPr>
            <p:txBody>
              <a:bodyPr/>
              <a:lstStyle/>
              <a:p>
                <a:endParaRPr lang="zh-CN" altLang="en-US"/>
              </a:p>
            </p:txBody>
          </p:sp>
        </p:grpSp>
        <p:sp>
          <p:nvSpPr>
            <p:cNvPr id="62494" name="Rectangle 147"/>
            <p:cNvSpPr>
              <a:spLocks noChangeArrowheads="1"/>
            </p:cNvSpPr>
            <p:nvPr/>
          </p:nvSpPr>
          <p:spPr bwMode="auto">
            <a:xfrm>
              <a:off x="3901" y="3603"/>
              <a:ext cx="183" cy="141"/>
            </a:xfrm>
            <a:prstGeom prst="rect">
              <a:avLst/>
            </a:prstGeom>
            <a:noFill/>
            <a:ln w="9525">
              <a:noFill/>
              <a:miter lim="800000"/>
            </a:ln>
          </p:spPr>
          <p:txBody>
            <a:bodyPr/>
            <a:lstStyle/>
            <a:p>
              <a:endParaRPr lang="zh-CN" altLang="en-US"/>
            </a:p>
          </p:txBody>
        </p:sp>
        <p:sp>
          <p:nvSpPr>
            <p:cNvPr id="83092" name="Rectangle 148"/>
            <p:cNvSpPr>
              <a:spLocks noChangeArrowheads="1"/>
            </p:cNvSpPr>
            <p:nvPr/>
          </p:nvSpPr>
          <p:spPr bwMode="auto">
            <a:xfrm>
              <a:off x="3995" y="3638"/>
              <a:ext cx="18"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i="1">
                  <a:solidFill>
                    <a:srgbClr val="000000"/>
                  </a:solidFill>
                  <a:latin typeface="Times New Roman" panose="02020603050405020304" pitchFamily="18" charset="0"/>
                </a:rPr>
                <a:t>f</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496" name="Rectangle 149"/>
            <p:cNvSpPr>
              <a:spLocks noChangeArrowheads="1"/>
            </p:cNvSpPr>
            <p:nvPr/>
          </p:nvSpPr>
          <p:spPr bwMode="auto">
            <a:xfrm>
              <a:off x="5236" y="3154"/>
              <a:ext cx="183" cy="142"/>
            </a:xfrm>
            <a:prstGeom prst="rect">
              <a:avLst/>
            </a:prstGeom>
            <a:noFill/>
            <a:ln w="9525">
              <a:noFill/>
              <a:miter lim="800000"/>
            </a:ln>
          </p:spPr>
          <p:txBody>
            <a:bodyPr/>
            <a:lstStyle/>
            <a:p>
              <a:endParaRPr lang="zh-CN" altLang="en-US"/>
            </a:p>
          </p:txBody>
        </p:sp>
        <p:sp>
          <p:nvSpPr>
            <p:cNvPr id="83094" name="Rectangle 150"/>
            <p:cNvSpPr>
              <a:spLocks noChangeArrowheads="1"/>
            </p:cNvSpPr>
            <p:nvPr/>
          </p:nvSpPr>
          <p:spPr bwMode="auto">
            <a:xfrm>
              <a:off x="5329" y="3189"/>
              <a:ext cx="18"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i="1">
                  <a:solidFill>
                    <a:srgbClr val="000000"/>
                  </a:solidFill>
                  <a:latin typeface="Times New Roman" panose="02020603050405020304" pitchFamily="18" charset="0"/>
                </a:rPr>
                <a:t>t</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498" name="Rectangle 151"/>
            <p:cNvSpPr>
              <a:spLocks noChangeArrowheads="1"/>
            </p:cNvSpPr>
            <p:nvPr/>
          </p:nvSpPr>
          <p:spPr bwMode="auto">
            <a:xfrm>
              <a:off x="4326" y="2207"/>
              <a:ext cx="183" cy="141"/>
            </a:xfrm>
            <a:prstGeom prst="rect">
              <a:avLst/>
            </a:prstGeom>
            <a:noFill/>
            <a:ln w="9525">
              <a:noFill/>
              <a:miter lim="800000"/>
            </a:ln>
          </p:spPr>
          <p:txBody>
            <a:bodyPr/>
            <a:lstStyle/>
            <a:p>
              <a:endParaRPr lang="zh-CN" altLang="en-US"/>
            </a:p>
          </p:txBody>
        </p:sp>
        <p:sp>
          <p:nvSpPr>
            <p:cNvPr id="83096" name="Rectangle 152"/>
            <p:cNvSpPr>
              <a:spLocks noChangeArrowheads="1"/>
            </p:cNvSpPr>
            <p:nvPr/>
          </p:nvSpPr>
          <p:spPr bwMode="auto">
            <a:xfrm>
              <a:off x="4422" y="2242"/>
              <a:ext cx="28"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00" name="Line 153"/>
            <p:cNvSpPr>
              <a:spLocks noChangeShapeType="1"/>
            </p:cNvSpPr>
            <p:nvPr/>
          </p:nvSpPr>
          <p:spPr bwMode="auto">
            <a:xfrm flipV="1">
              <a:off x="4690" y="3433"/>
              <a:ext cx="1" cy="99"/>
            </a:xfrm>
            <a:prstGeom prst="line">
              <a:avLst/>
            </a:prstGeom>
            <a:noFill/>
            <a:ln w="12700">
              <a:solidFill>
                <a:srgbClr val="000000"/>
              </a:solidFill>
              <a:round/>
            </a:ln>
          </p:spPr>
          <p:txBody>
            <a:bodyPr/>
            <a:lstStyle/>
            <a:p>
              <a:endParaRPr lang="zh-CN" altLang="en-US"/>
            </a:p>
          </p:txBody>
        </p:sp>
        <p:sp>
          <p:nvSpPr>
            <p:cNvPr id="62501" name="Line 154"/>
            <p:cNvSpPr>
              <a:spLocks noChangeShapeType="1"/>
            </p:cNvSpPr>
            <p:nvPr/>
          </p:nvSpPr>
          <p:spPr bwMode="auto">
            <a:xfrm flipH="1">
              <a:off x="3982" y="3532"/>
              <a:ext cx="708" cy="1"/>
            </a:xfrm>
            <a:prstGeom prst="line">
              <a:avLst/>
            </a:prstGeom>
            <a:noFill/>
            <a:ln w="12700">
              <a:solidFill>
                <a:srgbClr val="000000"/>
              </a:solidFill>
              <a:round/>
            </a:ln>
          </p:spPr>
          <p:txBody>
            <a:bodyPr/>
            <a:lstStyle/>
            <a:p>
              <a:endParaRPr lang="zh-CN" altLang="en-US"/>
            </a:p>
          </p:txBody>
        </p:sp>
        <p:sp>
          <p:nvSpPr>
            <p:cNvPr id="62502" name="Line 155"/>
            <p:cNvSpPr>
              <a:spLocks noChangeShapeType="1"/>
            </p:cNvSpPr>
            <p:nvPr/>
          </p:nvSpPr>
          <p:spPr bwMode="auto">
            <a:xfrm flipV="1">
              <a:off x="3982" y="3433"/>
              <a:ext cx="1" cy="99"/>
            </a:xfrm>
            <a:prstGeom prst="line">
              <a:avLst/>
            </a:prstGeom>
            <a:noFill/>
            <a:ln w="12700">
              <a:solidFill>
                <a:srgbClr val="000000"/>
              </a:solidFill>
              <a:round/>
            </a:ln>
          </p:spPr>
          <p:txBody>
            <a:bodyPr/>
            <a:lstStyle/>
            <a:p>
              <a:endParaRPr lang="zh-CN" altLang="en-US"/>
            </a:p>
          </p:txBody>
        </p:sp>
        <p:sp>
          <p:nvSpPr>
            <p:cNvPr id="62503" name="Line 156"/>
            <p:cNvSpPr>
              <a:spLocks noChangeShapeType="1"/>
            </p:cNvSpPr>
            <p:nvPr/>
          </p:nvSpPr>
          <p:spPr bwMode="auto">
            <a:xfrm flipH="1">
              <a:off x="3982" y="3433"/>
              <a:ext cx="708" cy="1"/>
            </a:xfrm>
            <a:prstGeom prst="line">
              <a:avLst/>
            </a:prstGeom>
            <a:noFill/>
            <a:ln w="12700">
              <a:solidFill>
                <a:srgbClr val="000000"/>
              </a:solidFill>
              <a:round/>
            </a:ln>
          </p:spPr>
          <p:txBody>
            <a:bodyPr/>
            <a:lstStyle/>
            <a:p>
              <a:endParaRPr lang="zh-CN" altLang="en-US"/>
            </a:p>
          </p:txBody>
        </p:sp>
        <p:sp>
          <p:nvSpPr>
            <p:cNvPr id="62504" name="Line 157"/>
            <p:cNvSpPr>
              <a:spLocks noChangeShapeType="1"/>
            </p:cNvSpPr>
            <p:nvPr/>
          </p:nvSpPr>
          <p:spPr bwMode="auto">
            <a:xfrm flipV="1">
              <a:off x="4690" y="3334"/>
              <a:ext cx="1" cy="100"/>
            </a:xfrm>
            <a:prstGeom prst="line">
              <a:avLst/>
            </a:prstGeom>
            <a:noFill/>
            <a:ln w="12700">
              <a:solidFill>
                <a:srgbClr val="000000"/>
              </a:solidFill>
              <a:round/>
            </a:ln>
          </p:spPr>
          <p:txBody>
            <a:bodyPr/>
            <a:lstStyle/>
            <a:p>
              <a:endParaRPr lang="zh-CN" altLang="en-US"/>
            </a:p>
          </p:txBody>
        </p:sp>
        <p:sp>
          <p:nvSpPr>
            <p:cNvPr id="62505" name="Line 158"/>
            <p:cNvSpPr>
              <a:spLocks noChangeShapeType="1"/>
            </p:cNvSpPr>
            <p:nvPr/>
          </p:nvSpPr>
          <p:spPr bwMode="auto">
            <a:xfrm flipH="1">
              <a:off x="3982" y="3434"/>
              <a:ext cx="708" cy="1"/>
            </a:xfrm>
            <a:prstGeom prst="line">
              <a:avLst/>
            </a:prstGeom>
            <a:noFill/>
            <a:ln w="12700">
              <a:solidFill>
                <a:srgbClr val="000000"/>
              </a:solidFill>
              <a:round/>
            </a:ln>
          </p:spPr>
          <p:txBody>
            <a:bodyPr/>
            <a:lstStyle/>
            <a:p>
              <a:endParaRPr lang="zh-CN" altLang="en-US"/>
            </a:p>
          </p:txBody>
        </p:sp>
        <p:sp>
          <p:nvSpPr>
            <p:cNvPr id="62506" name="Line 159"/>
            <p:cNvSpPr>
              <a:spLocks noChangeShapeType="1"/>
            </p:cNvSpPr>
            <p:nvPr/>
          </p:nvSpPr>
          <p:spPr bwMode="auto">
            <a:xfrm flipV="1">
              <a:off x="3982" y="3334"/>
              <a:ext cx="1" cy="100"/>
            </a:xfrm>
            <a:prstGeom prst="line">
              <a:avLst/>
            </a:prstGeom>
            <a:noFill/>
            <a:ln w="12700">
              <a:solidFill>
                <a:srgbClr val="000000"/>
              </a:solidFill>
              <a:round/>
            </a:ln>
          </p:spPr>
          <p:txBody>
            <a:bodyPr/>
            <a:lstStyle/>
            <a:p>
              <a:endParaRPr lang="zh-CN" altLang="en-US"/>
            </a:p>
          </p:txBody>
        </p:sp>
        <p:sp>
          <p:nvSpPr>
            <p:cNvPr id="62507" name="Line 160"/>
            <p:cNvSpPr>
              <a:spLocks noChangeShapeType="1"/>
            </p:cNvSpPr>
            <p:nvPr/>
          </p:nvSpPr>
          <p:spPr bwMode="auto">
            <a:xfrm flipH="1">
              <a:off x="3982" y="3334"/>
              <a:ext cx="708" cy="1"/>
            </a:xfrm>
            <a:prstGeom prst="line">
              <a:avLst/>
            </a:prstGeom>
            <a:noFill/>
            <a:ln w="12700">
              <a:solidFill>
                <a:srgbClr val="000000"/>
              </a:solidFill>
              <a:round/>
            </a:ln>
          </p:spPr>
          <p:txBody>
            <a:bodyPr/>
            <a:lstStyle/>
            <a:p>
              <a:endParaRPr lang="zh-CN" altLang="en-US"/>
            </a:p>
          </p:txBody>
        </p:sp>
        <p:sp>
          <p:nvSpPr>
            <p:cNvPr id="62508" name="Rectangle 161"/>
            <p:cNvSpPr>
              <a:spLocks noChangeArrowheads="1"/>
            </p:cNvSpPr>
            <p:nvPr/>
          </p:nvSpPr>
          <p:spPr bwMode="auto">
            <a:xfrm>
              <a:off x="4153" y="3312"/>
              <a:ext cx="496" cy="142"/>
            </a:xfrm>
            <a:prstGeom prst="rect">
              <a:avLst/>
            </a:prstGeom>
            <a:noFill/>
            <a:ln w="9525">
              <a:noFill/>
              <a:miter lim="800000"/>
            </a:ln>
          </p:spPr>
          <p:txBody>
            <a:bodyPr/>
            <a:lstStyle/>
            <a:p>
              <a:endParaRPr lang="zh-CN" altLang="en-US"/>
            </a:p>
          </p:txBody>
        </p:sp>
        <p:sp>
          <p:nvSpPr>
            <p:cNvPr id="83106" name="Rectangle 162"/>
            <p:cNvSpPr>
              <a:spLocks noChangeArrowheads="1"/>
            </p:cNvSpPr>
            <p:nvPr/>
          </p:nvSpPr>
          <p:spPr bwMode="auto">
            <a:xfrm>
              <a:off x="4270" y="3350"/>
              <a:ext cx="129"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8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107" name="Rectangle 163"/>
            <p:cNvSpPr>
              <a:spLocks noChangeArrowheads="1"/>
            </p:cNvSpPr>
            <p:nvPr/>
          </p:nvSpPr>
          <p:spPr bwMode="auto">
            <a:xfrm>
              <a:off x="4412" y="3347"/>
              <a:ext cx="32"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11" name="Line 164"/>
            <p:cNvSpPr>
              <a:spLocks noChangeShapeType="1"/>
            </p:cNvSpPr>
            <p:nvPr/>
          </p:nvSpPr>
          <p:spPr bwMode="auto">
            <a:xfrm flipV="1">
              <a:off x="4690" y="2922"/>
              <a:ext cx="1" cy="311"/>
            </a:xfrm>
            <a:prstGeom prst="line">
              <a:avLst/>
            </a:prstGeom>
            <a:noFill/>
            <a:ln w="12700">
              <a:solidFill>
                <a:srgbClr val="000000"/>
              </a:solidFill>
              <a:round/>
            </a:ln>
          </p:spPr>
          <p:txBody>
            <a:bodyPr/>
            <a:lstStyle/>
            <a:p>
              <a:endParaRPr lang="zh-CN" altLang="en-US"/>
            </a:p>
          </p:txBody>
        </p:sp>
        <p:sp>
          <p:nvSpPr>
            <p:cNvPr id="62512" name="Line 165"/>
            <p:cNvSpPr>
              <a:spLocks noChangeShapeType="1"/>
            </p:cNvSpPr>
            <p:nvPr/>
          </p:nvSpPr>
          <p:spPr bwMode="auto">
            <a:xfrm flipV="1">
              <a:off x="4690" y="3230"/>
              <a:ext cx="1" cy="100"/>
            </a:xfrm>
            <a:prstGeom prst="line">
              <a:avLst/>
            </a:prstGeom>
            <a:noFill/>
            <a:ln w="12700">
              <a:solidFill>
                <a:srgbClr val="000000"/>
              </a:solidFill>
              <a:round/>
            </a:ln>
          </p:spPr>
          <p:txBody>
            <a:bodyPr/>
            <a:lstStyle/>
            <a:p>
              <a:endParaRPr lang="zh-CN" altLang="en-US"/>
            </a:p>
          </p:txBody>
        </p:sp>
        <p:sp>
          <p:nvSpPr>
            <p:cNvPr id="62513" name="Line 166"/>
            <p:cNvSpPr>
              <a:spLocks noChangeShapeType="1"/>
            </p:cNvSpPr>
            <p:nvPr/>
          </p:nvSpPr>
          <p:spPr bwMode="auto">
            <a:xfrm flipV="1">
              <a:off x="3982" y="3230"/>
              <a:ext cx="1" cy="100"/>
            </a:xfrm>
            <a:prstGeom prst="line">
              <a:avLst/>
            </a:prstGeom>
            <a:noFill/>
            <a:ln w="12700">
              <a:solidFill>
                <a:srgbClr val="000000"/>
              </a:solidFill>
              <a:round/>
            </a:ln>
          </p:spPr>
          <p:txBody>
            <a:bodyPr/>
            <a:lstStyle/>
            <a:p>
              <a:endParaRPr lang="zh-CN" altLang="en-US"/>
            </a:p>
          </p:txBody>
        </p:sp>
        <p:sp>
          <p:nvSpPr>
            <p:cNvPr id="62514" name="Line 167"/>
            <p:cNvSpPr>
              <a:spLocks noChangeShapeType="1"/>
            </p:cNvSpPr>
            <p:nvPr/>
          </p:nvSpPr>
          <p:spPr bwMode="auto">
            <a:xfrm flipH="1">
              <a:off x="3982" y="3230"/>
              <a:ext cx="708" cy="1"/>
            </a:xfrm>
            <a:prstGeom prst="line">
              <a:avLst/>
            </a:prstGeom>
            <a:noFill/>
            <a:ln w="12700">
              <a:solidFill>
                <a:srgbClr val="000000"/>
              </a:solidFill>
              <a:round/>
            </a:ln>
          </p:spPr>
          <p:txBody>
            <a:bodyPr/>
            <a:lstStyle/>
            <a:p>
              <a:endParaRPr lang="zh-CN" altLang="en-US"/>
            </a:p>
          </p:txBody>
        </p:sp>
        <p:sp>
          <p:nvSpPr>
            <p:cNvPr id="62515" name="Line 168"/>
            <p:cNvSpPr>
              <a:spLocks noChangeShapeType="1"/>
            </p:cNvSpPr>
            <p:nvPr/>
          </p:nvSpPr>
          <p:spPr bwMode="auto">
            <a:xfrm flipV="1">
              <a:off x="4690" y="2827"/>
              <a:ext cx="1" cy="100"/>
            </a:xfrm>
            <a:prstGeom prst="line">
              <a:avLst/>
            </a:prstGeom>
            <a:noFill/>
            <a:ln w="12700">
              <a:solidFill>
                <a:srgbClr val="000000"/>
              </a:solidFill>
              <a:round/>
            </a:ln>
          </p:spPr>
          <p:txBody>
            <a:bodyPr/>
            <a:lstStyle/>
            <a:p>
              <a:endParaRPr lang="zh-CN" altLang="en-US"/>
            </a:p>
          </p:txBody>
        </p:sp>
        <p:sp>
          <p:nvSpPr>
            <p:cNvPr id="62516" name="Line 169"/>
            <p:cNvSpPr>
              <a:spLocks noChangeShapeType="1"/>
            </p:cNvSpPr>
            <p:nvPr/>
          </p:nvSpPr>
          <p:spPr bwMode="auto">
            <a:xfrm flipV="1">
              <a:off x="3982" y="2827"/>
              <a:ext cx="1" cy="100"/>
            </a:xfrm>
            <a:prstGeom prst="line">
              <a:avLst/>
            </a:prstGeom>
            <a:noFill/>
            <a:ln w="12700">
              <a:solidFill>
                <a:srgbClr val="000000"/>
              </a:solidFill>
              <a:round/>
            </a:ln>
          </p:spPr>
          <p:txBody>
            <a:bodyPr/>
            <a:lstStyle/>
            <a:p>
              <a:endParaRPr lang="zh-CN" altLang="en-US"/>
            </a:p>
          </p:txBody>
        </p:sp>
        <p:sp>
          <p:nvSpPr>
            <p:cNvPr id="62517" name="Line 170"/>
            <p:cNvSpPr>
              <a:spLocks noChangeShapeType="1"/>
            </p:cNvSpPr>
            <p:nvPr/>
          </p:nvSpPr>
          <p:spPr bwMode="auto">
            <a:xfrm flipH="1">
              <a:off x="3982" y="2827"/>
              <a:ext cx="708" cy="1"/>
            </a:xfrm>
            <a:prstGeom prst="line">
              <a:avLst/>
            </a:prstGeom>
            <a:noFill/>
            <a:ln w="12700">
              <a:solidFill>
                <a:srgbClr val="000000"/>
              </a:solidFill>
              <a:round/>
            </a:ln>
          </p:spPr>
          <p:txBody>
            <a:bodyPr/>
            <a:lstStyle/>
            <a:p>
              <a:endParaRPr lang="zh-CN" altLang="en-US"/>
            </a:p>
          </p:txBody>
        </p:sp>
        <p:sp>
          <p:nvSpPr>
            <p:cNvPr id="62518" name="Rectangle 171"/>
            <p:cNvSpPr>
              <a:spLocks noChangeArrowheads="1"/>
            </p:cNvSpPr>
            <p:nvPr/>
          </p:nvSpPr>
          <p:spPr bwMode="auto">
            <a:xfrm>
              <a:off x="4153" y="3416"/>
              <a:ext cx="496" cy="141"/>
            </a:xfrm>
            <a:prstGeom prst="rect">
              <a:avLst/>
            </a:prstGeom>
            <a:noFill/>
            <a:ln w="9525">
              <a:noFill/>
              <a:miter lim="800000"/>
            </a:ln>
          </p:spPr>
          <p:txBody>
            <a:bodyPr/>
            <a:lstStyle/>
            <a:p>
              <a:endParaRPr lang="zh-CN" altLang="en-US"/>
            </a:p>
          </p:txBody>
        </p:sp>
        <p:sp>
          <p:nvSpPr>
            <p:cNvPr id="83116" name="Rectangle 172"/>
            <p:cNvSpPr>
              <a:spLocks noChangeArrowheads="1"/>
            </p:cNvSpPr>
            <p:nvPr/>
          </p:nvSpPr>
          <p:spPr bwMode="auto">
            <a:xfrm>
              <a:off x="4270" y="3454"/>
              <a:ext cx="129"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8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117" name="Rectangle 173"/>
            <p:cNvSpPr>
              <a:spLocks noChangeArrowheads="1"/>
            </p:cNvSpPr>
            <p:nvPr/>
          </p:nvSpPr>
          <p:spPr bwMode="auto">
            <a:xfrm>
              <a:off x="4412" y="3451"/>
              <a:ext cx="32"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21" name="Rectangle 174"/>
            <p:cNvSpPr>
              <a:spLocks noChangeArrowheads="1"/>
            </p:cNvSpPr>
            <p:nvPr/>
          </p:nvSpPr>
          <p:spPr bwMode="auto">
            <a:xfrm>
              <a:off x="4155" y="3207"/>
              <a:ext cx="497" cy="142"/>
            </a:xfrm>
            <a:prstGeom prst="rect">
              <a:avLst/>
            </a:prstGeom>
            <a:noFill/>
            <a:ln w="9525">
              <a:noFill/>
              <a:miter lim="800000"/>
            </a:ln>
          </p:spPr>
          <p:txBody>
            <a:bodyPr/>
            <a:lstStyle/>
            <a:p>
              <a:endParaRPr lang="zh-CN" altLang="en-US"/>
            </a:p>
          </p:txBody>
        </p:sp>
        <p:sp>
          <p:nvSpPr>
            <p:cNvPr id="83119" name="Rectangle 175"/>
            <p:cNvSpPr>
              <a:spLocks noChangeArrowheads="1"/>
            </p:cNvSpPr>
            <p:nvPr/>
          </p:nvSpPr>
          <p:spPr bwMode="auto">
            <a:xfrm>
              <a:off x="4272" y="3245"/>
              <a:ext cx="129"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8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120" name="Rectangle 176"/>
            <p:cNvSpPr>
              <a:spLocks noChangeArrowheads="1"/>
            </p:cNvSpPr>
            <p:nvPr/>
          </p:nvSpPr>
          <p:spPr bwMode="auto">
            <a:xfrm>
              <a:off x="4414" y="3242"/>
              <a:ext cx="32"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a:solidFill>
                    <a:srgbClr val="000000"/>
                  </a:solidFill>
                  <a:latin typeface="Times New Roman" panose="02020603050405020304" pitchFamily="18" charset="0"/>
                </a:rPr>
                <a:t>3</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24" name="Rectangle 177"/>
            <p:cNvSpPr>
              <a:spLocks noChangeArrowheads="1"/>
            </p:cNvSpPr>
            <p:nvPr/>
          </p:nvSpPr>
          <p:spPr bwMode="auto">
            <a:xfrm>
              <a:off x="4154" y="2805"/>
              <a:ext cx="497" cy="142"/>
            </a:xfrm>
            <a:prstGeom prst="rect">
              <a:avLst/>
            </a:prstGeom>
            <a:noFill/>
            <a:ln w="9525">
              <a:noFill/>
              <a:miter lim="800000"/>
            </a:ln>
          </p:spPr>
          <p:txBody>
            <a:bodyPr/>
            <a:lstStyle/>
            <a:p>
              <a:endParaRPr lang="zh-CN" altLang="en-US"/>
            </a:p>
          </p:txBody>
        </p:sp>
        <p:sp>
          <p:nvSpPr>
            <p:cNvPr id="83122" name="Rectangle 178"/>
            <p:cNvSpPr>
              <a:spLocks noChangeArrowheads="1"/>
            </p:cNvSpPr>
            <p:nvPr/>
          </p:nvSpPr>
          <p:spPr bwMode="auto">
            <a:xfrm>
              <a:off x="4271" y="2843"/>
              <a:ext cx="129"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800">
                  <a:solidFill>
                    <a:srgbClr val="000000"/>
                  </a:solidFill>
                  <a:latin typeface="宋体" panose="02010600030101010101" pitchFamily="2" charset="-122"/>
                </a:rPr>
                <a:t>信道</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83123" name="Rectangle 179"/>
            <p:cNvSpPr>
              <a:spLocks noChangeArrowheads="1"/>
            </p:cNvSpPr>
            <p:nvPr/>
          </p:nvSpPr>
          <p:spPr bwMode="auto">
            <a:xfrm>
              <a:off x="4415" y="2840"/>
              <a:ext cx="46" cy="10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800">
                  <a:solidFill>
                    <a:srgbClr val="000000"/>
                  </a:solidFill>
                  <a:latin typeface="Times New Roman" panose="02020603050405020304" pitchFamily="18" charset="0"/>
                </a:rPr>
                <a:t>N</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62527" name="Line 180"/>
            <p:cNvSpPr>
              <a:spLocks noChangeShapeType="1"/>
            </p:cNvSpPr>
            <p:nvPr/>
          </p:nvSpPr>
          <p:spPr bwMode="auto">
            <a:xfrm flipH="1">
              <a:off x="3982" y="2934"/>
              <a:ext cx="708" cy="1"/>
            </a:xfrm>
            <a:prstGeom prst="line">
              <a:avLst/>
            </a:prstGeom>
            <a:noFill/>
            <a:ln w="12700">
              <a:solidFill>
                <a:srgbClr val="000000"/>
              </a:solidFill>
              <a:round/>
            </a:ln>
          </p:spPr>
          <p:txBody>
            <a:bodyPr/>
            <a:lstStyle/>
            <a:p>
              <a:endParaRPr lang="zh-CN" altLang="en-US"/>
            </a:p>
          </p:txBody>
        </p:sp>
        <p:sp>
          <p:nvSpPr>
            <p:cNvPr id="62528" name="Line 181"/>
            <p:cNvSpPr>
              <a:spLocks noChangeShapeType="1"/>
            </p:cNvSpPr>
            <p:nvPr/>
          </p:nvSpPr>
          <p:spPr bwMode="auto">
            <a:xfrm flipV="1">
              <a:off x="3982" y="2922"/>
              <a:ext cx="1" cy="311"/>
            </a:xfrm>
            <a:prstGeom prst="line">
              <a:avLst/>
            </a:prstGeom>
            <a:noFill/>
            <a:ln w="12700">
              <a:solidFill>
                <a:srgbClr val="000000"/>
              </a:solidFill>
              <a:round/>
            </a:ln>
          </p:spPr>
          <p:txBody>
            <a:bodyPr/>
            <a:lstStyle/>
            <a:p>
              <a:endParaRPr lang="zh-CN" altLang="en-US"/>
            </a:p>
          </p:txBody>
        </p:sp>
        <p:grpSp>
          <p:nvGrpSpPr>
            <p:cNvPr id="21" name="Group 182"/>
            <p:cNvGrpSpPr/>
            <p:nvPr/>
          </p:nvGrpSpPr>
          <p:grpSpPr bwMode="auto">
            <a:xfrm>
              <a:off x="3841" y="3532"/>
              <a:ext cx="141" cy="171"/>
              <a:chOff x="3841" y="3532"/>
              <a:chExt cx="141" cy="171"/>
            </a:xfrm>
          </p:grpSpPr>
          <p:sp>
            <p:nvSpPr>
              <p:cNvPr id="62544" name="Line 183"/>
              <p:cNvSpPr>
                <a:spLocks noChangeShapeType="1"/>
              </p:cNvSpPr>
              <p:nvPr/>
            </p:nvSpPr>
            <p:spPr bwMode="auto">
              <a:xfrm flipH="1">
                <a:off x="3867" y="3532"/>
                <a:ext cx="115" cy="139"/>
              </a:xfrm>
              <a:prstGeom prst="line">
                <a:avLst/>
              </a:prstGeom>
              <a:noFill/>
              <a:ln w="12700">
                <a:solidFill>
                  <a:srgbClr val="000000"/>
                </a:solidFill>
                <a:round/>
              </a:ln>
            </p:spPr>
            <p:txBody>
              <a:bodyPr/>
              <a:lstStyle/>
              <a:p>
                <a:endParaRPr lang="zh-CN" altLang="en-US"/>
              </a:p>
            </p:txBody>
          </p:sp>
          <p:sp>
            <p:nvSpPr>
              <p:cNvPr id="62545" name="Freeform 184"/>
              <p:cNvSpPr/>
              <p:nvPr/>
            </p:nvSpPr>
            <p:spPr bwMode="auto">
              <a:xfrm>
                <a:off x="3841" y="3656"/>
                <a:ext cx="49" cy="47"/>
              </a:xfrm>
              <a:custGeom>
                <a:avLst/>
                <a:gdLst>
                  <a:gd name="T0" fmla="*/ 7 w 49"/>
                  <a:gd name="T1" fmla="*/ 0 h 47"/>
                  <a:gd name="T2" fmla="*/ 0 w 49"/>
                  <a:gd name="T3" fmla="*/ 47 h 47"/>
                  <a:gd name="T4" fmla="*/ 49 w 49"/>
                  <a:gd name="T5" fmla="*/ 25 h 47"/>
                  <a:gd name="T6" fmla="*/ 7 w 49"/>
                  <a:gd name="T7" fmla="*/ 0 h 47"/>
                  <a:gd name="T8" fmla="*/ 0 60000 65536"/>
                  <a:gd name="T9" fmla="*/ 0 60000 65536"/>
                  <a:gd name="T10" fmla="*/ 0 60000 65536"/>
                  <a:gd name="T11" fmla="*/ 0 60000 65536"/>
                  <a:gd name="T12" fmla="*/ 0 w 49"/>
                  <a:gd name="T13" fmla="*/ 0 h 47"/>
                  <a:gd name="T14" fmla="*/ 49 w 49"/>
                  <a:gd name="T15" fmla="*/ 47 h 47"/>
                </a:gdLst>
                <a:ahLst/>
                <a:cxnLst>
                  <a:cxn ang="T8">
                    <a:pos x="T0" y="T1"/>
                  </a:cxn>
                  <a:cxn ang="T9">
                    <a:pos x="T2" y="T3"/>
                  </a:cxn>
                  <a:cxn ang="T10">
                    <a:pos x="T4" y="T5"/>
                  </a:cxn>
                  <a:cxn ang="T11">
                    <a:pos x="T6" y="T7"/>
                  </a:cxn>
                </a:cxnLst>
                <a:rect l="T12" t="T13" r="T14" b="T15"/>
                <a:pathLst>
                  <a:path w="49" h="47">
                    <a:moveTo>
                      <a:pt x="7" y="0"/>
                    </a:moveTo>
                    <a:lnTo>
                      <a:pt x="0" y="47"/>
                    </a:lnTo>
                    <a:lnTo>
                      <a:pt x="49" y="25"/>
                    </a:lnTo>
                    <a:lnTo>
                      <a:pt x="7" y="0"/>
                    </a:lnTo>
                    <a:close/>
                  </a:path>
                </a:pathLst>
              </a:custGeom>
              <a:solidFill>
                <a:srgbClr val="000000"/>
              </a:solidFill>
              <a:ln w="9525">
                <a:noFill/>
                <a:round/>
              </a:ln>
            </p:spPr>
            <p:txBody>
              <a:bodyPr/>
              <a:lstStyle/>
              <a:p>
                <a:endParaRPr lang="zh-CN" altLang="en-US"/>
              </a:p>
            </p:txBody>
          </p:sp>
        </p:grpSp>
        <p:grpSp>
          <p:nvGrpSpPr>
            <p:cNvPr id="22" name="Group 185"/>
            <p:cNvGrpSpPr/>
            <p:nvPr/>
          </p:nvGrpSpPr>
          <p:grpSpPr bwMode="auto">
            <a:xfrm>
              <a:off x="4332" y="2981"/>
              <a:ext cx="8" cy="206"/>
              <a:chOff x="4332" y="2981"/>
              <a:chExt cx="8" cy="206"/>
            </a:xfrm>
          </p:grpSpPr>
          <p:sp>
            <p:nvSpPr>
              <p:cNvPr id="62539" name="Freeform 186"/>
              <p:cNvSpPr/>
              <p:nvPr/>
            </p:nvSpPr>
            <p:spPr bwMode="auto">
              <a:xfrm>
                <a:off x="4332" y="3155"/>
                <a:ext cx="8" cy="32"/>
              </a:xfrm>
              <a:custGeom>
                <a:avLst/>
                <a:gdLst>
                  <a:gd name="T0" fmla="*/ 0 w 8"/>
                  <a:gd name="T1" fmla="*/ 30 h 32"/>
                  <a:gd name="T2" fmla="*/ 1 w 8"/>
                  <a:gd name="T3" fmla="*/ 30 h 32"/>
                  <a:gd name="T4" fmla="*/ 3 w 8"/>
                  <a:gd name="T5" fmla="*/ 31 h 32"/>
                  <a:gd name="T6" fmla="*/ 4 w 8"/>
                  <a:gd name="T7" fmla="*/ 32 h 32"/>
                  <a:gd name="T8" fmla="*/ 4 w 8"/>
                  <a:gd name="T9" fmla="*/ 32 h 32"/>
                  <a:gd name="T10" fmla="*/ 5 w 8"/>
                  <a:gd name="T11" fmla="*/ 31 h 32"/>
                  <a:gd name="T12" fmla="*/ 6 w 8"/>
                  <a:gd name="T13" fmla="*/ 30 h 32"/>
                  <a:gd name="T14" fmla="*/ 8 w 8"/>
                  <a:gd name="T15" fmla="*/ 28 h 32"/>
                  <a:gd name="T16" fmla="*/ 8 w 8"/>
                  <a:gd name="T17" fmla="*/ 28 h 32"/>
                  <a:gd name="T18" fmla="*/ 8 w 8"/>
                  <a:gd name="T19" fmla="*/ 4 h 32"/>
                  <a:gd name="T20" fmla="*/ 6 w 8"/>
                  <a:gd name="T21" fmla="*/ 3 h 32"/>
                  <a:gd name="T22" fmla="*/ 5 w 8"/>
                  <a:gd name="T23" fmla="*/ 1 h 32"/>
                  <a:gd name="T24" fmla="*/ 4 w 8"/>
                  <a:gd name="T25" fmla="*/ 0 h 32"/>
                  <a:gd name="T26" fmla="*/ 4 w 8"/>
                  <a:gd name="T27" fmla="*/ 0 h 32"/>
                  <a:gd name="T28" fmla="*/ 3 w 8"/>
                  <a:gd name="T29" fmla="*/ 1 h 32"/>
                  <a:gd name="T30" fmla="*/ 1 w 8"/>
                  <a:gd name="T31" fmla="*/ 3 h 32"/>
                  <a:gd name="T32" fmla="*/ 0 w 8"/>
                  <a:gd name="T33" fmla="*/ 4 h 32"/>
                  <a:gd name="T34" fmla="*/ 0 w 8"/>
                  <a:gd name="T35" fmla="*/ 5 h 32"/>
                  <a:gd name="T36" fmla="*/ 0 w 8"/>
                  <a:gd name="T37" fmla="*/ 30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2"/>
                  <a:gd name="T59" fmla="*/ 8 w 8"/>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2">
                    <a:moveTo>
                      <a:pt x="0" y="30"/>
                    </a:moveTo>
                    <a:lnTo>
                      <a:pt x="1" y="30"/>
                    </a:lnTo>
                    <a:lnTo>
                      <a:pt x="3" y="31"/>
                    </a:lnTo>
                    <a:lnTo>
                      <a:pt x="4" y="32"/>
                    </a:lnTo>
                    <a:lnTo>
                      <a:pt x="5" y="31"/>
                    </a:lnTo>
                    <a:lnTo>
                      <a:pt x="6" y="30"/>
                    </a:lnTo>
                    <a:lnTo>
                      <a:pt x="8" y="28"/>
                    </a:lnTo>
                    <a:lnTo>
                      <a:pt x="8" y="4"/>
                    </a:lnTo>
                    <a:lnTo>
                      <a:pt x="6" y="3"/>
                    </a:lnTo>
                    <a:lnTo>
                      <a:pt x="5" y="1"/>
                    </a:lnTo>
                    <a:lnTo>
                      <a:pt x="4" y="0"/>
                    </a:lnTo>
                    <a:lnTo>
                      <a:pt x="3" y="1"/>
                    </a:lnTo>
                    <a:lnTo>
                      <a:pt x="1" y="3"/>
                    </a:lnTo>
                    <a:lnTo>
                      <a:pt x="0" y="4"/>
                    </a:lnTo>
                    <a:lnTo>
                      <a:pt x="0" y="5"/>
                    </a:lnTo>
                    <a:lnTo>
                      <a:pt x="0" y="30"/>
                    </a:lnTo>
                    <a:close/>
                  </a:path>
                </a:pathLst>
              </a:custGeom>
              <a:solidFill>
                <a:srgbClr val="000000"/>
              </a:solidFill>
              <a:ln w="9525">
                <a:noFill/>
                <a:round/>
              </a:ln>
            </p:spPr>
            <p:txBody>
              <a:bodyPr/>
              <a:lstStyle/>
              <a:p>
                <a:endParaRPr lang="zh-CN" altLang="en-US"/>
              </a:p>
            </p:txBody>
          </p:sp>
          <p:sp>
            <p:nvSpPr>
              <p:cNvPr id="62540" name="Freeform 187"/>
              <p:cNvSpPr/>
              <p:nvPr/>
            </p:nvSpPr>
            <p:spPr bwMode="auto">
              <a:xfrm>
                <a:off x="4332" y="3112"/>
                <a:ext cx="8" cy="31"/>
              </a:xfrm>
              <a:custGeom>
                <a:avLst/>
                <a:gdLst>
                  <a:gd name="T0" fmla="*/ 0 w 8"/>
                  <a:gd name="T1" fmla="*/ 29 h 31"/>
                  <a:gd name="T2" fmla="*/ 1 w 8"/>
                  <a:gd name="T3" fmla="*/ 29 h 31"/>
                  <a:gd name="T4" fmla="*/ 3 w 8"/>
                  <a:gd name="T5" fmla="*/ 30 h 31"/>
                  <a:gd name="T6" fmla="*/ 4 w 8"/>
                  <a:gd name="T7" fmla="*/ 31 h 31"/>
                  <a:gd name="T8" fmla="*/ 4 w 8"/>
                  <a:gd name="T9" fmla="*/ 31 h 31"/>
                  <a:gd name="T10" fmla="*/ 5 w 8"/>
                  <a:gd name="T11" fmla="*/ 30 h 31"/>
                  <a:gd name="T12" fmla="*/ 6 w 8"/>
                  <a:gd name="T13" fmla="*/ 29 h 31"/>
                  <a:gd name="T14" fmla="*/ 8 w 8"/>
                  <a:gd name="T15" fmla="*/ 28 h 31"/>
                  <a:gd name="T16" fmla="*/ 8 w 8"/>
                  <a:gd name="T17" fmla="*/ 28 h 31"/>
                  <a:gd name="T18" fmla="*/ 8 w 8"/>
                  <a:gd name="T19" fmla="*/ 3 h 31"/>
                  <a:gd name="T20" fmla="*/ 6 w 8"/>
                  <a:gd name="T21" fmla="*/ 2 h 31"/>
                  <a:gd name="T22" fmla="*/ 5 w 8"/>
                  <a:gd name="T23" fmla="*/ 1 h 31"/>
                  <a:gd name="T24" fmla="*/ 4 w 8"/>
                  <a:gd name="T25" fmla="*/ 0 h 31"/>
                  <a:gd name="T26" fmla="*/ 4 w 8"/>
                  <a:gd name="T27" fmla="*/ 0 h 31"/>
                  <a:gd name="T28" fmla="*/ 3 w 8"/>
                  <a:gd name="T29" fmla="*/ 1 h 31"/>
                  <a:gd name="T30" fmla="*/ 1 w 8"/>
                  <a:gd name="T31" fmla="*/ 2 h 31"/>
                  <a:gd name="T32" fmla="*/ 0 w 8"/>
                  <a:gd name="T33" fmla="*/ 3 h 31"/>
                  <a:gd name="T34" fmla="*/ 0 w 8"/>
                  <a:gd name="T35" fmla="*/ 4 h 31"/>
                  <a:gd name="T36" fmla="*/ 0 w 8"/>
                  <a:gd name="T37" fmla="*/ 29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1"/>
                  <a:gd name="T59" fmla="*/ 8 w 8"/>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1">
                    <a:moveTo>
                      <a:pt x="0" y="29"/>
                    </a:moveTo>
                    <a:lnTo>
                      <a:pt x="1" y="29"/>
                    </a:lnTo>
                    <a:lnTo>
                      <a:pt x="3" y="30"/>
                    </a:lnTo>
                    <a:lnTo>
                      <a:pt x="4" y="31"/>
                    </a:lnTo>
                    <a:lnTo>
                      <a:pt x="5" y="30"/>
                    </a:lnTo>
                    <a:lnTo>
                      <a:pt x="6" y="29"/>
                    </a:lnTo>
                    <a:lnTo>
                      <a:pt x="8" y="28"/>
                    </a:lnTo>
                    <a:lnTo>
                      <a:pt x="8" y="3"/>
                    </a:lnTo>
                    <a:lnTo>
                      <a:pt x="6" y="2"/>
                    </a:lnTo>
                    <a:lnTo>
                      <a:pt x="5" y="1"/>
                    </a:lnTo>
                    <a:lnTo>
                      <a:pt x="4" y="0"/>
                    </a:lnTo>
                    <a:lnTo>
                      <a:pt x="3" y="1"/>
                    </a:lnTo>
                    <a:lnTo>
                      <a:pt x="1" y="2"/>
                    </a:lnTo>
                    <a:lnTo>
                      <a:pt x="0" y="3"/>
                    </a:lnTo>
                    <a:lnTo>
                      <a:pt x="0" y="4"/>
                    </a:lnTo>
                    <a:lnTo>
                      <a:pt x="0" y="29"/>
                    </a:lnTo>
                    <a:close/>
                  </a:path>
                </a:pathLst>
              </a:custGeom>
              <a:solidFill>
                <a:srgbClr val="000000"/>
              </a:solidFill>
              <a:ln w="9525">
                <a:noFill/>
                <a:round/>
              </a:ln>
            </p:spPr>
            <p:txBody>
              <a:bodyPr/>
              <a:lstStyle/>
              <a:p>
                <a:endParaRPr lang="zh-CN" altLang="en-US"/>
              </a:p>
            </p:txBody>
          </p:sp>
          <p:sp>
            <p:nvSpPr>
              <p:cNvPr id="62541" name="Freeform 188"/>
              <p:cNvSpPr/>
              <p:nvPr/>
            </p:nvSpPr>
            <p:spPr bwMode="auto">
              <a:xfrm>
                <a:off x="4332" y="3068"/>
                <a:ext cx="8" cy="31"/>
              </a:xfrm>
              <a:custGeom>
                <a:avLst/>
                <a:gdLst>
                  <a:gd name="T0" fmla="*/ 0 w 8"/>
                  <a:gd name="T1" fmla="*/ 29 h 31"/>
                  <a:gd name="T2" fmla="*/ 1 w 8"/>
                  <a:gd name="T3" fmla="*/ 29 h 31"/>
                  <a:gd name="T4" fmla="*/ 3 w 8"/>
                  <a:gd name="T5" fmla="*/ 30 h 31"/>
                  <a:gd name="T6" fmla="*/ 4 w 8"/>
                  <a:gd name="T7" fmla="*/ 31 h 31"/>
                  <a:gd name="T8" fmla="*/ 4 w 8"/>
                  <a:gd name="T9" fmla="*/ 31 h 31"/>
                  <a:gd name="T10" fmla="*/ 5 w 8"/>
                  <a:gd name="T11" fmla="*/ 30 h 31"/>
                  <a:gd name="T12" fmla="*/ 6 w 8"/>
                  <a:gd name="T13" fmla="*/ 29 h 31"/>
                  <a:gd name="T14" fmla="*/ 8 w 8"/>
                  <a:gd name="T15" fmla="*/ 28 h 31"/>
                  <a:gd name="T16" fmla="*/ 8 w 8"/>
                  <a:gd name="T17" fmla="*/ 28 h 31"/>
                  <a:gd name="T18" fmla="*/ 8 w 8"/>
                  <a:gd name="T19" fmla="*/ 3 h 31"/>
                  <a:gd name="T20" fmla="*/ 6 w 8"/>
                  <a:gd name="T21" fmla="*/ 2 h 31"/>
                  <a:gd name="T22" fmla="*/ 5 w 8"/>
                  <a:gd name="T23" fmla="*/ 1 h 31"/>
                  <a:gd name="T24" fmla="*/ 4 w 8"/>
                  <a:gd name="T25" fmla="*/ 0 h 31"/>
                  <a:gd name="T26" fmla="*/ 4 w 8"/>
                  <a:gd name="T27" fmla="*/ 0 h 31"/>
                  <a:gd name="T28" fmla="*/ 3 w 8"/>
                  <a:gd name="T29" fmla="*/ 1 h 31"/>
                  <a:gd name="T30" fmla="*/ 1 w 8"/>
                  <a:gd name="T31" fmla="*/ 2 h 31"/>
                  <a:gd name="T32" fmla="*/ 0 w 8"/>
                  <a:gd name="T33" fmla="*/ 3 h 31"/>
                  <a:gd name="T34" fmla="*/ 0 w 8"/>
                  <a:gd name="T35" fmla="*/ 4 h 31"/>
                  <a:gd name="T36" fmla="*/ 0 w 8"/>
                  <a:gd name="T37" fmla="*/ 29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1"/>
                  <a:gd name="T59" fmla="*/ 8 w 8"/>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1">
                    <a:moveTo>
                      <a:pt x="0" y="29"/>
                    </a:moveTo>
                    <a:lnTo>
                      <a:pt x="1" y="29"/>
                    </a:lnTo>
                    <a:lnTo>
                      <a:pt x="3" y="30"/>
                    </a:lnTo>
                    <a:lnTo>
                      <a:pt x="4" y="31"/>
                    </a:lnTo>
                    <a:lnTo>
                      <a:pt x="5" y="30"/>
                    </a:lnTo>
                    <a:lnTo>
                      <a:pt x="6" y="29"/>
                    </a:lnTo>
                    <a:lnTo>
                      <a:pt x="8" y="28"/>
                    </a:lnTo>
                    <a:lnTo>
                      <a:pt x="8" y="3"/>
                    </a:lnTo>
                    <a:lnTo>
                      <a:pt x="6" y="2"/>
                    </a:lnTo>
                    <a:lnTo>
                      <a:pt x="5" y="1"/>
                    </a:lnTo>
                    <a:lnTo>
                      <a:pt x="4" y="0"/>
                    </a:lnTo>
                    <a:lnTo>
                      <a:pt x="3" y="1"/>
                    </a:lnTo>
                    <a:lnTo>
                      <a:pt x="1" y="2"/>
                    </a:lnTo>
                    <a:lnTo>
                      <a:pt x="0" y="3"/>
                    </a:lnTo>
                    <a:lnTo>
                      <a:pt x="0" y="4"/>
                    </a:lnTo>
                    <a:lnTo>
                      <a:pt x="0" y="29"/>
                    </a:lnTo>
                    <a:close/>
                  </a:path>
                </a:pathLst>
              </a:custGeom>
              <a:solidFill>
                <a:srgbClr val="000000"/>
              </a:solidFill>
              <a:ln w="9525">
                <a:noFill/>
                <a:round/>
              </a:ln>
            </p:spPr>
            <p:txBody>
              <a:bodyPr/>
              <a:lstStyle/>
              <a:p>
                <a:endParaRPr lang="zh-CN" altLang="en-US"/>
              </a:p>
            </p:txBody>
          </p:sp>
          <p:sp>
            <p:nvSpPr>
              <p:cNvPr id="62542" name="Freeform 189"/>
              <p:cNvSpPr/>
              <p:nvPr/>
            </p:nvSpPr>
            <p:spPr bwMode="auto">
              <a:xfrm>
                <a:off x="4332" y="3025"/>
                <a:ext cx="8" cy="31"/>
              </a:xfrm>
              <a:custGeom>
                <a:avLst/>
                <a:gdLst>
                  <a:gd name="T0" fmla="*/ 0 w 8"/>
                  <a:gd name="T1" fmla="*/ 29 h 31"/>
                  <a:gd name="T2" fmla="*/ 1 w 8"/>
                  <a:gd name="T3" fmla="*/ 29 h 31"/>
                  <a:gd name="T4" fmla="*/ 3 w 8"/>
                  <a:gd name="T5" fmla="*/ 30 h 31"/>
                  <a:gd name="T6" fmla="*/ 4 w 8"/>
                  <a:gd name="T7" fmla="*/ 31 h 31"/>
                  <a:gd name="T8" fmla="*/ 4 w 8"/>
                  <a:gd name="T9" fmla="*/ 31 h 31"/>
                  <a:gd name="T10" fmla="*/ 5 w 8"/>
                  <a:gd name="T11" fmla="*/ 30 h 31"/>
                  <a:gd name="T12" fmla="*/ 6 w 8"/>
                  <a:gd name="T13" fmla="*/ 29 h 31"/>
                  <a:gd name="T14" fmla="*/ 8 w 8"/>
                  <a:gd name="T15" fmla="*/ 28 h 31"/>
                  <a:gd name="T16" fmla="*/ 8 w 8"/>
                  <a:gd name="T17" fmla="*/ 28 h 31"/>
                  <a:gd name="T18" fmla="*/ 8 w 8"/>
                  <a:gd name="T19" fmla="*/ 3 h 31"/>
                  <a:gd name="T20" fmla="*/ 6 w 8"/>
                  <a:gd name="T21" fmla="*/ 2 h 31"/>
                  <a:gd name="T22" fmla="*/ 5 w 8"/>
                  <a:gd name="T23" fmla="*/ 1 h 31"/>
                  <a:gd name="T24" fmla="*/ 4 w 8"/>
                  <a:gd name="T25" fmla="*/ 0 h 31"/>
                  <a:gd name="T26" fmla="*/ 4 w 8"/>
                  <a:gd name="T27" fmla="*/ 0 h 31"/>
                  <a:gd name="T28" fmla="*/ 3 w 8"/>
                  <a:gd name="T29" fmla="*/ 1 h 31"/>
                  <a:gd name="T30" fmla="*/ 1 w 8"/>
                  <a:gd name="T31" fmla="*/ 2 h 31"/>
                  <a:gd name="T32" fmla="*/ 0 w 8"/>
                  <a:gd name="T33" fmla="*/ 3 h 31"/>
                  <a:gd name="T34" fmla="*/ 0 w 8"/>
                  <a:gd name="T35" fmla="*/ 4 h 31"/>
                  <a:gd name="T36" fmla="*/ 0 w 8"/>
                  <a:gd name="T37" fmla="*/ 29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1"/>
                  <a:gd name="T59" fmla="*/ 8 w 8"/>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1">
                    <a:moveTo>
                      <a:pt x="0" y="29"/>
                    </a:moveTo>
                    <a:lnTo>
                      <a:pt x="1" y="29"/>
                    </a:lnTo>
                    <a:lnTo>
                      <a:pt x="3" y="30"/>
                    </a:lnTo>
                    <a:lnTo>
                      <a:pt x="4" y="31"/>
                    </a:lnTo>
                    <a:lnTo>
                      <a:pt x="5" y="30"/>
                    </a:lnTo>
                    <a:lnTo>
                      <a:pt x="6" y="29"/>
                    </a:lnTo>
                    <a:lnTo>
                      <a:pt x="8" y="28"/>
                    </a:lnTo>
                    <a:lnTo>
                      <a:pt x="8" y="3"/>
                    </a:lnTo>
                    <a:lnTo>
                      <a:pt x="6" y="2"/>
                    </a:lnTo>
                    <a:lnTo>
                      <a:pt x="5" y="1"/>
                    </a:lnTo>
                    <a:lnTo>
                      <a:pt x="4" y="0"/>
                    </a:lnTo>
                    <a:lnTo>
                      <a:pt x="3" y="1"/>
                    </a:lnTo>
                    <a:lnTo>
                      <a:pt x="1" y="2"/>
                    </a:lnTo>
                    <a:lnTo>
                      <a:pt x="0" y="3"/>
                    </a:lnTo>
                    <a:lnTo>
                      <a:pt x="0" y="4"/>
                    </a:lnTo>
                    <a:lnTo>
                      <a:pt x="0" y="29"/>
                    </a:lnTo>
                    <a:close/>
                  </a:path>
                </a:pathLst>
              </a:custGeom>
              <a:solidFill>
                <a:srgbClr val="000000"/>
              </a:solidFill>
              <a:ln w="9525">
                <a:noFill/>
                <a:round/>
              </a:ln>
            </p:spPr>
            <p:txBody>
              <a:bodyPr/>
              <a:lstStyle/>
              <a:p>
                <a:endParaRPr lang="zh-CN" altLang="en-US"/>
              </a:p>
            </p:txBody>
          </p:sp>
          <p:sp>
            <p:nvSpPr>
              <p:cNvPr id="62543" name="Freeform 190"/>
              <p:cNvSpPr/>
              <p:nvPr/>
            </p:nvSpPr>
            <p:spPr bwMode="auto">
              <a:xfrm>
                <a:off x="4332" y="2981"/>
                <a:ext cx="8" cy="31"/>
              </a:xfrm>
              <a:custGeom>
                <a:avLst/>
                <a:gdLst>
                  <a:gd name="T0" fmla="*/ 0 w 8"/>
                  <a:gd name="T1" fmla="*/ 29 h 31"/>
                  <a:gd name="T2" fmla="*/ 1 w 8"/>
                  <a:gd name="T3" fmla="*/ 29 h 31"/>
                  <a:gd name="T4" fmla="*/ 3 w 8"/>
                  <a:gd name="T5" fmla="*/ 30 h 31"/>
                  <a:gd name="T6" fmla="*/ 4 w 8"/>
                  <a:gd name="T7" fmla="*/ 31 h 31"/>
                  <a:gd name="T8" fmla="*/ 4 w 8"/>
                  <a:gd name="T9" fmla="*/ 31 h 31"/>
                  <a:gd name="T10" fmla="*/ 5 w 8"/>
                  <a:gd name="T11" fmla="*/ 30 h 31"/>
                  <a:gd name="T12" fmla="*/ 6 w 8"/>
                  <a:gd name="T13" fmla="*/ 29 h 31"/>
                  <a:gd name="T14" fmla="*/ 8 w 8"/>
                  <a:gd name="T15" fmla="*/ 28 h 31"/>
                  <a:gd name="T16" fmla="*/ 8 w 8"/>
                  <a:gd name="T17" fmla="*/ 28 h 31"/>
                  <a:gd name="T18" fmla="*/ 8 w 8"/>
                  <a:gd name="T19" fmla="*/ 3 h 31"/>
                  <a:gd name="T20" fmla="*/ 6 w 8"/>
                  <a:gd name="T21" fmla="*/ 2 h 31"/>
                  <a:gd name="T22" fmla="*/ 5 w 8"/>
                  <a:gd name="T23" fmla="*/ 1 h 31"/>
                  <a:gd name="T24" fmla="*/ 4 w 8"/>
                  <a:gd name="T25" fmla="*/ 0 h 31"/>
                  <a:gd name="T26" fmla="*/ 4 w 8"/>
                  <a:gd name="T27" fmla="*/ 0 h 31"/>
                  <a:gd name="T28" fmla="*/ 3 w 8"/>
                  <a:gd name="T29" fmla="*/ 1 h 31"/>
                  <a:gd name="T30" fmla="*/ 1 w 8"/>
                  <a:gd name="T31" fmla="*/ 2 h 31"/>
                  <a:gd name="T32" fmla="*/ 0 w 8"/>
                  <a:gd name="T33" fmla="*/ 3 h 31"/>
                  <a:gd name="T34" fmla="*/ 0 w 8"/>
                  <a:gd name="T35" fmla="*/ 4 h 31"/>
                  <a:gd name="T36" fmla="*/ 0 w 8"/>
                  <a:gd name="T37" fmla="*/ 29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1"/>
                  <a:gd name="T59" fmla="*/ 8 w 8"/>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1">
                    <a:moveTo>
                      <a:pt x="0" y="29"/>
                    </a:moveTo>
                    <a:lnTo>
                      <a:pt x="1" y="29"/>
                    </a:lnTo>
                    <a:lnTo>
                      <a:pt x="3" y="30"/>
                    </a:lnTo>
                    <a:lnTo>
                      <a:pt x="4" y="31"/>
                    </a:lnTo>
                    <a:lnTo>
                      <a:pt x="5" y="30"/>
                    </a:lnTo>
                    <a:lnTo>
                      <a:pt x="6" y="29"/>
                    </a:lnTo>
                    <a:lnTo>
                      <a:pt x="8" y="28"/>
                    </a:lnTo>
                    <a:lnTo>
                      <a:pt x="8" y="3"/>
                    </a:lnTo>
                    <a:lnTo>
                      <a:pt x="6" y="2"/>
                    </a:lnTo>
                    <a:lnTo>
                      <a:pt x="5" y="1"/>
                    </a:lnTo>
                    <a:lnTo>
                      <a:pt x="4" y="0"/>
                    </a:lnTo>
                    <a:lnTo>
                      <a:pt x="3" y="1"/>
                    </a:lnTo>
                    <a:lnTo>
                      <a:pt x="1" y="2"/>
                    </a:lnTo>
                    <a:lnTo>
                      <a:pt x="0" y="3"/>
                    </a:lnTo>
                    <a:lnTo>
                      <a:pt x="0" y="4"/>
                    </a:lnTo>
                    <a:lnTo>
                      <a:pt x="0" y="29"/>
                    </a:lnTo>
                    <a:close/>
                  </a:path>
                </a:pathLst>
              </a:custGeom>
              <a:solidFill>
                <a:srgbClr val="000000"/>
              </a:solidFill>
              <a:ln w="9525">
                <a:noFill/>
                <a:round/>
              </a:ln>
            </p:spPr>
            <p:txBody>
              <a:bodyPr/>
              <a:lstStyle/>
              <a:p>
                <a:endParaRPr lang="zh-CN" altLang="en-US"/>
              </a:p>
            </p:txBody>
          </p:sp>
        </p:grpSp>
        <p:sp>
          <p:nvSpPr>
            <p:cNvPr id="62531" name="Line 191"/>
            <p:cNvSpPr>
              <a:spLocks noChangeShapeType="1"/>
            </p:cNvSpPr>
            <p:nvPr/>
          </p:nvSpPr>
          <p:spPr bwMode="auto">
            <a:xfrm flipH="1">
              <a:off x="4687" y="2557"/>
              <a:ext cx="305" cy="375"/>
            </a:xfrm>
            <a:prstGeom prst="line">
              <a:avLst/>
            </a:prstGeom>
            <a:noFill/>
            <a:ln w="12700">
              <a:solidFill>
                <a:srgbClr val="000000"/>
              </a:solidFill>
              <a:round/>
            </a:ln>
          </p:spPr>
          <p:txBody>
            <a:bodyPr/>
            <a:lstStyle/>
            <a:p>
              <a:endParaRPr lang="zh-CN" altLang="en-US"/>
            </a:p>
          </p:txBody>
        </p:sp>
        <p:sp>
          <p:nvSpPr>
            <p:cNvPr id="62532" name="Line 192"/>
            <p:cNvSpPr>
              <a:spLocks noChangeShapeType="1"/>
            </p:cNvSpPr>
            <p:nvPr/>
          </p:nvSpPr>
          <p:spPr bwMode="auto">
            <a:xfrm flipH="1">
              <a:off x="4690" y="2855"/>
              <a:ext cx="304" cy="375"/>
            </a:xfrm>
            <a:prstGeom prst="line">
              <a:avLst/>
            </a:prstGeom>
            <a:noFill/>
            <a:ln w="12700">
              <a:solidFill>
                <a:srgbClr val="000000"/>
              </a:solidFill>
              <a:round/>
            </a:ln>
          </p:spPr>
          <p:txBody>
            <a:bodyPr/>
            <a:lstStyle/>
            <a:p>
              <a:endParaRPr lang="zh-CN" altLang="en-US"/>
            </a:p>
          </p:txBody>
        </p:sp>
        <p:sp>
          <p:nvSpPr>
            <p:cNvPr id="62533" name="Line 193"/>
            <p:cNvSpPr>
              <a:spLocks noChangeShapeType="1"/>
            </p:cNvSpPr>
            <p:nvPr/>
          </p:nvSpPr>
          <p:spPr bwMode="auto">
            <a:xfrm flipH="1">
              <a:off x="4687" y="2956"/>
              <a:ext cx="305" cy="375"/>
            </a:xfrm>
            <a:prstGeom prst="line">
              <a:avLst/>
            </a:prstGeom>
            <a:noFill/>
            <a:ln w="12700">
              <a:solidFill>
                <a:srgbClr val="000000"/>
              </a:solidFill>
              <a:round/>
            </a:ln>
          </p:spPr>
          <p:txBody>
            <a:bodyPr/>
            <a:lstStyle/>
            <a:p>
              <a:endParaRPr lang="zh-CN" altLang="en-US"/>
            </a:p>
          </p:txBody>
        </p:sp>
        <p:sp>
          <p:nvSpPr>
            <p:cNvPr id="62534" name="Line 194"/>
            <p:cNvSpPr>
              <a:spLocks noChangeShapeType="1"/>
            </p:cNvSpPr>
            <p:nvPr/>
          </p:nvSpPr>
          <p:spPr bwMode="auto">
            <a:xfrm flipH="1">
              <a:off x="4690" y="3055"/>
              <a:ext cx="304" cy="375"/>
            </a:xfrm>
            <a:prstGeom prst="line">
              <a:avLst/>
            </a:prstGeom>
            <a:noFill/>
            <a:ln w="12700">
              <a:solidFill>
                <a:srgbClr val="000000"/>
              </a:solidFill>
              <a:round/>
            </a:ln>
          </p:spPr>
          <p:txBody>
            <a:bodyPr/>
            <a:lstStyle/>
            <a:p>
              <a:endParaRPr lang="zh-CN" altLang="en-US"/>
            </a:p>
          </p:txBody>
        </p:sp>
        <p:sp>
          <p:nvSpPr>
            <p:cNvPr id="62535" name="Line 195"/>
            <p:cNvSpPr>
              <a:spLocks noChangeShapeType="1"/>
            </p:cNvSpPr>
            <p:nvPr/>
          </p:nvSpPr>
          <p:spPr bwMode="auto">
            <a:xfrm flipH="1">
              <a:off x="4687" y="3155"/>
              <a:ext cx="305" cy="375"/>
            </a:xfrm>
            <a:prstGeom prst="line">
              <a:avLst/>
            </a:prstGeom>
            <a:noFill/>
            <a:ln w="12700">
              <a:solidFill>
                <a:srgbClr val="000000"/>
              </a:solidFill>
              <a:round/>
            </a:ln>
          </p:spPr>
          <p:txBody>
            <a:bodyPr/>
            <a:lstStyle/>
            <a:p>
              <a:endParaRPr lang="zh-CN" altLang="en-US"/>
            </a:p>
          </p:txBody>
        </p:sp>
        <p:sp>
          <p:nvSpPr>
            <p:cNvPr id="62536" name="Line 196"/>
            <p:cNvSpPr>
              <a:spLocks noChangeShapeType="1"/>
            </p:cNvSpPr>
            <p:nvPr/>
          </p:nvSpPr>
          <p:spPr bwMode="auto">
            <a:xfrm>
              <a:off x="4993" y="2456"/>
              <a:ext cx="1" cy="698"/>
            </a:xfrm>
            <a:prstGeom prst="line">
              <a:avLst/>
            </a:prstGeom>
            <a:noFill/>
            <a:ln w="12700">
              <a:solidFill>
                <a:srgbClr val="000000"/>
              </a:solidFill>
              <a:round/>
            </a:ln>
          </p:spPr>
          <p:txBody>
            <a:bodyPr/>
            <a:lstStyle/>
            <a:p>
              <a:endParaRPr lang="zh-CN" altLang="en-US"/>
            </a:p>
          </p:txBody>
        </p:sp>
        <p:sp>
          <p:nvSpPr>
            <p:cNvPr id="62537" name="Line 197"/>
            <p:cNvSpPr>
              <a:spLocks noChangeShapeType="1"/>
            </p:cNvSpPr>
            <p:nvPr/>
          </p:nvSpPr>
          <p:spPr bwMode="auto">
            <a:xfrm flipH="1">
              <a:off x="4294" y="2455"/>
              <a:ext cx="696" cy="1"/>
            </a:xfrm>
            <a:prstGeom prst="line">
              <a:avLst/>
            </a:prstGeom>
            <a:noFill/>
            <a:ln w="12700">
              <a:solidFill>
                <a:srgbClr val="000000"/>
              </a:solidFill>
              <a:round/>
            </a:ln>
          </p:spPr>
          <p:txBody>
            <a:bodyPr/>
            <a:lstStyle/>
            <a:p>
              <a:endParaRPr lang="zh-CN" altLang="en-US"/>
            </a:p>
          </p:txBody>
        </p:sp>
        <p:sp>
          <p:nvSpPr>
            <p:cNvPr id="62538" name="Line 198"/>
            <p:cNvSpPr>
              <a:spLocks noChangeShapeType="1"/>
            </p:cNvSpPr>
            <p:nvPr/>
          </p:nvSpPr>
          <p:spPr bwMode="auto">
            <a:xfrm flipV="1">
              <a:off x="3990" y="2456"/>
              <a:ext cx="303" cy="368"/>
            </a:xfrm>
            <a:prstGeom prst="line">
              <a:avLst/>
            </a:prstGeom>
            <a:noFill/>
            <a:ln w="12700">
              <a:solidFill>
                <a:srgbClr val="000000"/>
              </a:solidFill>
              <a:round/>
            </a:ln>
          </p:spPr>
          <p:txBody>
            <a:bodyPr/>
            <a:lstStyle/>
            <a:p>
              <a:endParaRPr lang="zh-CN" altLang="en-US"/>
            </a:p>
          </p:txBody>
        </p:sp>
      </p:grpSp>
      <p:sp>
        <p:nvSpPr>
          <p:cNvPr id="62485" name="Rectangle 199"/>
          <p:cNvSpPr>
            <a:spLocks noChangeArrowheads="1"/>
          </p:cNvSpPr>
          <p:nvPr/>
        </p:nvSpPr>
        <p:spPr bwMode="auto">
          <a:xfrm>
            <a:off x="2284413" y="3882331"/>
            <a:ext cx="3493264" cy="307777"/>
          </a:xfrm>
          <a:prstGeom prst="rect">
            <a:avLst/>
          </a:prstGeom>
          <a:noFill/>
          <a:ln w="9525" algn="ctr">
            <a:noFill/>
            <a:miter lim="800000"/>
          </a:ln>
        </p:spPr>
        <p:txBody>
          <a:bodyPr wrap="none" anchor="ctr">
            <a:spAutoFit/>
          </a:bodyPr>
          <a:lstStyle/>
          <a:p>
            <a:r>
              <a:rPr lang="zh-CN" altLang="en-US" sz="1400" b="1">
                <a:latin typeface="Times New Roman" panose="02020603050405020304" pitchFamily="18" charset="0"/>
              </a:rPr>
              <a:t>图</a:t>
            </a:r>
            <a:r>
              <a:rPr lang="en-US" altLang="zh-CN" sz="1400" b="1">
                <a:latin typeface="Times New Roman" panose="02020603050405020304" pitchFamily="18" charset="0"/>
              </a:rPr>
              <a:t>5</a:t>
            </a:r>
            <a:r>
              <a:rPr lang="zh-CN" altLang="en-US" sz="1400" b="1">
                <a:latin typeface="Times New Roman" panose="02020603050405020304" pitchFamily="18" charset="0"/>
              </a:rPr>
              <a:t>－</a:t>
            </a:r>
            <a:r>
              <a:rPr lang="en-US" altLang="zh-CN" sz="1400" b="1">
                <a:latin typeface="Times New Roman" panose="02020603050405020304" pitchFamily="18" charset="0"/>
              </a:rPr>
              <a:t>5 FDMA</a:t>
            </a:r>
            <a:r>
              <a:rPr lang="zh-CN" altLang="en-US" sz="1400" b="1">
                <a:latin typeface="Times New Roman" panose="02020603050405020304" pitchFamily="18" charset="0"/>
              </a:rPr>
              <a:t>、</a:t>
            </a:r>
            <a:r>
              <a:rPr lang="en-US" altLang="zh-CN" sz="1400" b="1">
                <a:latin typeface="Times New Roman" panose="02020603050405020304" pitchFamily="18" charset="0"/>
              </a:rPr>
              <a:t>TDMA</a:t>
            </a:r>
            <a:r>
              <a:rPr lang="zh-CN" altLang="en-US" sz="1400" b="1">
                <a:latin typeface="Times New Roman" panose="02020603050405020304" pitchFamily="18" charset="0"/>
              </a:rPr>
              <a:t>、</a:t>
            </a:r>
            <a:r>
              <a:rPr lang="en-US" altLang="zh-CN" sz="1400" b="1">
                <a:latin typeface="Times New Roman" panose="02020603050405020304" pitchFamily="18" charset="0"/>
              </a:rPr>
              <a:t>CDMA</a:t>
            </a:r>
            <a:r>
              <a:rPr lang="zh-CN" altLang="en-US" sz="1400" b="1">
                <a:latin typeface="Times New Roman" panose="02020603050405020304" pitchFamily="18" charset="0"/>
              </a:rPr>
              <a:t>的示意图</a:t>
            </a:r>
            <a:endParaRPr lang="zh-CN" altLang="en-US" sz="1400" b="1">
              <a:latin typeface="Times New Roman" panose="02020603050405020304" pitchFamily="18" charset="0"/>
            </a:endParaRPr>
          </a:p>
        </p:txBody>
      </p:sp>
      <p:sp>
        <p:nvSpPr>
          <p:cNvPr id="83144" name="Rectangle 200"/>
          <p:cNvSpPr>
            <a:spLocks noChangeArrowheads="1"/>
          </p:cNvSpPr>
          <p:nvPr/>
        </p:nvSpPr>
        <p:spPr bwMode="auto">
          <a:xfrm>
            <a:off x="1722438" y="2249984"/>
            <a:ext cx="758285" cy="307777"/>
          </a:xfrm>
          <a:prstGeom prst="rect">
            <a:avLst/>
          </a:prstGeom>
          <a:noFill/>
          <a:ln w="9525" algn="ctr">
            <a:noFill/>
            <a:miter lim="800000"/>
          </a:ln>
          <a:effectLst/>
        </p:spPr>
        <p:txBody>
          <a:bodyPr wrap="none" anchor="ctr">
            <a:spAutoFit/>
          </a:bodyPr>
          <a:lstStyle/>
          <a:p>
            <a:pPr>
              <a:defRPr/>
            </a:pPr>
            <a:r>
              <a:rPr lang="en-US" altLang="zh-CN" sz="1400" b="1">
                <a:latin typeface="Times New Roman" panose="02020603050405020304" pitchFamily="18" charset="0"/>
              </a:rPr>
              <a:t>FDMA</a:t>
            </a:r>
            <a:r>
              <a:rPr lang="en-US" altLang="zh-CN" sz="1400" b="1">
                <a:effectLst>
                  <a:outerShdw blurRad="38100" dist="38100" dir="2700000" algn="tl">
                    <a:srgbClr val="C0C0C0"/>
                  </a:outerShdw>
                </a:effectLst>
                <a:latin typeface="Times New Roman" panose="02020603050405020304" pitchFamily="18" charset="0"/>
              </a:rPr>
              <a:t> </a:t>
            </a:r>
            <a:endParaRPr lang="en-US" altLang="zh-CN" sz="1400" b="1">
              <a:effectLst>
                <a:outerShdw blurRad="38100" dist="38100" dir="2700000" algn="tl">
                  <a:srgbClr val="C0C0C0"/>
                </a:outerShdw>
              </a:effectLst>
              <a:latin typeface="Times New Roman" panose="02020603050405020304" pitchFamily="18" charset="0"/>
            </a:endParaRPr>
          </a:p>
        </p:txBody>
      </p:sp>
      <p:sp>
        <p:nvSpPr>
          <p:cNvPr id="83145" name="Rectangle 201"/>
          <p:cNvSpPr>
            <a:spLocks noChangeArrowheads="1"/>
          </p:cNvSpPr>
          <p:nvPr/>
        </p:nvSpPr>
        <p:spPr bwMode="auto">
          <a:xfrm>
            <a:off x="4643438" y="2154734"/>
            <a:ext cx="769506" cy="307777"/>
          </a:xfrm>
          <a:prstGeom prst="rect">
            <a:avLst/>
          </a:prstGeom>
          <a:noFill/>
          <a:ln w="9525" algn="ctr">
            <a:noFill/>
            <a:miter lim="800000"/>
          </a:ln>
          <a:effectLst/>
        </p:spPr>
        <p:txBody>
          <a:bodyPr wrap="none" anchor="ctr">
            <a:spAutoFit/>
          </a:bodyPr>
          <a:lstStyle/>
          <a:p>
            <a:pPr>
              <a:defRPr/>
            </a:pPr>
            <a:r>
              <a:rPr lang="en-US" altLang="zh-CN" sz="1400" b="1">
                <a:latin typeface="Times New Roman" panose="02020603050405020304" pitchFamily="18" charset="0"/>
              </a:rPr>
              <a:t>TDMA</a:t>
            </a:r>
            <a:r>
              <a:rPr lang="en-US" altLang="zh-CN" sz="1400" b="1">
                <a:effectLst>
                  <a:outerShdw blurRad="38100" dist="38100" dir="2700000" algn="tl">
                    <a:srgbClr val="C0C0C0"/>
                  </a:outerShdw>
                </a:effectLst>
                <a:latin typeface="Times New Roman" panose="02020603050405020304" pitchFamily="18" charset="0"/>
              </a:rPr>
              <a:t> </a:t>
            </a:r>
            <a:endParaRPr lang="en-US" altLang="zh-CN" sz="1400" b="1">
              <a:effectLst>
                <a:outerShdw blurRad="38100" dist="38100" dir="2700000" algn="tl">
                  <a:srgbClr val="C0C0C0"/>
                </a:outerShdw>
              </a:effectLst>
              <a:latin typeface="Times New Roman" panose="02020603050405020304" pitchFamily="18" charset="0"/>
            </a:endParaRPr>
          </a:p>
        </p:txBody>
      </p:sp>
      <p:sp>
        <p:nvSpPr>
          <p:cNvPr id="83146" name="Rectangle 202"/>
          <p:cNvSpPr>
            <a:spLocks noChangeArrowheads="1"/>
          </p:cNvSpPr>
          <p:nvPr/>
        </p:nvSpPr>
        <p:spPr bwMode="auto">
          <a:xfrm>
            <a:off x="6948489" y="2141637"/>
            <a:ext cx="779124" cy="307777"/>
          </a:xfrm>
          <a:prstGeom prst="rect">
            <a:avLst/>
          </a:prstGeom>
          <a:noFill/>
          <a:ln w="9525" algn="ctr">
            <a:noFill/>
            <a:miter lim="800000"/>
          </a:ln>
          <a:effectLst/>
        </p:spPr>
        <p:txBody>
          <a:bodyPr wrap="none" anchor="ctr">
            <a:spAutoFit/>
          </a:bodyPr>
          <a:lstStyle/>
          <a:p>
            <a:pPr>
              <a:defRPr/>
            </a:pPr>
            <a:r>
              <a:rPr lang="en-US" altLang="zh-CN" sz="1400" b="1">
                <a:latin typeface="Times New Roman" panose="02020603050405020304" pitchFamily="18" charset="0"/>
              </a:rPr>
              <a:t>CDMA</a:t>
            </a:r>
            <a:r>
              <a:rPr lang="en-US" altLang="zh-CN" sz="1400" b="1">
                <a:effectLst>
                  <a:outerShdw blurRad="38100" dist="38100" dir="2700000" algn="tl">
                    <a:srgbClr val="C0C0C0"/>
                  </a:outerShdw>
                </a:effectLst>
                <a:latin typeface="Times New Roman" panose="02020603050405020304" pitchFamily="18" charset="0"/>
              </a:rPr>
              <a:t> </a:t>
            </a:r>
            <a:endParaRPr lang="en-US" altLang="zh-CN" sz="1400" b="1">
              <a:effectLst>
                <a:outerShdw blurRad="38100" dist="38100" dir="2700000" algn="tl">
                  <a:srgbClr val="C0C0C0"/>
                </a:outerShdw>
              </a:effectLst>
              <a:latin typeface="Times New Roman" panose="02020603050405020304" pitchFamily="18" charset="0"/>
            </a:endParaRPr>
          </a:p>
        </p:txBody>
      </p:sp>
      <p:sp>
        <p:nvSpPr>
          <p:cNvPr id="83147" name="Rectangle 203"/>
          <p:cNvSpPr>
            <a:spLocks noChangeArrowheads="1"/>
          </p:cNvSpPr>
          <p:nvPr/>
        </p:nvSpPr>
        <p:spPr bwMode="auto">
          <a:xfrm>
            <a:off x="323850" y="1419226"/>
            <a:ext cx="607859" cy="387798"/>
          </a:xfrm>
          <a:prstGeom prst="rect">
            <a:avLst/>
          </a:prstGeom>
          <a:noFill/>
          <a:ln w="9525" algn="ctr">
            <a:noFill/>
            <a:miter lim="800000"/>
          </a:ln>
          <a:effectLst/>
        </p:spPr>
        <p:txBody>
          <a:bodyPr wrap="none">
            <a:spAutoFit/>
          </a:bodyPr>
          <a:lstStyle/>
          <a:p>
            <a:pPr marL="342900" indent="-342900">
              <a:lnSpc>
                <a:spcPct val="80000"/>
              </a:lnSpc>
              <a:spcBef>
                <a:spcPct val="20000"/>
              </a:spcBef>
              <a:buClr>
                <a:schemeClr val="hlink"/>
              </a:buClr>
              <a:buFontTx/>
              <a:buBlip>
                <a:blip r:embed="rId2"/>
              </a:buBlip>
              <a:defRPr/>
            </a:pPr>
            <a:r>
              <a:rPr lang="en-US" altLang="zh-CN" sz="2400" b="1">
                <a:effectLst>
                  <a:outerShdw blurRad="38100" dist="38100" dir="2700000" algn="tl">
                    <a:srgbClr val="C0C0C0"/>
                  </a:outerShdw>
                </a:effectLst>
                <a:latin typeface="Times New Roman" panose="02020603050405020304" pitchFamily="18" charset="0"/>
              </a:rPr>
              <a:t> </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182" name="Rectangle 2"/>
          <p:cNvSpPr txBox="1"/>
          <p:nvPr/>
        </p:nvSpPr>
        <p:spPr>
          <a:xfrm>
            <a:off x="900311" y="141710"/>
            <a:ext cx="5039841"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84" name="图片 183"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83148"/>
                                        </p:tgtEl>
                                        <p:attrNameLst>
                                          <p:attrName>style.visibility</p:attrName>
                                        </p:attrNameLst>
                                      </p:cBhvr>
                                      <p:to>
                                        <p:strVal val="visible"/>
                                      </p:to>
                                    </p:set>
                                    <p:animEffect transition="in" filter="strips(downRight)">
                                      <p:cBhvr>
                                        <p:cTn id="7" dur="500"/>
                                        <p:tgtEl>
                                          <p:spTgt spid="83148"/>
                                        </p:tgtEl>
                                      </p:cBhvr>
                                    </p:animEffect>
                                  </p:childTnLst>
                                </p:cTn>
                              </p:par>
                            </p:childTnLst>
                          </p:cTn>
                        </p:par>
                        <p:par>
                          <p:cTn id="8" fill="hold">
                            <p:stCondLst>
                              <p:cond delay="500"/>
                            </p:stCondLst>
                            <p:childTnLst>
                              <p:par>
                                <p:cTn id="9" presetID="21"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8)">
                                      <p:cBhvr>
                                        <p:cTn id="11" dur="500"/>
                                        <p:tgtEl>
                                          <p:spTgt spid="2"/>
                                        </p:tgtEl>
                                      </p:cBhvr>
                                    </p:animEffect>
                                  </p:childTnLst>
                                </p:cTn>
                              </p:par>
                              <p:par>
                                <p:cTn id="12" presetID="21"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heel(8)">
                                      <p:cBhvr>
                                        <p:cTn id="14" dur="500"/>
                                        <p:tgtEl>
                                          <p:spTgt spid="13"/>
                                        </p:tgtEl>
                                      </p:cBhvr>
                                    </p:animEffect>
                                  </p:childTnLst>
                                </p:cTn>
                              </p:par>
                              <p:par>
                                <p:cTn id="15" presetID="21" presetClass="entr" presetSubtype="8"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heel(8)">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页脚占位符 3"/>
          <p:cNvSpPr>
            <a:spLocks noGrp="1"/>
          </p:cNvSpPr>
          <p:nvPr>
            <p:ph type="ftr" sz="quarter" idx="10"/>
          </p:nvPr>
        </p:nvSpPr>
        <p:spPr/>
        <p:txBody>
          <a:bodyPr/>
          <a:lstStyle/>
          <a:p>
            <a:pPr>
              <a:defRPr/>
            </a:pPr>
            <a:r>
              <a:rPr lang="en-US" altLang="zh-CN"/>
              <a:t>Principle of Mobile Communication</a:t>
            </a:r>
            <a:endParaRPr lang="en-US" altLang="zh-CN"/>
          </a:p>
        </p:txBody>
      </p:sp>
      <p:pic>
        <p:nvPicPr>
          <p:cNvPr id="20" name="图片 1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21"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22" name="图片 2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23" name="TextBox 22"/>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1. </a:t>
            </a:r>
            <a:r>
              <a:rPr lang="zh-CN" altLang="en-US" sz="2200" b="1" dirty="0" smtClean="0">
                <a:solidFill>
                  <a:srgbClr val="FFFF00"/>
                </a:solidFill>
              </a:rPr>
              <a:t>频分多址方式 </a:t>
            </a:r>
            <a:endParaRPr lang="zh-CN" altLang="en-US" sz="2200" b="1" dirty="0">
              <a:solidFill>
                <a:srgbClr val="FFFF00"/>
              </a:solidFill>
            </a:endParaRPr>
          </a:p>
        </p:txBody>
      </p:sp>
      <p:sp>
        <p:nvSpPr>
          <p:cNvPr id="24" name="Rectangle 3"/>
          <p:cNvSpPr txBox="1">
            <a:spLocks noChangeArrowheads="1"/>
          </p:cNvSpPr>
          <p:nvPr/>
        </p:nvSpPr>
        <p:spPr>
          <a:xfrm>
            <a:off x="323850" y="897731"/>
            <a:ext cx="8604250" cy="3086100"/>
          </a:xfrm>
          <a:prstGeom prst="rect">
            <a:avLst/>
          </a:prstGeom>
          <a:noFill/>
          <a:ln w="9525">
            <a:noFill/>
          </a:ln>
        </p:spPr>
        <p:txBody>
          <a:bodyPr lIns="92075" tIns="46038" rIns="92075" bIns="46038"/>
          <a:lstStyle/>
          <a:p>
            <a:pPr marL="257175" marR="0" lvl="0" indent="-257175" algn="just" defTabSz="914400" rtl="0" eaLnBrk="1" fontAlgn="base" latinLnBrk="0" hangingPunct="1">
              <a:lnSpc>
                <a:spcPct val="130000"/>
              </a:lnSpc>
              <a:spcBef>
                <a:spcPct val="15000"/>
              </a:spcBef>
              <a:spcAft>
                <a:spcPct val="0"/>
              </a:spcAft>
              <a:buClr>
                <a:schemeClr val="hlink"/>
              </a:buClr>
              <a:buSzTx/>
              <a:buFont typeface="Wingdings" panose="05000000000000000000" pitchFamily="2" charset="2"/>
              <a:buBlip>
                <a:blip r:embed="rId2"/>
              </a:buBlip>
              <a:defRPr/>
            </a:pPr>
            <a:r>
              <a:rPr kumimoji="0" lang="zh-CN" altLang="en-US"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rPr>
              <a:t>每个用户分配一个信道，即一对频谱</a:t>
            </a:r>
            <a:endParaRPr kumimoji="0" lang="zh-CN" altLang="en-US"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endParaRPr>
          </a:p>
          <a:p>
            <a:pPr marL="557530" marR="0" lvl="1" indent="-214630" algn="just" defTabSz="914400" rtl="0" eaLnBrk="1" fontAlgn="base" latinLnBrk="0" hangingPunct="1">
              <a:lnSpc>
                <a:spcPct val="130000"/>
              </a:lnSpc>
              <a:spcBef>
                <a:spcPct val="15000"/>
              </a:spcBef>
              <a:spcAft>
                <a:spcPct val="0"/>
              </a:spcAft>
              <a:buClr>
                <a:schemeClr val="accent1"/>
              </a:buClr>
              <a:buSzTx/>
              <a:buFont typeface="Wingdings" panose="05000000000000000000" pitchFamily="2" charset="2"/>
              <a:buBlip>
                <a:blip r:embed="rId3"/>
              </a:buBlip>
              <a:defRPr/>
            </a:pPr>
            <a:r>
              <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rPr>
              <a:t>较高的频谱用作前向信道即基站向移动台方向的信道</a:t>
            </a:r>
            <a:endPar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endParaRPr>
          </a:p>
          <a:p>
            <a:pPr marL="557530" marR="0" lvl="1" indent="-214630" algn="just" defTabSz="914400" rtl="0" eaLnBrk="1" fontAlgn="base" latinLnBrk="0" hangingPunct="1">
              <a:lnSpc>
                <a:spcPct val="130000"/>
              </a:lnSpc>
              <a:spcBef>
                <a:spcPct val="15000"/>
              </a:spcBef>
              <a:spcAft>
                <a:spcPct val="0"/>
              </a:spcAft>
              <a:buClr>
                <a:schemeClr val="accent1"/>
              </a:buClr>
              <a:buSzTx/>
              <a:buFont typeface="Wingdings" panose="05000000000000000000" pitchFamily="2" charset="2"/>
              <a:buBlip>
                <a:blip r:embed="rId3"/>
              </a:buBlip>
              <a:defRPr/>
            </a:pPr>
            <a:r>
              <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rPr>
              <a:t>较低的频谱用作反向信道即移动台向基站方向的信道</a:t>
            </a:r>
            <a:endPar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endParaRPr>
          </a:p>
          <a:p>
            <a:pPr marL="257175" marR="0" lvl="0" indent="-257175" algn="just" defTabSz="914400" rtl="0" eaLnBrk="1" fontAlgn="base" latinLnBrk="0" hangingPunct="1">
              <a:lnSpc>
                <a:spcPct val="130000"/>
              </a:lnSpc>
              <a:spcBef>
                <a:spcPct val="15000"/>
              </a:spcBef>
              <a:spcAft>
                <a:spcPct val="0"/>
              </a:spcAft>
              <a:buClr>
                <a:schemeClr val="hlink"/>
              </a:buClr>
              <a:buSzTx/>
              <a:buFont typeface="Wingdings" panose="05000000000000000000" pitchFamily="2" charset="2"/>
              <a:buBlip>
                <a:blip r:embed="rId2"/>
              </a:buBlip>
              <a:defRPr/>
            </a:pPr>
            <a:r>
              <a:rPr kumimoji="0" lang="zh-CN" altLang="en-US"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rPr>
              <a:t>必须同时占用</a:t>
            </a:r>
            <a:r>
              <a:rPr kumimoji="0" lang="en-US" altLang="zh-CN"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rPr>
              <a:t>2</a:t>
            </a:r>
            <a:r>
              <a:rPr kumimoji="0" lang="zh-CN" altLang="en-US"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rPr>
              <a:t>个信道（</a:t>
            </a:r>
            <a:r>
              <a:rPr kumimoji="0" lang="en-US" altLang="zh-CN"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rPr>
              <a:t>2</a:t>
            </a:r>
            <a:r>
              <a:rPr kumimoji="0" lang="zh-CN" altLang="en-US"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rPr>
              <a:t>对频谱）才能实现双工通信</a:t>
            </a:r>
            <a:endParaRPr kumimoji="0" lang="zh-CN" altLang="en-US" sz="2200" b="0" i="0" u="none" strike="noStrike" kern="0" cap="none" spc="0" normalizeH="0" baseline="0" noProof="0" smtClean="0">
              <a:ln>
                <a:noFill/>
              </a:ln>
              <a:solidFill>
                <a:srgbClr val="003300"/>
              </a:solidFill>
              <a:effectLst/>
              <a:uLnTx/>
              <a:uFillTx/>
              <a:latin typeface="宋体" panose="02010600030101010101" pitchFamily="2" charset="-122"/>
              <a:cs typeface="宋体" panose="02010600030101010101" pitchFamily="2" charset="-122"/>
            </a:endParaRPr>
          </a:p>
          <a:p>
            <a:pPr marL="557530" marR="0" lvl="1" indent="-214630" algn="just" defTabSz="914400" rtl="0" eaLnBrk="1" fontAlgn="base" latinLnBrk="0" hangingPunct="1">
              <a:lnSpc>
                <a:spcPct val="130000"/>
              </a:lnSpc>
              <a:spcBef>
                <a:spcPct val="15000"/>
              </a:spcBef>
              <a:spcAft>
                <a:spcPct val="0"/>
              </a:spcAft>
              <a:buClr>
                <a:schemeClr val="accent1"/>
              </a:buClr>
              <a:buSzTx/>
              <a:buFont typeface="Wingdings" panose="05000000000000000000" pitchFamily="2" charset="2"/>
              <a:buBlip>
                <a:blip r:embed="rId3"/>
              </a:buBlip>
              <a:defRPr/>
            </a:pPr>
            <a:r>
              <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rPr>
              <a:t>基站必须同时发射和接收多个不同频率的信号</a:t>
            </a:r>
            <a:endPar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endParaRPr>
          </a:p>
          <a:p>
            <a:pPr marL="557530" marR="0" lvl="1" indent="-214630" algn="just" defTabSz="914400" rtl="0" eaLnBrk="1" fontAlgn="base" latinLnBrk="0" hangingPunct="1">
              <a:lnSpc>
                <a:spcPct val="130000"/>
              </a:lnSpc>
              <a:spcBef>
                <a:spcPct val="15000"/>
              </a:spcBef>
              <a:spcAft>
                <a:spcPct val="0"/>
              </a:spcAft>
              <a:buClr>
                <a:schemeClr val="accent1"/>
              </a:buClr>
              <a:buSzTx/>
              <a:buFont typeface="Wingdings" panose="05000000000000000000" pitchFamily="2" charset="2"/>
              <a:buBlip>
                <a:blip r:embed="rId3"/>
              </a:buBlip>
              <a:defRPr/>
            </a:pPr>
            <a:r>
              <a:rPr kumimoji="0" lang="zh-CN" altLang="en-US" sz="2200" b="1" i="0" u="none" strike="noStrike" kern="0" cap="none" spc="0" normalizeH="0" baseline="0" noProof="0" smtClean="0">
                <a:ln>
                  <a:noFill/>
                </a:ln>
                <a:solidFill>
                  <a:schemeClr val="tx1"/>
                </a:solidFill>
                <a:effectLst/>
                <a:uLnTx/>
                <a:uFillTx/>
                <a:latin typeface="宋体" panose="02010600030101010101" pitchFamily="2" charset="-122"/>
                <a:cs typeface="宋体" panose="02010600030101010101" pitchFamily="2" charset="-122"/>
              </a:rPr>
              <a:t>任意两个移动用户之间进行通信都必须经过基站的中转</a:t>
            </a:r>
            <a:endParaRPr kumimoji="0" lang="zh-CN" altLang="en-US" sz="2200" b="1" i="0" u="none" strike="noStrike" kern="0" cap="none" spc="0" normalizeH="0" baseline="0" noProof="0" dirty="0" smtClean="0">
              <a:ln>
                <a:noFill/>
              </a:ln>
              <a:solidFill>
                <a:schemeClr val="tx1"/>
              </a:solidFill>
              <a:effectLst/>
              <a:uLnTx/>
              <a:uFillTx/>
              <a:latin typeface="宋体" panose="02010600030101010101" pitchFamily="2" charset="-122"/>
              <a:cs typeface="宋体" panose="02010600030101010101" pitchFamily="2" charset="-122"/>
            </a:endParaRPr>
          </a:p>
        </p:txBody>
      </p:sp>
    </p:spTree>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65540" name="Rectangle 3"/>
          <p:cNvSpPr>
            <a:spLocks noGrp="1" noChangeArrowheads="1"/>
          </p:cNvSpPr>
          <p:nvPr>
            <p:ph type="body" idx="1"/>
          </p:nvPr>
        </p:nvSpPr>
        <p:spPr>
          <a:xfrm>
            <a:off x="323850" y="897731"/>
            <a:ext cx="8604250" cy="3086100"/>
          </a:xfrm>
          <a:noFill/>
        </p:spPr>
        <p:txBody>
          <a:bodyPr lIns="92075" tIns="46038" rIns="92075" bIns="46038"/>
          <a:lstStyle/>
          <a:p>
            <a:pPr eaLnBrk="1" hangingPunct="1">
              <a:lnSpc>
                <a:spcPct val="130000"/>
              </a:lnSpc>
              <a:buFont typeface="Wingdings" panose="05000000000000000000" pitchFamily="2" charset="2"/>
              <a:buBlip>
                <a:blip r:embed="rId1"/>
              </a:buBlip>
            </a:pPr>
            <a:r>
              <a:rPr lang="zh-CN" altLang="en-US" sz="2200" b="0" dirty="0" smtClean="0">
                <a:solidFill>
                  <a:srgbClr val="003300"/>
                </a:solidFill>
                <a:latin typeface="宋体" panose="02010600030101010101" pitchFamily="2" charset="-122"/>
                <a:ea typeface="宋体" panose="02010600030101010101" pitchFamily="2" charset="-122"/>
              </a:rPr>
              <a:t>设置频道间隔，以免因系统的频率漂移造成频道间重叠</a:t>
            </a:r>
            <a:endParaRPr lang="zh-CN" altLang="en-US" sz="2200" b="0" dirty="0" smtClean="0">
              <a:solidFill>
                <a:srgbClr val="003300"/>
              </a:solidFill>
              <a:latin typeface="宋体" panose="02010600030101010101" pitchFamily="2" charset="-122"/>
              <a:ea typeface="宋体" panose="02010600030101010101" pitchFamily="2" charset="-122"/>
            </a:endParaRPr>
          </a:p>
          <a:p>
            <a:pPr lvl="1" eaLnBrk="1" hangingPunct="1">
              <a:lnSpc>
                <a:spcPct val="130000"/>
              </a:lnSpc>
              <a:buFont typeface="Wingdings" panose="05000000000000000000" pitchFamily="2" charset="2"/>
              <a:buBlip>
                <a:blip r:embed="rId2"/>
              </a:buBlip>
            </a:pPr>
            <a:r>
              <a:rPr lang="zh-CN" altLang="en-US" sz="2200" b="1" dirty="0" smtClean="0">
                <a:latin typeface="宋体" panose="02010600030101010101" pitchFamily="2" charset="-122"/>
                <a:ea typeface="宋体" panose="02010600030101010101" pitchFamily="2" charset="-122"/>
              </a:rPr>
              <a:t>前向信道与反向信道之间设有保护频带</a:t>
            </a:r>
            <a:endParaRPr lang="zh-CN" altLang="en-US" sz="2200" b="1" dirty="0" smtClean="0">
              <a:latin typeface="宋体" panose="02010600030101010101" pitchFamily="2" charset="-122"/>
              <a:ea typeface="宋体" panose="02010600030101010101" pitchFamily="2" charset="-122"/>
            </a:endParaRPr>
          </a:p>
          <a:p>
            <a:pPr lvl="1" eaLnBrk="1" hangingPunct="1">
              <a:lnSpc>
                <a:spcPct val="130000"/>
              </a:lnSpc>
              <a:buFont typeface="Wingdings" panose="05000000000000000000" pitchFamily="2" charset="2"/>
              <a:buBlip>
                <a:blip r:embed="rId2"/>
              </a:buBlip>
            </a:pPr>
            <a:r>
              <a:rPr lang="zh-CN" altLang="en-US" sz="2200" b="1" dirty="0" smtClean="0">
                <a:latin typeface="宋体" panose="02010600030101010101" pitchFamily="2" charset="-122"/>
                <a:ea typeface="宋体" panose="02010600030101010101" pitchFamily="2" charset="-122"/>
              </a:rPr>
              <a:t>用户频道之间，设有保护频隙，避免频率漂移而造成频道间的重叠。</a:t>
            </a:r>
            <a:endParaRPr lang="zh-CN" altLang="en-US" sz="2200" b="1" dirty="0" smtClean="0">
              <a:latin typeface="宋体" panose="02010600030101010101" pitchFamily="2" charset="-122"/>
              <a:ea typeface="宋体" panose="02010600030101010101" pitchFamily="2" charset="-122"/>
            </a:endParaRPr>
          </a:p>
        </p:txBody>
      </p:sp>
      <p:pic>
        <p:nvPicPr>
          <p:cNvPr id="204804" name="Picture 4" descr="tu7-3"/>
          <p:cNvPicPr>
            <a:picLocks noChangeAspect="1" noChangeArrowheads="1"/>
          </p:cNvPicPr>
          <p:nvPr/>
        </p:nvPicPr>
        <p:blipFill>
          <a:blip r:embed="rId3" cstate="print"/>
          <a:srcRect/>
          <a:stretch>
            <a:fillRect/>
          </a:stretch>
        </p:blipFill>
        <p:spPr bwMode="auto">
          <a:xfrm>
            <a:off x="971600" y="2787774"/>
            <a:ext cx="7368816" cy="1368152"/>
          </a:xfrm>
          <a:prstGeom prst="rect">
            <a:avLst/>
          </a:prstGeom>
          <a:solidFill>
            <a:srgbClr val="CC99FF">
              <a:alpha val="43137"/>
            </a:srgbClr>
          </a:solidFill>
          <a:ln w="9525">
            <a:noFill/>
            <a:miter lim="800000"/>
            <a:headEnd/>
            <a:tailEnd/>
          </a:ln>
        </p:spPr>
      </p:pic>
      <p:sp>
        <p:nvSpPr>
          <p:cNvPr id="204805" name="Rectangle 5"/>
          <p:cNvSpPr>
            <a:spLocks noChangeArrowheads="1"/>
          </p:cNvSpPr>
          <p:nvPr/>
        </p:nvSpPr>
        <p:spPr bwMode="auto">
          <a:xfrm>
            <a:off x="2916238" y="4206181"/>
            <a:ext cx="3028950" cy="307777"/>
          </a:xfrm>
          <a:prstGeom prst="rect">
            <a:avLst/>
          </a:prstGeom>
          <a:noFill/>
          <a:ln w="9525" algn="ctr">
            <a:noFill/>
            <a:miter lim="800000"/>
          </a:ln>
          <a:effectLst/>
        </p:spPr>
        <p:txBody>
          <a:bodyPr anchor="ctr">
            <a:spAutoFit/>
          </a:bodyPr>
          <a:lstStyle/>
          <a:p>
            <a:pPr>
              <a:defRPr/>
            </a:pPr>
            <a:r>
              <a:rPr lang="zh-CN" altLang="en-US" sz="1400" b="1">
                <a:latin typeface="Times New Roman" panose="02020603050405020304" pitchFamily="18" charset="0"/>
              </a:rPr>
              <a:t>图</a:t>
            </a:r>
            <a:r>
              <a:rPr lang="en-US" altLang="zh-CN" sz="1400" b="1">
                <a:latin typeface="Times New Roman" panose="02020603050405020304" pitchFamily="18" charset="0"/>
              </a:rPr>
              <a:t>5</a:t>
            </a:r>
            <a:r>
              <a:rPr lang="zh-CN" altLang="en-US" sz="1400" b="1">
                <a:latin typeface="Times New Roman" panose="02020603050405020304" pitchFamily="18" charset="0"/>
              </a:rPr>
              <a:t>－</a:t>
            </a:r>
            <a:r>
              <a:rPr lang="en-US" altLang="zh-CN" sz="1400" b="1">
                <a:latin typeface="Times New Roman" panose="02020603050405020304" pitchFamily="18" charset="0"/>
              </a:rPr>
              <a:t>6   FDMA</a:t>
            </a:r>
            <a:r>
              <a:rPr lang="zh-CN" altLang="en-US" sz="1400" b="1">
                <a:latin typeface="Times New Roman" panose="02020603050405020304" pitchFamily="18" charset="0"/>
              </a:rPr>
              <a:t>系统频谱分割示意图</a:t>
            </a:r>
            <a:r>
              <a:rPr lang="zh-CN" altLang="en-US" sz="1400" b="1">
                <a:effectLst>
                  <a:outerShdw blurRad="38100" dist="38100" dir="2700000" algn="tl">
                    <a:srgbClr val="C0C0C0"/>
                  </a:outerShdw>
                </a:effectLst>
                <a:latin typeface="Times New Roman" panose="02020603050405020304" pitchFamily="18" charset="0"/>
              </a:rPr>
              <a:t> </a:t>
            </a:r>
            <a:endParaRPr lang="zh-CN" altLang="en-US" sz="1400" b="1">
              <a:effectLst>
                <a:outerShdw blurRad="38100" dist="38100" dir="2700000" algn="tl">
                  <a:srgbClr val="C0C0C0"/>
                </a:outerShdw>
              </a:effectLst>
              <a:latin typeface="Times New Roman" panose="02020603050405020304" pitchFamily="18" charset="0"/>
            </a:endParaRPr>
          </a:p>
        </p:txBody>
      </p:sp>
      <p:pic>
        <p:nvPicPr>
          <p:cNvPr id="8" name="图片 7" descr="5bc6fc52-b49d-4298-b410-192e1f0ef3a5.gif"/>
          <p:cNvPicPr>
            <a:picLocks noChangeAspect="1"/>
          </p:cNvPicPr>
          <p:nvPr/>
        </p:nvPicPr>
        <p:blipFill>
          <a:blip r:embed="rId4" cstate="print"/>
          <a:srcRect l="36267" t="33821" r="11138" b="38327"/>
          <a:stretch>
            <a:fillRect/>
          </a:stretch>
        </p:blipFill>
        <p:spPr>
          <a:xfrm>
            <a:off x="7308304" y="4495428"/>
            <a:ext cx="1835696" cy="648072"/>
          </a:xfrm>
          <a:prstGeom prst="rect">
            <a:avLst/>
          </a:prstGeom>
        </p:spPr>
      </p:pic>
      <p:sp>
        <p:nvSpPr>
          <p:cNvPr id="9"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0" name="图片 9" descr="5bc6fc52-b49d-4298-b410-192e1f0ef3a5.gif"/>
          <p:cNvPicPr>
            <a:picLocks noChangeAspect="1"/>
          </p:cNvPicPr>
          <p:nvPr/>
        </p:nvPicPr>
        <p:blipFill>
          <a:blip r:embed="rId4" cstate="print"/>
          <a:srcRect l="14589" t="33821" r="63763" b="38327"/>
          <a:stretch>
            <a:fillRect/>
          </a:stretch>
        </p:blipFill>
        <p:spPr>
          <a:xfrm>
            <a:off x="0" y="0"/>
            <a:ext cx="755576" cy="648072"/>
          </a:xfrm>
          <a:prstGeom prst="rect">
            <a:avLst/>
          </a:prstGeom>
        </p:spPr>
      </p:pic>
      <p:sp>
        <p:nvSpPr>
          <p:cNvPr id="11" name="TextBox 10"/>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1. </a:t>
            </a:r>
            <a:r>
              <a:rPr lang="zh-CN" altLang="en-US" sz="2200" b="1" dirty="0" smtClean="0">
                <a:solidFill>
                  <a:srgbClr val="FFFF00"/>
                </a:solidFill>
              </a:rPr>
              <a:t>频分多址方式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204804"/>
                                        </p:tgtEl>
                                        <p:attrNameLst>
                                          <p:attrName>style.visibility</p:attrName>
                                        </p:attrNameLst>
                                      </p:cBhvr>
                                      <p:to>
                                        <p:strVal val="visible"/>
                                      </p:to>
                                    </p:set>
                                    <p:anim calcmode="lin" valueType="num">
                                      <p:cBhvr additive="base">
                                        <p:cTn id="7" dur="1000" fill="hold"/>
                                        <p:tgtEl>
                                          <p:spTgt spid="204804"/>
                                        </p:tgtEl>
                                        <p:attrNameLst>
                                          <p:attrName>ppt_x</p:attrName>
                                        </p:attrNameLst>
                                      </p:cBhvr>
                                      <p:tavLst>
                                        <p:tav tm="0">
                                          <p:val>
                                            <p:strVal val="0-#ppt_w/2"/>
                                          </p:val>
                                        </p:tav>
                                        <p:tav tm="100000">
                                          <p:val>
                                            <p:strVal val="#ppt_x"/>
                                          </p:val>
                                        </p:tav>
                                      </p:tavLst>
                                    </p:anim>
                                    <p:anim calcmode="lin" valueType="num">
                                      <p:cBhvr additive="base">
                                        <p:cTn id="8" dur="1000" fill="hold"/>
                                        <p:tgtEl>
                                          <p:spTgt spid="20480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66563" name="Rectangle 2"/>
          <p:cNvSpPr>
            <a:spLocks noGrp="1" noChangeArrowheads="1"/>
          </p:cNvSpPr>
          <p:nvPr>
            <p:ph type="title"/>
          </p:nvPr>
        </p:nvSpPr>
        <p:spPr>
          <a:xfrm>
            <a:off x="255488" y="699542"/>
            <a:ext cx="6908800" cy="504056"/>
          </a:xfrm>
        </p:spPr>
        <p:txBody>
          <a:bodyPr/>
          <a:lstStyle/>
          <a:p>
            <a:pPr eaLnBrk="1" hangingPunct="1"/>
            <a:r>
              <a:rPr lang="en-US" altLang="zh-CN" sz="2200" dirty="0" smtClean="0">
                <a:solidFill>
                  <a:srgbClr val="0000FE"/>
                </a:solidFill>
              </a:rPr>
              <a:t>FDMA</a:t>
            </a:r>
            <a:r>
              <a:rPr lang="zh-CN" altLang="en-US" sz="2200" dirty="0" smtClean="0">
                <a:solidFill>
                  <a:srgbClr val="0000FE"/>
                </a:solidFill>
              </a:rPr>
              <a:t>的主要干扰</a:t>
            </a:r>
            <a:endParaRPr lang="zh-CN" altLang="en-US" sz="2200" dirty="0" smtClean="0">
              <a:solidFill>
                <a:srgbClr val="0000FE"/>
              </a:solidFill>
            </a:endParaRPr>
          </a:p>
        </p:txBody>
      </p:sp>
      <p:graphicFrame>
        <p:nvGraphicFramePr>
          <p:cNvPr id="86019" name="Group 3"/>
          <p:cNvGraphicFramePr>
            <a:graphicFrameLocks noGrp="1"/>
          </p:cNvGraphicFramePr>
          <p:nvPr>
            <p:ph idx="1"/>
          </p:nvPr>
        </p:nvGraphicFramePr>
        <p:xfrm>
          <a:off x="323850" y="1329928"/>
          <a:ext cx="8567738" cy="3186037"/>
        </p:xfrm>
        <a:graphic>
          <a:graphicData uri="http://schemas.openxmlformats.org/drawingml/2006/table">
            <a:tbl>
              <a:tblPr/>
              <a:tblGrid>
                <a:gridCol w="1582738"/>
                <a:gridCol w="4826000"/>
                <a:gridCol w="2159000"/>
              </a:tblGrid>
              <a:tr h="468493">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smtClean="0">
                          <a:ln>
                            <a:noFill/>
                          </a:ln>
                          <a:solidFill>
                            <a:schemeClr val="tx2"/>
                          </a:solidFill>
                          <a:effectLst/>
                          <a:latin typeface="华文楷体" pitchFamily="2" charset="-122"/>
                          <a:ea typeface="华文楷体" pitchFamily="2" charset="-122"/>
                        </a:rPr>
                        <a:t>干扰方式</a:t>
                      </a:r>
                      <a:endParaRPr kumimoji="0" lang="zh-CN" altLang="en-US" sz="20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solidFill>
                      <a:srgbClr val="D9B3F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smtClean="0">
                          <a:ln>
                            <a:noFill/>
                          </a:ln>
                          <a:solidFill>
                            <a:schemeClr val="tx2"/>
                          </a:solidFill>
                          <a:effectLst/>
                          <a:latin typeface="华文楷体" pitchFamily="2" charset="-122"/>
                          <a:ea typeface="华文楷体" pitchFamily="2" charset="-122"/>
                        </a:rPr>
                        <a:t>起          因</a:t>
                      </a:r>
                      <a:endParaRPr kumimoji="0" lang="zh-CN" altLang="en-US" sz="20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a:noFill/>
                    </a:lnB>
                    <a:lnTlToBr>
                      <a:noFill/>
                    </a:lnTlToBr>
                    <a:lnBlToTr>
                      <a:noFill/>
                    </a:lnBlToTr>
                    <a:solidFill>
                      <a:srgbClr val="D9B3FF"/>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smtClean="0">
                          <a:ln>
                            <a:noFill/>
                          </a:ln>
                          <a:solidFill>
                            <a:schemeClr val="tx2"/>
                          </a:solidFill>
                          <a:effectLst/>
                          <a:latin typeface="华文楷体" pitchFamily="2" charset="-122"/>
                          <a:ea typeface="华文楷体" pitchFamily="2" charset="-122"/>
                        </a:rPr>
                        <a:t>解决方法</a:t>
                      </a:r>
                      <a:endParaRPr kumimoji="0" lang="zh-CN" altLang="en-US" sz="20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solidFill>
                      <a:srgbClr val="D9B3FF"/>
                    </a:solidFill>
                  </a:tcPr>
                </a:tc>
              </a:tr>
              <a:tr h="93267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smtClean="0">
                        <a:ln>
                          <a:noFill/>
                        </a:ln>
                        <a:solidFill>
                          <a:srgbClr val="003300"/>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smtClean="0">
                          <a:ln>
                            <a:noFill/>
                          </a:ln>
                          <a:solidFill>
                            <a:srgbClr val="003300"/>
                          </a:solidFill>
                          <a:effectLst/>
                          <a:latin typeface="华文楷体" pitchFamily="2" charset="-122"/>
                          <a:ea typeface="华文楷体" pitchFamily="2" charset="-122"/>
                        </a:rPr>
                        <a:t>互调干扰</a:t>
                      </a:r>
                      <a:endParaRPr kumimoji="0" lang="zh-CN" altLang="en-US" sz="2000" b="0" i="0" u="none" strike="noStrike" cap="none" normalizeH="0" baseline="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华文楷体" pitchFamily="2" charset="-122"/>
                          <a:ea typeface="华文楷体" pitchFamily="2" charset="-122"/>
                        </a:rPr>
                        <a:t>系统内非线性器件产生的各种组合</a:t>
                      </a:r>
                      <a:endParaRPr kumimoji="0" lang="zh-CN" altLang="en-US" sz="2000" b="1" i="0" u="none" strike="noStrike" cap="none" normalizeH="0" baseline="0" smtClean="0">
                        <a:ln>
                          <a:noFill/>
                        </a:ln>
                        <a:solidFill>
                          <a:schemeClr val="bg1"/>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华文楷体" pitchFamily="2" charset="-122"/>
                          <a:ea typeface="华文楷体" pitchFamily="2" charset="-122"/>
                        </a:rPr>
                        <a:t>频率成份落入本频道接收机通带内</a:t>
                      </a:r>
                      <a:endParaRPr kumimoji="0" lang="zh-CN" altLang="en-US" sz="2000" b="1" i="0" u="none" strike="noStrike" cap="none" normalizeH="0" baseline="0" smtClean="0">
                        <a:ln>
                          <a:noFill/>
                        </a:ln>
                        <a:solidFill>
                          <a:schemeClr val="bg1"/>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hlink"/>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华文楷体" pitchFamily="2" charset="-122"/>
                          <a:ea typeface="华文楷体" pitchFamily="2" charset="-122"/>
                        </a:rPr>
                        <a:t>选用无互调的</a:t>
                      </a:r>
                      <a:endParaRPr kumimoji="0" lang="zh-CN" altLang="en-US" sz="2000" b="1" i="0" u="none" strike="noStrike" cap="none" normalizeH="0" baseline="0" smtClean="0">
                        <a:ln>
                          <a:noFill/>
                        </a:ln>
                        <a:solidFill>
                          <a:schemeClr val="bg1"/>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华文楷体" pitchFamily="2" charset="-122"/>
                          <a:ea typeface="华文楷体" pitchFamily="2" charset="-122"/>
                        </a:rPr>
                        <a:t>频率集</a:t>
                      </a:r>
                      <a:endParaRPr kumimoji="0" lang="zh-CN" altLang="en-US" sz="2000" b="1" i="0" u="none" strike="noStrike" cap="none" normalizeH="0" baseline="0" smtClean="0">
                        <a:ln>
                          <a:noFill/>
                        </a:ln>
                        <a:solidFill>
                          <a:schemeClr val="bg1"/>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chemeClr val="hlink"/>
                    </a:solidFill>
                  </a:tcPr>
                </a:tc>
              </a:tr>
              <a:tr h="89243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dirty="0" smtClean="0">
                        <a:ln>
                          <a:noFill/>
                        </a:ln>
                        <a:solidFill>
                          <a:srgbClr val="003300"/>
                        </a:solidFill>
                        <a:effectLst/>
                        <a:latin typeface="华文楷体" pitchFamily="2" charset="-122"/>
                        <a:ea typeface="华文楷体"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smtClean="0">
                          <a:ln>
                            <a:noFill/>
                          </a:ln>
                          <a:solidFill>
                            <a:srgbClr val="003300"/>
                          </a:solidFill>
                          <a:effectLst/>
                          <a:latin typeface="华文楷体" pitchFamily="2" charset="-122"/>
                          <a:ea typeface="华文楷体" pitchFamily="2" charset="-122"/>
                        </a:rPr>
                        <a:t>邻道干扰</a:t>
                      </a:r>
                      <a:endParaRPr kumimoji="0" lang="zh-CN" altLang="en-US" sz="2000" b="0" i="0" u="none" strike="noStrike" cap="none" normalizeH="0" baseline="0" dirty="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D"/>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tx2"/>
                          </a:solidFill>
                          <a:effectLst/>
                          <a:latin typeface="华文楷体" pitchFamily="2" charset="-122"/>
                          <a:ea typeface="华文楷体" pitchFamily="2" charset="-122"/>
                        </a:rPr>
                        <a:t>相邻波道信号中存在的寄生辐射落</a:t>
                      </a:r>
                      <a:endParaRPr kumimoji="0" lang="zh-CN" altLang="en-US" sz="2000" b="1" i="0" u="none" strike="noStrike" cap="none" normalizeH="0" baseline="0" smtClean="0">
                        <a:ln>
                          <a:noFill/>
                        </a:ln>
                        <a:solidFill>
                          <a:schemeClr val="tx2"/>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tx2"/>
                          </a:solidFill>
                          <a:effectLst/>
                          <a:latin typeface="华文楷体" pitchFamily="2" charset="-122"/>
                          <a:ea typeface="华文楷体" pitchFamily="2" charset="-122"/>
                        </a:rPr>
                        <a:t>入本频道接收机带内</a:t>
                      </a:r>
                      <a:endParaRPr kumimoji="0" lang="zh-CN" altLang="en-US" sz="2000" b="1"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D"/>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tx2"/>
                          </a:solidFill>
                          <a:effectLst/>
                          <a:latin typeface="华文楷体" pitchFamily="2" charset="-122"/>
                          <a:ea typeface="华文楷体" pitchFamily="2" charset="-122"/>
                        </a:rPr>
                        <a:t>加大频道间的</a:t>
                      </a:r>
                      <a:endParaRPr kumimoji="0" lang="zh-CN" altLang="en-US" sz="2000" b="1" i="0" u="none" strike="noStrike" cap="none" normalizeH="0" baseline="0" smtClean="0">
                        <a:ln>
                          <a:noFill/>
                        </a:ln>
                        <a:solidFill>
                          <a:schemeClr val="tx2"/>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tx2"/>
                          </a:solidFill>
                          <a:effectLst/>
                          <a:latin typeface="华文楷体" pitchFamily="2" charset="-122"/>
                          <a:ea typeface="华文楷体" pitchFamily="2" charset="-122"/>
                        </a:rPr>
                        <a:t>隔离度</a:t>
                      </a:r>
                      <a:endParaRPr kumimoji="0" lang="zh-CN" altLang="en-US" sz="2000" b="1"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solidFill>
                      <a:srgbClr val="FFFF0D"/>
                    </a:solidFill>
                  </a:tcPr>
                </a:tc>
              </a:tr>
              <a:tr h="8924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smtClean="0">
                        <a:ln>
                          <a:noFill/>
                        </a:ln>
                        <a:solidFill>
                          <a:srgbClr val="003300"/>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smtClean="0">
                          <a:ln>
                            <a:noFill/>
                          </a:ln>
                          <a:solidFill>
                            <a:srgbClr val="003300"/>
                          </a:solidFill>
                          <a:effectLst/>
                          <a:latin typeface="华文楷体" pitchFamily="2" charset="-122"/>
                          <a:ea typeface="华文楷体" pitchFamily="2" charset="-122"/>
                        </a:rPr>
                        <a:t>同频干扰</a:t>
                      </a:r>
                      <a:endParaRPr kumimoji="0" lang="zh-CN" altLang="en-US" sz="2000" b="0" i="0" u="none" strike="noStrike" cap="none" normalizeH="0" baseline="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9933"/>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华文楷体" pitchFamily="2" charset="-122"/>
                          <a:ea typeface="华文楷体" pitchFamily="2" charset="-122"/>
                        </a:rPr>
                        <a:t>相邻区群中同信道小区的信号造成的干扰</a:t>
                      </a:r>
                      <a:endParaRPr kumimoji="0" lang="zh-CN" altLang="en-US" sz="2000" b="1" i="0" u="none" strike="noStrike" cap="none" normalizeH="0" baseline="0" smtClean="0">
                        <a:ln>
                          <a:noFill/>
                        </a:ln>
                        <a:solidFill>
                          <a:schemeClr val="bg1"/>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FF9933"/>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dirty="0" smtClean="0">
                          <a:ln>
                            <a:noFill/>
                          </a:ln>
                          <a:solidFill>
                            <a:schemeClr val="bg1"/>
                          </a:solidFill>
                          <a:effectLst/>
                          <a:latin typeface="华文楷体" pitchFamily="2" charset="-122"/>
                          <a:ea typeface="华文楷体" pitchFamily="2" charset="-122"/>
                        </a:rPr>
                        <a:t>适当选择频道</a:t>
                      </a:r>
                      <a:endParaRPr kumimoji="0" lang="zh-CN" altLang="en-US" sz="2000" b="1" i="0" u="none" strike="noStrike" cap="none" normalizeH="0" baseline="0" dirty="0" smtClean="0">
                        <a:ln>
                          <a:noFill/>
                        </a:ln>
                        <a:solidFill>
                          <a:schemeClr val="bg1"/>
                        </a:solidFill>
                        <a:effectLst/>
                        <a:latin typeface="华文楷体" pitchFamily="2" charset="-122"/>
                        <a:ea typeface="华文楷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1" i="0" u="none" strike="noStrike" cap="none" normalizeH="0" baseline="0" dirty="0" smtClean="0">
                          <a:ln>
                            <a:noFill/>
                          </a:ln>
                          <a:solidFill>
                            <a:schemeClr val="bg1"/>
                          </a:solidFill>
                          <a:effectLst/>
                          <a:latin typeface="华文楷体" pitchFamily="2" charset="-122"/>
                          <a:ea typeface="华文楷体" pitchFamily="2" charset="-122"/>
                        </a:rPr>
                        <a:t>干扰因子</a:t>
                      </a:r>
                      <a:r>
                        <a:rPr kumimoji="0" lang="en-US" altLang="zh-CN" sz="2000" b="1" i="0" u="none" strike="noStrike" cap="none" normalizeH="0" baseline="0" dirty="0" smtClean="0">
                          <a:ln>
                            <a:noFill/>
                          </a:ln>
                          <a:solidFill>
                            <a:schemeClr val="bg1"/>
                          </a:solidFill>
                          <a:effectLst/>
                          <a:latin typeface="华文楷体" pitchFamily="2" charset="-122"/>
                          <a:ea typeface="华文楷体" pitchFamily="2" charset="-122"/>
                        </a:rPr>
                        <a:t>Q</a:t>
                      </a:r>
                      <a:endParaRPr kumimoji="0" lang="en-US" altLang="zh-CN" sz="2000" b="1" i="0" u="none" strike="noStrike" cap="none" normalizeH="0" baseline="0" dirty="0" smtClean="0">
                        <a:ln>
                          <a:noFill/>
                        </a:ln>
                        <a:solidFill>
                          <a:schemeClr val="bg1"/>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solidFill>
                      <a:srgbClr val="FF9933"/>
                    </a:solidFill>
                  </a:tcPr>
                </a:tc>
              </a:tr>
            </a:tbl>
          </a:graphicData>
        </a:graphic>
      </p:graphicFrame>
      <p:pic>
        <p:nvPicPr>
          <p:cNvPr id="5" name="图片 4"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6"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8" name="TextBox 7"/>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1. </a:t>
            </a:r>
            <a:r>
              <a:rPr lang="zh-CN" altLang="en-US" sz="2200" b="1" dirty="0" smtClean="0">
                <a:solidFill>
                  <a:srgbClr val="FFFF00"/>
                </a:solidFill>
              </a:rPr>
              <a:t>频分多址方式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86019"/>
                                        </p:tgtEl>
                                        <p:attrNameLst>
                                          <p:attrName>style.visibility</p:attrName>
                                        </p:attrNameLst>
                                      </p:cBhvr>
                                      <p:to>
                                        <p:strVal val="visible"/>
                                      </p:to>
                                    </p:set>
                                    <p:animEffect transition="in" filter="randombar(horizontal)">
                                      <p:cBhvr>
                                        <p:cTn id="7" dur="500"/>
                                        <p:tgtEl>
                                          <p:spTgt spid="86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0"/>
          </p:nvPr>
        </p:nvSpPr>
        <p:spPr/>
        <p:txBody>
          <a:bodyPr/>
          <a:lstStyle/>
          <a:p>
            <a:pPr>
              <a:defRPr/>
            </a:pPr>
            <a:r>
              <a:rPr lang="en-US" altLang="zh-CN"/>
              <a:t>Principle of Mobile Communication</a:t>
            </a:r>
            <a:endParaRPr lang="en-US" altLang="zh-CN"/>
          </a:p>
        </p:txBody>
      </p:sp>
      <p:sp>
        <p:nvSpPr>
          <p:cNvPr id="67587" name="Rectangle 2"/>
          <p:cNvSpPr>
            <a:spLocks noGrp="1" noChangeArrowheads="1"/>
          </p:cNvSpPr>
          <p:nvPr>
            <p:ph type="title"/>
          </p:nvPr>
        </p:nvSpPr>
        <p:spPr>
          <a:xfrm>
            <a:off x="361950" y="636910"/>
            <a:ext cx="6802438" cy="422672"/>
          </a:xfrm>
        </p:spPr>
        <p:txBody>
          <a:bodyPr/>
          <a:lstStyle/>
          <a:p>
            <a:pPr eaLnBrk="1" hangingPunct="1"/>
            <a:r>
              <a:rPr lang="en-US" altLang="zh-CN" sz="2200" dirty="0" smtClean="0">
                <a:solidFill>
                  <a:srgbClr val="0000FE"/>
                </a:solidFill>
              </a:rPr>
              <a:t>FDMA</a:t>
            </a:r>
            <a:r>
              <a:rPr lang="zh-CN" altLang="en-US" sz="2200" dirty="0" smtClean="0">
                <a:solidFill>
                  <a:srgbClr val="0000FE"/>
                </a:solidFill>
              </a:rPr>
              <a:t>系统的特点 </a:t>
            </a:r>
            <a:endParaRPr lang="zh-CN" altLang="en-US" sz="2200" dirty="0" smtClean="0">
              <a:solidFill>
                <a:srgbClr val="0000FE"/>
              </a:solidFill>
            </a:endParaRPr>
          </a:p>
        </p:txBody>
      </p:sp>
      <p:sp>
        <p:nvSpPr>
          <p:cNvPr id="67588" name="Rectangle 3"/>
          <p:cNvSpPr>
            <a:spLocks noGrp="1" noChangeArrowheads="1"/>
          </p:cNvSpPr>
          <p:nvPr>
            <p:ph type="body" sz="half" idx="1"/>
          </p:nvPr>
        </p:nvSpPr>
        <p:spPr>
          <a:xfrm>
            <a:off x="539751" y="1059656"/>
            <a:ext cx="8137525" cy="3671888"/>
          </a:xfrm>
        </p:spPr>
        <p:txBody>
          <a:bodyPr/>
          <a:lstStyle/>
          <a:p>
            <a:pPr eaLnBrk="1" hangingPunct="1">
              <a:lnSpc>
                <a:spcPct val="130000"/>
              </a:lnSpc>
              <a:buNone/>
            </a:pPr>
            <a:r>
              <a:rPr lang="zh-CN" altLang="en-US" sz="2200" b="0" dirty="0" smtClean="0">
                <a:solidFill>
                  <a:srgbClr val="002A7E"/>
                </a:solidFill>
                <a:latin typeface="华文楷体" pitchFamily="2" charset="-122"/>
                <a:ea typeface="华文楷体" pitchFamily="2" charset="-122"/>
              </a:rPr>
              <a:t>（</a:t>
            </a:r>
            <a:r>
              <a:rPr lang="en-US" altLang="zh-CN" sz="2200" b="0" dirty="0" smtClean="0">
                <a:solidFill>
                  <a:srgbClr val="002A7E"/>
                </a:solidFill>
                <a:latin typeface="华文楷体" pitchFamily="2" charset="-122"/>
                <a:ea typeface="华文楷体" pitchFamily="2" charset="-122"/>
              </a:rPr>
              <a:t>1</a:t>
            </a:r>
            <a:r>
              <a:rPr lang="zh-CN" altLang="en-US" sz="2200" b="0" dirty="0" smtClean="0">
                <a:solidFill>
                  <a:srgbClr val="002A7E"/>
                </a:solidFill>
                <a:latin typeface="华文楷体" pitchFamily="2" charset="-122"/>
                <a:ea typeface="华文楷体" pitchFamily="2" charset="-122"/>
              </a:rPr>
              <a:t>）每信道占用一个载频，信道的相对带宽较窄，即通常在窄带系统中实现</a:t>
            </a:r>
            <a:endParaRPr lang="zh-CN" altLang="en-US" sz="2200" b="0" dirty="0" smtClean="0">
              <a:solidFill>
                <a:srgbClr val="002A7E"/>
              </a:solidFill>
              <a:latin typeface="华文楷体" pitchFamily="2" charset="-122"/>
              <a:ea typeface="华文楷体" pitchFamily="2" charset="-122"/>
            </a:endParaRPr>
          </a:p>
          <a:p>
            <a:pPr eaLnBrk="1" hangingPunct="1">
              <a:lnSpc>
                <a:spcPct val="130000"/>
              </a:lnSpc>
              <a:buNone/>
            </a:pPr>
            <a:r>
              <a:rPr lang="zh-CN" altLang="en-US" sz="2200" b="0" dirty="0" smtClean="0">
                <a:solidFill>
                  <a:srgbClr val="002A7E"/>
                </a:solidFill>
                <a:latin typeface="华文楷体" pitchFamily="2" charset="-122"/>
                <a:ea typeface="华文楷体" pitchFamily="2" charset="-122"/>
              </a:rPr>
              <a:t>（</a:t>
            </a:r>
            <a:r>
              <a:rPr lang="en-US" altLang="zh-CN" sz="2200" b="0" dirty="0" smtClean="0">
                <a:solidFill>
                  <a:srgbClr val="002A7E"/>
                </a:solidFill>
                <a:latin typeface="华文楷体" pitchFamily="2" charset="-122"/>
                <a:ea typeface="华文楷体" pitchFamily="2" charset="-122"/>
              </a:rPr>
              <a:t>2</a:t>
            </a:r>
            <a:r>
              <a:rPr lang="zh-CN" altLang="en-US" sz="2200" b="0" dirty="0" smtClean="0">
                <a:solidFill>
                  <a:srgbClr val="002A7E"/>
                </a:solidFill>
                <a:latin typeface="华文楷体" pitchFamily="2" charset="-122"/>
                <a:ea typeface="华文楷体" pitchFamily="2" charset="-122"/>
              </a:rPr>
              <a:t>）符号时间 </a:t>
            </a:r>
            <a:r>
              <a:rPr lang="en-US" altLang="zh-CN" sz="2200" b="0" dirty="0" smtClean="0">
                <a:solidFill>
                  <a:srgbClr val="002A7E"/>
                </a:solidFill>
                <a:latin typeface="华文楷体" pitchFamily="2" charset="-122"/>
                <a:ea typeface="华文楷体" pitchFamily="2" charset="-122"/>
              </a:rPr>
              <a:t>&gt;&gt;</a:t>
            </a:r>
            <a:r>
              <a:rPr lang="zh-CN" altLang="en-US" sz="2200" b="0" dirty="0" smtClean="0">
                <a:solidFill>
                  <a:srgbClr val="002A7E"/>
                </a:solidFill>
                <a:latin typeface="华文楷体" pitchFamily="2" charset="-122"/>
                <a:ea typeface="华文楷体" pitchFamily="2" charset="-122"/>
              </a:rPr>
              <a:t>平均延迟扩展</a:t>
            </a:r>
            <a:r>
              <a:rPr lang="zh-CN" altLang="en-US" sz="2200" b="0" dirty="0" smtClean="0">
                <a:solidFill>
                  <a:srgbClr val="002A7E"/>
                </a:solidFill>
              </a:rPr>
              <a:t>（</a:t>
            </a:r>
            <a:r>
              <a:rPr lang="en-US" altLang="zh-CN" sz="2200" b="0" dirty="0" smtClean="0">
                <a:solidFill>
                  <a:srgbClr val="002A7E"/>
                </a:solidFill>
              </a:rPr>
              <a:t>T</a:t>
            </a:r>
            <a:r>
              <a:rPr lang="en-US" altLang="zh-CN" sz="2200" b="0" baseline="-25000" dirty="0" smtClean="0">
                <a:solidFill>
                  <a:srgbClr val="002A7E"/>
                </a:solidFill>
              </a:rPr>
              <a:t>s</a:t>
            </a:r>
            <a:r>
              <a:rPr lang="en-US" altLang="zh-CN" sz="2200" b="0" dirty="0" smtClean="0">
                <a:solidFill>
                  <a:srgbClr val="002A7E"/>
                </a:solidFill>
              </a:rPr>
              <a:t> &gt;&gt;     </a:t>
            </a:r>
            <a:r>
              <a:rPr lang="zh-CN" altLang="en-US" sz="2200" b="0" dirty="0" smtClean="0">
                <a:solidFill>
                  <a:srgbClr val="002A7E"/>
                </a:solidFill>
              </a:rPr>
              <a:t>） ，</a:t>
            </a:r>
            <a:r>
              <a:rPr lang="zh-CN" altLang="en-US" sz="2200" b="0" dirty="0" smtClean="0">
                <a:solidFill>
                  <a:srgbClr val="002A7E"/>
                </a:solidFill>
                <a:ea typeface="华文楷体" pitchFamily="2" charset="-122"/>
              </a:rPr>
              <a:t>所以码间干扰较少，无需自适应均衡</a:t>
            </a:r>
            <a:endParaRPr lang="zh-CN" altLang="en-US" sz="2200" b="0" dirty="0" smtClean="0">
              <a:solidFill>
                <a:srgbClr val="002A7E"/>
              </a:solidFill>
              <a:ea typeface="华文楷体" pitchFamily="2" charset="-122"/>
            </a:endParaRPr>
          </a:p>
          <a:p>
            <a:pPr eaLnBrk="1" hangingPunct="1">
              <a:lnSpc>
                <a:spcPct val="130000"/>
              </a:lnSpc>
              <a:buNone/>
            </a:pPr>
            <a:r>
              <a:rPr lang="zh-CN" altLang="en-US" sz="2200" b="0" dirty="0" smtClean="0">
                <a:solidFill>
                  <a:srgbClr val="002A7E"/>
                </a:solidFill>
                <a:ea typeface="华文楷体" pitchFamily="2" charset="-122"/>
              </a:rPr>
              <a:t>（</a:t>
            </a:r>
            <a:r>
              <a:rPr lang="en-US" altLang="zh-CN" sz="2200" b="0" dirty="0" smtClean="0">
                <a:solidFill>
                  <a:srgbClr val="002A7E"/>
                </a:solidFill>
                <a:ea typeface="华文楷体" pitchFamily="2" charset="-122"/>
              </a:rPr>
              <a:t>3</a:t>
            </a:r>
            <a:r>
              <a:rPr lang="zh-CN" altLang="en-US" sz="2200" b="0" dirty="0" smtClean="0">
                <a:solidFill>
                  <a:srgbClr val="002A7E"/>
                </a:solidFill>
                <a:ea typeface="华文楷体" pitchFamily="2" charset="-122"/>
              </a:rPr>
              <a:t>）基站复杂庞大，易产生信道间的互调干扰</a:t>
            </a:r>
            <a:endParaRPr lang="zh-CN" altLang="en-US" sz="2200" b="0" dirty="0" smtClean="0">
              <a:solidFill>
                <a:srgbClr val="002A7E"/>
              </a:solidFill>
              <a:ea typeface="华文楷体" pitchFamily="2" charset="-122"/>
            </a:endParaRPr>
          </a:p>
          <a:p>
            <a:pPr eaLnBrk="1" hangingPunct="1">
              <a:lnSpc>
                <a:spcPct val="130000"/>
              </a:lnSpc>
              <a:buNone/>
            </a:pPr>
            <a:r>
              <a:rPr lang="zh-CN" altLang="en-US" sz="2200" b="0" dirty="0" smtClean="0">
                <a:solidFill>
                  <a:srgbClr val="002A7E"/>
                </a:solidFill>
                <a:ea typeface="华文楷体" pitchFamily="2" charset="-122"/>
              </a:rPr>
              <a:t>（</a:t>
            </a:r>
            <a:r>
              <a:rPr lang="en-US" altLang="zh-CN" sz="2200" b="0" dirty="0" smtClean="0">
                <a:solidFill>
                  <a:srgbClr val="002A7E"/>
                </a:solidFill>
                <a:ea typeface="华文楷体" pitchFamily="2" charset="-122"/>
              </a:rPr>
              <a:t>4</a:t>
            </a:r>
            <a:r>
              <a:rPr lang="zh-CN" altLang="en-US" sz="2200" b="0" dirty="0" smtClean="0">
                <a:solidFill>
                  <a:srgbClr val="002A7E"/>
                </a:solidFill>
                <a:ea typeface="华文楷体" pitchFamily="2" charset="-122"/>
              </a:rPr>
              <a:t>）必须使用带通滤波器来限制邻道干扰</a:t>
            </a:r>
            <a:endParaRPr lang="zh-CN" altLang="en-US" sz="2200" b="0" dirty="0" smtClean="0">
              <a:solidFill>
                <a:srgbClr val="002A7E"/>
              </a:solidFill>
              <a:ea typeface="华文楷体" pitchFamily="2" charset="-122"/>
            </a:endParaRPr>
          </a:p>
          <a:p>
            <a:pPr eaLnBrk="1" hangingPunct="1">
              <a:lnSpc>
                <a:spcPct val="130000"/>
              </a:lnSpc>
              <a:buNone/>
            </a:pPr>
            <a:r>
              <a:rPr lang="zh-CN" altLang="en-US" sz="2200" b="0" dirty="0" smtClean="0">
                <a:solidFill>
                  <a:srgbClr val="002A7E"/>
                </a:solidFill>
                <a:ea typeface="华文楷体" pitchFamily="2" charset="-122"/>
              </a:rPr>
              <a:t>（</a:t>
            </a:r>
            <a:r>
              <a:rPr lang="en-US" altLang="zh-CN" sz="2200" b="0" dirty="0" smtClean="0">
                <a:solidFill>
                  <a:srgbClr val="002A7E"/>
                </a:solidFill>
                <a:ea typeface="华文楷体" pitchFamily="2" charset="-122"/>
              </a:rPr>
              <a:t>5</a:t>
            </a:r>
            <a:r>
              <a:rPr lang="zh-CN" altLang="en-US" sz="2200" b="0" dirty="0" smtClean="0">
                <a:solidFill>
                  <a:srgbClr val="002A7E"/>
                </a:solidFill>
                <a:ea typeface="华文楷体" pitchFamily="2" charset="-122"/>
              </a:rPr>
              <a:t>）越区切换复杂，必须瞬时中断传输，对于数据传输将带来数据的丢失。</a:t>
            </a:r>
            <a:endParaRPr lang="zh-CN" altLang="en-US" sz="2200" b="0" dirty="0" smtClean="0">
              <a:solidFill>
                <a:srgbClr val="002A7E"/>
              </a:solidFill>
              <a:ea typeface="华文楷体" pitchFamily="2" charset="-122"/>
            </a:endParaRPr>
          </a:p>
        </p:txBody>
      </p:sp>
      <p:pic>
        <p:nvPicPr>
          <p:cNvPr id="67589" name="Picture 7"/>
          <p:cNvPicPr>
            <a:picLocks noChangeAspect="1" noChangeArrowheads="1"/>
          </p:cNvPicPr>
          <p:nvPr/>
        </p:nvPicPr>
        <p:blipFill>
          <a:blip r:embed="rId1" cstate="print"/>
          <a:srcRect/>
          <a:stretch>
            <a:fillRect/>
          </a:stretch>
        </p:blipFill>
        <p:spPr bwMode="auto">
          <a:xfrm>
            <a:off x="5752592" y="2067694"/>
            <a:ext cx="428625" cy="352425"/>
          </a:xfrm>
          <a:prstGeom prst="rect">
            <a:avLst/>
          </a:prstGeom>
          <a:noFill/>
          <a:ln w="9525">
            <a:noFill/>
            <a:miter lim="800000"/>
            <a:headEnd/>
            <a:tailEnd/>
          </a:ln>
        </p:spPr>
      </p:pic>
      <p:pic>
        <p:nvPicPr>
          <p:cNvPr id="6" name="图片 5"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7"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 name="图片 7"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9" name="TextBox 8"/>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1. </a:t>
            </a:r>
            <a:r>
              <a:rPr lang="zh-CN" altLang="en-US" sz="2200" b="1" dirty="0" smtClean="0">
                <a:solidFill>
                  <a:srgbClr val="FFFF00"/>
                </a:solidFill>
              </a:rPr>
              <a:t>频分多址方式 </a:t>
            </a:r>
            <a:endParaRPr lang="zh-CN" altLang="en-US" sz="2200" b="1" dirty="0">
              <a:solidFill>
                <a:srgbClr val="FFFF00"/>
              </a:solidFill>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69636" name="Rectangle 3"/>
          <p:cNvSpPr>
            <a:spLocks noGrp="1" noChangeArrowheads="1"/>
          </p:cNvSpPr>
          <p:nvPr>
            <p:ph type="body" idx="1"/>
          </p:nvPr>
        </p:nvSpPr>
        <p:spPr>
          <a:xfrm>
            <a:off x="323850" y="789385"/>
            <a:ext cx="8604250" cy="1710357"/>
          </a:xfrm>
        </p:spPr>
        <p:txBody>
          <a:bodyPr/>
          <a:lstStyle/>
          <a:p>
            <a:pPr eaLnBrk="1" hangingPunct="1">
              <a:lnSpc>
                <a:spcPct val="120000"/>
              </a:lnSpc>
              <a:buFont typeface="Wingdings" panose="05000000000000000000" pitchFamily="2" charset="2"/>
              <a:buBlip>
                <a:blip r:embed="rId1"/>
              </a:buBlip>
            </a:pPr>
            <a:r>
              <a:rPr lang="zh-CN" altLang="en-US" sz="2200" b="0" dirty="0" smtClean="0">
                <a:ea typeface="华文楷体" pitchFamily="2" charset="-122"/>
              </a:rPr>
              <a:t>在一个宽带的无线载波上，把时间分成周期性的帧，每一帧再分割成若干时隙，无论帧或时隙都是互不重叠的</a:t>
            </a:r>
            <a:endParaRPr lang="zh-CN" altLang="en-US" sz="2200" b="0" dirty="0" smtClean="0">
              <a:ea typeface="华文楷体" pitchFamily="2" charset="-122"/>
            </a:endParaRPr>
          </a:p>
          <a:p>
            <a:pPr eaLnBrk="1" hangingPunct="1">
              <a:lnSpc>
                <a:spcPct val="120000"/>
              </a:lnSpc>
              <a:buFont typeface="Wingdings" panose="05000000000000000000" pitchFamily="2" charset="2"/>
              <a:buBlip>
                <a:blip r:embed="rId1"/>
              </a:buBlip>
            </a:pPr>
            <a:r>
              <a:rPr lang="zh-CN" altLang="en-US" sz="2200" b="0" dirty="0" smtClean="0">
                <a:ea typeface="华文楷体" pitchFamily="2" charset="-122"/>
              </a:rPr>
              <a:t>每个时隙就是一个通信信道，分配给一个用户</a:t>
            </a:r>
            <a:endParaRPr lang="zh-CN" altLang="en-US" sz="2200" b="0" dirty="0" smtClean="0">
              <a:ea typeface="华文楷体" pitchFamily="2" charset="-122"/>
            </a:endParaRPr>
          </a:p>
          <a:p>
            <a:pPr eaLnBrk="1" hangingPunct="1">
              <a:lnSpc>
                <a:spcPct val="120000"/>
              </a:lnSpc>
              <a:buFont typeface="Wingdings" panose="05000000000000000000" pitchFamily="2" charset="2"/>
              <a:buBlip>
                <a:blip r:embed="rId1"/>
              </a:buBlip>
            </a:pPr>
            <a:r>
              <a:rPr lang="zh-CN" altLang="en-US" sz="2200" b="0" dirty="0" smtClean="0">
                <a:ea typeface="华文楷体" pitchFamily="2" charset="-122"/>
              </a:rPr>
              <a:t>基站按时隙排列顺序发收信号，各移动台在指定的时隙内收发信号</a:t>
            </a:r>
            <a:endParaRPr lang="zh-CN" altLang="en-US" sz="2200" b="0" dirty="0" smtClean="0">
              <a:ea typeface="华文楷体" pitchFamily="2" charset="-122"/>
            </a:endParaRPr>
          </a:p>
        </p:txBody>
      </p:sp>
      <p:sp>
        <p:nvSpPr>
          <p:cNvPr id="69637" name="Rectangle 4"/>
          <p:cNvSpPr>
            <a:spLocks noChangeArrowheads="1"/>
          </p:cNvSpPr>
          <p:nvPr/>
        </p:nvSpPr>
        <p:spPr bwMode="auto">
          <a:xfrm>
            <a:off x="0" y="1704856"/>
            <a:ext cx="184731" cy="369332"/>
          </a:xfrm>
          <a:prstGeom prst="rect">
            <a:avLst/>
          </a:prstGeom>
          <a:noFill/>
          <a:ln w="9525" algn="ctr">
            <a:noFill/>
            <a:miter lim="800000"/>
          </a:ln>
        </p:spPr>
        <p:txBody>
          <a:bodyPr wrap="none" anchor="ctr">
            <a:spAutoFit/>
          </a:bodyPr>
          <a:lstStyle/>
          <a:p>
            <a:endParaRPr lang="zh-CN" altLang="en-US"/>
          </a:p>
        </p:txBody>
      </p:sp>
      <p:grpSp>
        <p:nvGrpSpPr>
          <p:cNvPr id="2" name="Group 5"/>
          <p:cNvGrpSpPr/>
          <p:nvPr/>
        </p:nvGrpSpPr>
        <p:grpSpPr bwMode="auto">
          <a:xfrm>
            <a:off x="395288" y="2572195"/>
            <a:ext cx="3887787" cy="1799755"/>
            <a:chOff x="784" y="1616"/>
            <a:chExt cx="3729" cy="2179"/>
          </a:xfrm>
        </p:grpSpPr>
        <p:grpSp>
          <p:nvGrpSpPr>
            <p:cNvPr id="3" name="Group 6"/>
            <p:cNvGrpSpPr/>
            <p:nvPr/>
          </p:nvGrpSpPr>
          <p:grpSpPr bwMode="auto">
            <a:xfrm>
              <a:off x="784" y="1721"/>
              <a:ext cx="3729" cy="1845"/>
              <a:chOff x="784" y="1721"/>
              <a:chExt cx="3729" cy="1845"/>
            </a:xfrm>
          </p:grpSpPr>
          <p:grpSp>
            <p:nvGrpSpPr>
              <p:cNvPr id="4" name="Group 7"/>
              <p:cNvGrpSpPr/>
              <p:nvPr/>
            </p:nvGrpSpPr>
            <p:grpSpPr bwMode="auto">
              <a:xfrm>
                <a:off x="3513" y="1721"/>
                <a:ext cx="367" cy="1712"/>
                <a:chOff x="3600" y="1721"/>
                <a:chExt cx="367" cy="1712"/>
              </a:xfrm>
            </p:grpSpPr>
            <p:grpSp>
              <p:nvGrpSpPr>
                <p:cNvPr id="5" name="Group 8"/>
                <p:cNvGrpSpPr/>
                <p:nvPr/>
              </p:nvGrpSpPr>
              <p:grpSpPr bwMode="auto">
                <a:xfrm>
                  <a:off x="3600" y="1721"/>
                  <a:ext cx="367" cy="246"/>
                  <a:chOff x="3600" y="1721"/>
                  <a:chExt cx="367" cy="246"/>
                </a:xfrm>
              </p:grpSpPr>
              <p:sp>
                <p:nvSpPr>
                  <p:cNvPr id="69781" name="Line 9"/>
                  <p:cNvSpPr>
                    <a:spLocks noChangeShapeType="1"/>
                  </p:cNvSpPr>
                  <p:nvPr/>
                </p:nvSpPr>
                <p:spPr bwMode="auto">
                  <a:xfrm>
                    <a:off x="3723" y="1966"/>
                    <a:ext cx="244" cy="1"/>
                  </a:xfrm>
                  <a:prstGeom prst="line">
                    <a:avLst/>
                  </a:prstGeom>
                  <a:noFill/>
                  <a:ln w="23813">
                    <a:solidFill>
                      <a:srgbClr val="000000"/>
                    </a:solidFill>
                    <a:round/>
                  </a:ln>
                </p:spPr>
                <p:txBody>
                  <a:bodyPr/>
                  <a:lstStyle/>
                  <a:p>
                    <a:endParaRPr lang="zh-CN" altLang="en-US"/>
                  </a:p>
                </p:txBody>
              </p:sp>
              <p:sp>
                <p:nvSpPr>
                  <p:cNvPr id="69782" name="Line 10"/>
                  <p:cNvSpPr>
                    <a:spLocks noChangeShapeType="1"/>
                  </p:cNvSpPr>
                  <p:nvPr/>
                </p:nvSpPr>
                <p:spPr bwMode="auto">
                  <a:xfrm>
                    <a:off x="3723" y="1843"/>
                    <a:ext cx="1" cy="123"/>
                  </a:xfrm>
                  <a:prstGeom prst="line">
                    <a:avLst/>
                  </a:prstGeom>
                  <a:noFill/>
                  <a:ln w="23813">
                    <a:solidFill>
                      <a:srgbClr val="000000"/>
                    </a:solidFill>
                    <a:round/>
                  </a:ln>
                </p:spPr>
                <p:txBody>
                  <a:bodyPr/>
                  <a:lstStyle/>
                  <a:p>
                    <a:endParaRPr lang="zh-CN" altLang="en-US"/>
                  </a:p>
                </p:txBody>
              </p:sp>
              <p:sp>
                <p:nvSpPr>
                  <p:cNvPr id="69783" name="Line 11"/>
                  <p:cNvSpPr>
                    <a:spLocks noChangeShapeType="1"/>
                  </p:cNvSpPr>
                  <p:nvPr/>
                </p:nvSpPr>
                <p:spPr bwMode="auto">
                  <a:xfrm flipV="1">
                    <a:off x="3723" y="1721"/>
                    <a:ext cx="122" cy="122"/>
                  </a:xfrm>
                  <a:prstGeom prst="line">
                    <a:avLst/>
                  </a:prstGeom>
                  <a:noFill/>
                  <a:ln w="23813">
                    <a:solidFill>
                      <a:srgbClr val="000000"/>
                    </a:solidFill>
                    <a:round/>
                  </a:ln>
                </p:spPr>
                <p:txBody>
                  <a:bodyPr/>
                  <a:lstStyle/>
                  <a:p>
                    <a:endParaRPr lang="zh-CN" altLang="en-US"/>
                  </a:p>
                </p:txBody>
              </p:sp>
              <p:sp>
                <p:nvSpPr>
                  <p:cNvPr id="69784" name="Line 12"/>
                  <p:cNvSpPr>
                    <a:spLocks noChangeShapeType="1"/>
                  </p:cNvSpPr>
                  <p:nvPr/>
                </p:nvSpPr>
                <p:spPr bwMode="auto">
                  <a:xfrm flipH="1" flipV="1">
                    <a:off x="3600" y="1721"/>
                    <a:ext cx="123" cy="122"/>
                  </a:xfrm>
                  <a:prstGeom prst="line">
                    <a:avLst/>
                  </a:prstGeom>
                  <a:noFill/>
                  <a:ln w="23813">
                    <a:solidFill>
                      <a:srgbClr val="000000"/>
                    </a:solidFill>
                    <a:round/>
                  </a:ln>
                </p:spPr>
                <p:txBody>
                  <a:bodyPr/>
                  <a:lstStyle/>
                  <a:p>
                    <a:endParaRPr lang="zh-CN" altLang="en-US"/>
                  </a:p>
                </p:txBody>
              </p:sp>
            </p:grpSp>
            <p:grpSp>
              <p:nvGrpSpPr>
                <p:cNvPr id="6" name="Group 13"/>
                <p:cNvGrpSpPr/>
                <p:nvPr/>
              </p:nvGrpSpPr>
              <p:grpSpPr bwMode="auto">
                <a:xfrm>
                  <a:off x="3600" y="2455"/>
                  <a:ext cx="367" cy="978"/>
                  <a:chOff x="3600" y="2455"/>
                  <a:chExt cx="367" cy="978"/>
                </a:xfrm>
              </p:grpSpPr>
              <p:sp>
                <p:nvSpPr>
                  <p:cNvPr id="69773" name="Line 14"/>
                  <p:cNvSpPr>
                    <a:spLocks noChangeShapeType="1"/>
                  </p:cNvSpPr>
                  <p:nvPr/>
                </p:nvSpPr>
                <p:spPr bwMode="auto">
                  <a:xfrm>
                    <a:off x="3723" y="2699"/>
                    <a:ext cx="244" cy="1"/>
                  </a:xfrm>
                  <a:prstGeom prst="line">
                    <a:avLst/>
                  </a:prstGeom>
                  <a:noFill/>
                  <a:ln w="23813">
                    <a:solidFill>
                      <a:srgbClr val="000000"/>
                    </a:solidFill>
                    <a:round/>
                  </a:ln>
                </p:spPr>
                <p:txBody>
                  <a:bodyPr/>
                  <a:lstStyle/>
                  <a:p>
                    <a:endParaRPr lang="zh-CN" altLang="en-US"/>
                  </a:p>
                </p:txBody>
              </p:sp>
              <p:sp>
                <p:nvSpPr>
                  <p:cNvPr id="69774" name="Line 15"/>
                  <p:cNvSpPr>
                    <a:spLocks noChangeShapeType="1"/>
                  </p:cNvSpPr>
                  <p:nvPr/>
                </p:nvSpPr>
                <p:spPr bwMode="auto">
                  <a:xfrm>
                    <a:off x="3723" y="2577"/>
                    <a:ext cx="1" cy="122"/>
                  </a:xfrm>
                  <a:prstGeom prst="line">
                    <a:avLst/>
                  </a:prstGeom>
                  <a:noFill/>
                  <a:ln w="23813">
                    <a:solidFill>
                      <a:srgbClr val="000000"/>
                    </a:solidFill>
                    <a:round/>
                  </a:ln>
                </p:spPr>
                <p:txBody>
                  <a:bodyPr/>
                  <a:lstStyle/>
                  <a:p>
                    <a:endParaRPr lang="zh-CN" altLang="en-US"/>
                  </a:p>
                </p:txBody>
              </p:sp>
              <p:sp>
                <p:nvSpPr>
                  <p:cNvPr id="69775" name="Line 16"/>
                  <p:cNvSpPr>
                    <a:spLocks noChangeShapeType="1"/>
                  </p:cNvSpPr>
                  <p:nvPr/>
                </p:nvSpPr>
                <p:spPr bwMode="auto">
                  <a:xfrm>
                    <a:off x="3723" y="3432"/>
                    <a:ext cx="244" cy="1"/>
                  </a:xfrm>
                  <a:prstGeom prst="line">
                    <a:avLst/>
                  </a:prstGeom>
                  <a:noFill/>
                  <a:ln w="23813">
                    <a:solidFill>
                      <a:srgbClr val="000000"/>
                    </a:solidFill>
                    <a:round/>
                  </a:ln>
                </p:spPr>
                <p:txBody>
                  <a:bodyPr/>
                  <a:lstStyle/>
                  <a:p>
                    <a:endParaRPr lang="zh-CN" altLang="en-US"/>
                  </a:p>
                </p:txBody>
              </p:sp>
              <p:sp>
                <p:nvSpPr>
                  <p:cNvPr id="69776" name="Line 17"/>
                  <p:cNvSpPr>
                    <a:spLocks noChangeShapeType="1"/>
                  </p:cNvSpPr>
                  <p:nvPr/>
                </p:nvSpPr>
                <p:spPr bwMode="auto">
                  <a:xfrm>
                    <a:off x="3723" y="3310"/>
                    <a:ext cx="1" cy="122"/>
                  </a:xfrm>
                  <a:prstGeom prst="line">
                    <a:avLst/>
                  </a:prstGeom>
                  <a:noFill/>
                  <a:ln w="23813">
                    <a:solidFill>
                      <a:srgbClr val="000000"/>
                    </a:solidFill>
                    <a:round/>
                  </a:ln>
                </p:spPr>
                <p:txBody>
                  <a:bodyPr/>
                  <a:lstStyle/>
                  <a:p>
                    <a:endParaRPr lang="zh-CN" altLang="en-US"/>
                  </a:p>
                </p:txBody>
              </p:sp>
              <p:sp>
                <p:nvSpPr>
                  <p:cNvPr id="69777" name="Line 18"/>
                  <p:cNvSpPr>
                    <a:spLocks noChangeShapeType="1"/>
                  </p:cNvSpPr>
                  <p:nvPr/>
                </p:nvSpPr>
                <p:spPr bwMode="auto">
                  <a:xfrm flipV="1">
                    <a:off x="3723" y="2455"/>
                    <a:ext cx="122" cy="122"/>
                  </a:xfrm>
                  <a:prstGeom prst="line">
                    <a:avLst/>
                  </a:prstGeom>
                  <a:noFill/>
                  <a:ln w="23813">
                    <a:solidFill>
                      <a:srgbClr val="000000"/>
                    </a:solidFill>
                    <a:round/>
                  </a:ln>
                </p:spPr>
                <p:txBody>
                  <a:bodyPr/>
                  <a:lstStyle/>
                  <a:p>
                    <a:endParaRPr lang="zh-CN" altLang="en-US"/>
                  </a:p>
                </p:txBody>
              </p:sp>
              <p:sp>
                <p:nvSpPr>
                  <p:cNvPr id="69778" name="Line 19"/>
                  <p:cNvSpPr>
                    <a:spLocks noChangeShapeType="1"/>
                  </p:cNvSpPr>
                  <p:nvPr/>
                </p:nvSpPr>
                <p:spPr bwMode="auto">
                  <a:xfrm flipV="1">
                    <a:off x="3723" y="3188"/>
                    <a:ext cx="122" cy="122"/>
                  </a:xfrm>
                  <a:prstGeom prst="line">
                    <a:avLst/>
                  </a:prstGeom>
                  <a:noFill/>
                  <a:ln w="23813">
                    <a:solidFill>
                      <a:srgbClr val="000000"/>
                    </a:solidFill>
                    <a:round/>
                  </a:ln>
                </p:spPr>
                <p:txBody>
                  <a:bodyPr/>
                  <a:lstStyle/>
                  <a:p>
                    <a:endParaRPr lang="zh-CN" altLang="en-US"/>
                  </a:p>
                </p:txBody>
              </p:sp>
              <p:sp>
                <p:nvSpPr>
                  <p:cNvPr id="69779" name="Line 20"/>
                  <p:cNvSpPr>
                    <a:spLocks noChangeShapeType="1"/>
                  </p:cNvSpPr>
                  <p:nvPr/>
                </p:nvSpPr>
                <p:spPr bwMode="auto">
                  <a:xfrm flipH="1" flipV="1">
                    <a:off x="3600" y="2455"/>
                    <a:ext cx="123" cy="122"/>
                  </a:xfrm>
                  <a:prstGeom prst="line">
                    <a:avLst/>
                  </a:prstGeom>
                  <a:noFill/>
                  <a:ln w="23813">
                    <a:solidFill>
                      <a:srgbClr val="000000"/>
                    </a:solidFill>
                    <a:round/>
                  </a:ln>
                </p:spPr>
                <p:txBody>
                  <a:bodyPr/>
                  <a:lstStyle/>
                  <a:p>
                    <a:endParaRPr lang="zh-CN" altLang="en-US"/>
                  </a:p>
                </p:txBody>
              </p:sp>
              <p:sp>
                <p:nvSpPr>
                  <p:cNvPr id="69780" name="Line 21"/>
                  <p:cNvSpPr>
                    <a:spLocks noChangeShapeType="1"/>
                  </p:cNvSpPr>
                  <p:nvPr/>
                </p:nvSpPr>
                <p:spPr bwMode="auto">
                  <a:xfrm flipH="1" flipV="1">
                    <a:off x="3600" y="3188"/>
                    <a:ext cx="123" cy="122"/>
                  </a:xfrm>
                  <a:prstGeom prst="line">
                    <a:avLst/>
                  </a:prstGeom>
                  <a:noFill/>
                  <a:ln w="23813">
                    <a:solidFill>
                      <a:srgbClr val="000000"/>
                    </a:solidFill>
                    <a:round/>
                  </a:ln>
                </p:spPr>
                <p:txBody>
                  <a:bodyPr/>
                  <a:lstStyle/>
                  <a:p>
                    <a:endParaRPr lang="zh-CN" altLang="en-US"/>
                  </a:p>
                </p:txBody>
              </p:sp>
            </p:grpSp>
          </p:grpSp>
          <p:grpSp>
            <p:nvGrpSpPr>
              <p:cNvPr id="7" name="Group 22"/>
              <p:cNvGrpSpPr/>
              <p:nvPr/>
            </p:nvGrpSpPr>
            <p:grpSpPr bwMode="auto">
              <a:xfrm>
                <a:off x="3876" y="1843"/>
                <a:ext cx="637" cy="1723"/>
                <a:chOff x="3967" y="1843"/>
                <a:chExt cx="637" cy="1723"/>
              </a:xfrm>
            </p:grpSpPr>
            <p:sp>
              <p:nvSpPr>
                <p:cNvPr id="69763" name="Rectangle 23"/>
                <p:cNvSpPr>
                  <a:spLocks noChangeArrowheads="1"/>
                </p:cNvSpPr>
                <p:nvPr/>
              </p:nvSpPr>
              <p:spPr bwMode="auto">
                <a:xfrm>
                  <a:off x="3967" y="3319"/>
                  <a:ext cx="546" cy="247"/>
                </a:xfrm>
                <a:prstGeom prst="rect">
                  <a:avLst/>
                </a:prstGeom>
                <a:solidFill>
                  <a:srgbClr val="D9B3FF"/>
                </a:solidFill>
                <a:ln w="23813">
                  <a:noFill/>
                  <a:miter lim="800000"/>
                </a:ln>
              </p:spPr>
              <p:txBody>
                <a:bodyPr/>
                <a:lstStyle/>
                <a:p>
                  <a:pPr marL="342900" indent="-342900" algn="ctr">
                    <a:spcBef>
                      <a:spcPct val="20000"/>
                    </a:spcBef>
                    <a:buClr>
                      <a:schemeClr val="hlink"/>
                    </a:buClr>
                  </a:pPr>
                  <a:r>
                    <a:rPr lang="en-US" altLang="zh-CN" sz="1400" b="1" dirty="0">
                      <a:solidFill>
                        <a:srgbClr val="000000"/>
                      </a:solidFill>
                      <a:latin typeface="Times New Roman" panose="02020603050405020304" pitchFamily="18" charset="0"/>
                    </a:rPr>
                    <a:t>MS</a:t>
                  </a:r>
                  <a:r>
                    <a:rPr lang="en-US" altLang="zh-CN" sz="1400" b="1" baseline="-25000" dirty="0">
                      <a:solidFill>
                        <a:srgbClr val="000000"/>
                      </a:solidFill>
                      <a:latin typeface="Times New Roman" panose="02020603050405020304" pitchFamily="18" charset="0"/>
                    </a:rPr>
                    <a:t>3</a:t>
                  </a:r>
                  <a:endParaRPr lang="en-US" altLang="zh-CN" sz="1400" b="1" baseline="-25000" dirty="0">
                    <a:solidFill>
                      <a:srgbClr val="000000"/>
                    </a:solidFill>
                    <a:latin typeface="Times New Roman" panose="02020603050405020304" pitchFamily="18" charset="0"/>
                  </a:endParaRPr>
                </a:p>
              </p:txBody>
            </p:sp>
            <p:sp>
              <p:nvSpPr>
                <p:cNvPr id="89112" name="Rectangle 24"/>
                <p:cNvSpPr>
                  <a:spLocks noChangeArrowheads="1"/>
                </p:cNvSpPr>
                <p:nvPr/>
              </p:nvSpPr>
              <p:spPr bwMode="auto">
                <a:xfrm>
                  <a:off x="3969" y="1845"/>
                  <a:ext cx="635" cy="245"/>
                </a:xfrm>
                <a:prstGeom prst="rect">
                  <a:avLst/>
                </a:prstGeom>
                <a:solidFill>
                  <a:schemeClr val="hlink"/>
                </a:solidFill>
                <a:ln w="23813">
                  <a:noFill/>
                  <a:miter lim="800000"/>
                </a:ln>
              </p:spPr>
              <p:txBody>
                <a:bodyPr/>
                <a:lstStyle/>
                <a:p>
                  <a:pPr marL="342900" indent="-342900" algn="ctr">
                    <a:spcBef>
                      <a:spcPct val="20000"/>
                    </a:spcBef>
                    <a:buClr>
                      <a:schemeClr val="hlink"/>
                    </a:buClr>
                    <a:defRPr/>
                  </a:pPr>
                  <a:r>
                    <a:rPr lang="en-US" altLang="zh-CN" sz="1400" b="1">
                      <a:effectLst>
                        <a:outerShdw blurRad="38100" dist="38100" dir="2700000" algn="tl">
                          <a:srgbClr val="000000"/>
                        </a:outerShdw>
                      </a:effectLst>
                      <a:latin typeface="Times New Roman" panose="02020603050405020304" pitchFamily="18" charset="0"/>
                    </a:rPr>
                    <a:t>MS</a:t>
                  </a:r>
                  <a:r>
                    <a:rPr lang="en-US" altLang="zh-CN" sz="1400" b="1" baseline="-25000">
                      <a:effectLst>
                        <a:outerShdw blurRad="38100" dist="38100" dir="2700000" algn="tl">
                          <a:srgbClr val="000000"/>
                        </a:outerShdw>
                      </a:effectLst>
                      <a:latin typeface="Times New Roman" panose="02020603050405020304" pitchFamily="18" charset="0"/>
                    </a:rPr>
                    <a:t>1</a:t>
                  </a:r>
                  <a:endParaRPr lang="en-US" altLang="zh-CN" sz="1400" b="1" baseline="-25000">
                    <a:effectLst>
                      <a:outerShdw blurRad="38100" dist="38100" dir="2700000" algn="tl">
                        <a:srgbClr val="000000"/>
                      </a:outerShdw>
                    </a:effectLst>
                    <a:latin typeface="Times New Roman" panose="02020603050405020304" pitchFamily="18" charset="0"/>
                  </a:endParaRPr>
                </a:p>
              </p:txBody>
            </p:sp>
            <p:sp>
              <p:nvSpPr>
                <p:cNvPr id="69765" name="Rectangle 25"/>
                <p:cNvSpPr>
                  <a:spLocks noChangeArrowheads="1"/>
                </p:cNvSpPr>
                <p:nvPr/>
              </p:nvSpPr>
              <p:spPr bwMode="auto">
                <a:xfrm>
                  <a:off x="3967" y="2577"/>
                  <a:ext cx="591" cy="247"/>
                </a:xfrm>
                <a:prstGeom prst="rect">
                  <a:avLst/>
                </a:prstGeom>
                <a:solidFill>
                  <a:srgbClr val="FFFF0D"/>
                </a:solidFill>
                <a:ln w="23813">
                  <a:noFill/>
                  <a:miter lim="800000"/>
                </a:ln>
              </p:spPr>
              <p:txBody>
                <a:bodyPr/>
                <a:lstStyle/>
                <a:p>
                  <a:pPr marL="342900" indent="-342900" algn="ctr">
                    <a:spcBef>
                      <a:spcPct val="20000"/>
                    </a:spcBef>
                    <a:buClr>
                      <a:schemeClr val="hlink"/>
                    </a:buClr>
                  </a:pPr>
                  <a:r>
                    <a:rPr lang="en-US" altLang="zh-CN" sz="1400" b="1">
                      <a:solidFill>
                        <a:srgbClr val="000000"/>
                      </a:solidFill>
                      <a:latin typeface="Times New Roman" panose="02020603050405020304" pitchFamily="18" charset="0"/>
                    </a:rPr>
                    <a:t>MS</a:t>
                  </a:r>
                  <a:r>
                    <a:rPr lang="en-US" altLang="zh-CN" sz="2000" b="1" baseline="-25000">
                      <a:solidFill>
                        <a:srgbClr val="000000"/>
                      </a:solidFill>
                      <a:latin typeface="Times New Roman" panose="02020603050405020304" pitchFamily="18" charset="0"/>
                    </a:rPr>
                    <a:t>2</a:t>
                  </a:r>
                  <a:endParaRPr lang="en-US" altLang="zh-CN" sz="2000" b="1" baseline="-25000">
                    <a:solidFill>
                      <a:srgbClr val="000000"/>
                    </a:solidFill>
                    <a:latin typeface="Times New Roman" panose="02020603050405020304" pitchFamily="18" charset="0"/>
                  </a:endParaRPr>
                </a:p>
              </p:txBody>
            </p:sp>
            <p:grpSp>
              <p:nvGrpSpPr>
                <p:cNvPr id="8" name="Group 26"/>
                <p:cNvGrpSpPr/>
                <p:nvPr/>
              </p:nvGrpSpPr>
              <p:grpSpPr bwMode="auto">
                <a:xfrm>
                  <a:off x="4203" y="2936"/>
                  <a:ext cx="16" cy="382"/>
                  <a:chOff x="4203" y="2936"/>
                  <a:chExt cx="16" cy="382"/>
                </a:xfrm>
              </p:grpSpPr>
              <p:sp>
                <p:nvSpPr>
                  <p:cNvPr id="69767" name="Freeform 27"/>
                  <p:cNvSpPr/>
                  <p:nvPr/>
                </p:nvSpPr>
                <p:spPr bwMode="auto">
                  <a:xfrm>
                    <a:off x="4203" y="2936"/>
                    <a:ext cx="16" cy="76"/>
                  </a:xfrm>
                  <a:custGeom>
                    <a:avLst/>
                    <a:gdLst>
                      <a:gd name="T0" fmla="*/ 16 w 16"/>
                      <a:gd name="T1" fmla="*/ 10 h 76"/>
                      <a:gd name="T2" fmla="*/ 16 w 16"/>
                      <a:gd name="T3" fmla="*/ 7 h 76"/>
                      <a:gd name="T4" fmla="*/ 13 w 16"/>
                      <a:gd name="T5" fmla="*/ 5 h 76"/>
                      <a:gd name="T6" fmla="*/ 11 w 16"/>
                      <a:gd name="T7" fmla="*/ 2 h 76"/>
                      <a:gd name="T8" fmla="*/ 8 w 16"/>
                      <a:gd name="T9" fmla="*/ 0 h 76"/>
                      <a:gd name="T10" fmla="*/ 8 w 16"/>
                      <a:gd name="T11" fmla="*/ 0 h 76"/>
                      <a:gd name="T12" fmla="*/ 6 w 16"/>
                      <a:gd name="T13" fmla="*/ 2 h 76"/>
                      <a:gd name="T14" fmla="*/ 3 w 16"/>
                      <a:gd name="T15" fmla="*/ 5 h 76"/>
                      <a:gd name="T16" fmla="*/ 0 w 16"/>
                      <a:gd name="T17" fmla="*/ 7 h 76"/>
                      <a:gd name="T18" fmla="*/ 0 w 16"/>
                      <a:gd name="T19" fmla="*/ 66 h 76"/>
                      <a:gd name="T20" fmla="*/ 0 w 16"/>
                      <a:gd name="T21" fmla="*/ 68 h 76"/>
                      <a:gd name="T22" fmla="*/ 3 w 16"/>
                      <a:gd name="T23" fmla="*/ 71 h 76"/>
                      <a:gd name="T24" fmla="*/ 6 w 16"/>
                      <a:gd name="T25" fmla="*/ 74 h 76"/>
                      <a:gd name="T26" fmla="*/ 8 w 16"/>
                      <a:gd name="T27" fmla="*/ 76 h 76"/>
                      <a:gd name="T28" fmla="*/ 11 w 16"/>
                      <a:gd name="T29" fmla="*/ 76 h 76"/>
                      <a:gd name="T30" fmla="*/ 13 w 16"/>
                      <a:gd name="T31" fmla="*/ 74 h 76"/>
                      <a:gd name="T32" fmla="*/ 16 w 16"/>
                      <a:gd name="T33" fmla="*/ 71 h 76"/>
                      <a:gd name="T34" fmla="*/ 16 w 16"/>
                      <a:gd name="T35" fmla="*/ 68 h 76"/>
                      <a:gd name="T36" fmla="*/ 16 w 16"/>
                      <a:gd name="T37" fmla="*/ 1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6"/>
                      <a:gd name="T59" fmla="*/ 16 w 16"/>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6">
                        <a:moveTo>
                          <a:pt x="16" y="10"/>
                        </a:moveTo>
                        <a:lnTo>
                          <a:pt x="16" y="7"/>
                        </a:lnTo>
                        <a:lnTo>
                          <a:pt x="13" y="5"/>
                        </a:lnTo>
                        <a:lnTo>
                          <a:pt x="11" y="2"/>
                        </a:lnTo>
                        <a:lnTo>
                          <a:pt x="8" y="0"/>
                        </a:lnTo>
                        <a:lnTo>
                          <a:pt x="6" y="2"/>
                        </a:lnTo>
                        <a:lnTo>
                          <a:pt x="3" y="5"/>
                        </a:lnTo>
                        <a:lnTo>
                          <a:pt x="0" y="7"/>
                        </a:lnTo>
                        <a:lnTo>
                          <a:pt x="0" y="66"/>
                        </a:lnTo>
                        <a:lnTo>
                          <a:pt x="0" y="68"/>
                        </a:lnTo>
                        <a:lnTo>
                          <a:pt x="3" y="71"/>
                        </a:lnTo>
                        <a:lnTo>
                          <a:pt x="6" y="74"/>
                        </a:lnTo>
                        <a:lnTo>
                          <a:pt x="8" y="76"/>
                        </a:lnTo>
                        <a:lnTo>
                          <a:pt x="11" y="76"/>
                        </a:lnTo>
                        <a:lnTo>
                          <a:pt x="13" y="74"/>
                        </a:lnTo>
                        <a:lnTo>
                          <a:pt x="16" y="71"/>
                        </a:lnTo>
                        <a:lnTo>
                          <a:pt x="16" y="68"/>
                        </a:lnTo>
                        <a:lnTo>
                          <a:pt x="16" y="10"/>
                        </a:lnTo>
                        <a:close/>
                      </a:path>
                    </a:pathLst>
                  </a:custGeom>
                  <a:solidFill>
                    <a:srgbClr val="000000"/>
                  </a:solidFill>
                  <a:ln w="9525">
                    <a:noFill/>
                    <a:round/>
                  </a:ln>
                </p:spPr>
                <p:txBody>
                  <a:bodyPr/>
                  <a:lstStyle/>
                  <a:p>
                    <a:endParaRPr lang="zh-CN" altLang="en-US"/>
                  </a:p>
                </p:txBody>
              </p:sp>
              <p:sp>
                <p:nvSpPr>
                  <p:cNvPr id="69768" name="Freeform 28"/>
                  <p:cNvSpPr/>
                  <p:nvPr/>
                </p:nvSpPr>
                <p:spPr bwMode="auto">
                  <a:xfrm>
                    <a:off x="4203" y="3043"/>
                    <a:ext cx="16" cy="76"/>
                  </a:xfrm>
                  <a:custGeom>
                    <a:avLst/>
                    <a:gdLst>
                      <a:gd name="T0" fmla="*/ 16 w 16"/>
                      <a:gd name="T1" fmla="*/ 7 h 76"/>
                      <a:gd name="T2" fmla="*/ 16 w 16"/>
                      <a:gd name="T3" fmla="*/ 5 h 76"/>
                      <a:gd name="T4" fmla="*/ 16 w 16"/>
                      <a:gd name="T5" fmla="*/ 2 h 76"/>
                      <a:gd name="T6" fmla="*/ 13 w 16"/>
                      <a:gd name="T7" fmla="*/ 0 h 76"/>
                      <a:gd name="T8" fmla="*/ 11 w 16"/>
                      <a:gd name="T9" fmla="*/ 0 h 76"/>
                      <a:gd name="T10" fmla="*/ 8 w 16"/>
                      <a:gd name="T11" fmla="*/ 0 h 76"/>
                      <a:gd name="T12" fmla="*/ 6 w 16"/>
                      <a:gd name="T13" fmla="*/ 0 h 76"/>
                      <a:gd name="T14" fmla="*/ 3 w 16"/>
                      <a:gd name="T15" fmla="*/ 2 h 76"/>
                      <a:gd name="T16" fmla="*/ 0 w 16"/>
                      <a:gd name="T17" fmla="*/ 5 h 76"/>
                      <a:gd name="T18" fmla="*/ 0 w 16"/>
                      <a:gd name="T19" fmla="*/ 66 h 76"/>
                      <a:gd name="T20" fmla="*/ 0 w 16"/>
                      <a:gd name="T21" fmla="*/ 68 h 76"/>
                      <a:gd name="T22" fmla="*/ 3 w 16"/>
                      <a:gd name="T23" fmla="*/ 71 h 76"/>
                      <a:gd name="T24" fmla="*/ 6 w 16"/>
                      <a:gd name="T25" fmla="*/ 73 h 76"/>
                      <a:gd name="T26" fmla="*/ 8 w 16"/>
                      <a:gd name="T27" fmla="*/ 76 h 76"/>
                      <a:gd name="T28" fmla="*/ 11 w 16"/>
                      <a:gd name="T29" fmla="*/ 76 h 76"/>
                      <a:gd name="T30" fmla="*/ 13 w 16"/>
                      <a:gd name="T31" fmla="*/ 73 h 76"/>
                      <a:gd name="T32" fmla="*/ 16 w 16"/>
                      <a:gd name="T33" fmla="*/ 71 h 76"/>
                      <a:gd name="T34" fmla="*/ 16 w 16"/>
                      <a:gd name="T35" fmla="*/ 68 h 76"/>
                      <a:gd name="T36" fmla="*/ 16 w 16"/>
                      <a:gd name="T37" fmla="*/ 7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6"/>
                      <a:gd name="T59" fmla="*/ 16 w 16"/>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6">
                        <a:moveTo>
                          <a:pt x="16" y="7"/>
                        </a:moveTo>
                        <a:lnTo>
                          <a:pt x="16" y="5"/>
                        </a:lnTo>
                        <a:lnTo>
                          <a:pt x="16" y="2"/>
                        </a:lnTo>
                        <a:lnTo>
                          <a:pt x="13" y="0"/>
                        </a:lnTo>
                        <a:lnTo>
                          <a:pt x="11" y="0"/>
                        </a:lnTo>
                        <a:lnTo>
                          <a:pt x="8" y="0"/>
                        </a:lnTo>
                        <a:lnTo>
                          <a:pt x="6" y="0"/>
                        </a:lnTo>
                        <a:lnTo>
                          <a:pt x="3" y="2"/>
                        </a:lnTo>
                        <a:lnTo>
                          <a:pt x="0" y="5"/>
                        </a:lnTo>
                        <a:lnTo>
                          <a:pt x="0" y="66"/>
                        </a:lnTo>
                        <a:lnTo>
                          <a:pt x="0" y="68"/>
                        </a:lnTo>
                        <a:lnTo>
                          <a:pt x="3" y="71"/>
                        </a:lnTo>
                        <a:lnTo>
                          <a:pt x="6" y="73"/>
                        </a:lnTo>
                        <a:lnTo>
                          <a:pt x="8" y="76"/>
                        </a:lnTo>
                        <a:lnTo>
                          <a:pt x="11" y="76"/>
                        </a:lnTo>
                        <a:lnTo>
                          <a:pt x="13" y="73"/>
                        </a:lnTo>
                        <a:lnTo>
                          <a:pt x="16" y="71"/>
                        </a:lnTo>
                        <a:lnTo>
                          <a:pt x="16" y="68"/>
                        </a:lnTo>
                        <a:lnTo>
                          <a:pt x="16" y="7"/>
                        </a:lnTo>
                        <a:close/>
                      </a:path>
                    </a:pathLst>
                  </a:custGeom>
                  <a:solidFill>
                    <a:srgbClr val="000000"/>
                  </a:solidFill>
                  <a:ln w="9525">
                    <a:noFill/>
                    <a:round/>
                  </a:ln>
                </p:spPr>
                <p:txBody>
                  <a:bodyPr/>
                  <a:lstStyle/>
                  <a:p>
                    <a:endParaRPr lang="zh-CN" altLang="en-US"/>
                  </a:p>
                </p:txBody>
              </p:sp>
              <p:sp>
                <p:nvSpPr>
                  <p:cNvPr id="69769" name="Freeform 29"/>
                  <p:cNvSpPr/>
                  <p:nvPr/>
                </p:nvSpPr>
                <p:spPr bwMode="auto">
                  <a:xfrm>
                    <a:off x="4203" y="3150"/>
                    <a:ext cx="16" cy="76"/>
                  </a:xfrm>
                  <a:custGeom>
                    <a:avLst/>
                    <a:gdLst>
                      <a:gd name="T0" fmla="*/ 16 w 16"/>
                      <a:gd name="T1" fmla="*/ 7 h 76"/>
                      <a:gd name="T2" fmla="*/ 16 w 16"/>
                      <a:gd name="T3" fmla="*/ 5 h 76"/>
                      <a:gd name="T4" fmla="*/ 16 w 16"/>
                      <a:gd name="T5" fmla="*/ 2 h 76"/>
                      <a:gd name="T6" fmla="*/ 13 w 16"/>
                      <a:gd name="T7" fmla="*/ 0 h 76"/>
                      <a:gd name="T8" fmla="*/ 11 w 16"/>
                      <a:gd name="T9" fmla="*/ 0 h 76"/>
                      <a:gd name="T10" fmla="*/ 8 w 16"/>
                      <a:gd name="T11" fmla="*/ 0 h 76"/>
                      <a:gd name="T12" fmla="*/ 6 w 16"/>
                      <a:gd name="T13" fmla="*/ 0 h 76"/>
                      <a:gd name="T14" fmla="*/ 3 w 16"/>
                      <a:gd name="T15" fmla="*/ 2 h 76"/>
                      <a:gd name="T16" fmla="*/ 0 w 16"/>
                      <a:gd name="T17" fmla="*/ 5 h 76"/>
                      <a:gd name="T18" fmla="*/ 0 w 16"/>
                      <a:gd name="T19" fmla="*/ 66 h 76"/>
                      <a:gd name="T20" fmla="*/ 0 w 16"/>
                      <a:gd name="T21" fmla="*/ 68 h 76"/>
                      <a:gd name="T22" fmla="*/ 3 w 16"/>
                      <a:gd name="T23" fmla="*/ 71 h 76"/>
                      <a:gd name="T24" fmla="*/ 6 w 16"/>
                      <a:gd name="T25" fmla="*/ 73 h 76"/>
                      <a:gd name="T26" fmla="*/ 8 w 16"/>
                      <a:gd name="T27" fmla="*/ 76 h 76"/>
                      <a:gd name="T28" fmla="*/ 11 w 16"/>
                      <a:gd name="T29" fmla="*/ 76 h 76"/>
                      <a:gd name="T30" fmla="*/ 13 w 16"/>
                      <a:gd name="T31" fmla="*/ 73 h 76"/>
                      <a:gd name="T32" fmla="*/ 16 w 16"/>
                      <a:gd name="T33" fmla="*/ 71 h 76"/>
                      <a:gd name="T34" fmla="*/ 16 w 16"/>
                      <a:gd name="T35" fmla="*/ 68 h 76"/>
                      <a:gd name="T36" fmla="*/ 16 w 16"/>
                      <a:gd name="T37" fmla="*/ 7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6"/>
                      <a:gd name="T59" fmla="*/ 16 w 16"/>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6">
                        <a:moveTo>
                          <a:pt x="16" y="7"/>
                        </a:moveTo>
                        <a:lnTo>
                          <a:pt x="16" y="5"/>
                        </a:lnTo>
                        <a:lnTo>
                          <a:pt x="16" y="2"/>
                        </a:lnTo>
                        <a:lnTo>
                          <a:pt x="13" y="0"/>
                        </a:lnTo>
                        <a:lnTo>
                          <a:pt x="11" y="0"/>
                        </a:lnTo>
                        <a:lnTo>
                          <a:pt x="8" y="0"/>
                        </a:lnTo>
                        <a:lnTo>
                          <a:pt x="6" y="0"/>
                        </a:lnTo>
                        <a:lnTo>
                          <a:pt x="3" y="2"/>
                        </a:lnTo>
                        <a:lnTo>
                          <a:pt x="0" y="5"/>
                        </a:lnTo>
                        <a:lnTo>
                          <a:pt x="0" y="66"/>
                        </a:lnTo>
                        <a:lnTo>
                          <a:pt x="0" y="68"/>
                        </a:lnTo>
                        <a:lnTo>
                          <a:pt x="3" y="71"/>
                        </a:lnTo>
                        <a:lnTo>
                          <a:pt x="6" y="73"/>
                        </a:lnTo>
                        <a:lnTo>
                          <a:pt x="8" y="76"/>
                        </a:lnTo>
                        <a:lnTo>
                          <a:pt x="11" y="76"/>
                        </a:lnTo>
                        <a:lnTo>
                          <a:pt x="13" y="73"/>
                        </a:lnTo>
                        <a:lnTo>
                          <a:pt x="16" y="71"/>
                        </a:lnTo>
                        <a:lnTo>
                          <a:pt x="16" y="68"/>
                        </a:lnTo>
                        <a:lnTo>
                          <a:pt x="16" y="7"/>
                        </a:lnTo>
                        <a:close/>
                      </a:path>
                    </a:pathLst>
                  </a:custGeom>
                  <a:solidFill>
                    <a:srgbClr val="000000"/>
                  </a:solidFill>
                  <a:ln w="9525">
                    <a:noFill/>
                    <a:round/>
                  </a:ln>
                </p:spPr>
                <p:txBody>
                  <a:bodyPr/>
                  <a:lstStyle/>
                  <a:p>
                    <a:endParaRPr lang="zh-CN" altLang="en-US"/>
                  </a:p>
                </p:txBody>
              </p:sp>
              <p:sp>
                <p:nvSpPr>
                  <p:cNvPr id="69770" name="Freeform 30"/>
                  <p:cNvSpPr/>
                  <p:nvPr/>
                </p:nvSpPr>
                <p:spPr bwMode="auto">
                  <a:xfrm>
                    <a:off x="4203" y="3256"/>
                    <a:ext cx="16" cy="62"/>
                  </a:xfrm>
                  <a:custGeom>
                    <a:avLst/>
                    <a:gdLst>
                      <a:gd name="T0" fmla="*/ 16 w 16"/>
                      <a:gd name="T1" fmla="*/ 8 h 62"/>
                      <a:gd name="T2" fmla="*/ 16 w 16"/>
                      <a:gd name="T3" fmla="*/ 6 h 62"/>
                      <a:gd name="T4" fmla="*/ 16 w 16"/>
                      <a:gd name="T5" fmla="*/ 3 h 62"/>
                      <a:gd name="T6" fmla="*/ 13 w 16"/>
                      <a:gd name="T7" fmla="*/ 0 h 62"/>
                      <a:gd name="T8" fmla="*/ 11 w 16"/>
                      <a:gd name="T9" fmla="*/ 0 h 62"/>
                      <a:gd name="T10" fmla="*/ 8 w 16"/>
                      <a:gd name="T11" fmla="*/ 0 h 62"/>
                      <a:gd name="T12" fmla="*/ 6 w 16"/>
                      <a:gd name="T13" fmla="*/ 0 h 62"/>
                      <a:gd name="T14" fmla="*/ 3 w 16"/>
                      <a:gd name="T15" fmla="*/ 3 h 62"/>
                      <a:gd name="T16" fmla="*/ 0 w 16"/>
                      <a:gd name="T17" fmla="*/ 6 h 62"/>
                      <a:gd name="T18" fmla="*/ 0 w 16"/>
                      <a:gd name="T19" fmla="*/ 54 h 62"/>
                      <a:gd name="T20" fmla="*/ 0 w 16"/>
                      <a:gd name="T21" fmla="*/ 54 h 62"/>
                      <a:gd name="T22" fmla="*/ 3 w 16"/>
                      <a:gd name="T23" fmla="*/ 57 h 62"/>
                      <a:gd name="T24" fmla="*/ 6 w 16"/>
                      <a:gd name="T25" fmla="*/ 59 h 62"/>
                      <a:gd name="T26" fmla="*/ 8 w 16"/>
                      <a:gd name="T27" fmla="*/ 62 h 62"/>
                      <a:gd name="T28" fmla="*/ 8 w 16"/>
                      <a:gd name="T29" fmla="*/ 62 h 62"/>
                      <a:gd name="T30" fmla="*/ 11 w 16"/>
                      <a:gd name="T31" fmla="*/ 59 h 62"/>
                      <a:gd name="T32" fmla="*/ 13 w 16"/>
                      <a:gd name="T33" fmla="*/ 57 h 62"/>
                      <a:gd name="T34" fmla="*/ 16 w 16"/>
                      <a:gd name="T35" fmla="*/ 57 h 62"/>
                      <a:gd name="T36" fmla="*/ 16 w 16"/>
                      <a:gd name="T37" fmla="*/ 8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62"/>
                      <a:gd name="T59" fmla="*/ 16 w 16"/>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62">
                        <a:moveTo>
                          <a:pt x="16" y="8"/>
                        </a:moveTo>
                        <a:lnTo>
                          <a:pt x="16" y="6"/>
                        </a:lnTo>
                        <a:lnTo>
                          <a:pt x="16" y="3"/>
                        </a:lnTo>
                        <a:lnTo>
                          <a:pt x="13" y="0"/>
                        </a:lnTo>
                        <a:lnTo>
                          <a:pt x="11" y="0"/>
                        </a:lnTo>
                        <a:lnTo>
                          <a:pt x="8" y="0"/>
                        </a:lnTo>
                        <a:lnTo>
                          <a:pt x="6" y="0"/>
                        </a:lnTo>
                        <a:lnTo>
                          <a:pt x="3" y="3"/>
                        </a:lnTo>
                        <a:lnTo>
                          <a:pt x="0" y="6"/>
                        </a:lnTo>
                        <a:lnTo>
                          <a:pt x="0" y="54"/>
                        </a:lnTo>
                        <a:lnTo>
                          <a:pt x="3" y="57"/>
                        </a:lnTo>
                        <a:lnTo>
                          <a:pt x="6" y="59"/>
                        </a:lnTo>
                        <a:lnTo>
                          <a:pt x="8" y="62"/>
                        </a:lnTo>
                        <a:lnTo>
                          <a:pt x="11" y="59"/>
                        </a:lnTo>
                        <a:lnTo>
                          <a:pt x="13" y="57"/>
                        </a:lnTo>
                        <a:lnTo>
                          <a:pt x="16" y="57"/>
                        </a:lnTo>
                        <a:lnTo>
                          <a:pt x="16" y="8"/>
                        </a:lnTo>
                        <a:close/>
                      </a:path>
                    </a:pathLst>
                  </a:custGeom>
                  <a:solidFill>
                    <a:srgbClr val="000000"/>
                  </a:solidFill>
                  <a:ln w="9525">
                    <a:noFill/>
                    <a:round/>
                  </a:ln>
                </p:spPr>
                <p:txBody>
                  <a:bodyPr/>
                  <a:lstStyle/>
                  <a:p>
                    <a:endParaRPr lang="zh-CN" altLang="en-US"/>
                  </a:p>
                </p:txBody>
              </p:sp>
            </p:grpSp>
          </p:grpSp>
          <p:grpSp>
            <p:nvGrpSpPr>
              <p:cNvPr id="9" name="Group 31"/>
              <p:cNvGrpSpPr/>
              <p:nvPr/>
            </p:nvGrpSpPr>
            <p:grpSpPr bwMode="auto">
              <a:xfrm>
                <a:off x="784" y="1890"/>
                <a:ext cx="735" cy="1495"/>
                <a:chOff x="670" y="1843"/>
                <a:chExt cx="735" cy="1495"/>
              </a:xfrm>
            </p:grpSpPr>
            <p:grpSp>
              <p:nvGrpSpPr>
                <p:cNvPr id="10" name="Group 32"/>
                <p:cNvGrpSpPr/>
                <p:nvPr/>
              </p:nvGrpSpPr>
              <p:grpSpPr bwMode="auto">
                <a:xfrm>
                  <a:off x="670" y="2943"/>
                  <a:ext cx="735" cy="395"/>
                  <a:chOff x="670" y="2943"/>
                  <a:chExt cx="735" cy="395"/>
                </a:xfrm>
              </p:grpSpPr>
              <p:sp>
                <p:nvSpPr>
                  <p:cNvPr id="89121" name="Rectangle 33"/>
                  <p:cNvSpPr>
                    <a:spLocks noChangeArrowheads="1"/>
                  </p:cNvSpPr>
                  <p:nvPr/>
                </p:nvSpPr>
                <p:spPr bwMode="auto">
                  <a:xfrm>
                    <a:off x="670" y="2943"/>
                    <a:ext cx="492" cy="306"/>
                  </a:xfrm>
                  <a:prstGeom prst="rect">
                    <a:avLst/>
                  </a:prstGeom>
                  <a:solidFill>
                    <a:srgbClr val="FF1919"/>
                  </a:solidFill>
                  <a:ln w="23813">
                    <a:solidFill>
                      <a:srgbClr val="000000"/>
                    </a:solidFill>
                    <a:miter lim="800000"/>
                  </a:ln>
                </p:spPr>
                <p:txBody>
                  <a:bodyPr/>
                  <a:lstStyle/>
                  <a:p>
                    <a:pPr marL="342900" indent="-342900" algn="ctr">
                      <a:spcBef>
                        <a:spcPct val="20000"/>
                      </a:spcBef>
                      <a:buClr>
                        <a:schemeClr val="hlink"/>
                      </a:buClr>
                      <a:defRPr/>
                    </a:pPr>
                    <a:r>
                      <a:rPr lang="en-US" altLang="zh-CN" sz="1600" b="1">
                        <a:effectLst>
                          <a:outerShdw blurRad="38100" dist="38100" dir="2700000" algn="tl">
                            <a:srgbClr val="000000"/>
                          </a:outerShdw>
                        </a:effectLst>
                        <a:latin typeface="Times New Roman" panose="02020603050405020304" pitchFamily="18" charset="0"/>
                      </a:rPr>
                      <a:t>BS</a:t>
                    </a:r>
                    <a:endParaRPr lang="en-US" altLang="zh-CN" sz="1600" b="1">
                      <a:effectLst>
                        <a:outerShdw blurRad="38100" dist="38100" dir="2700000" algn="tl">
                          <a:srgbClr val="000000"/>
                        </a:outerShdw>
                      </a:effectLst>
                      <a:latin typeface="Times New Roman" panose="02020603050405020304" pitchFamily="18" charset="0"/>
                    </a:endParaRPr>
                  </a:p>
                </p:txBody>
              </p:sp>
              <p:sp>
                <p:nvSpPr>
                  <p:cNvPr id="69762" name="Rectangle 34"/>
                  <p:cNvSpPr>
                    <a:spLocks noChangeArrowheads="1"/>
                  </p:cNvSpPr>
                  <p:nvPr/>
                </p:nvSpPr>
                <p:spPr bwMode="auto">
                  <a:xfrm>
                    <a:off x="670" y="2943"/>
                    <a:ext cx="735" cy="395"/>
                  </a:xfrm>
                  <a:prstGeom prst="rect">
                    <a:avLst/>
                  </a:prstGeom>
                  <a:noFill/>
                  <a:ln w="9525">
                    <a:noFill/>
                    <a:miter lim="800000"/>
                  </a:ln>
                </p:spPr>
                <p:txBody>
                  <a:bodyPr/>
                  <a:lstStyle/>
                  <a:p>
                    <a:endParaRPr lang="zh-CN" altLang="en-US"/>
                  </a:p>
                </p:txBody>
              </p:sp>
            </p:grpSp>
            <p:grpSp>
              <p:nvGrpSpPr>
                <p:cNvPr id="11" name="Group 35"/>
                <p:cNvGrpSpPr/>
                <p:nvPr/>
              </p:nvGrpSpPr>
              <p:grpSpPr bwMode="auto">
                <a:xfrm>
                  <a:off x="792" y="1843"/>
                  <a:ext cx="244" cy="1100"/>
                  <a:chOff x="792" y="1843"/>
                  <a:chExt cx="244" cy="1100"/>
                </a:xfrm>
              </p:grpSpPr>
              <p:sp>
                <p:nvSpPr>
                  <p:cNvPr id="69758" name="Line 36"/>
                  <p:cNvSpPr>
                    <a:spLocks noChangeShapeType="1"/>
                  </p:cNvSpPr>
                  <p:nvPr/>
                </p:nvSpPr>
                <p:spPr bwMode="auto">
                  <a:xfrm>
                    <a:off x="914" y="1843"/>
                    <a:ext cx="1" cy="1100"/>
                  </a:xfrm>
                  <a:prstGeom prst="line">
                    <a:avLst/>
                  </a:prstGeom>
                  <a:noFill/>
                  <a:ln w="23813">
                    <a:solidFill>
                      <a:srgbClr val="000000"/>
                    </a:solidFill>
                    <a:round/>
                  </a:ln>
                </p:spPr>
                <p:txBody>
                  <a:bodyPr/>
                  <a:lstStyle/>
                  <a:p>
                    <a:endParaRPr lang="zh-CN" altLang="en-US"/>
                  </a:p>
                </p:txBody>
              </p:sp>
              <p:sp>
                <p:nvSpPr>
                  <p:cNvPr id="69759" name="Line 37"/>
                  <p:cNvSpPr>
                    <a:spLocks noChangeShapeType="1"/>
                  </p:cNvSpPr>
                  <p:nvPr/>
                </p:nvSpPr>
                <p:spPr bwMode="auto">
                  <a:xfrm flipH="1" flipV="1">
                    <a:off x="792" y="1843"/>
                    <a:ext cx="122" cy="123"/>
                  </a:xfrm>
                  <a:prstGeom prst="line">
                    <a:avLst/>
                  </a:prstGeom>
                  <a:noFill/>
                  <a:ln w="23813">
                    <a:solidFill>
                      <a:srgbClr val="000000"/>
                    </a:solidFill>
                    <a:round/>
                  </a:ln>
                </p:spPr>
                <p:txBody>
                  <a:bodyPr/>
                  <a:lstStyle/>
                  <a:p>
                    <a:endParaRPr lang="zh-CN" altLang="en-US"/>
                  </a:p>
                </p:txBody>
              </p:sp>
              <p:sp>
                <p:nvSpPr>
                  <p:cNvPr id="69760" name="Line 38"/>
                  <p:cNvSpPr>
                    <a:spLocks noChangeShapeType="1"/>
                  </p:cNvSpPr>
                  <p:nvPr/>
                </p:nvSpPr>
                <p:spPr bwMode="auto">
                  <a:xfrm flipV="1">
                    <a:off x="914" y="1843"/>
                    <a:ext cx="122" cy="123"/>
                  </a:xfrm>
                  <a:prstGeom prst="line">
                    <a:avLst/>
                  </a:prstGeom>
                  <a:noFill/>
                  <a:ln w="23813">
                    <a:solidFill>
                      <a:srgbClr val="000000"/>
                    </a:solidFill>
                    <a:round/>
                  </a:ln>
                </p:spPr>
                <p:txBody>
                  <a:bodyPr/>
                  <a:lstStyle/>
                  <a:p>
                    <a:endParaRPr lang="zh-CN" altLang="en-US"/>
                  </a:p>
                </p:txBody>
              </p:sp>
            </p:grpSp>
          </p:grpSp>
        </p:grpSp>
        <p:grpSp>
          <p:nvGrpSpPr>
            <p:cNvPr id="12" name="Group 39"/>
            <p:cNvGrpSpPr/>
            <p:nvPr/>
          </p:nvGrpSpPr>
          <p:grpSpPr bwMode="auto">
            <a:xfrm>
              <a:off x="1383" y="1616"/>
              <a:ext cx="2076" cy="2179"/>
              <a:chOff x="1383" y="1616"/>
              <a:chExt cx="2076" cy="2179"/>
            </a:xfrm>
          </p:grpSpPr>
          <p:grpSp>
            <p:nvGrpSpPr>
              <p:cNvPr id="13" name="Group 40"/>
              <p:cNvGrpSpPr/>
              <p:nvPr/>
            </p:nvGrpSpPr>
            <p:grpSpPr bwMode="auto">
              <a:xfrm>
                <a:off x="2018" y="2251"/>
                <a:ext cx="136" cy="307"/>
                <a:chOff x="2018" y="2251"/>
                <a:chExt cx="136" cy="307"/>
              </a:xfrm>
            </p:grpSpPr>
            <p:sp>
              <p:nvSpPr>
                <p:cNvPr id="69748" name="Rectangle 41"/>
                <p:cNvSpPr>
                  <a:spLocks noChangeArrowheads="1"/>
                </p:cNvSpPr>
                <p:nvPr/>
              </p:nvSpPr>
              <p:spPr bwMode="auto">
                <a:xfrm>
                  <a:off x="2018" y="2251"/>
                  <a:ext cx="136" cy="307"/>
                </a:xfrm>
                <a:prstGeom prst="rect">
                  <a:avLst/>
                </a:prstGeom>
                <a:solidFill>
                  <a:srgbClr val="FFFF0D"/>
                </a:solidFill>
                <a:ln w="9525" algn="ctr">
                  <a:noFill/>
                  <a:miter lim="800000"/>
                </a:ln>
              </p:spPr>
              <p:txBody>
                <a:bodyPr/>
                <a:lstStyle/>
                <a:p>
                  <a:pPr>
                    <a:spcBef>
                      <a:spcPct val="20000"/>
                    </a:spcBef>
                    <a:buClr>
                      <a:schemeClr val="hlink"/>
                    </a:buClr>
                    <a:buFont typeface="Wingdings" panose="05000000000000000000" pitchFamily="2" charset="2"/>
                    <a:buNone/>
                  </a:pPr>
                  <a:endParaRPr lang="zh-CN" altLang="zh-CN" sz="2200" b="1">
                    <a:solidFill>
                      <a:schemeClr val="tx2"/>
                    </a:solidFill>
                    <a:latin typeface="Verdana" panose="020B0604030504040204" pitchFamily="34" charset="0"/>
                  </a:endParaRPr>
                </a:p>
              </p:txBody>
            </p:sp>
            <p:sp>
              <p:nvSpPr>
                <p:cNvPr id="69749" name="Line 42"/>
                <p:cNvSpPr>
                  <a:spLocks noChangeShapeType="1"/>
                </p:cNvSpPr>
                <p:nvPr/>
              </p:nvSpPr>
              <p:spPr bwMode="auto">
                <a:xfrm>
                  <a:off x="2018" y="2251"/>
                  <a:ext cx="136" cy="0"/>
                </a:xfrm>
                <a:prstGeom prst="line">
                  <a:avLst/>
                </a:prstGeom>
                <a:noFill/>
                <a:ln w="19050">
                  <a:solidFill>
                    <a:schemeClr val="tx1"/>
                  </a:solidFill>
                  <a:round/>
                </a:ln>
              </p:spPr>
              <p:txBody>
                <a:bodyPr wrap="none" anchor="ctr"/>
                <a:lstStyle/>
                <a:p>
                  <a:endParaRPr lang="zh-CN" altLang="en-US"/>
                </a:p>
              </p:txBody>
            </p:sp>
            <p:sp>
              <p:nvSpPr>
                <p:cNvPr id="69750" name="Line 43"/>
                <p:cNvSpPr>
                  <a:spLocks noChangeShapeType="1"/>
                </p:cNvSpPr>
                <p:nvPr/>
              </p:nvSpPr>
              <p:spPr bwMode="auto">
                <a:xfrm>
                  <a:off x="2018" y="2558"/>
                  <a:ext cx="136" cy="0"/>
                </a:xfrm>
                <a:prstGeom prst="line">
                  <a:avLst/>
                </a:prstGeom>
                <a:noFill/>
                <a:ln w="3175">
                  <a:solidFill>
                    <a:schemeClr val="tx1"/>
                  </a:solidFill>
                  <a:round/>
                </a:ln>
              </p:spPr>
              <p:txBody>
                <a:bodyPr wrap="none" anchor="ctr"/>
                <a:lstStyle/>
                <a:p>
                  <a:endParaRPr lang="zh-CN" altLang="en-US"/>
                </a:p>
              </p:txBody>
            </p:sp>
            <p:sp>
              <p:nvSpPr>
                <p:cNvPr id="69751" name="Line 44"/>
                <p:cNvSpPr>
                  <a:spLocks noChangeShapeType="1"/>
                </p:cNvSpPr>
                <p:nvPr/>
              </p:nvSpPr>
              <p:spPr bwMode="auto">
                <a:xfrm>
                  <a:off x="2018" y="2251"/>
                  <a:ext cx="0" cy="307"/>
                </a:xfrm>
                <a:prstGeom prst="line">
                  <a:avLst/>
                </a:prstGeom>
                <a:noFill/>
                <a:ln w="19050">
                  <a:solidFill>
                    <a:schemeClr val="tx1"/>
                  </a:solidFill>
                  <a:round/>
                </a:ln>
              </p:spPr>
              <p:txBody>
                <a:bodyPr wrap="none" anchor="ctr"/>
                <a:lstStyle/>
                <a:p>
                  <a:endParaRPr lang="zh-CN" altLang="en-US"/>
                </a:p>
              </p:txBody>
            </p:sp>
            <p:sp>
              <p:nvSpPr>
                <p:cNvPr id="69752" name="Line 45"/>
                <p:cNvSpPr>
                  <a:spLocks noChangeShapeType="1"/>
                </p:cNvSpPr>
                <p:nvPr/>
              </p:nvSpPr>
              <p:spPr bwMode="auto">
                <a:xfrm>
                  <a:off x="2154" y="2251"/>
                  <a:ext cx="0" cy="307"/>
                </a:xfrm>
                <a:prstGeom prst="line">
                  <a:avLst/>
                </a:prstGeom>
                <a:noFill/>
                <a:ln w="19050">
                  <a:solidFill>
                    <a:schemeClr val="tx1"/>
                  </a:solidFill>
                  <a:round/>
                </a:ln>
              </p:spPr>
              <p:txBody>
                <a:bodyPr wrap="none" anchor="ctr"/>
                <a:lstStyle/>
                <a:p>
                  <a:endParaRPr lang="zh-CN" altLang="en-US"/>
                </a:p>
              </p:txBody>
            </p:sp>
          </p:grpSp>
          <p:grpSp>
            <p:nvGrpSpPr>
              <p:cNvPr id="14" name="Group 46"/>
              <p:cNvGrpSpPr/>
              <p:nvPr/>
            </p:nvGrpSpPr>
            <p:grpSpPr bwMode="auto">
              <a:xfrm>
                <a:off x="1631" y="2976"/>
                <a:ext cx="115" cy="326"/>
                <a:chOff x="1631" y="2976"/>
                <a:chExt cx="115" cy="326"/>
              </a:xfrm>
            </p:grpSpPr>
            <p:sp>
              <p:nvSpPr>
                <p:cNvPr id="69743" name="Rectangle 47"/>
                <p:cNvSpPr>
                  <a:spLocks noChangeArrowheads="1"/>
                </p:cNvSpPr>
                <p:nvPr/>
              </p:nvSpPr>
              <p:spPr bwMode="auto">
                <a:xfrm>
                  <a:off x="1631" y="2976"/>
                  <a:ext cx="115" cy="326"/>
                </a:xfrm>
                <a:prstGeom prst="rect">
                  <a:avLst/>
                </a:prstGeom>
                <a:solidFill>
                  <a:srgbClr val="D9B3FF"/>
                </a:solidFill>
                <a:ln w="9525" algn="ctr">
                  <a:noFill/>
                  <a:miter lim="800000"/>
                </a:ln>
              </p:spPr>
              <p:txBody>
                <a:bodyPr/>
                <a:lstStyle/>
                <a:p>
                  <a:pPr>
                    <a:spcBef>
                      <a:spcPct val="20000"/>
                    </a:spcBef>
                    <a:buClr>
                      <a:schemeClr val="hlink"/>
                    </a:buClr>
                    <a:buFont typeface="Wingdings" panose="05000000000000000000" pitchFamily="2" charset="2"/>
                    <a:buNone/>
                  </a:pPr>
                  <a:endParaRPr lang="zh-CN" altLang="zh-CN" sz="2400" b="1">
                    <a:solidFill>
                      <a:schemeClr val="tx2"/>
                    </a:solidFill>
                    <a:latin typeface="Verdana" panose="020B0604030504040204" pitchFamily="34" charset="0"/>
                  </a:endParaRPr>
                </a:p>
              </p:txBody>
            </p:sp>
            <p:sp>
              <p:nvSpPr>
                <p:cNvPr id="69744" name="Line 48"/>
                <p:cNvSpPr>
                  <a:spLocks noChangeShapeType="1"/>
                </p:cNvSpPr>
                <p:nvPr/>
              </p:nvSpPr>
              <p:spPr bwMode="auto">
                <a:xfrm>
                  <a:off x="1631" y="2976"/>
                  <a:ext cx="115" cy="0"/>
                </a:xfrm>
                <a:prstGeom prst="line">
                  <a:avLst/>
                </a:prstGeom>
                <a:noFill/>
                <a:ln w="19050">
                  <a:solidFill>
                    <a:schemeClr val="tx1"/>
                  </a:solidFill>
                  <a:round/>
                </a:ln>
              </p:spPr>
              <p:txBody>
                <a:bodyPr wrap="none" anchor="ctr"/>
                <a:lstStyle/>
                <a:p>
                  <a:endParaRPr lang="zh-CN" altLang="en-US"/>
                </a:p>
              </p:txBody>
            </p:sp>
            <p:sp>
              <p:nvSpPr>
                <p:cNvPr id="69745" name="Line 49"/>
                <p:cNvSpPr>
                  <a:spLocks noChangeShapeType="1"/>
                </p:cNvSpPr>
                <p:nvPr/>
              </p:nvSpPr>
              <p:spPr bwMode="auto">
                <a:xfrm>
                  <a:off x="1631" y="3302"/>
                  <a:ext cx="115" cy="0"/>
                </a:xfrm>
                <a:prstGeom prst="line">
                  <a:avLst/>
                </a:prstGeom>
                <a:noFill/>
                <a:ln w="28575" cap="sq">
                  <a:noFill/>
                  <a:round/>
                </a:ln>
              </p:spPr>
              <p:txBody>
                <a:bodyPr wrap="none" anchor="ctr"/>
                <a:lstStyle/>
                <a:p>
                  <a:endParaRPr lang="zh-CN" altLang="en-US"/>
                </a:p>
              </p:txBody>
            </p:sp>
            <p:sp>
              <p:nvSpPr>
                <p:cNvPr id="69746" name="Line 50"/>
                <p:cNvSpPr>
                  <a:spLocks noChangeShapeType="1"/>
                </p:cNvSpPr>
                <p:nvPr/>
              </p:nvSpPr>
              <p:spPr bwMode="auto">
                <a:xfrm>
                  <a:off x="1631" y="2976"/>
                  <a:ext cx="0" cy="326"/>
                </a:xfrm>
                <a:prstGeom prst="line">
                  <a:avLst/>
                </a:prstGeom>
                <a:noFill/>
                <a:ln w="19050">
                  <a:solidFill>
                    <a:schemeClr val="tx1"/>
                  </a:solidFill>
                  <a:round/>
                </a:ln>
              </p:spPr>
              <p:txBody>
                <a:bodyPr wrap="none" anchor="ctr"/>
                <a:lstStyle/>
                <a:p>
                  <a:endParaRPr lang="zh-CN" altLang="en-US"/>
                </a:p>
              </p:txBody>
            </p:sp>
            <p:sp>
              <p:nvSpPr>
                <p:cNvPr id="69747" name="Line 51"/>
                <p:cNvSpPr>
                  <a:spLocks noChangeShapeType="1"/>
                </p:cNvSpPr>
                <p:nvPr/>
              </p:nvSpPr>
              <p:spPr bwMode="auto">
                <a:xfrm>
                  <a:off x="1746" y="2976"/>
                  <a:ext cx="0" cy="326"/>
                </a:xfrm>
                <a:prstGeom prst="line">
                  <a:avLst/>
                </a:prstGeom>
                <a:noFill/>
                <a:ln w="19050">
                  <a:solidFill>
                    <a:schemeClr val="tx1"/>
                  </a:solidFill>
                  <a:round/>
                </a:ln>
              </p:spPr>
              <p:txBody>
                <a:bodyPr wrap="none" anchor="ctr"/>
                <a:lstStyle/>
                <a:p>
                  <a:endParaRPr lang="zh-CN" altLang="en-US"/>
                </a:p>
              </p:txBody>
            </p:sp>
          </p:grpSp>
          <p:grpSp>
            <p:nvGrpSpPr>
              <p:cNvPr id="15" name="Group 52"/>
              <p:cNvGrpSpPr/>
              <p:nvPr/>
            </p:nvGrpSpPr>
            <p:grpSpPr bwMode="auto">
              <a:xfrm>
                <a:off x="3198" y="1616"/>
                <a:ext cx="115" cy="316"/>
                <a:chOff x="3198" y="1616"/>
                <a:chExt cx="115" cy="316"/>
              </a:xfrm>
            </p:grpSpPr>
            <p:sp>
              <p:nvSpPr>
                <p:cNvPr id="69738" name="Rectangle 53"/>
                <p:cNvSpPr>
                  <a:spLocks noChangeArrowheads="1"/>
                </p:cNvSpPr>
                <p:nvPr/>
              </p:nvSpPr>
              <p:spPr bwMode="auto">
                <a:xfrm>
                  <a:off x="3198" y="1616"/>
                  <a:ext cx="115" cy="316"/>
                </a:xfrm>
                <a:prstGeom prst="rect">
                  <a:avLst/>
                </a:prstGeom>
                <a:solidFill>
                  <a:schemeClr val="hlink"/>
                </a:solidFill>
                <a:ln w="9525" algn="ctr">
                  <a:noFill/>
                  <a:miter lim="800000"/>
                </a:ln>
              </p:spPr>
              <p:txBody>
                <a:bodyPr/>
                <a:lstStyle/>
                <a:p>
                  <a:pPr>
                    <a:spcBef>
                      <a:spcPct val="20000"/>
                    </a:spcBef>
                    <a:buClr>
                      <a:schemeClr val="hlink"/>
                    </a:buClr>
                    <a:buFont typeface="Wingdings" panose="05000000000000000000" pitchFamily="2" charset="2"/>
                    <a:buNone/>
                  </a:pPr>
                  <a:endParaRPr lang="zh-CN" altLang="zh-CN" sz="2300" b="1">
                    <a:solidFill>
                      <a:schemeClr val="tx2"/>
                    </a:solidFill>
                    <a:latin typeface="Verdana" panose="020B0604030504040204" pitchFamily="34" charset="0"/>
                  </a:endParaRPr>
                </a:p>
              </p:txBody>
            </p:sp>
            <p:sp>
              <p:nvSpPr>
                <p:cNvPr id="69739" name="Line 54"/>
                <p:cNvSpPr>
                  <a:spLocks noChangeShapeType="1"/>
                </p:cNvSpPr>
                <p:nvPr/>
              </p:nvSpPr>
              <p:spPr bwMode="auto">
                <a:xfrm>
                  <a:off x="3198" y="1616"/>
                  <a:ext cx="115" cy="0"/>
                </a:xfrm>
                <a:prstGeom prst="line">
                  <a:avLst/>
                </a:prstGeom>
                <a:noFill/>
                <a:ln w="19050">
                  <a:solidFill>
                    <a:schemeClr val="tx1"/>
                  </a:solidFill>
                  <a:round/>
                </a:ln>
              </p:spPr>
              <p:txBody>
                <a:bodyPr wrap="none" anchor="ctr"/>
                <a:lstStyle/>
                <a:p>
                  <a:endParaRPr lang="zh-CN" altLang="en-US"/>
                </a:p>
              </p:txBody>
            </p:sp>
            <p:sp>
              <p:nvSpPr>
                <p:cNvPr id="69740" name="Line 55"/>
                <p:cNvSpPr>
                  <a:spLocks noChangeShapeType="1"/>
                </p:cNvSpPr>
                <p:nvPr/>
              </p:nvSpPr>
              <p:spPr bwMode="auto">
                <a:xfrm>
                  <a:off x="3198" y="1932"/>
                  <a:ext cx="115" cy="0"/>
                </a:xfrm>
                <a:prstGeom prst="line">
                  <a:avLst/>
                </a:prstGeom>
                <a:noFill/>
                <a:ln w="19050">
                  <a:solidFill>
                    <a:schemeClr val="tx1"/>
                  </a:solidFill>
                  <a:round/>
                </a:ln>
              </p:spPr>
              <p:txBody>
                <a:bodyPr wrap="none" anchor="ctr"/>
                <a:lstStyle/>
                <a:p>
                  <a:endParaRPr lang="zh-CN" altLang="en-US"/>
                </a:p>
              </p:txBody>
            </p:sp>
            <p:sp>
              <p:nvSpPr>
                <p:cNvPr id="69741" name="Line 56"/>
                <p:cNvSpPr>
                  <a:spLocks noChangeShapeType="1"/>
                </p:cNvSpPr>
                <p:nvPr/>
              </p:nvSpPr>
              <p:spPr bwMode="auto">
                <a:xfrm>
                  <a:off x="3198" y="1616"/>
                  <a:ext cx="0" cy="316"/>
                </a:xfrm>
                <a:prstGeom prst="line">
                  <a:avLst/>
                </a:prstGeom>
                <a:noFill/>
                <a:ln w="19050">
                  <a:solidFill>
                    <a:schemeClr val="tx1"/>
                  </a:solidFill>
                  <a:round/>
                </a:ln>
              </p:spPr>
              <p:txBody>
                <a:bodyPr wrap="none" anchor="ctr"/>
                <a:lstStyle/>
                <a:p>
                  <a:endParaRPr lang="zh-CN" altLang="en-US"/>
                </a:p>
              </p:txBody>
            </p:sp>
            <p:sp>
              <p:nvSpPr>
                <p:cNvPr id="69742" name="Line 57"/>
                <p:cNvSpPr>
                  <a:spLocks noChangeShapeType="1"/>
                </p:cNvSpPr>
                <p:nvPr/>
              </p:nvSpPr>
              <p:spPr bwMode="auto">
                <a:xfrm>
                  <a:off x="3313" y="1616"/>
                  <a:ext cx="0" cy="316"/>
                </a:xfrm>
                <a:prstGeom prst="line">
                  <a:avLst/>
                </a:prstGeom>
                <a:noFill/>
                <a:ln w="28575">
                  <a:solidFill>
                    <a:schemeClr val="tx1"/>
                  </a:solidFill>
                  <a:round/>
                </a:ln>
              </p:spPr>
              <p:txBody>
                <a:bodyPr wrap="none" anchor="ctr"/>
                <a:lstStyle/>
                <a:p>
                  <a:endParaRPr lang="zh-CN" altLang="en-US"/>
                </a:p>
              </p:txBody>
            </p:sp>
          </p:grpSp>
          <p:grpSp>
            <p:nvGrpSpPr>
              <p:cNvPr id="16" name="Group 58"/>
              <p:cNvGrpSpPr/>
              <p:nvPr/>
            </p:nvGrpSpPr>
            <p:grpSpPr bwMode="auto">
              <a:xfrm>
                <a:off x="1383" y="1691"/>
                <a:ext cx="2076" cy="2104"/>
                <a:chOff x="1383" y="1691"/>
                <a:chExt cx="2076" cy="2104"/>
              </a:xfrm>
            </p:grpSpPr>
            <p:grpSp>
              <p:nvGrpSpPr>
                <p:cNvPr id="17" name="Group 59"/>
                <p:cNvGrpSpPr/>
                <p:nvPr/>
              </p:nvGrpSpPr>
              <p:grpSpPr bwMode="auto">
                <a:xfrm>
                  <a:off x="1383" y="1691"/>
                  <a:ext cx="2076" cy="2057"/>
                  <a:chOff x="1383" y="1691"/>
                  <a:chExt cx="2076" cy="2057"/>
                </a:xfrm>
              </p:grpSpPr>
              <p:sp>
                <p:nvSpPr>
                  <p:cNvPr id="69710" name="Line 60"/>
                  <p:cNvSpPr>
                    <a:spLocks noChangeShapeType="1"/>
                  </p:cNvSpPr>
                  <p:nvPr/>
                </p:nvSpPr>
                <p:spPr bwMode="auto">
                  <a:xfrm>
                    <a:off x="2607" y="3043"/>
                    <a:ext cx="1" cy="432"/>
                  </a:xfrm>
                  <a:prstGeom prst="line">
                    <a:avLst/>
                  </a:prstGeom>
                  <a:noFill/>
                  <a:ln w="23813">
                    <a:solidFill>
                      <a:srgbClr val="000000"/>
                    </a:solidFill>
                    <a:round/>
                  </a:ln>
                </p:spPr>
                <p:txBody>
                  <a:bodyPr/>
                  <a:lstStyle/>
                  <a:p>
                    <a:endParaRPr lang="zh-CN" altLang="en-US"/>
                  </a:p>
                </p:txBody>
              </p:sp>
              <p:grpSp>
                <p:nvGrpSpPr>
                  <p:cNvPr id="18" name="Group 61"/>
                  <p:cNvGrpSpPr/>
                  <p:nvPr/>
                </p:nvGrpSpPr>
                <p:grpSpPr bwMode="auto">
                  <a:xfrm>
                    <a:off x="1383" y="1691"/>
                    <a:ext cx="2076" cy="2057"/>
                    <a:chOff x="1383" y="1691"/>
                    <a:chExt cx="2076" cy="2057"/>
                  </a:xfrm>
                </p:grpSpPr>
                <p:grpSp>
                  <p:nvGrpSpPr>
                    <p:cNvPr id="19" name="Group 62"/>
                    <p:cNvGrpSpPr/>
                    <p:nvPr/>
                  </p:nvGrpSpPr>
                  <p:grpSpPr bwMode="auto">
                    <a:xfrm>
                      <a:off x="1383" y="2493"/>
                      <a:ext cx="2076" cy="107"/>
                      <a:chOff x="1402" y="2523"/>
                      <a:chExt cx="2076" cy="107"/>
                    </a:xfrm>
                  </p:grpSpPr>
                  <p:sp>
                    <p:nvSpPr>
                      <p:cNvPr id="69735" name="Line 63"/>
                      <p:cNvSpPr>
                        <a:spLocks noChangeShapeType="1"/>
                      </p:cNvSpPr>
                      <p:nvPr/>
                    </p:nvSpPr>
                    <p:spPr bwMode="auto">
                      <a:xfrm>
                        <a:off x="1499" y="2577"/>
                        <a:ext cx="1883" cy="1"/>
                      </a:xfrm>
                      <a:prstGeom prst="line">
                        <a:avLst/>
                      </a:prstGeom>
                      <a:noFill/>
                      <a:ln w="23813">
                        <a:solidFill>
                          <a:srgbClr val="000000"/>
                        </a:solidFill>
                        <a:round/>
                      </a:ln>
                    </p:spPr>
                    <p:txBody>
                      <a:bodyPr/>
                      <a:lstStyle/>
                      <a:p>
                        <a:endParaRPr lang="zh-CN" altLang="en-US"/>
                      </a:p>
                    </p:txBody>
                  </p:sp>
                  <p:sp>
                    <p:nvSpPr>
                      <p:cNvPr id="69736" name="Freeform 64"/>
                      <p:cNvSpPr/>
                      <p:nvPr/>
                    </p:nvSpPr>
                    <p:spPr bwMode="auto">
                      <a:xfrm>
                        <a:off x="1402" y="2523"/>
                        <a:ext cx="102" cy="105"/>
                      </a:xfrm>
                      <a:custGeom>
                        <a:avLst/>
                        <a:gdLst>
                          <a:gd name="T0" fmla="*/ 102 w 102"/>
                          <a:gd name="T1" fmla="*/ 0 h 105"/>
                          <a:gd name="T2" fmla="*/ 0 w 102"/>
                          <a:gd name="T3" fmla="*/ 54 h 105"/>
                          <a:gd name="T4" fmla="*/ 102 w 102"/>
                          <a:gd name="T5" fmla="*/ 105 h 105"/>
                          <a:gd name="T6" fmla="*/ 102 w 102"/>
                          <a:gd name="T7" fmla="*/ 0 h 105"/>
                          <a:gd name="T8" fmla="*/ 0 60000 65536"/>
                          <a:gd name="T9" fmla="*/ 0 60000 65536"/>
                          <a:gd name="T10" fmla="*/ 0 60000 65536"/>
                          <a:gd name="T11" fmla="*/ 0 60000 65536"/>
                          <a:gd name="T12" fmla="*/ 0 w 102"/>
                          <a:gd name="T13" fmla="*/ 0 h 105"/>
                          <a:gd name="T14" fmla="*/ 102 w 102"/>
                          <a:gd name="T15" fmla="*/ 105 h 105"/>
                        </a:gdLst>
                        <a:ahLst/>
                        <a:cxnLst>
                          <a:cxn ang="T8">
                            <a:pos x="T0" y="T1"/>
                          </a:cxn>
                          <a:cxn ang="T9">
                            <a:pos x="T2" y="T3"/>
                          </a:cxn>
                          <a:cxn ang="T10">
                            <a:pos x="T4" y="T5"/>
                          </a:cxn>
                          <a:cxn ang="T11">
                            <a:pos x="T6" y="T7"/>
                          </a:cxn>
                        </a:cxnLst>
                        <a:rect l="T12" t="T13" r="T14" b="T15"/>
                        <a:pathLst>
                          <a:path w="102" h="105">
                            <a:moveTo>
                              <a:pt x="102" y="0"/>
                            </a:moveTo>
                            <a:lnTo>
                              <a:pt x="0" y="54"/>
                            </a:lnTo>
                            <a:lnTo>
                              <a:pt x="102" y="105"/>
                            </a:lnTo>
                            <a:lnTo>
                              <a:pt x="102" y="0"/>
                            </a:lnTo>
                            <a:close/>
                          </a:path>
                        </a:pathLst>
                      </a:custGeom>
                      <a:solidFill>
                        <a:srgbClr val="000000"/>
                      </a:solidFill>
                      <a:ln w="9525">
                        <a:noFill/>
                        <a:round/>
                      </a:ln>
                    </p:spPr>
                    <p:txBody>
                      <a:bodyPr/>
                      <a:lstStyle/>
                      <a:p>
                        <a:endParaRPr lang="zh-CN" altLang="en-US"/>
                      </a:p>
                    </p:txBody>
                  </p:sp>
                  <p:sp>
                    <p:nvSpPr>
                      <p:cNvPr id="69737" name="Freeform 65"/>
                      <p:cNvSpPr/>
                      <p:nvPr/>
                    </p:nvSpPr>
                    <p:spPr bwMode="auto">
                      <a:xfrm>
                        <a:off x="3377" y="2526"/>
                        <a:ext cx="101" cy="104"/>
                      </a:xfrm>
                      <a:custGeom>
                        <a:avLst/>
                        <a:gdLst>
                          <a:gd name="T0" fmla="*/ 0 w 101"/>
                          <a:gd name="T1" fmla="*/ 104 h 104"/>
                          <a:gd name="T2" fmla="*/ 101 w 101"/>
                          <a:gd name="T3" fmla="*/ 51 h 104"/>
                          <a:gd name="T4" fmla="*/ 0 w 101"/>
                          <a:gd name="T5" fmla="*/ 0 h 104"/>
                          <a:gd name="T6" fmla="*/ 0 w 101"/>
                          <a:gd name="T7" fmla="*/ 104 h 104"/>
                          <a:gd name="T8" fmla="*/ 0 60000 65536"/>
                          <a:gd name="T9" fmla="*/ 0 60000 65536"/>
                          <a:gd name="T10" fmla="*/ 0 60000 65536"/>
                          <a:gd name="T11" fmla="*/ 0 60000 65536"/>
                          <a:gd name="T12" fmla="*/ 0 w 101"/>
                          <a:gd name="T13" fmla="*/ 0 h 104"/>
                          <a:gd name="T14" fmla="*/ 101 w 101"/>
                          <a:gd name="T15" fmla="*/ 104 h 104"/>
                        </a:gdLst>
                        <a:ahLst/>
                        <a:cxnLst>
                          <a:cxn ang="T8">
                            <a:pos x="T0" y="T1"/>
                          </a:cxn>
                          <a:cxn ang="T9">
                            <a:pos x="T2" y="T3"/>
                          </a:cxn>
                          <a:cxn ang="T10">
                            <a:pos x="T4" y="T5"/>
                          </a:cxn>
                          <a:cxn ang="T11">
                            <a:pos x="T6" y="T7"/>
                          </a:cxn>
                        </a:cxnLst>
                        <a:rect l="T12" t="T13" r="T14" b="T15"/>
                        <a:pathLst>
                          <a:path w="101" h="104">
                            <a:moveTo>
                              <a:pt x="0" y="104"/>
                            </a:moveTo>
                            <a:lnTo>
                              <a:pt x="101" y="51"/>
                            </a:lnTo>
                            <a:lnTo>
                              <a:pt x="0" y="0"/>
                            </a:lnTo>
                            <a:lnTo>
                              <a:pt x="0" y="104"/>
                            </a:lnTo>
                            <a:close/>
                          </a:path>
                        </a:pathLst>
                      </a:custGeom>
                      <a:solidFill>
                        <a:srgbClr val="000000"/>
                      </a:solidFill>
                      <a:ln w="9525">
                        <a:noFill/>
                        <a:round/>
                      </a:ln>
                    </p:spPr>
                    <p:txBody>
                      <a:bodyPr/>
                      <a:lstStyle/>
                      <a:p>
                        <a:endParaRPr lang="zh-CN" altLang="en-US"/>
                      </a:p>
                    </p:txBody>
                  </p:sp>
                </p:grpSp>
                <p:grpSp>
                  <p:nvGrpSpPr>
                    <p:cNvPr id="20" name="Group 66"/>
                    <p:cNvGrpSpPr/>
                    <p:nvPr/>
                  </p:nvGrpSpPr>
                  <p:grpSpPr bwMode="auto">
                    <a:xfrm>
                      <a:off x="1383" y="1882"/>
                      <a:ext cx="2076" cy="107"/>
                      <a:chOff x="1402" y="1912"/>
                      <a:chExt cx="2076" cy="107"/>
                    </a:xfrm>
                  </p:grpSpPr>
                  <p:sp>
                    <p:nvSpPr>
                      <p:cNvPr id="69732" name="Line 67"/>
                      <p:cNvSpPr>
                        <a:spLocks noChangeShapeType="1"/>
                      </p:cNvSpPr>
                      <p:nvPr/>
                    </p:nvSpPr>
                    <p:spPr bwMode="auto">
                      <a:xfrm>
                        <a:off x="1499" y="1966"/>
                        <a:ext cx="1883" cy="1"/>
                      </a:xfrm>
                      <a:prstGeom prst="line">
                        <a:avLst/>
                      </a:prstGeom>
                      <a:noFill/>
                      <a:ln w="23813">
                        <a:solidFill>
                          <a:srgbClr val="000000"/>
                        </a:solidFill>
                        <a:round/>
                      </a:ln>
                    </p:spPr>
                    <p:txBody>
                      <a:bodyPr/>
                      <a:lstStyle/>
                      <a:p>
                        <a:endParaRPr lang="zh-CN" altLang="en-US"/>
                      </a:p>
                    </p:txBody>
                  </p:sp>
                  <p:sp>
                    <p:nvSpPr>
                      <p:cNvPr id="69733" name="Freeform 68"/>
                      <p:cNvSpPr/>
                      <p:nvPr/>
                    </p:nvSpPr>
                    <p:spPr bwMode="auto">
                      <a:xfrm>
                        <a:off x="1402" y="1912"/>
                        <a:ext cx="102" cy="105"/>
                      </a:xfrm>
                      <a:custGeom>
                        <a:avLst/>
                        <a:gdLst>
                          <a:gd name="T0" fmla="*/ 102 w 102"/>
                          <a:gd name="T1" fmla="*/ 0 h 105"/>
                          <a:gd name="T2" fmla="*/ 0 w 102"/>
                          <a:gd name="T3" fmla="*/ 54 h 105"/>
                          <a:gd name="T4" fmla="*/ 102 w 102"/>
                          <a:gd name="T5" fmla="*/ 105 h 105"/>
                          <a:gd name="T6" fmla="*/ 102 w 102"/>
                          <a:gd name="T7" fmla="*/ 0 h 105"/>
                          <a:gd name="T8" fmla="*/ 0 60000 65536"/>
                          <a:gd name="T9" fmla="*/ 0 60000 65536"/>
                          <a:gd name="T10" fmla="*/ 0 60000 65536"/>
                          <a:gd name="T11" fmla="*/ 0 60000 65536"/>
                          <a:gd name="T12" fmla="*/ 0 w 102"/>
                          <a:gd name="T13" fmla="*/ 0 h 105"/>
                          <a:gd name="T14" fmla="*/ 102 w 102"/>
                          <a:gd name="T15" fmla="*/ 105 h 105"/>
                        </a:gdLst>
                        <a:ahLst/>
                        <a:cxnLst>
                          <a:cxn ang="T8">
                            <a:pos x="T0" y="T1"/>
                          </a:cxn>
                          <a:cxn ang="T9">
                            <a:pos x="T2" y="T3"/>
                          </a:cxn>
                          <a:cxn ang="T10">
                            <a:pos x="T4" y="T5"/>
                          </a:cxn>
                          <a:cxn ang="T11">
                            <a:pos x="T6" y="T7"/>
                          </a:cxn>
                        </a:cxnLst>
                        <a:rect l="T12" t="T13" r="T14" b="T15"/>
                        <a:pathLst>
                          <a:path w="102" h="105">
                            <a:moveTo>
                              <a:pt x="102" y="0"/>
                            </a:moveTo>
                            <a:lnTo>
                              <a:pt x="0" y="54"/>
                            </a:lnTo>
                            <a:lnTo>
                              <a:pt x="102" y="105"/>
                            </a:lnTo>
                            <a:lnTo>
                              <a:pt x="102" y="0"/>
                            </a:lnTo>
                            <a:close/>
                          </a:path>
                        </a:pathLst>
                      </a:custGeom>
                      <a:solidFill>
                        <a:srgbClr val="000000"/>
                      </a:solidFill>
                      <a:ln w="9525">
                        <a:noFill/>
                        <a:round/>
                      </a:ln>
                    </p:spPr>
                    <p:txBody>
                      <a:bodyPr/>
                      <a:lstStyle/>
                      <a:p>
                        <a:endParaRPr lang="zh-CN" altLang="en-US"/>
                      </a:p>
                    </p:txBody>
                  </p:sp>
                  <p:sp>
                    <p:nvSpPr>
                      <p:cNvPr id="69734" name="Freeform 69"/>
                      <p:cNvSpPr/>
                      <p:nvPr/>
                    </p:nvSpPr>
                    <p:spPr bwMode="auto">
                      <a:xfrm>
                        <a:off x="3377" y="1915"/>
                        <a:ext cx="101" cy="104"/>
                      </a:xfrm>
                      <a:custGeom>
                        <a:avLst/>
                        <a:gdLst>
                          <a:gd name="T0" fmla="*/ 0 w 101"/>
                          <a:gd name="T1" fmla="*/ 104 h 104"/>
                          <a:gd name="T2" fmla="*/ 101 w 101"/>
                          <a:gd name="T3" fmla="*/ 51 h 104"/>
                          <a:gd name="T4" fmla="*/ 0 w 101"/>
                          <a:gd name="T5" fmla="*/ 0 h 104"/>
                          <a:gd name="T6" fmla="*/ 0 w 101"/>
                          <a:gd name="T7" fmla="*/ 104 h 104"/>
                          <a:gd name="T8" fmla="*/ 0 60000 65536"/>
                          <a:gd name="T9" fmla="*/ 0 60000 65536"/>
                          <a:gd name="T10" fmla="*/ 0 60000 65536"/>
                          <a:gd name="T11" fmla="*/ 0 60000 65536"/>
                          <a:gd name="T12" fmla="*/ 0 w 101"/>
                          <a:gd name="T13" fmla="*/ 0 h 104"/>
                          <a:gd name="T14" fmla="*/ 101 w 101"/>
                          <a:gd name="T15" fmla="*/ 104 h 104"/>
                        </a:gdLst>
                        <a:ahLst/>
                        <a:cxnLst>
                          <a:cxn ang="T8">
                            <a:pos x="T0" y="T1"/>
                          </a:cxn>
                          <a:cxn ang="T9">
                            <a:pos x="T2" y="T3"/>
                          </a:cxn>
                          <a:cxn ang="T10">
                            <a:pos x="T4" y="T5"/>
                          </a:cxn>
                          <a:cxn ang="T11">
                            <a:pos x="T6" y="T7"/>
                          </a:cxn>
                        </a:cxnLst>
                        <a:rect l="T12" t="T13" r="T14" b="T15"/>
                        <a:pathLst>
                          <a:path w="101" h="104">
                            <a:moveTo>
                              <a:pt x="0" y="104"/>
                            </a:moveTo>
                            <a:lnTo>
                              <a:pt x="101" y="51"/>
                            </a:lnTo>
                            <a:lnTo>
                              <a:pt x="0" y="0"/>
                            </a:lnTo>
                            <a:lnTo>
                              <a:pt x="0" y="104"/>
                            </a:lnTo>
                            <a:close/>
                          </a:path>
                        </a:pathLst>
                      </a:custGeom>
                      <a:solidFill>
                        <a:srgbClr val="000000"/>
                      </a:solidFill>
                      <a:ln w="9525">
                        <a:noFill/>
                        <a:round/>
                      </a:ln>
                    </p:spPr>
                    <p:txBody>
                      <a:bodyPr/>
                      <a:lstStyle/>
                      <a:p>
                        <a:endParaRPr lang="zh-CN" altLang="en-US"/>
                      </a:p>
                    </p:txBody>
                  </p:sp>
                </p:grpSp>
                <p:grpSp>
                  <p:nvGrpSpPr>
                    <p:cNvPr id="21" name="Group 70"/>
                    <p:cNvGrpSpPr/>
                    <p:nvPr/>
                  </p:nvGrpSpPr>
                  <p:grpSpPr bwMode="auto">
                    <a:xfrm>
                      <a:off x="1383" y="3232"/>
                      <a:ext cx="2076" cy="107"/>
                      <a:chOff x="1402" y="3256"/>
                      <a:chExt cx="2076" cy="107"/>
                    </a:xfrm>
                  </p:grpSpPr>
                  <p:sp>
                    <p:nvSpPr>
                      <p:cNvPr id="69729" name="Line 71"/>
                      <p:cNvSpPr>
                        <a:spLocks noChangeShapeType="1"/>
                      </p:cNvSpPr>
                      <p:nvPr/>
                    </p:nvSpPr>
                    <p:spPr bwMode="auto">
                      <a:xfrm>
                        <a:off x="1499" y="3310"/>
                        <a:ext cx="1883" cy="1"/>
                      </a:xfrm>
                      <a:prstGeom prst="line">
                        <a:avLst/>
                      </a:prstGeom>
                      <a:noFill/>
                      <a:ln w="23813">
                        <a:solidFill>
                          <a:srgbClr val="000000"/>
                        </a:solidFill>
                        <a:round/>
                      </a:ln>
                    </p:spPr>
                    <p:txBody>
                      <a:bodyPr/>
                      <a:lstStyle/>
                      <a:p>
                        <a:endParaRPr lang="zh-CN" altLang="en-US"/>
                      </a:p>
                    </p:txBody>
                  </p:sp>
                  <p:sp>
                    <p:nvSpPr>
                      <p:cNvPr id="69730" name="Freeform 72"/>
                      <p:cNvSpPr/>
                      <p:nvPr/>
                    </p:nvSpPr>
                    <p:spPr bwMode="auto">
                      <a:xfrm>
                        <a:off x="1402" y="3256"/>
                        <a:ext cx="102" cy="105"/>
                      </a:xfrm>
                      <a:custGeom>
                        <a:avLst/>
                        <a:gdLst>
                          <a:gd name="T0" fmla="*/ 102 w 102"/>
                          <a:gd name="T1" fmla="*/ 0 h 105"/>
                          <a:gd name="T2" fmla="*/ 0 w 102"/>
                          <a:gd name="T3" fmla="*/ 54 h 105"/>
                          <a:gd name="T4" fmla="*/ 102 w 102"/>
                          <a:gd name="T5" fmla="*/ 105 h 105"/>
                          <a:gd name="T6" fmla="*/ 102 w 102"/>
                          <a:gd name="T7" fmla="*/ 0 h 105"/>
                          <a:gd name="T8" fmla="*/ 0 60000 65536"/>
                          <a:gd name="T9" fmla="*/ 0 60000 65536"/>
                          <a:gd name="T10" fmla="*/ 0 60000 65536"/>
                          <a:gd name="T11" fmla="*/ 0 60000 65536"/>
                          <a:gd name="T12" fmla="*/ 0 w 102"/>
                          <a:gd name="T13" fmla="*/ 0 h 105"/>
                          <a:gd name="T14" fmla="*/ 102 w 102"/>
                          <a:gd name="T15" fmla="*/ 105 h 105"/>
                        </a:gdLst>
                        <a:ahLst/>
                        <a:cxnLst>
                          <a:cxn ang="T8">
                            <a:pos x="T0" y="T1"/>
                          </a:cxn>
                          <a:cxn ang="T9">
                            <a:pos x="T2" y="T3"/>
                          </a:cxn>
                          <a:cxn ang="T10">
                            <a:pos x="T4" y="T5"/>
                          </a:cxn>
                          <a:cxn ang="T11">
                            <a:pos x="T6" y="T7"/>
                          </a:cxn>
                        </a:cxnLst>
                        <a:rect l="T12" t="T13" r="T14" b="T15"/>
                        <a:pathLst>
                          <a:path w="102" h="105">
                            <a:moveTo>
                              <a:pt x="102" y="0"/>
                            </a:moveTo>
                            <a:lnTo>
                              <a:pt x="0" y="54"/>
                            </a:lnTo>
                            <a:lnTo>
                              <a:pt x="102" y="105"/>
                            </a:lnTo>
                            <a:lnTo>
                              <a:pt x="102" y="0"/>
                            </a:lnTo>
                            <a:close/>
                          </a:path>
                        </a:pathLst>
                      </a:custGeom>
                      <a:solidFill>
                        <a:srgbClr val="000000"/>
                      </a:solidFill>
                      <a:ln w="9525">
                        <a:noFill/>
                        <a:round/>
                      </a:ln>
                    </p:spPr>
                    <p:txBody>
                      <a:bodyPr/>
                      <a:lstStyle/>
                      <a:p>
                        <a:endParaRPr lang="zh-CN" altLang="en-US"/>
                      </a:p>
                    </p:txBody>
                  </p:sp>
                  <p:sp>
                    <p:nvSpPr>
                      <p:cNvPr id="69731" name="Freeform 73"/>
                      <p:cNvSpPr/>
                      <p:nvPr/>
                    </p:nvSpPr>
                    <p:spPr bwMode="auto">
                      <a:xfrm>
                        <a:off x="3377" y="3259"/>
                        <a:ext cx="101" cy="104"/>
                      </a:xfrm>
                      <a:custGeom>
                        <a:avLst/>
                        <a:gdLst>
                          <a:gd name="T0" fmla="*/ 0 w 101"/>
                          <a:gd name="T1" fmla="*/ 104 h 104"/>
                          <a:gd name="T2" fmla="*/ 101 w 101"/>
                          <a:gd name="T3" fmla="*/ 51 h 104"/>
                          <a:gd name="T4" fmla="*/ 0 w 101"/>
                          <a:gd name="T5" fmla="*/ 0 h 104"/>
                          <a:gd name="T6" fmla="*/ 0 w 101"/>
                          <a:gd name="T7" fmla="*/ 104 h 104"/>
                          <a:gd name="T8" fmla="*/ 0 60000 65536"/>
                          <a:gd name="T9" fmla="*/ 0 60000 65536"/>
                          <a:gd name="T10" fmla="*/ 0 60000 65536"/>
                          <a:gd name="T11" fmla="*/ 0 60000 65536"/>
                          <a:gd name="T12" fmla="*/ 0 w 101"/>
                          <a:gd name="T13" fmla="*/ 0 h 104"/>
                          <a:gd name="T14" fmla="*/ 101 w 101"/>
                          <a:gd name="T15" fmla="*/ 104 h 104"/>
                        </a:gdLst>
                        <a:ahLst/>
                        <a:cxnLst>
                          <a:cxn ang="T8">
                            <a:pos x="T0" y="T1"/>
                          </a:cxn>
                          <a:cxn ang="T9">
                            <a:pos x="T2" y="T3"/>
                          </a:cxn>
                          <a:cxn ang="T10">
                            <a:pos x="T4" y="T5"/>
                          </a:cxn>
                          <a:cxn ang="T11">
                            <a:pos x="T6" y="T7"/>
                          </a:cxn>
                        </a:cxnLst>
                        <a:rect l="T12" t="T13" r="T14" b="T15"/>
                        <a:pathLst>
                          <a:path w="101" h="104">
                            <a:moveTo>
                              <a:pt x="0" y="104"/>
                            </a:moveTo>
                            <a:lnTo>
                              <a:pt x="101" y="51"/>
                            </a:lnTo>
                            <a:lnTo>
                              <a:pt x="0" y="0"/>
                            </a:lnTo>
                            <a:lnTo>
                              <a:pt x="0" y="104"/>
                            </a:lnTo>
                            <a:close/>
                          </a:path>
                        </a:pathLst>
                      </a:custGeom>
                      <a:solidFill>
                        <a:srgbClr val="000000"/>
                      </a:solidFill>
                      <a:ln w="9525">
                        <a:noFill/>
                        <a:round/>
                      </a:ln>
                    </p:spPr>
                    <p:txBody>
                      <a:bodyPr/>
                      <a:lstStyle/>
                      <a:p>
                        <a:endParaRPr lang="zh-CN" altLang="en-US"/>
                      </a:p>
                    </p:txBody>
                  </p:sp>
                </p:grpSp>
                <p:sp>
                  <p:nvSpPr>
                    <p:cNvPr id="69715" name="Line 74"/>
                    <p:cNvSpPr>
                      <a:spLocks noChangeShapeType="1"/>
                    </p:cNvSpPr>
                    <p:nvPr/>
                  </p:nvSpPr>
                  <p:spPr bwMode="auto">
                    <a:xfrm>
                      <a:off x="1628" y="1691"/>
                      <a:ext cx="1" cy="1956"/>
                    </a:xfrm>
                    <a:prstGeom prst="line">
                      <a:avLst/>
                    </a:prstGeom>
                    <a:noFill/>
                    <a:ln w="23813">
                      <a:solidFill>
                        <a:srgbClr val="000000"/>
                      </a:solidFill>
                      <a:round/>
                    </a:ln>
                  </p:spPr>
                  <p:txBody>
                    <a:bodyPr/>
                    <a:lstStyle/>
                    <a:p>
                      <a:endParaRPr lang="zh-CN" altLang="en-US"/>
                    </a:p>
                  </p:txBody>
                </p:sp>
                <p:sp>
                  <p:nvSpPr>
                    <p:cNvPr id="69716" name="Line 75"/>
                    <p:cNvSpPr>
                      <a:spLocks noChangeShapeType="1"/>
                    </p:cNvSpPr>
                    <p:nvPr/>
                  </p:nvSpPr>
                  <p:spPr bwMode="auto">
                    <a:xfrm>
                      <a:off x="3325" y="1930"/>
                      <a:ext cx="9" cy="1697"/>
                    </a:xfrm>
                    <a:prstGeom prst="line">
                      <a:avLst/>
                    </a:prstGeom>
                    <a:noFill/>
                    <a:ln w="23813">
                      <a:solidFill>
                        <a:srgbClr val="000000"/>
                      </a:solidFill>
                      <a:round/>
                    </a:ln>
                  </p:spPr>
                  <p:txBody>
                    <a:bodyPr/>
                    <a:lstStyle/>
                    <a:p>
                      <a:endParaRPr lang="zh-CN" altLang="en-US"/>
                    </a:p>
                  </p:txBody>
                </p:sp>
                <p:sp>
                  <p:nvSpPr>
                    <p:cNvPr id="69717" name="Line 76"/>
                    <p:cNvSpPr>
                      <a:spLocks noChangeShapeType="1"/>
                    </p:cNvSpPr>
                    <p:nvPr/>
                  </p:nvSpPr>
                  <p:spPr bwMode="auto">
                    <a:xfrm>
                      <a:off x="2471" y="1691"/>
                      <a:ext cx="1" cy="1956"/>
                    </a:xfrm>
                    <a:prstGeom prst="line">
                      <a:avLst/>
                    </a:prstGeom>
                    <a:noFill/>
                    <a:ln w="23813">
                      <a:solidFill>
                        <a:srgbClr val="000000"/>
                      </a:solidFill>
                      <a:round/>
                    </a:ln>
                  </p:spPr>
                  <p:txBody>
                    <a:bodyPr/>
                    <a:lstStyle/>
                    <a:p>
                      <a:endParaRPr lang="zh-CN" altLang="en-US"/>
                    </a:p>
                  </p:txBody>
                </p:sp>
                <p:grpSp>
                  <p:nvGrpSpPr>
                    <p:cNvPr id="22" name="Group 77"/>
                    <p:cNvGrpSpPr/>
                    <p:nvPr/>
                  </p:nvGrpSpPr>
                  <p:grpSpPr bwMode="auto">
                    <a:xfrm>
                      <a:off x="2228" y="3351"/>
                      <a:ext cx="244" cy="105"/>
                      <a:chOff x="2196" y="3381"/>
                      <a:chExt cx="244" cy="105"/>
                    </a:xfrm>
                  </p:grpSpPr>
                  <p:sp>
                    <p:nvSpPr>
                      <p:cNvPr id="69727" name="Line 78"/>
                      <p:cNvSpPr>
                        <a:spLocks noChangeShapeType="1"/>
                      </p:cNvSpPr>
                      <p:nvPr/>
                    </p:nvSpPr>
                    <p:spPr bwMode="auto">
                      <a:xfrm>
                        <a:off x="2196" y="3432"/>
                        <a:ext cx="148" cy="1"/>
                      </a:xfrm>
                      <a:prstGeom prst="line">
                        <a:avLst/>
                      </a:prstGeom>
                      <a:noFill/>
                      <a:ln w="23813">
                        <a:solidFill>
                          <a:srgbClr val="000000"/>
                        </a:solidFill>
                        <a:round/>
                      </a:ln>
                    </p:spPr>
                    <p:txBody>
                      <a:bodyPr/>
                      <a:lstStyle/>
                      <a:p>
                        <a:endParaRPr lang="zh-CN" altLang="en-US"/>
                      </a:p>
                    </p:txBody>
                  </p:sp>
                  <p:sp>
                    <p:nvSpPr>
                      <p:cNvPr id="69728" name="Freeform 79"/>
                      <p:cNvSpPr/>
                      <p:nvPr/>
                    </p:nvSpPr>
                    <p:spPr bwMode="auto">
                      <a:xfrm>
                        <a:off x="2339" y="3381"/>
                        <a:ext cx="101" cy="105"/>
                      </a:xfrm>
                      <a:custGeom>
                        <a:avLst/>
                        <a:gdLst>
                          <a:gd name="T0" fmla="*/ 0 w 101"/>
                          <a:gd name="T1" fmla="*/ 105 h 105"/>
                          <a:gd name="T2" fmla="*/ 101 w 101"/>
                          <a:gd name="T3" fmla="*/ 51 h 105"/>
                          <a:gd name="T4" fmla="*/ 0 w 101"/>
                          <a:gd name="T5" fmla="*/ 0 h 105"/>
                          <a:gd name="T6" fmla="*/ 0 w 101"/>
                          <a:gd name="T7" fmla="*/ 105 h 105"/>
                          <a:gd name="T8" fmla="*/ 0 60000 65536"/>
                          <a:gd name="T9" fmla="*/ 0 60000 65536"/>
                          <a:gd name="T10" fmla="*/ 0 60000 65536"/>
                          <a:gd name="T11" fmla="*/ 0 60000 65536"/>
                          <a:gd name="T12" fmla="*/ 0 w 101"/>
                          <a:gd name="T13" fmla="*/ 0 h 105"/>
                          <a:gd name="T14" fmla="*/ 101 w 101"/>
                          <a:gd name="T15" fmla="*/ 105 h 105"/>
                        </a:gdLst>
                        <a:ahLst/>
                        <a:cxnLst>
                          <a:cxn ang="T8">
                            <a:pos x="T0" y="T1"/>
                          </a:cxn>
                          <a:cxn ang="T9">
                            <a:pos x="T2" y="T3"/>
                          </a:cxn>
                          <a:cxn ang="T10">
                            <a:pos x="T4" y="T5"/>
                          </a:cxn>
                          <a:cxn ang="T11">
                            <a:pos x="T6" y="T7"/>
                          </a:cxn>
                        </a:cxnLst>
                        <a:rect l="T12" t="T13" r="T14" b="T15"/>
                        <a:pathLst>
                          <a:path w="101" h="105">
                            <a:moveTo>
                              <a:pt x="0" y="105"/>
                            </a:moveTo>
                            <a:lnTo>
                              <a:pt x="101" y="51"/>
                            </a:lnTo>
                            <a:lnTo>
                              <a:pt x="0" y="0"/>
                            </a:lnTo>
                            <a:lnTo>
                              <a:pt x="0" y="105"/>
                            </a:lnTo>
                            <a:close/>
                          </a:path>
                        </a:pathLst>
                      </a:custGeom>
                      <a:solidFill>
                        <a:srgbClr val="000000"/>
                      </a:solidFill>
                      <a:ln w="9525">
                        <a:noFill/>
                        <a:round/>
                      </a:ln>
                    </p:spPr>
                    <p:txBody>
                      <a:bodyPr/>
                      <a:lstStyle/>
                      <a:p>
                        <a:endParaRPr lang="zh-CN" altLang="en-US"/>
                      </a:p>
                    </p:txBody>
                  </p:sp>
                </p:grpSp>
                <p:grpSp>
                  <p:nvGrpSpPr>
                    <p:cNvPr id="23" name="Group 80"/>
                    <p:cNvGrpSpPr/>
                    <p:nvPr/>
                  </p:nvGrpSpPr>
                  <p:grpSpPr bwMode="auto">
                    <a:xfrm>
                      <a:off x="2228" y="3473"/>
                      <a:ext cx="244" cy="105"/>
                      <a:chOff x="2196" y="3503"/>
                      <a:chExt cx="244" cy="105"/>
                    </a:xfrm>
                  </p:grpSpPr>
                  <p:sp>
                    <p:nvSpPr>
                      <p:cNvPr id="69725" name="Line 81"/>
                      <p:cNvSpPr>
                        <a:spLocks noChangeShapeType="1"/>
                      </p:cNvSpPr>
                      <p:nvPr/>
                    </p:nvSpPr>
                    <p:spPr bwMode="auto">
                      <a:xfrm>
                        <a:off x="2196" y="3554"/>
                        <a:ext cx="148" cy="1"/>
                      </a:xfrm>
                      <a:prstGeom prst="line">
                        <a:avLst/>
                      </a:prstGeom>
                      <a:noFill/>
                      <a:ln w="23813">
                        <a:solidFill>
                          <a:srgbClr val="000000"/>
                        </a:solidFill>
                        <a:round/>
                      </a:ln>
                    </p:spPr>
                    <p:txBody>
                      <a:bodyPr/>
                      <a:lstStyle/>
                      <a:p>
                        <a:endParaRPr lang="zh-CN" altLang="en-US"/>
                      </a:p>
                    </p:txBody>
                  </p:sp>
                  <p:sp>
                    <p:nvSpPr>
                      <p:cNvPr id="69726" name="Freeform 82"/>
                      <p:cNvSpPr/>
                      <p:nvPr/>
                    </p:nvSpPr>
                    <p:spPr bwMode="auto">
                      <a:xfrm>
                        <a:off x="2339" y="3503"/>
                        <a:ext cx="101" cy="105"/>
                      </a:xfrm>
                      <a:custGeom>
                        <a:avLst/>
                        <a:gdLst>
                          <a:gd name="T0" fmla="*/ 0 w 101"/>
                          <a:gd name="T1" fmla="*/ 105 h 105"/>
                          <a:gd name="T2" fmla="*/ 101 w 101"/>
                          <a:gd name="T3" fmla="*/ 51 h 105"/>
                          <a:gd name="T4" fmla="*/ 0 w 101"/>
                          <a:gd name="T5" fmla="*/ 0 h 105"/>
                          <a:gd name="T6" fmla="*/ 0 w 101"/>
                          <a:gd name="T7" fmla="*/ 105 h 105"/>
                          <a:gd name="T8" fmla="*/ 0 60000 65536"/>
                          <a:gd name="T9" fmla="*/ 0 60000 65536"/>
                          <a:gd name="T10" fmla="*/ 0 60000 65536"/>
                          <a:gd name="T11" fmla="*/ 0 60000 65536"/>
                          <a:gd name="T12" fmla="*/ 0 w 101"/>
                          <a:gd name="T13" fmla="*/ 0 h 105"/>
                          <a:gd name="T14" fmla="*/ 101 w 101"/>
                          <a:gd name="T15" fmla="*/ 105 h 105"/>
                        </a:gdLst>
                        <a:ahLst/>
                        <a:cxnLst>
                          <a:cxn ang="T8">
                            <a:pos x="T0" y="T1"/>
                          </a:cxn>
                          <a:cxn ang="T9">
                            <a:pos x="T2" y="T3"/>
                          </a:cxn>
                          <a:cxn ang="T10">
                            <a:pos x="T4" y="T5"/>
                          </a:cxn>
                          <a:cxn ang="T11">
                            <a:pos x="T6" y="T7"/>
                          </a:cxn>
                        </a:cxnLst>
                        <a:rect l="T12" t="T13" r="T14" b="T15"/>
                        <a:pathLst>
                          <a:path w="101" h="105">
                            <a:moveTo>
                              <a:pt x="0" y="105"/>
                            </a:moveTo>
                            <a:lnTo>
                              <a:pt x="101" y="51"/>
                            </a:lnTo>
                            <a:lnTo>
                              <a:pt x="0" y="0"/>
                            </a:lnTo>
                            <a:lnTo>
                              <a:pt x="0" y="105"/>
                            </a:lnTo>
                            <a:close/>
                          </a:path>
                        </a:pathLst>
                      </a:custGeom>
                      <a:solidFill>
                        <a:srgbClr val="000000"/>
                      </a:solidFill>
                      <a:ln w="9525">
                        <a:noFill/>
                        <a:round/>
                      </a:ln>
                    </p:spPr>
                    <p:txBody>
                      <a:bodyPr/>
                      <a:lstStyle/>
                      <a:p>
                        <a:endParaRPr lang="zh-CN" altLang="en-US"/>
                      </a:p>
                    </p:txBody>
                  </p:sp>
                </p:grpSp>
                <p:grpSp>
                  <p:nvGrpSpPr>
                    <p:cNvPr id="24" name="Group 83"/>
                    <p:cNvGrpSpPr/>
                    <p:nvPr/>
                  </p:nvGrpSpPr>
                  <p:grpSpPr bwMode="auto">
                    <a:xfrm>
                      <a:off x="1628" y="3471"/>
                      <a:ext cx="244" cy="104"/>
                      <a:chOff x="1647" y="3501"/>
                      <a:chExt cx="244" cy="104"/>
                    </a:xfrm>
                  </p:grpSpPr>
                  <p:sp>
                    <p:nvSpPr>
                      <p:cNvPr id="69723" name="Line 84"/>
                      <p:cNvSpPr>
                        <a:spLocks noChangeShapeType="1"/>
                      </p:cNvSpPr>
                      <p:nvPr/>
                    </p:nvSpPr>
                    <p:spPr bwMode="auto">
                      <a:xfrm flipH="1">
                        <a:off x="1743" y="3554"/>
                        <a:ext cx="148" cy="1"/>
                      </a:xfrm>
                      <a:prstGeom prst="line">
                        <a:avLst/>
                      </a:prstGeom>
                      <a:noFill/>
                      <a:ln w="23813">
                        <a:solidFill>
                          <a:srgbClr val="000000"/>
                        </a:solidFill>
                        <a:round/>
                      </a:ln>
                    </p:spPr>
                    <p:txBody>
                      <a:bodyPr/>
                      <a:lstStyle/>
                      <a:p>
                        <a:endParaRPr lang="zh-CN" altLang="en-US"/>
                      </a:p>
                    </p:txBody>
                  </p:sp>
                  <p:sp>
                    <p:nvSpPr>
                      <p:cNvPr id="69724" name="Freeform 85"/>
                      <p:cNvSpPr/>
                      <p:nvPr/>
                    </p:nvSpPr>
                    <p:spPr bwMode="auto">
                      <a:xfrm>
                        <a:off x="1647" y="3501"/>
                        <a:ext cx="101" cy="104"/>
                      </a:xfrm>
                      <a:custGeom>
                        <a:avLst/>
                        <a:gdLst>
                          <a:gd name="T0" fmla="*/ 101 w 101"/>
                          <a:gd name="T1" fmla="*/ 0 h 104"/>
                          <a:gd name="T2" fmla="*/ 0 w 101"/>
                          <a:gd name="T3" fmla="*/ 53 h 104"/>
                          <a:gd name="T4" fmla="*/ 101 w 101"/>
                          <a:gd name="T5" fmla="*/ 104 h 104"/>
                          <a:gd name="T6" fmla="*/ 101 w 101"/>
                          <a:gd name="T7" fmla="*/ 0 h 104"/>
                          <a:gd name="T8" fmla="*/ 0 60000 65536"/>
                          <a:gd name="T9" fmla="*/ 0 60000 65536"/>
                          <a:gd name="T10" fmla="*/ 0 60000 65536"/>
                          <a:gd name="T11" fmla="*/ 0 60000 65536"/>
                          <a:gd name="T12" fmla="*/ 0 w 101"/>
                          <a:gd name="T13" fmla="*/ 0 h 104"/>
                          <a:gd name="T14" fmla="*/ 101 w 101"/>
                          <a:gd name="T15" fmla="*/ 104 h 104"/>
                        </a:gdLst>
                        <a:ahLst/>
                        <a:cxnLst>
                          <a:cxn ang="T8">
                            <a:pos x="T0" y="T1"/>
                          </a:cxn>
                          <a:cxn ang="T9">
                            <a:pos x="T2" y="T3"/>
                          </a:cxn>
                          <a:cxn ang="T10">
                            <a:pos x="T4" y="T5"/>
                          </a:cxn>
                          <a:cxn ang="T11">
                            <a:pos x="T6" y="T7"/>
                          </a:cxn>
                        </a:cxnLst>
                        <a:rect l="T12" t="T13" r="T14" b="T15"/>
                        <a:pathLst>
                          <a:path w="101" h="104">
                            <a:moveTo>
                              <a:pt x="101" y="0"/>
                            </a:moveTo>
                            <a:lnTo>
                              <a:pt x="0" y="53"/>
                            </a:lnTo>
                            <a:lnTo>
                              <a:pt x="101" y="104"/>
                            </a:lnTo>
                            <a:lnTo>
                              <a:pt x="101" y="0"/>
                            </a:lnTo>
                            <a:close/>
                          </a:path>
                        </a:pathLst>
                      </a:custGeom>
                      <a:solidFill>
                        <a:srgbClr val="000000"/>
                      </a:solidFill>
                      <a:ln w="9525">
                        <a:noFill/>
                        <a:round/>
                      </a:ln>
                    </p:spPr>
                    <p:txBody>
                      <a:bodyPr/>
                      <a:lstStyle/>
                      <a:p>
                        <a:endParaRPr lang="zh-CN" altLang="en-US"/>
                      </a:p>
                    </p:txBody>
                  </p:sp>
                </p:grpSp>
                <p:sp>
                  <p:nvSpPr>
                    <p:cNvPr id="89174" name="Rectangle 86"/>
                    <p:cNvSpPr>
                      <a:spLocks noChangeArrowheads="1"/>
                    </p:cNvSpPr>
                    <p:nvPr/>
                  </p:nvSpPr>
                  <p:spPr bwMode="auto">
                    <a:xfrm>
                      <a:off x="2416" y="3457"/>
                      <a:ext cx="344" cy="261"/>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1400" b="1">
                          <a:solidFill>
                            <a:srgbClr val="000000"/>
                          </a:solidFill>
                          <a:latin typeface="宋体" panose="02010600030101010101" pitchFamily="2" charset="-122"/>
                        </a:rPr>
                        <a:t>时隙</a:t>
                      </a:r>
                      <a:endParaRPr lang="zh-CN" altLang="en-US" sz="1400" b="1">
                        <a:effectLst>
                          <a:outerShdw blurRad="38100" dist="38100" dir="2700000" algn="tl">
                            <a:srgbClr val="C0C0C0"/>
                          </a:outerShdw>
                        </a:effectLst>
                        <a:latin typeface="Times New Roman" panose="02020603050405020304" pitchFamily="18" charset="0"/>
                      </a:endParaRPr>
                    </a:p>
                  </p:txBody>
                </p:sp>
                <p:sp>
                  <p:nvSpPr>
                    <p:cNvPr id="69722" name="Rectangle 87"/>
                    <p:cNvSpPr>
                      <a:spLocks noChangeArrowheads="1"/>
                    </p:cNvSpPr>
                    <p:nvPr/>
                  </p:nvSpPr>
                  <p:spPr bwMode="auto">
                    <a:xfrm>
                      <a:off x="1808" y="3402"/>
                      <a:ext cx="491" cy="346"/>
                    </a:xfrm>
                    <a:prstGeom prst="rect">
                      <a:avLst/>
                    </a:prstGeom>
                    <a:noFill/>
                    <a:ln w="9525">
                      <a:noFill/>
                      <a:miter lim="800000"/>
                    </a:ln>
                  </p:spPr>
                  <p:txBody>
                    <a:bodyPr/>
                    <a:lstStyle/>
                    <a:p>
                      <a:endParaRPr lang="zh-CN" altLang="en-US"/>
                    </a:p>
                  </p:txBody>
                </p:sp>
              </p:grpSp>
            </p:grpSp>
            <p:grpSp>
              <p:nvGrpSpPr>
                <p:cNvPr id="25" name="Group 88"/>
                <p:cNvGrpSpPr/>
                <p:nvPr/>
              </p:nvGrpSpPr>
              <p:grpSpPr bwMode="auto">
                <a:xfrm>
                  <a:off x="1429" y="2698"/>
                  <a:ext cx="1432" cy="1097"/>
                  <a:chOff x="1432" y="2812"/>
                  <a:chExt cx="1432" cy="1097"/>
                </a:xfrm>
              </p:grpSpPr>
              <p:grpSp>
                <p:nvGrpSpPr>
                  <p:cNvPr id="26" name="Group 89"/>
                  <p:cNvGrpSpPr/>
                  <p:nvPr/>
                </p:nvGrpSpPr>
                <p:grpSpPr bwMode="auto">
                  <a:xfrm>
                    <a:off x="1432" y="2812"/>
                    <a:ext cx="15" cy="382"/>
                    <a:chOff x="1395" y="2691"/>
                    <a:chExt cx="15" cy="382"/>
                  </a:xfrm>
                </p:grpSpPr>
                <p:sp>
                  <p:nvSpPr>
                    <p:cNvPr id="69706" name="Freeform 90"/>
                    <p:cNvSpPr/>
                    <p:nvPr/>
                  </p:nvSpPr>
                  <p:spPr bwMode="auto">
                    <a:xfrm>
                      <a:off x="1395" y="2691"/>
                      <a:ext cx="15" cy="77"/>
                    </a:xfrm>
                    <a:custGeom>
                      <a:avLst/>
                      <a:gdLst>
                        <a:gd name="T0" fmla="*/ 15 w 15"/>
                        <a:gd name="T1" fmla="*/ 10 h 77"/>
                        <a:gd name="T2" fmla="*/ 15 w 15"/>
                        <a:gd name="T3" fmla="*/ 8 h 77"/>
                        <a:gd name="T4" fmla="*/ 12 w 15"/>
                        <a:gd name="T5" fmla="*/ 5 h 77"/>
                        <a:gd name="T6" fmla="*/ 10 w 15"/>
                        <a:gd name="T7" fmla="*/ 3 h 77"/>
                        <a:gd name="T8" fmla="*/ 7 w 15"/>
                        <a:gd name="T9" fmla="*/ 0 h 77"/>
                        <a:gd name="T10" fmla="*/ 7 w 15"/>
                        <a:gd name="T11" fmla="*/ 0 h 77"/>
                        <a:gd name="T12" fmla="*/ 5 w 15"/>
                        <a:gd name="T13" fmla="*/ 3 h 77"/>
                        <a:gd name="T14" fmla="*/ 2 w 15"/>
                        <a:gd name="T15" fmla="*/ 5 h 77"/>
                        <a:gd name="T16" fmla="*/ 0 w 15"/>
                        <a:gd name="T17" fmla="*/ 8 h 77"/>
                        <a:gd name="T18" fmla="*/ 0 w 15"/>
                        <a:gd name="T19" fmla="*/ 66 h 77"/>
                        <a:gd name="T20" fmla="*/ 0 w 15"/>
                        <a:gd name="T21" fmla="*/ 69 h 77"/>
                        <a:gd name="T22" fmla="*/ 2 w 15"/>
                        <a:gd name="T23" fmla="*/ 72 h 77"/>
                        <a:gd name="T24" fmla="*/ 5 w 15"/>
                        <a:gd name="T25" fmla="*/ 74 h 77"/>
                        <a:gd name="T26" fmla="*/ 7 w 15"/>
                        <a:gd name="T27" fmla="*/ 77 h 77"/>
                        <a:gd name="T28" fmla="*/ 10 w 15"/>
                        <a:gd name="T29" fmla="*/ 77 h 77"/>
                        <a:gd name="T30" fmla="*/ 12 w 15"/>
                        <a:gd name="T31" fmla="*/ 74 h 77"/>
                        <a:gd name="T32" fmla="*/ 15 w 15"/>
                        <a:gd name="T33" fmla="*/ 72 h 77"/>
                        <a:gd name="T34" fmla="*/ 15 w 15"/>
                        <a:gd name="T35" fmla="*/ 69 h 77"/>
                        <a:gd name="T36" fmla="*/ 15 w 15"/>
                        <a:gd name="T37" fmla="*/ 10 h 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7"/>
                        <a:gd name="T59" fmla="*/ 15 w 15"/>
                        <a:gd name="T60" fmla="*/ 77 h 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7">
                          <a:moveTo>
                            <a:pt x="15" y="10"/>
                          </a:moveTo>
                          <a:lnTo>
                            <a:pt x="15" y="8"/>
                          </a:lnTo>
                          <a:lnTo>
                            <a:pt x="12" y="5"/>
                          </a:lnTo>
                          <a:lnTo>
                            <a:pt x="10" y="3"/>
                          </a:lnTo>
                          <a:lnTo>
                            <a:pt x="7" y="0"/>
                          </a:lnTo>
                          <a:lnTo>
                            <a:pt x="5" y="3"/>
                          </a:lnTo>
                          <a:lnTo>
                            <a:pt x="2" y="5"/>
                          </a:lnTo>
                          <a:lnTo>
                            <a:pt x="0" y="8"/>
                          </a:lnTo>
                          <a:lnTo>
                            <a:pt x="0" y="66"/>
                          </a:lnTo>
                          <a:lnTo>
                            <a:pt x="0" y="69"/>
                          </a:lnTo>
                          <a:lnTo>
                            <a:pt x="2" y="72"/>
                          </a:lnTo>
                          <a:lnTo>
                            <a:pt x="5" y="74"/>
                          </a:lnTo>
                          <a:lnTo>
                            <a:pt x="7" y="77"/>
                          </a:lnTo>
                          <a:lnTo>
                            <a:pt x="10" y="77"/>
                          </a:lnTo>
                          <a:lnTo>
                            <a:pt x="12" y="74"/>
                          </a:lnTo>
                          <a:lnTo>
                            <a:pt x="15" y="72"/>
                          </a:lnTo>
                          <a:lnTo>
                            <a:pt x="15" y="69"/>
                          </a:lnTo>
                          <a:lnTo>
                            <a:pt x="15" y="10"/>
                          </a:lnTo>
                          <a:close/>
                        </a:path>
                      </a:pathLst>
                    </a:custGeom>
                    <a:solidFill>
                      <a:srgbClr val="000000"/>
                    </a:solidFill>
                    <a:ln w="9525">
                      <a:noFill/>
                      <a:round/>
                    </a:ln>
                  </p:spPr>
                  <p:txBody>
                    <a:bodyPr/>
                    <a:lstStyle/>
                    <a:p>
                      <a:endParaRPr lang="zh-CN" altLang="en-US"/>
                    </a:p>
                  </p:txBody>
                </p:sp>
                <p:sp>
                  <p:nvSpPr>
                    <p:cNvPr id="69707" name="Freeform 91"/>
                    <p:cNvSpPr/>
                    <p:nvPr/>
                  </p:nvSpPr>
                  <p:spPr bwMode="auto">
                    <a:xfrm>
                      <a:off x="1395" y="2798"/>
                      <a:ext cx="15" cy="77"/>
                    </a:xfrm>
                    <a:custGeom>
                      <a:avLst/>
                      <a:gdLst>
                        <a:gd name="T0" fmla="*/ 15 w 15"/>
                        <a:gd name="T1" fmla="*/ 8 h 77"/>
                        <a:gd name="T2" fmla="*/ 15 w 15"/>
                        <a:gd name="T3" fmla="*/ 5 h 77"/>
                        <a:gd name="T4" fmla="*/ 15 w 15"/>
                        <a:gd name="T5" fmla="*/ 3 h 77"/>
                        <a:gd name="T6" fmla="*/ 12 w 15"/>
                        <a:gd name="T7" fmla="*/ 0 h 77"/>
                        <a:gd name="T8" fmla="*/ 10 w 15"/>
                        <a:gd name="T9" fmla="*/ 0 h 77"/>
                        <a:gd name="T10" fmla="*/ 7 w 15"/>
                        <a:gd name="T11" fmla="*/ 0 h 77"/>
                        <a:gd name="T12" fmla="*/ 5 w 15"/>
                        <a:gd name="T13" fmla="*/ 0 h 77"/>
                        <a:gd name="T14" fmla="*/ 2 w 15"/>
                        <a:gd name="T15" fmla="*/ 3 h 77"/>
                        <a:gd name="T16" fmla="*/ 0 w 15"/>
                        <a:gd name="T17" fmla="*/ 5 h 77"/>
                        <a:gd name="T18" fmla="*/ 0 w 15"/>
                        <a:gd name="T19" fmla="*/ 66 h 77"/>
                        <a:gd name="T20" fmla="*/ 0 w 15"/>
                        <a:gd name="T21" fmla="*/ 69 h 77"/>
                        <a:gd name="T22" fmla="*/ 2 w 15"/>
                        <a:gd name="T23" fmla="*/ 72 h 77"/>
                        <a:gd name="T24" fmla="*/ 5 w 15"/>
                        <a:gd name="T25" fmla="*/ 74 h 77"/>
                        <a:gd name="T26" fmla="*/ 7 w 15"/>
                        <a:gd name="T27" fmla="*/ 77 h 77"/>
                        <a:gd name="T28" fmla="*/ 10 w 15"/>
                        <a:gd name="T29" fmla="*/ 77 h 77"/>
                        <a:gd name="T30" fmla="*/ 12 w 15"/>
                        <a:gd name="T31" fmla="*/ 74 h 77"/>
                        <a:gd name="T32" fmla="*/ 15 w 15"/>
                        <a:gd name="T33" fmla="*/ 72 h 77"/>
                        <a:gd name="T34" fmla="*/ 15 w 15"/>
                        <a:gd name="T35" fmla="*/ 69 h 77"/>
                        <a:gd name="T36" fmla="*/ 15 w 15"/>
                        <a:gd name="T37" fmla="*/ 8 h 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7"/>
                        <a:gd name="T59" fmla="*/ 15 w 15"/>
                        <a:gd name="T60" fmla="*/ 77 h 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7">
                          <a:moveTo>
                            <a:pt x="15" y="8"/>
                          </a:moveTo>
                          <a:lnTo>
                            <a:pt x="15" y="5"/>
                          </a:lnTo>
                          <a:lnTo>
                            <a:pt x="15" y="3"/>
                          </a:lnTo>
                          <a:lnTo>
                            <a:pt x="12" y="0"/>
                          </a:lnTo>
                          <a:lnTo>
                            <a:pt x="10" y="0"/>
                          </a:lnTo>
                          <a:lnTo>
                            <a:pt x="7" y="0"/>
                          </a:lnTo>
                          <a:lnTo>
                            <a:pt x="5" y="0"/>
                          </a:lnTo>
                          <a:lnTo>
                            <a:pt x="2" y="3"/>
                          </a:lnTo>
                          <a:lnTo>
                            <a:pt x="0" y="5"/>
                          </a:lnTo>
                          <a:lnTo>
                            <a:pt x="0" y="66"/>
                          </a:lnTo>
                          <a:lnTo>
                            <a:pt x="0" y="69"/>
                          </a:lnTo>
                          <a:lnTo>
                            <a:pt x="2" y="72"/>
                          </a:lnTo>
                          <a:lnTo>
                            <a:pt x="5" y="74"/>
                          </a:lnTo>
                          <a:lnTo>
                            <a:pt x="7" y="77"/>
                          </a:lnTo>
                          <a:lnTo>
                            <a:pt x="10" y="77"/>
                          </a:lnTo>
                          <a:lnTo>
                            <a:pt x="12" y="74"/>
                          </a:lnTo>
                          <a:lnTo>
                            <a:pt x="15" y="72"/>
                          </a:lnTo>
                          <a:lnTo>
                            <a:pt x="15" y="69"/>
                          </a:lnTo>
                          <a:lnTo>
                            <a:pt x="15" y="8"/>
                          </a:lnTo>
                          <a:close/>
                        </a:path>
                      </a:pathLst>
                    </a:custGeom>
                    <a:solidFill>
                      <a:srgbClr val="000000"/>
                    </a:solidFill>
                    <a:ln w="9525">
                      <a:noFill/>
                      <a:round/>
                    </a:ln>
                  </p:spPr>
                  <p:txBody>
                    <a:bodyPr/>
                    <a:lstStyle/>
                    <a:p>
                      <a:endParaRPr lang="zh-CN" altLang="en-US"/>
                    </a:p>
                  </p:txBody>
                </p:sp>
                <p:sp>
                  <p:nvSpPr>
                    <p:cNvPr id="69708" name="Freeform 92"/>
                    <p:cNvSpPr/>
                    <p:nvPr/>
                  </p:nvSpPr>
                  <p:spPr bwMode="auto">
                    <a:xfrm>
                      <a:off x="1395" y="2905"/>
                      <a:ext cx="15" cy="77"/>
                    </a:xfrm>
                    <a:custGeom>
                      <a:avLst/>
                      <a:gdLst>
                        <a:gd name="T0" fmla="*/ 15 w 15"/>
                        <a:gd name="T1" fmla="*/ 8 h 77"/>
                        <a:gd name="T2" fmla="*/ 15 w 15"/>
                        <a:gd name="T3" fmla="*/ 5 h 77"/>
                        <a:gd name="T4" fmla="*/ 15 w 15"/>
                        <a:gd name="T5" fmla="*/ 3 h 77"/>
                        <a:gd name="T6" fmla="*/ 12 w 15"/>
                        <a:gd name="T7" fmla="*/ 0 h 77"/>
                        <a:gd name="T8" fmla="*/ 10 w 15"/>
                        <a:gd name="T9" fmla="*/ 0 h 77"/>
                        <a:gd name="T10" fmla="*/ 7 w 15"/>
                        <a:gd name="T11" fmla="*/ 0 h 77"/>
                        <a:gd name="T12" fmla="*/ 5 w 15"/>
                        <a:gd name="T13" fmla="*/ 0 h 77"/>
                        <a:gd name="T14" fmla="*/ 2 w 15"/>
                        <a:gd name="T15" fmla="*/ 3 h 77"/>
                        <a:gd name="T16" fmla="*/ 0 w 15"/>
                        <a:gd name="T17" fmla="*/ 5 h 77"/>
                        <a:gd name="T18" fmla="*/ 0 w 15"/>
                        <a:gd name="T19" fmla="*/ 66 h 77"/>
                        <a:gd name="T20" fmla="*/ 0 w 15"/>
                        <a:gd name="T21" fmla="*/ 69 h 77"/>
                        <a:gd name="T22" fmla="*/ 2 w 15"/>
                        <a:gd name="T23" fmla="*/ 71 h 77"/>
                        <a:gd name="T24" fmla="*/ 5 w 15"/>
                        <a:gd name="T25" fmla="*/ 74 h 77"/>
                        <a:gd name="T26" fmla="*/ 7 w 15"/>
                        <a:gd name="T27" fmla="*/ 77 h 77"/>
                        <a:gd name="T28" fmla="*/ 10 w 15"/>
                        <a:gd name="T29" fmla="*/ 77 h 77"/>
                        <a:gd name="T30" fmla="*/ 12 w 15"/>
                        <a:gd name="T31" fmla="*/ 74 h 77"/>
                        <a:gd name="T32" fmla="*/ 15 w 15"/>
                        <a:gd name="T33" fmla="*/ 71 h 77"/>
                        <a:gd name="T34" fmla="*/ 15 w 15"/>
                        <a:gd name="T35" fmla="*/ 69 h 77"/>
                        <a:gd name="T36" fmla="*/ 15 w 15"/>
                        <a:gd name="T37" fmla="*/ 8 h 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7"/>
                        <a:gd name="T59" fmla="*/ 15 w 15"/>
                        <a:gd name="T60" fmla="*/ 77 h 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7">
                          <a:moveTo>
                            <a:pt x="15" y="8"/>
                          </a:moveTo>
                          <a:lnTo>
                            <a:pt x="15" y="5"/>
                          </a:lnTo>
                          <a:lnTo>
                            <a:pt x="15" y="3"/>
                          </a:lnTo>
                          <a:lnTo>
                            <a:pt x="12" y="0"/>
                          </a:lnTo>
                          <a:lnTo>
                            <a:pt x="10" y="0"/>
                          </a:lnTo>
                          <a:lnTo>
                            <a:pt x="7" y="0"/>
                          </a:lnTo>
                          <a:lnTo>
                            <a:pt x="5" y="0"/>
                          </a:lnTo>
                          <a:lnTo>
                            <a:pt x="2" y="3"/>
                          </a:lnTo>
                          <a:lnTo>
                            <a:pt x="0" y="5"/>
                          </a:lnTo>
                          <a:lnTo>
                            <a:pt x="0" y="66"/>
                          </a:lnTo>
                          <a:lnTo>
                            <a:pt x="0" y="69"/>
                          </a:lnTo>
                          <a:lnTo>
                            <a:pt x="2" y="71"/>
                          </a:lnTo>
                          <a:lnTo>
                            <a:pt x="5" y="74"/>
                          </a:lnTo>
                          <a:lnTo>
                            <a:pt x="7" y="77"/>
                          </a:lnTo>
                          <a:lnTo>
                            <a:pt x="10" y="77"/>
                          </a:lnTo>
                          <a:lnTo>
                            <a:pt x="12" y="74"/>
                          </a:lnTo>
                          <a:lnTo>
                            <a:pt x="15" y="71"/>
                          </a:lnTo>
                          <a:lnTo>
                            <a:pt x="15" y="69"/>
                          </a:lnTo>
                          <a:lnTo>
                            <a:pt x="15" y="8"/>
                          </a:lnTo>
                          <a:close/>
                        </a:path>
                      </a:pathLst>
                    </a:custGeom>
                    <a:solidFill>
                      <a:srgbClr val="000000"/>
                    </a:solidFill>
                    <a:ln w="9525">
                      <a:noFill/>
                      <a:round/>
                    </a:ln>
                  </p:spPr>
                  <p:txBody>
                    <a:bodyPr/>
                    <a:lstStyle/>
                    <a:p>
                      <a:endParaRPr lang="zh-CN" altLang="en-US"/>
                    </a:p>
                  </p:txBody>
                </p:sp>
                <p:sp>
                  <p:nvSpPr>
                    <p:cNvPr id="69709" name="Freeform 93"/>
                    <p:cNvSpPr/>
                    <p:nvPr/>
                  </p:nvSpPr>
                  <p:spPr bwMode="auto">
                    <a:xfrm>
                      <a:off x="1395" y="3012"/>
                      <a:ext cx="15" cy="61"/>
                    </a:xfrm>
                    <a:custGeom>
                      <a:avLst/>
                      <a:gdLst>
                        <a:gd name="T0" fmla="*/ 15 w 15"/>
                        <a:gd name="T1" fmla="*/ 8 h 61"/>
                        <a:gd name="T2" fmla="*/ 15 w 15"/>
                        <a:gd name="T3" fmla="*/ 5 h 61"/>
                        <a:gd name="T4" fmla="*/ 15 w 15"/>
                        <a:gd name="T5" fmla="*/ 3 h 61"/>
                        <a:gd name="T6" fmla="*/ 12 w 15"/>
                        <a:gd name="T7" fmla="*/ 0 h 61"/>
                        <a:gd name="T8" fmla="*/ 10 w 15"/>
                        <a:gd name="T9" fmla="*/ 0 h 61"/>
                        <a:gd name="T10" fmla="*/ 7 w 15"/>
                        <a:gd name="T11" fmla="*/ 0 h 61"/>
                        <a:gd name="T12" fmla="*/ 5 w 15"/>
                        <a:gd name="T13" fmla="*/ 0 h 61"/>
                        <a:gd name="T14" fmla="*/ 2 w 15"/>
                        <a:gd name="T15" fmla="*/ 3 h 61"/>
                        <a:gd name="T16" fmla="*/ 0 w 15"/>
                        <a:gd name="T17" fmla="*/ 5 h 61"/>
                        <a:gd name="T18" fmla="*/ 0 w 15"/>
                        <a:gd name="T19" fmla="*/ 54 h 61"/>
                        <a:gd name="T20" fmla="*/ 0 w 15"/>
                        <a:gd name="T21" fmla="*/ 54 h 61"/>
                        <a:gd name="T22" fmla="*/ 2 w 15"/>
                        <a:gd name="T23" fmla="*/ 56 h 61"/>
                        <a:gd name="T24" fmla="*/ 5 w 15"/>
                        <a:gd name="T25" fmla="*/ 59 h 61"/>
                        <a:gd name="T26" fmla="*/ 7 w 15"/>
                        <a:gd name="T27" fmla="*/ 61 h 61"/>
                        <a:gd name="T28" fmla="*/ 7 w 15"/>
                        <a:gd name="T29" fmla="*/ 61 h 61"/>
                        <a:gd name="T30" fmla="*/ 10 w 15"/>
                        <a:gd name="T31" fmla="*/ 59 h 61"/>
                        <a:gd name="T32" fmla="*/ 12 w 15"/>
                        <a:gd name="T33" fmla="*/ 56 h 61"/>
                        <a:gd name="T34" fmla="*/ 15 w 15"/>
                        <a:gd name="T35" fmla="*/ 56 h 61"/>
                        <a:gd name="T36" fmla="*/ 15 w 15"/>
                        <a:gd name="T37" fmla="*/ 8 h 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61"/>
                        <a:gd name="T59" fmla="*/ 15 w 15"/>
                        <a:gd name="T60" fmla="*/ 61 h 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61">
                          <a:moveTo>
                            <a:pt x="15" y="8"/>
                          </a:moveTo>
                          <a:lnTo>
                            <a:pt x="15" y="5"/>
                          </a:lnTo>
                          <a:lnTo>
                            <a:pt x="15" y="3"/>
                          </a:lnTo>
                          <a:lnTo>
                            <a:pt x="12" y="0"/>
                          </a:lnTo>
                          <a:lnTo>
                            <a:pt x="10" y="0"/>
                          </a:lnTo>
                          <a:lnTo>
                            <a:pt x="7" y="0"/>
                          </a:lnTo>
                          <a:lnTo>
                            <a:pt x="5" y="0"/>
                          </a:lnTo>
                          <a:lnTo>
                            <a:pt x="2" y="3"/>
                          </a:lnTo>
                          <a:lnTo>
                            <a:pt x="0" y="5"/>
                          </a:lnTo>
                          <a:lnTo>
                            <a:pt x="0" y="54"/>
                          </a:lnTo>
                          <a:lnTo>
                            <a:pt x="2" y="56"/>
                          </a:lnTo>
                          <a:lnTo>
                            <a:pt x="5" y="59"/>
                          </a:lnTo>
                          <a:lnTo>
                            <a:pt x="7" y="61"/>
                          </a:lnTo>
                          <a:lnTo>
                            <a:pt x="10" y="59"/>
                          </a:lnTo>
                          <a:lnTo>
                            <a:pt x="12" y="56"/>
                          </a:lnTo>
                          <a:lnTo>
                            <a:pt x="15" y="56"/>
                          </a:lnTo>
                          <a:lnTo>
                            <a:pt x="15" y="8"/>
                          </a:lnTo>
                          <a:close/>
                        </a:path>
                      </a:pathLst>
                    </a:custGeom>
                    <a:solidFill>
                      <a:srgbClr val="000000"/>
                    </a:solidFill>
                    <a:ln w="9525">
                      <a:noFill/>
                      <a:round/>
                    </a:ln>
                  </p:spPr>
                  <p:txBody>
                    <a:bodyPr/>
                    <a:lstStyle/>
                    <a:p>
                      <a:endParaRPr lang="zh-CN" altLang="en-US"/>
                    </a:p>
                  </p:txBody>
                </p:sp>
              </p:grpSp>
              <p:grpSp>
                <p:nvGrpSpPr>
                  <p:cNvPr id="27" name="Group 94"/>
                  <p:cNvGrpSpPr/>
                  <p:nvPr/>
                </p:nvGrpSpPr>
                <p:grpSpPr bwMode="auto">
                  <a:xfrm>
                    <a:off x="2620" y="3500"/>
                    <a:ext cx="244" cy="104"/>
                    <a:chOff x="2583" y="3379"/>
                    <a:chExt cx="244" cy="104"/>
                  </a:xfrm>
                </p:grpSpPr>
                <p:sp>
                  <p:nvSpPr>
                    <p:cNvPr id="69704" name="Line 95"/>
                    <p:cNvSpPr>
                      <a:spLocks noChangeShapeType="1"/>
                    </p:cNvSpPr>
                    <p:nvPr/>
                  </p:nvSpPr>
                  <p:spPr bwMode="auto">
                    <a:xfrm flipH="1">
                      <a:off x="2680" y="3432"/>
                      <a:ext cx="147" cy="1"/>
                    </a:xfrm>
                    <a:prstGeom prst="line">
                      <a:avLst/>
                    </a:prstGeom>
                    <a:noFill/>
                    <a:ln w="23813">
                      <a:solidFill>
                        <a:srgbClr val="000000"/>
                      </a:solidFill>
                      <a:round/>
                    </a:ln>
                  </p:spPr>
                  <p:txBody>
                    <a:bodyPr/>
                    <a:lstStyle/>
                    <a:p>
                      <a:endParaRPr lang="zh-CN" altLang="en-US"/>
                    </a:p>
                  </p:txBody>
                </p:sp>
                <p:sp>
                  <p:nvSpPr>
                    <p:cNvPr id="69705" name="Freeform 96"/>
                    <p:cNvSpPr/>
                    <p:nvPr/>
                  </p:nvSpPr>
                  <p:spPr bwMode="auto">
                    <a:xfrm>
                      <a:off x="2583" y="3379"/>
                      <a:ext cx="102" cy="104"/>
                    </a:xfrm>
                    <a:custGeom>
                      <a:avLst/>
                      <a:gdLst>
                        <a:gd name="T0" fmla="*/ 102 w 102"/>
                        <a:gd name="T1" fmla="*/ 0 h 104"/>
                        <a:gd name="T2" fmla="*/ 0 w 102"/>
                        <a:gd name="T3" fmla="*/ 53 h 104"/>
                        <a:gd name="T4" fmla="*/ 102 w 102"/>
                        <a:gd name="T5" fmla="*/ 104 h 104"/>
                        <a:gd name="T6" fmla="*/ 102 w 102"/>
                        <a:gd name="T7" fmla="*/ 0 h 104"/>
                        <a:gd name="T8" fmla="*/ 0 60000 65536"/>
                        <a:gd name="T9" fmla="*/ 0 60000 65536"/>
                        <a:gd name="T10" fmla="*/ 0 60000 65536"/>
                        <a:gd name="T11" fmla="*/ 0 60000 65536"/>
                        <a:gd name="T12" fmla="*/ 0 w 102"/>
                        <a:gd name="T13" fmla="*/ 0 h 104"/>
                        <a:gd name="T14" fmla="*/ 102 w 102"/>
                        <a:gd name="T15" fmla="*/ 104 h 104"/>
                      </a:gdLst>
                      <a:ahLst/>
                      <a:cxnLst>
                        <a:cxn ang="T8">
                          <a:pos x="T0" y="T1"/>
                        </a:cxn>
                        <a:cxn ang="T9">
                          <a:pos x="T2" y="T3"/>
                        </a:cxn>
                        <a:cxn ang="T10">
                          <a:pos x="T4" y="T5"/>
                        </a:cxn>
                        <a:cxn ang="T11">
                          <a:pos x="T6" y="T7"/>
                        </a:cxn>
                      </a:cxnLst>
                      <a:rect l="T12" t="T13" r="T14" b="T15"/>
                      <a:pathLst>
                        <a:path w="102" h="104">
                          <a:moveTo>
                            <a:pt x="102" y="0"/>
                          </a:moveTo>
                          <a:lnTo>
                            <a:pt x="0" y="53"/>
                          </a:lnTo>
                          <a:lnTo>
                            <a:pt x="102" y="104"/>
                          </a:lnTo>
                          <a:lnTo>
                            <a:pt x="102" y="0"/>
                          </a:lnTo>
                          <a:close/>
                        </a:path>
                      </a:pathLst>
                    </a:custGeom>
                    <a:solidFill>
                      <a:srgbClr val="000000"/>
                    </a:solidFill>
                    <a:ln w="9525">
                      <a:noFill/>
                      <a:round/>
                    </a:ln>
                  </p:spPr>
                  <p:txBody>
                    <a:bodyPr/>
                    <a:lstStyle/>
                    <a:p>
                      <a:endParaRPr lang="zh-CN" altLang="en-US"/>
                    </a:p>
                  </p:txBody>
                </p:sp>
              </p:grpSp>
              <p:sp>
                <p:nvSpPr>
                  <p:cNvPr id="89185" name="Rectangle 97"/>
                  <p:cNvSpPr>
                    <a:spLocks noChangeArrowheads="1"/>
                  </p:cNvSpPr>
                  <p:nvPr/>
                </p:nvSpPr>
                <p:spPr bwMode="auto">
                  <a:xfrm>
                    <a:off x="1974" y="3536"/>
                    <a:ext cx="248" cy="373"/>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zh-CN" altLang="en-US" sz="2000" b="1">
                        <a:solidFill>
                          <a:srgbClr val="000000"/>
                        </a:solidFill>
                        <a:latin typeface="宋体" panose="02010600030101010101" pitchFamily="2" charset="-122"/>
                      </a:rPr>
                      <a:t>帧</a:t>
                    </a:r>
                    <a:endParaRPr lang="zh-CN" altLang="en-US" sz="2400" b="1">
                      <a:effectLst>
                        <a:outerShdw blurRad="38100" dist="38100" dir="2700000" algn="tl">
                          <a:srgbClr val="C0C0C0"/>
                        </a:outerShdw>
                      </a:effectLst>
                      <a:latin typeface="Times New Roman" panose="02020603050405020304" pitchFamily="18" charset="0"/>
                    </a:endParaRPr>
                  </a:p>
                </p:txBody>
              </p:sp>
            </p:grpSp>
          </p:grpSp>
          <p:grpSp>
            <p:nvGrpSpPr>
              <p:cNvPr id="28" name="Group 98"/>
              <p:cNvGrpSpPr/>
              <p:nvPr/>
            </p:nvGrpSpPr>
            <p:grpSpPr bwMode="auto">
              <a:xfrm>
                <a:off x="2357" y="1626"/>
                <a:ext cx="115" cy="307"/>
                <a:chOff x="2357" y="1626"/>
                <a:chExt cx="115" cy="307"/>
              </a:xfrm>
            </p:grpSpPr>
            <p:sp>
              <p:nvSpPr>
                <p:cNvPr id="69694" name="Rectangle 99"/>
                <p:cNvSpPr>
                  <a:spLocks noChangeArrowheads="1"/>
                </p:cNvSpPr>
                <p:nvPr/>
              </p:nvSpPr>
              <p:spPr bwMode="auto">
                <a:xfrm>
                  <a:off x="2357" y="1626"/>
                  <a:ext cx="115" cy="307"/>
                </a:xfrm>
                <a:prstGeom prst="rect">
                  <a:avLst/>
                </a:prstGeom>
                <a:solidFill>
                  <a:schemeClr val="hlink"/>
                </a:solidFill>
                <a:ln w="9525" algn="ctr">
                  <a:noFill/>
                  <a:miter lim="800000"/>
                </a:ln>
              </p:spPr>
              <p:txBody>
                <a:bodyPr/>
                <a:lstStyle/>
                <a:p>
                  <a:pPr>
                    <a:spcBef>
                      <a:spcPct val="20000"/>
                    </a:spcBef>
                    <a:buClr>
                      <a:schemeClr val="hlink"/>
                    </a:buClr>
                    <a:buFont typeface="Wingdings" panose="05000000000000000000" pitchFamily="2" charset="2"/>
                    <a:buNone/>
                  </a:pPr>
                  <a:endParaRPr lang="zh-CN" altLang="zh-CN" sz="2200" b="1">
                    <a:solidFill>
                      <a:schemeClr val="tx2"/>
                    </a:solidFill>
                    <a:latin typeface="Verdana" panose="020B0604030504040204" pitchFamily="34" charset="0"/>
                  </a:endParaRPr>
                </a:p>
              </p:txBody>
            </p:sp>
            <p:sp>
              <p:nvSpPr>
                <p:cNvPr id="69695" name="Line 100"/>
                <p:cNvSpPr>
                  <a:spLocks noChangeShapeType="1"/>
                </p:cNvSpPr>
                <p:nvPr/>
              </p:nvSpPr>
              <p:spPr bwMode="auto">
                <a:xfrm>
                  <a:off x="2357" y="1626"/>
                  <a:ext cx="115" cy="0"/>
                </a:xfrm>
                <a:prstGeom prst="line">
                  <a:avLst/>
                </a:prstGeom>
                <a:noFill/>
                <a:ln w="19050">
                  <a:solidFill>
                    <a:schemeClr val="tx1"/>
                  </a:solidFill>
                  <a:round/>
                </a:ln>
              </p:spPr>
              <p:txBody>
                <a:bodyPr wrap="none" anchor="ctr"/>
                <a:lstStyle/>
                <a:p>
                  <a:endParaRPr lang="zh-CN" altLang="en-US"/>
                </a:p>
              </p:txBody>
            </p:sp>
            <p:sp>
              <p:nvSpPr>
                <p:cNvPr id="69696" name="Line 101"/>
                <p:cNvSpPr>
                  <a:spLocks noChangeShapeType="1"/>
                </p:cNvSpPr>
                <p:nvPr/>
              </p:nvSpPr>
              <p:spPr bwMode="auto">
                <a:xfrm>
                  <a:off x="2357" y="1933"/>
                  <a:ext cx="115" cy="0"/>
                </a:xfrm>
                <a:prstGeom prst="line">
                  <a:avLst/>
                </a:prstGeom>
                <a:noFill/>
                <a:ln w="12700">
                  <a:solidFill>
                    <a:schemeClr val="tx1"/>
                  </a:solidFill>
                  <a:round/>
                </a:ln>
              </p:spPr>
              <p:txBody>
                <a:bodyPr wrap="none" anchor="ctr"/>
                <a:lstStyle/>
                <a:p>
                  <a:endParaRPr lang="zh-CN" altLang="en-US"/>
                </a:p>
              </p:txBody>
            </p:sp>
            <p:sp>
              <p:nvSpPr>
                <p:cNvPr id="69697" name="Line 102"/>
                <p:cNvSpPr>
                  <a:spLocks noChangeShapeType="1"/>
                </p:cNvSpPr>
                <p:nvPr/>
              </p:nvSpPr>
              <p:spPr bwMode="auto">
                <a:xfrm>
                  <a:off x="2357" y="1626"/>
                  <a:ext cx="0" cy="307"/>
                </a:xfrm>
                <a:prstGeom prst="line">
                  <a:avLst/>
                </a:prstGeom>
                <a:noFill/>
                <a:ln w="19050">
                  <a:solidFill>
                    <a:schemeClr val="tx1"/>
                  </a:solidFill>
                  <a:round/>
                </a:ln>
              </p:spPr>
              <p:txBody>
                <a:bodyPr wrap="none" anchor="ctr"/>
                <a:lstStyle/>
                <a:p>
                  <a:endParaRPr lang="zh-CN" altLang="en-US"/>
                </a:p>
              </p:txBody>
            </p:sp>
            <p:sp>
              <p:nvSpPr>
                <p:cNvPr id="69698" name="Line 103"/>
                <p:cNvSpPr>
                  <a:spLocks noChangeShapeType="1"/>
                </p:cNvSpPr>
                <p:nvPr/>
              </p:nvSpPr>
              <p:spPr bwMode="auto">
                <a:xfrm>
                  <a:off x="2472" y="1626"/>
                  <a:ext cx="0" cy="307"/>
                </a:xfrm>
                <a:prstGeom prst="line">
                  <a:avLst/>
                </a:prstGeom>
                <a:noFill/>
                <a:ln w="28575">
                  <a:solidFill>
                    <a:schemeClr val="tx1"/>
                  </a:solidFill>
                  <a:round/>
                </a:ln>
              </p:spPr>
              <p:txBody>
                <a:bodyPr wrap="none" anchor="ctr"/>
                <a:lstStyle/>
                <a:p>
                  <a:endParaRPr lang="zh-CN" altLang="en-US"/>
                </a:p>
              </p:txBody>
            </p:sp>
          </p:grpSp>
          <p:grpSp>
            <p:nvGrpSpPr>
              <p:cNvPr id="29" name="Group 104"/>
              <p:cNvGrpSpPr/>
              <p:nvPr/>
            </p:nvGrpSpPr>
            <p:grpSpPr bwMode="auto">
              <a:xfrm>
                <a:off x="2789" y="2251"/>
                <a:ext cx="136" cy="307"/>
                <a:chOff x="2789" y="2251"/>
                <a:chExt cx="136" cy="307"/>
              </a:xfrm>
            </p:grpSpPr>
            <p:sp>
              <p:nvSpPr>
                <p:cNvPr id="69689" name="Rectangle 105"/>
                <p:cNvSpPr>
                  <a:spLocks noChangeArrowheads="1"/>
                </p:cNvSpPr>
                <p:nvPr/>
              </p:nvSpPr>
              <p:spPr bwMode="auto">
                <a:xfrm>
                  <a:off x="2789" y="2251"/>
                  <a:ext cx="136" cy="307"/>
                </a:xfrm>
                <a:prstGeom prst="rect">
                  <a:avLst/>
                </a:prstGeom>
                <a:solidFill>
                  <a:srgbClr val="FFFF0D"/>
                </a:solidFill>
                <a:ln w="9525" algn="ctr">
                  <a:noFill/>
                  <a:miter lim="800000"/>
                </a:ln>
              </p:spPr>
              <p:txBody>
                <a:bodyPr/>
                <a:lstStyle/>
                <a:p>
                  <a:pPr>
                    <a:spcBef>
                      <a:spcPct val="20000"/>
                    </a:spcBef>
                    <a:buClr>
                      <a:schemeClr val="hlink"/>
                    </a:buClr>
                    <a:buFont typeface="Wingdings" panose="05000000000000000000" pitchFamily="2" charset="2"/>
                    <a:buNone/>
                  </a:pPr>
                  <a:endParaRPr lang="zh-CN" altLang="zh-CN" sz="2200" b="1">
                    <a:solidFill>
                      <a:schemeClr val="tx2"/>
                    </a:solidFill>
                    <a:latin typeface="Verdana" panose="020B0604030504040204" pitchFamily="34" charset="0"/>
                  </a:endParaRPr>
                </a:p>
              </p:txBody>
            </p:sp>
            <p:sp>
              <p:nvSpPr>
                <p:cNvPr id="69690" name="Line 106"/>
                <p:cNvSpPr>
                  <a:spLocks noChangeShapeType="1"/>
                </p:cNvSpPr>
                <p:nvPr/>
              </p:nvSpPr>
              <p:spPr bwMode="auto">
                <a:xfrm>
                  <a:off x="2789" y="2251"/>
                  <a:ext cx="136" cy="0"/>
                </a:xfrm>
                <a:prstGeom prst="line">
                  <a:avLst/>
                </a:prstGeom>
                <a:noFill/>
                <a:ln w="19050">
                  <a:solidFill>
                    <a:schemeClr val="tx1"/>
                  </a:solidFill>
                  <a:round/>
                </a:ln>
              </p:spPr>
              <p:txBody>
                <a:bodyPr wrap="none" anchor="ctr"/>
                <a:lstStyle/>
                <a:p>
                  <a:endParaRPr lang="zh-CN" altLang="en-US"/>
                </a:p>
              </p:txBody>
            </p:sp>
            <p:sp>
              <p:nvSpPr>
                <p:cNvPr id="69691" name="Line 107"/>
                <p:cNvSpPr>
                  <a:spLocks noChangeShapeType="1"/>
                </p:cNvSpPr>
                <p:nvPr/>
              </p:nvSpPr>
              <p:spPr bwMode="auto">
                <a:xfrm>
                  <a:off x="2789" y="2558"/>
                  <a:ext cx="136" cy="0"/>
                </a:xfrm>
                <a:prstGeom prst="line">
                  <a:avLst/>
                </a:prstGeom>
                <a:noFill/>
                <a:ln w="19050">
                  <a:solidFill>
                    <a:schemeClr val="tx1"/>
                  </a:solidFill>
                  <a:round/>
                </a:ln>
              </p:spPr>
              <p:txBody>
                <a:bodyPr wrap="none" anchor="ctr"/>
                <a:lstStyle/>
                <a:p>
                  <a:endParaRPr lang="zh-CN" altLang="en-US"/>
                </a:p>
              </p:txBody>
            </p:sp>
            <p:sp>
              <p:nvSpPr>
                <p:cNvPr id="69692" name="Line 108"/>
                <p:cNvSpPr>
                  <a:spLocks noChangeShapeType="1"/>
                </p:cNvSpPr>
                <p:nvPr/>
              </p:nvSpPr>
              <p:spPr bwMode="auto">
                <a:xfrm>
                  <a:off x="2789" y="2251"/>
                  <a:ext cx="0" cy="307"/>
                </a:xfrm>
                <a:prstGeom prst="line">
                  <a:avLst/>
                </a:prstGeom>
                <a:noFill/>
                <a:ln w="19050">
                  <a:solidFill>
                    <a:schemeClr val="tx1"/>
                  </a:solidFill>
                  <a:round/>
                </a:ln>
              </p:spPr>
              <p:txBody>
                <a:bodyPr wrap="none" anchor="ctr"/>
                <a:lstStyle/>
                <a:p>
                  <a:endParaRPr lang="zh-CN" altLang="en-US"/>
                </a:p>
              </p:txBody>
            </p:sp>
            <p:sp>
              <p:nvSpPr>
                <p:cNvPr id="69693" name="Line 109"/>
                <p:cNvSpPr>
                  <a:spLocks noChangeShapeType="1"/>
                </p:cNvSpPr>
                <p:nvPr/>
              </p:nvSpPr>
              <p:spPr bwMode="auto">
                <a:xfrm>
                  <a:off x="2925" y="2251"/>
                  <a:ext cx="0" cy="307"/>
                </a:xfrm>
                <a:prstGeom prst="line">
                  <a:avLst/>
                </a:prstGeom>
                <a:noFill/>
                <a:ln w="19050">
                  <a:solidFill>
                    <a:schemeClr val="tx1"/>
                  </a:solidFill>
                  <a:round/>
                </a:ln>
              </p:spPr>
              <p:txBody>
                <a:bodyPr wrap="none" anchor="ctr"/>
                <a:lstStyle/>
                <a:p>
                  <a:endParaRPr lang="zh-CN" altLang="en-US"/>
                </a:p>
              </p:txBody>
            </p:sp>
          </p:grpSp>
          <p:grpSp>
            <p:nvGrpSpPr>
              <p:cNvPr id="30" name="Group 110"/>
              <p:cNvGrpSpPr/>
              <p:nvPr/>
            </p:nvGrpSpPr>
            <p:grpSpPr bwMode="auto">
              <a:xfrm>
                <a:off x="2472" y="2968"/>
                <a:ext cx="133" cy="317"/>
                <a:chOff x="2472" y="2968"/>
                <a:chExt cx="133" cy="317"/>
              </a:xfrm>
            </p:grpSpPr>
            <p:sp>
              <p:nvSpPr>
                <p:cNvPr id="69684" name="Rectangle 111"/>
                <p:cNvSpPr>
                  <a:spLocks noChangeArrowheads="1"/>
                </p:cNvSpPr>
                <p:nvPr/>
              </p:nvSpPr>
              <p:spPr bwMode="auto">
                <a:xfrm>
                  <a:off x="2472" y="2968"/>
                  <a:ext cx="133" cy="317"/>
                </a:xfrm>
                <a:prstGeom prst="rect">
                  <a:avLst/>
                </a:prstGeom>
                <a:solidFill>
                  <a:srgbClr val="D9B3FF"/>
                </a:solidFill>
                <a:ln w="9525" algn="ctr">
                  <a:noFill/>
                  <a:miter lim="800000"/>
                </a:ln>
              </p:spPr>
              <p:txBody>
                <a:bodyPr/>
                <a:lstStyle/>
                <a:p>
                  <a:pPr>
                    <a:spcBef>
                      <a:spcPct val="20000"/>
                    </a:spcBef>
                    <a:buClr>
                      <a:schemeClr val="hlink"/>
                    </a:buClr>
                    <a:buFont typeface="Wingdings" panose="05000000000000000000" pitchFamily="2" charset="2"/>
                    <a:buNone/>
                  </a:pPr>
                  <a:endParaRPr lang="zh-CN" altLang="zh-CN" sz="2200" b="1">
                    <a:solidFill>
                      <a:schemeClr val="tx2"/>
                    </a:solidFill>
                    <a:latin typeface="Verdana" panose="020B0604030504040204" pitchFamily="34" charset="0"/>
                  </a:endParaRPr>
                </a:p>
              </p:txBody>
            </p:sp>
            <p:sp>
              <p:nvSpPr>
                <p:cNvPr id="69685" name="Line 112"/>
                <p:cNvSpPr>
                  <a:spLocks noChangeShapeType="1"/>
                </p:cNvSpPr>
                <p:nvPr/>
              </p:nvSpPr>
              <p:spPr bwMode="auto">
                <a:xfrm>
                  <a:off x="2472" y="2968"/>
                  <a:ext cx="133" cy="0"/>
                </a:xfrm>
                <a:prstGeom prst="line">
                  <a:avLst/>
                </a:prstGeom>
                <a:noFill/>
                <a:ln w="19050">
                  <a:solidFill>
                    <a:schemeClr val="tx1"/>
                  </a:solidFill>
                  <a:round/>
                </a:ln>
              </p:spPr>
              <p:txBody>
                <a:bodyPr wrap="none" anchor="ctr"/>
                <a:lstStyle/>
                <a:p>
                  <a:endParaRPr lang="zh-CN" altLang="en-US"/>
                </a:p>
              </p:txBody>
            </p:sp>
            <p:sp>
              <p:nvSpPr>
                <p:cNvPr id="69686" name="Line 113"/>
                <p:cNvSpPr>
                  <a:spLocks noChangeShapeType="1"/>
                </p:cNvSpPr>
                <p:nvPr/>
              </p:nvSpPr>
              <p:spPr bwMode="auto">
                <a:xfrm>
                  <a:off x="2472" y="3285"/>
                  <a:ext cx="133" cy="0"/>
                </a:xfrm>
                <a:prstGeom prst="line">
                  <a:avLst/>
                </a:prstGeom>
                <a:noFill/>
                <a:ln w="19050">
                  <a:solidFill>
                    <a:schemeClr val="tx1"/>
                  </a:solidFill>
                  <a:round/>
                </a:ln>
              </p:spPr>
              <p:txBody>
                <a:bodyPr wrap="none" anchor="ctr"/>
                <a:lstStyle/>
                <a:p>
                  <a:endParaRPr lang="zh-CN" altLang="en-US"/>
                </a:p>
              </p:txBody>
            </p:sp>
            <p:sp>
              <p:nvSpPr>
                <p:cNvPr id="69687" name="Line 114"/>
                <p:cNvSpPr>
                  <a:spLocks noChangeShapeType="1"/>
                </p:cNvSpPr>
                <p:nvPr/>
              </p:nvSpPr>
              <p:spPr bwMode="auto">
                <a:xfrm>
                  <a:off x="2472" y="2968"/>
                  <a:ext cx="0" cy="317"/>
                </a:xfrm>
                <a:prstGeom prst="line">
                  <a:avLst/>
                </a:prstGeom>
                <a:noFill/>
                <a:ln w="19050">
                  <a:solidFill>
                    <a:schemeClr val="tx1"/>
                  </a:solidFill>
                  <a:round/>
                </a:ln>
              </p:spPr>
              <p:txBody>
                <a:bodyPr wrap="none" anchor="ctr"/>
                <a:lstStyle/>
                <a:p>
                  <a:endParaRPr lang="zh-CN" altLang="en-US"/>
                </a:p>
              </p:txBody>
            </p:sp>
            <p:sp>
              <p:nvSpPr>
                <p:cNvPr id="69688" name="Line 115"/>
                <p:cNvSpPr>
                  <a:spLocks noChangeShapeType="1"/>
                </p:cNvSpPr>
                <p:nvPr/>
              </p:nvSpPr>
              <p:spPr bwMode="auto">
                <a:xfrm>
                  <a:off x="2605" y="2968"/>
                  <a:ext cx="0" cy="317"/>
                </a:xfrm>
                <a:prstGeom prst="line">
                  <a:avLst/>
                </a:prstGeom>
                <a:noFill/>
                <a:ln w="28575">
                  <a:solidFill>
                    <a:schemeClr val="tx1"/>
                  </a:solidFill>
                  <a:round/>
                </a:ln>
              </p:spPr>
              <p:txBody>
                <a:bodyPr wrap="none" anchor="ctr"/>
                <a:lstStyle/>
                <a:p>
                  <a:endParaRPr lang="zh-CN" altLang="en-US"/>
                </a:p>
              </p:txBody>
            </p:sp>
          </p:grpSp>
        </p:grpSp>
      </p:grpSp>
      <p:grpSp>
        <p:nvGrpSpPr>
          <p:cNvPr id="31" name="Group 116"/>
          <p:cNvGrpSpPr/>
          <p:nvPr/>
        </p:nvGrpSpPr>
        <p:grpSpPr bwMode="auto">
          <a:xfrm>
            <a:off x="4643439" y="2715320"/>
            <a:ext cx="4251325" cy="1296590"/>
            <a:chOff x="431" y="1480"/>
            <a:chExt cx="2541" cy="952"/>
          </a:xfrm>
        </p:grpSpPr>
        <p:grpSp>
          <p:nvGrpSpPr>
            <p:cNvPr id="89088" name="Group 117"/>
            <p:cNvGrpSpPr/>
            <p:nvPr/>
          </p:nvGrpSpPr>
          <p:grpSpPr bwMode="auto">
            <a:xfrm>
              <a:off x="432" y="1697"/>
              <a:ext cx="2539" cy="191"/>
              <a:chOff x="432" y="1697"/>
              <a:chExt cx="2539" cy="191"/>
            </a:xfrm>
          </p:grpSpPr>
          <p:sp>
            <p:nvSpPr>
              <p:cNvPr id="69662" name="Rectangle 118"/>
              <p:cNvSpPr>
                <a:spLocks noChangeArrowheads="1"/>
              </p:cNvSpPr>
              <p:nvPr/>
            </p:nvSpPr>
            <p:spPr bwMode="auto">
              <a:xfrm>
                <a:off x="2517" y="1697"/>
                <a:ext cx="454" cy="191"/>
              </a:xfrm>
              <a:prstGeom prst="rect">
                <a:avLst/>
              </a:prstGeom>
              <a:solidFill>
                <a:srgbClr val="FF9900"/>
              </a:solidFill>
              <a:ln w="9525" algn="ctr">
                <a:noFill/>
                <a:miter lim="800000"/>
              </a:ln>
            </p:spPr>
            <p:txBody>
              <a:bodyPr/>
              <a:lstStyle/>
              <a:p>
                <a:pP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时隙</a:t>
                </a:r>
                <a:r>
                  <a:rPr lang="en-US" altLang="zh-CN" sz="1200">
                    <a:solidFill>
                      <a:srgbClr val="000000"/>
                    </a:solidFill>
                    <a:latin typeface="Verdana" panose="020B0604030504040204" pitchFamily="34" charset="0"/>
                  </a:rPr>
                  <a:t>N</a:t>
                </a:r>
                <a:endParaRPr lang="en-US" altLang="zh-CN" sz="1200">
                  <a:solidFill>
                    <a:srgbClr val="000000"/>
                  </a:solidFill>
                  <a:latin typeface="Verdana" panose="020B0604030504040204" pitchFamily="34" charset="0"/>
                </a:endParaRPr>
              </a:p>
            </p:txBody>
          </p:sp>
          <p:sp>
            <p:nvSpPr>
              <p:cNvPr id="69663" name="Rectangle 119"/>
              <p:cNvSpPr>
                <a:spLocks noChangeArrowheads="1"/>
              </p:cNvSpPr>
              <p:nvPr/>
            </p:nvSpPr>
            <p:spPr bwMode="auto">
              <a:xfrm>
                <a:off x="1746" y="1697"/>
                <a:ext cx="771" cy="191"/>
              </a:xfrm>
              <a:prstGeom prst="rect">
                <a:avLst/>
              </a:prstGeom>
              <a:noFill/>
              <a:ln w="9525" algn="ctr">
                <a:noFill/>
                <a:miter lim="800000"/>
              </a:ln>
            </p:spPr>
            <p:txBody>
              <a:bodyPr/>
              <a:lstStyle/>
              <a:p>
                <a:pPr algn="ctr">
                  <a:spcBef>
                    <a:spcPct val="20000"/>
                  </a:spcBef>
                  <a:buClr>
                    <a:schemeClr val="hlink"/>
                  </a:buClr>
                  <a:buFont typeface="Wingdings" panose="05000000000000000000" pitchFamily="2" charset="2"/>
                  <a:buNone/>
                </a:pPr>
                <a:r>
                  <a:rPr lang="en-US" altLang="zh-CN" sz="1200">
                    <a:solidFill>
                      <a:schemeClr val="tx2"/>
                    </a:solidFill>
                  </a:rPr>
                  <a:t>……</a:t>
                </a:r>
                <a:endParaRPr lang="en-US" altLang="zh-CN" sz="1200">
                  <a:solidFill>
                    <a:schemeClr val="tx2"/>
                  </a:solidFill>
                  <a:latin typeface="Verdana" panose="020B0604030504040204" pitchFamily="34" charset="0"/>
                </a:endParaRPr>
              </a:p>
            </p:txBody>
          </p:sp>
          <p:sp>
            <p:nvSpPr>
              <p:cNvPr id="69664" name="Rectangle 120"/>
              <p:cNvSpPr>
                <a:spLocks noChangeArrowheads="1"/>
              </p:cNvSpPr>
              <p:nvPr/>
            </p:nvSpPr>
            <p:spPr bwMode="auto">
              <a:xfrm>
                <a:off x="1292" y="1697"/>
                <a:ext cx="454" cy="191"/>
              </a:xfrm>
              <a:prstGeom prst="rect">
                <a:avLst/>
              </a:prstGeom>
              <a:solidFill>
                <a:srgbClr val="D9B3FF"/>
              </a:solidFill>
              <a:ln w="9525" algn="ctr">
                <a:noFill/>
                <a:miter lim="800000"/>
              </a:ln>
            </p:spPr>
            <p:txBody>
              <a:bodyPr/>
              <a:lstStyle/>
              <a:p>
                <a:pP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时隙</a:t>
                </a:r>
                <a:r>
                  <a:rPr lang="en-US" altLang="zh-CN" sz="1200">
                    <a:solidFill>
                      <a:srgbClr val="000000"/>
                    </a:solidFill>
                    <a:latin typeface="Verdana" panose="020B0604030504040204" pitchFamily="34" charset="0"/>
                  </a:rPr>
                  <a:t>3</a:t>
                </a:r>
                <a:endParaRPr lang="en-US" altLang="zh-CN" sz="1200">
                  <a:solidFill>
                    <a:srgbClr val="000000"/>
                  </a:solidFill>
                  <a:latin typeface="Verdana" panose="020B0604030504040204" pitchFamily="34" charset="0"/>
                </a:endParaRPr>
              </a:p>
            </p:txBody>
          </p:sp>
          <p:sp>
            <p:nvSpPr>
              <p:cNvPr id="69665" name="Rectangle 121"/>
              <p:cNvSpPr>
                <a:spLocks noChangeArrowheads="1"/>
              </p:cNvSpPr>
              <p:nvPr/>
            </p:nvSpPr>
            <p:spPr bwMode="auto">
              <a:xfrm>
                <a:off x="884" y="1697"/>
                <a:ext cx="408" cy="191"/>
              </a:xfrm>
              <a:prstGeom prst="rect">
                <a:avLst/>
              </a:prstGeom>
              <a:solidFill>
                <a:srgbClr val="FFFF0D"/>
              </a:solidFill>
              <a:ln w="9525" algn="ctr">
                <a:noFill/>
                <a:miter lim="800000"/>
              </a:ln>
            </p:spPr>
            <p:txBody>
              <a:bodyPr/>
              <a:lstStyle/>
              <a:p>
                <a:pP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时隙</a:t>
                </a:r>
                <a:r>
                  <a:rPr lang="en-US" altLang="zh-CN" sz="1200">
                    <a:solidFill>
                      <a:srgbClr val="000000"/>
                    </a:solidFill>
                    <a:latin typeface="Verdana" panose="020B0604030504040204" pitchFamily="34" charset="0"/>
                  </a:rPr>
                  <a:t>2</a:t>
                </a:r>
                <a:endParaRPr lang="en-US" altLang="zh-CN" sz="1200">
                  <a:solidFill>
                    <a:srgbClr val="000000"/>
                  </a:solidFill>
                  <a:latin typeface="Verdana" panose="020B0604030504040204" pitchFamily="34" charset="0"/>
                </a:endParaRPr>
              </a:p>
            </p:txBody>
          </p:sp>
          <p:sp>
            <p:nvSpPr>
              <p:cNvPr id="69666" name="Rectangle 122"/>
              <p:cNvSpPr>
                <a:spLocks noChangeArrowheads="1"/>
              </p:cNvSpPr>
              <p:nvPr/>
            </p:nvSpPr>
            <p:spPr bwMode="auto">
              <a:xfrm>
                <a:off x="432" y="1697"/>
                <a:ext cx="452" cy="191"/>
              </a:xfrm>
              <a:prstGeom prst="rect">
                <a:avLst/>
              </a:prstGeom>
              <a:solidFill>
                <a:schemeClr val="hlink"/>
              </a:solidFill>
              <a:ln w="9525" algn="ctr">
                <a:noFill/>
                <a:miter lim="800000"/>
              </a:ln>
            </p:spPr>
            <p:txBody>
              <a:bodyPr/>
              <a:lstStyle/>
              <a:p>
                <a:pP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时隙</a:t>
                </a:r>
                <a:r>
                  <a:rPr lang="en-US" altLang="zh-CN" sz="1200">
                    <a:solidFill>
                      <a:srgbClr val="000000"/>
                    </a:solidFill>
                    <a:latin typeface="Verdana" panose="020B0604030504040204" pitchFamily="34" charset="0"/>
                  </a:rPr>
                  <a:t>1</a:t>
                </a:r>
                <a:endParaRPr lang="en-US" altLang="zh-CN" sz="1200">
                  <a:solidFill>
                    <a:schemeClr val="tx2"/>
                  </a:solidFill>
                  <a:latin typeface="Verdana" panose="020B0604030504040204" pitchFamily="34" charset="0"/>
                </a:endParaRPr>
              </a:p>
            </p:txBody>
          </p:sp>
          <p:sp>
            <p:nvSpPr>
              <p:cNvPr id="69667" name="Line 123"/>
              <p:cNvSpPr>
                <a:spLocks noChangeShapeType="1"/>
              </p:cNvSpPr>
              <p:nvPr/>
            </p:nvSpPr>
            <p:spPr bwMode="auto">
              <a:xfrm>
                <a:off x="432" y="1697"/>
                <a:ext cx="2539" cy="0"/>
              </a:xfrm>
              <a:prstGeom prst="line">
                <a:avLst/>
              </a:prstGeom>
              <a:noFill/>
              <a:ln w="28575" cap="sq">
                <a:solidFill>
                  <a:schemeClr val="tx1"/>
                </a:solidFill>
                <a:round/>
              </a:ln>
            </p:spPr>
            <p:txBody>
              <a:bodyPr wrap="none" anchor="ctr"/>
              <a:lstStyle/>
              <a:p>
                <a:endParaRPr lang="zh-CN" altLang="en-US"/>
              </a:p>
            </p:txBody>
          </p:sp>
          <p:sp>
            <p:nvSpPr>
              <p:cNvPr id="69668" name="Line 124"/>
              <p:cNvSpPr>
                <a:spLocks noChangeShapeType="1"/>
              </p:cNvSpPr>
              <p:nvPr/>
            </p:nvSpPr>
            <p:spPr bwMode="auto">
              <a:xfrm>
                <a:off x="432" y="1888"/>
                <a:ext cx="2539" cy="0"/>
              </a:xfrm>
              <a:prstGeom prst="line">
                <a:avLst/>
              </a:prstGeom>
              <a:noFill/>
              <a:ln w="28575" cap="sq">
                <a:solidFill>
                  <a:schemeClr val="tx1"/>
                </a:solidFill>
                <a:round/>
              </a:ln>
            </p:spPr>
            <p:txBody>
              <a:bodyPr wrap="none" anchor="ctr"/>
              <a:lstStyle/>
              <a:p>
                <a:endParaRPr lang="zh-CN" altLang="en-US"/>
              </a:p>
            </p:txBody>
          </p:sp>
          <p:sp>
            <p:nvSpPr>
              <p:cNvPr id="69669" name="Line 125"/>
              <p:cNvSpPr>
                <a:spLocks noChangeShapeType="1"/>
              </p:cNvSpPr>
              <p:nvPr/>
            </p:nvSpPr>
            <p:spPr bwMode="auto">
              <a:xfrm>
                <a:off x="432" y="1697"/>
                <a:ext cx="0" cy="191"/>
              </a:xfrm>
              <a:prstGeom prst="line">
                <a:avLst/>
              </a:prstGeom>
              <a:noFill/>
              <a:ln w="28575" cap="sq">
                <a:solidFill>
                  <a:schemeClr val="tx1"/>
                </a:solidFill>
                <a:round/>
              </a:ln>
            </p:spPr>
            <p:txBody>
              <a:bodyPr wrap="none" anchor="ctr"/>
              <a:lstStyle/>
              <a:p>
                <a:endParaRPr lang="zh-CN" altLang="en-US"/>
              </a:p>
            </p:txBody>
          </p:sp>
          <p:sp>
            <p:nvSpPr>
              <p:cNvPr id="69670" name="Line 126"/>
              <p:cNvSpPr>
                <a:spLocks noChangeShapeType="1"/>
              </p:cNvSpPr>
              <p:nvPr/>
            </p:nvSpPr>
            <p:spPr bwMode="auto">
              <a:xfrm>
                <a:off x="884" y="1697"/>
                <a:ext cx="0" cy="191"/>
              </a:xfrm>
              <a:prstGeom prst="line">
                <a:avLst/>
              </a:prstGeom>
              <a:noFill/>
              <a:ln w="12700">
                <a:solidFill>
                  <a:schemeClr val="tx1"/>
                </a:solidFill>
                <a:round/>
              </a:ln>
            </p:spPr>
            <p:txBody>
              <a:bodyPr wrap="none" anchor="ctr"/>
              <a:lstStyle/>
              <a:p>
                <a:endParaRPr lang="zh-CN" altLang="en-US"/>
              </a:p>
            </p:txBody>
          </p:sp>
          <p:sp>
            <p:nvSpPr>
              <p:cNvPr id="69671" name="Line 127"/>
              <p:cNvSpPr>
                <a:spLocks noChangeShapeType="1"/>
              </p:cNvSpPr>
              <p:nvPr/>
            </p:nvSpPr>
            <p:spPr bwMode="auto">
              <a:xfrm>
                <a:off x="1292" y="1697"/>
                <a:ext cx="0" cy="191"/>
              </a:xfrm>
              <a:prstGeom prst="line">
                <a:avLst/>
              </a:prstGeom>
              <a:noFill/>
              <a:ln w="12700">
                <a:solidFill>
                  <a:schemeClr val="tx1"/>
                </a:solidFill>
                <a:round/>
              </a:ln>
            </p:spPr>
            <p:txBody>
              <a:bodyPr wrap="none" anchor="ctr"/>
              <a:lstStyle/>
              <a:p>
                <a:endParaRPr lang="zh-CN" altLang="en-US"/>
              </a:p>
            </p:txBody>
          </p:sp>
          <p:sp>
            <p:nvSpPr>
              <p:cNvPr id="69672" name="Line 128"/>
              <p:cNvSpPr>
                <a:spLocks noChangeShapeType="1"/>
              </p:cNvSpPr>
              <p:nvPr/>
            </p:nvSpPr>
            <p:spPr bwMode="auto">
              <a:xfrm>
                <a:off x="1746" y="1697"/>
                <a:ext cx="0" cy="191"/>
              </a:xfrm>
              <a:prstGeom prst="line">
                <a:avLst/>
              </a:prstGeom>
              <a:noFill/>
              <a:ln w="12700">
                <a:solidFill>
                  <a:schemeClr val="tx1"/>
                </a:solidFill>
                <a:round/>
              </a:ln>
            </p:spPr>
            <p:txBody>
              <a:bodyPr wrap="none" anchor="ctr"/>
              <a:lstStyle/>
              <a:p>
                <a:endParaRPr lang="zh-CN" altLang="en-US"/>
              </a:p>
            </p:txBody>
          </p:sp>
          <p:sp>
            <p:nvSpPr>
              <p:cNvPr id="69673" name="Line 129"/>
              <p:cNvSpPr>
                <a:spLocks noChangeShapeType="1"/>
              </p:cNvSpPr>
              <p:nvPr/>
            </p:nvSpPr>
            <p:spPr bwMode="auto">
              <a:xfrm>
                <a:off x="2517" y="1697"/>
                <a:ext cx="0" cy="191"/>
              </a:xfrm>
              <a:prstGeom prst="line">
                <a:avLst/>
              </a:prstGeom>
              <a:noFill/>
              <a:ln w="12700">
                <a:solidFill>
                  <a:schemeClr val="tx1"/>
                </a:solidFill>
                <a:round/>
              </a:ln>
            </p:spPr>
            <p:txBody>
              <a:bodyPr wrap="none" anchor="ctr"/>
              <a:lstStyle/>
              <a:p>
                <a:endParaRPr lang="zh-CN" altLang="en-US"/>
              </a:p>
            </p:txBody>
          </p:sp>
          <p:sp>
            <p:nvSpPr>
              <p:cNvPr id="69674" name="Line 130"/>
              <p:cNvSpPr>
                <a:spLocks noChangeShapeType="1"/>
              </p:cNvSpPr>
              <p:nvPr/>
            </p:nvSpPr>
            <p:spPr bwMode="auto">
              <a:xfrm>
                <a:off x="2971" y="1697"/>
                <a:ext cx="0" cy="191"/>
              </a:xfrm>
              <a:prstGeom prst="line">
                <a:avLst/>
              </a:prstGeom>
              <a:noFill/>
              <a:ln w="28575" cap="sq">
                <a:solidFill>
                  <a:schemeClr val="tx1"/>
                </a:solidFill>
                <a:round/>
              </a:ln>
            </p:spPr>
            <p:txBody>
              <a:bodyPr wrap="none" anchor="ctr"/>
              <a:lstStyle/>
              <a:p>
                <a:endParaRPr lang="zh-CN" altLang="en-US"/>
              </a:p>
            </p:txBody>
          </p:sp>
        </p:grpSp>
        <p:grpSp>
          <p:nvGrpSpPr>
            <p:cNvPr id="89089" name="Group 131"/>
            <p:cNvGrpSpPr/>
            <p:nvPr/>
          </p:nvGrpSpPr>
          <p:grpSpPr bwMode="auto">
            <a:xfrm>
              <a:off x="521" y="2241"/>
              <a:ext cx="2400" cy="191"/>
              <a:chOff x="521" y="2241"/>
              <a:chExt cx="2400" cy="191"/>
            </a:xfrm>
          </p:grpSpPr>
          <p:sp>
            <p:nvSpPr>
              <p:cNvPr id="69651" name="Rectangle 132"/>
              <p:cNvSpPr>
                <a:spLocks noChangeArrowheads="1"/>
              </p:cNvSpPr>
              <p:nvPr/>
            </p:nvSpPr>
            <p:spPr bwMode="auto">
              <a:xfrm>
                <a:off x="2321" y="2241"/>
                <a:ext cx="600" cy="191"/>
              </a:xfrm>
              <a:prstGeom prst="rect">
                <a:avLst/>
              </a:prstGeom>
              <a:solidFill>
                <a:srgbClr val="D9B3FF"/>
              </a:solidFill>
              <a:ln w="9525" algn="ctr">
                <a:noFill/>
                <a:miter lim="800000"/>
              </a:ln>
            </p:spPr>
            <p:txBody>
              <a:bodyPr/>
              <a:lstStyle/>
              <a:p>
                <a:pPr algn="ctr">
                  <a:spcBef>
                    <a:spcPct val="20000"/>
                  </a:spcBef>
                  <a:buClr>
                    <a:schemeClr val="hlink"/>
                  </a:buClr>
                  <a:buFont typeface="Wingdings" panose="05000000000000000000" pitchFamily="2" charset="2"/>
                  <a:buNone/>
                </a:pPr>
                <a:r>
                  <a:rPr lang="zh-CN" altLang="en-US" sz="1200" dirty="0">
                    <a:solidFill>
                      <a:srgbClr val="000000"/>
                    </a:solidFill>
                    <a:latin typeface="Verdana" panose="020B0604030504040204" pitchFamily="34" charset="0"/>
                  </a:rPr>
                  <a:t>保护比特</a:t>
                </a:r>
                <a:endParaRPr lang="zh-CN" altLang="en-US" sz="1200" dirty="0">
                  <a:solidFill>
                    <a:schemeClr val="tx2"/>
                  </a:solidFill>
                  <a:latin typeface="Verdana" panose="020B0604030504040204" pitchFamily="34" charset="0"/>
                </a:endParaRPr>
              </a:p>
            </p:txBody>
          </p:sp>
          <p:sp>
            <p:nvSpPr>
              <p:cNvPr id="69652" name="Rectangle 133"/>
              <p:cNvSpPr>
                <a:spLocks noChangeArrowheads="1"/>
              </p:cNvSpPr>
              <p:nvPr/>
            </p:nvSpPr>
            <p:spPr bwMode="auto">
              <a:xfrm>
                <a:off x="1721" y="2241"/>
                <a:ext cx="600" cy="191"/>
              </a:xfrm>
              <a:prstGeom prst="rect">
                <a:avLst/>
              </a:prstGeom>
              <a:solidFill>
                <a:srgbClr val="D9B3FF"/>
              </a:solidFill>
              <a:ln w="9525" algn="ctr">
                <a:noFill/>
                <a:miter lim="800000"/>
              </a:ln>
            </p:spPr>
            <p:txBody>
              <a:bodyPr/>
              <a:lstStyle/>
              <a:p>
                <a:pP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信息数据</a:t>
                </a:r>
                <a:endParaRPr lang="zh-CN" altLang="en-US" sz="1200">
                  <a:solidFill>
                    <a:srgbClr val="000000"/>
                  </a:solidFill>
                  <a:latin typeface="Verdana" panose="020B0604030504040204" pitchFamily="34" charset="0"/>
                </a:endParaRPr>
              </a:p>
            </p:txBody>
          </p:sp>
          <p:sp>
            <p:nvSpPr>
              <p:cNvPr id="69653" name="Rectangle 134"/>
              <p:cNvSpPr>
                <a:spLocks noChangeArrowheads="1"/>
              </p:cNvSpPr>
              <p:nvPr/>
            </p:nvSpPr>
            <p:spPr bwMode="auto">
              <a:xfrm>
                <a:off x="1121" y="2241"/>
                <a:ext cx="600" cy="191"/>
              </a:xfrm>
              <a:prstGeom prst="rect">
                <a:avLst/>
              </a:prstGeom>
              <a:solidFill>
                <a:srgbClr val="D9B3FF"/>
              </a:solidFill>
              <a:ln w="9525" algn="ctr">
                <a:noFill/>
                <a:miter lim="800000"/>
              </a:ln>
            </p:spPr>
            <p:txBody>
              <a:bodyPr/>
              <a:lstStyle/>
              <a:p>
                <a:pP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同步比特</a:t>
                </a:r>
                <a:endParaRPr lang="zh-CN" altLang="en-US" sz="1200">
                  <a:solidFill>
                    <a:srgbClr val="000000"/>
                  </a:solidFill>
                  <a:latin typeface="Verdana" panose="020B0604030504040204" pitchFamily="34" charset="0"/>
                </a:endParaRPr>
              </a:p>
            </p:txBody>
          </p:sp>
          <p:sp>
            <p:nvSpPr>
              <p:cNvPr id="69654" name="Rectangle 135"/>
              <p:cNvSpPr>
                <a:spLocks noChangeArrowheads="1"/>
              </p:cNvSpPr>
              <p:nvPr/>
            </p:nvSpPr>
            <p:spPr bwMode="auto">
              <a:xfrm>
                <a:off x="521" y="2241"/>
                <a:ext cx="600" cy="191"/>
              </a:xfrm>
              <a:prstGeom prst="rect">
                <a:avLst/>
              </a:prstGeom>
              <a:solidFill>
                <a:srgbClr val="D9B3FF"/>
              </a:solidFill>
              <a:ln w="9525" algn="ctr">
                <a:noFill/>
                <a:miter lim="800000"/>
              </a:ln>
            </p:spPr>
            <p:txBody>
              <a:bodyPr/>
              <a:lstStyle/>
              <a:p>
                <a:pPr algn="ctr">
                  <a:spcBef>
                    <a:spcPct val="20000"/>
                  </a:spcBef>
                  <a:buClr>
                    <a:schemeClr val="hlink"/>
                  </a:buClr>
                  <a:buFont typeface="Wingdings" panose="05000000000000000000" pitchFamily="2" charset="2"/>
                  <a:buNone/>
                </a:pPr>
                <a:r>
                  <a:rPr lang="zh-CN" altLang="en-US" sz="1200">
                    <a:solidFill>
                      <a:srgbClr val="000000"/>
                    </a:solidFill>
                    <a:latin typeface="Verdana" panose="020B0604030504040204" pitchFamily="34" charset="0"/>
                  </a:rPr>
                  <a:t>尾比特</a:t>
                </a:r>
                <a:endParaRPr lang="zh-CN" altLang="en-US" sz="1200">
                  <a:solidFill>
                    <a:schemeClr val="tx2"/>
                  </a:solidFill>
                  <a:latin typeface="Verdana" panose="020B0604030504040204" pitchFamily="34" charset="0"/>
                </a:endParaRPr>
              </a:p>
            </p:txBody>
          </p:sp>
          <p:sp>
            <p:nvSpPr>
              <p:cNvPr id="69655" name="Line 136"/>
              <p:cNvSpPr>
                <a:spLocks noChangeShapeType="1"/>
              </p:cNvSpPr>
              <p:nvPr/>
            </p:nvSpPr>
            <p:spPr bwMode="auto">
              <a:xfrm>
                <a:off x="521" y="2241"/>
                <a:ext cx="2400" cy="0"/>
              </a:xfrm>
              <a:prstGeom prst="line">
                <a:avLst/>
              </a:prstGeom>
              <a:noFill/>
              <a:ln w="28575" cap="sq">
                <a:solidFill>
                  <a:schemeClr val="tx1"/>
                </a:solidFill>
                <a:round/>
              </a:ln>
            </p:spPr>
            <p:txBody>
              <a:bodyPr wrap="none" anchor="ctr"/>
              <a:lstStyle/>
              <a:p>
                <a:endParaRPr lang="zh-CN" altLang="en-US"/>
              </a:p>
            </p:txBody>
          </p:sp>
          <p:sp>
            <p:nvSpPr>
              <p:cNvPr id="69656" name="Line 137"/>
              <p:cNvSpPr>
                <a:spLocks noChangeShapeType="1"/>
              </p:cNvSpPr>
              <p:nvPr/>
            </p:nvSpPr>
            <p:spPr bwMode="auto">
              <a:xfrm>
                <a:off x="521" y="2432"/>
                <a:ext cx="2400" cy="0"/>
              </a:xfrm>
              <a:prstGeom prst="line">
                <a:avLst/>
              </a:prstGeom>
              <a:noFill/>
              <a:ln w="28575" cap="sq">
                <a:solidFill>
                  <a:schemeClr val="tx1"/>
                </a:solidFill>
                <a:round/>
              </a:ln>
            </p:spPr>
            <p:txBody>
              <a:bodyPr wrap="none" anchor="ctr"/>
              <a:lstStyle/>
              <a:p>
                <a:endParaRPr lang="zh-CN" altLang="en-US"/>
              </a:p>
            </p:txBody>
          </p:sp>
          <p:sp>
            <p:nvSpPr>
              <p:cNvPr id="69657" name="Line 138"/>
              <p:cNvSpPr>
                <a:spLocks noChangeShapeType="1"/>
              </p:cNvSpPr>
              <p:nvPr/>
            </p:nvSpPr>
            <p:spPr bwMode="auto">
              <a:xfrm>
                <a:off x="521" y="2241"/>
                <a:ext cx="0" cy="191"/>
              </a:xfrm>
              <a:prstGeom prst="line">
                <a:avLst/>
              </a:prstGeom>
              <a:noFill/>
              <a:ln w="28575" cap="sq">
                <a:solidFill>
                  <a:schemeClr val="tx1"/>
                </a:solidFill>
                <a:round/>
              </a:ln>
            </p:spPr>
            <p:txBody>
              <a:bodyPr wrap="none" anchor="ctr"/>
              <a:lstStyle/>
              <a:p>
                <a:endParaRPr lang="zh-CN" altLang="en-US"/>
              </a:p>
            </p:txBody>
          </p:sp>
          <p:sp>
            <p:nvSpPr>
              <p:cNvPr id="69658" name="Line 139"/>
              <p:cNvSpPr>
                <a:spLocks noChangeShapeType="1"/>
              </p:cNvSpPr>
              <p:nvPr/>
            </p:nvSpPr>
            <p:spPr bwMode="auto">
              <a:xfrm>
                <a:off x="1121" y="2241"/>
                <a:ext cx="0" cy="191"/>
              </a:xfrm>
              <a:prstGeom prst="line">
                <a:avLst/>
              </a:prstGeom>
              <a:noFill/>
              <a:ln w="12700">
                <a:solidFill>
                  <a:schemeClr val="tx1"/>
                </a:solidFill>
                <a:round/>
              </a:ln>
            </p:spPr>
            <p:txBody>
              <a:bodyPr wrap="none" anchor="ctr"/>
              <a:lstStyle/>
              <a:p>
                <a:endParaRPr lang="zh-CN" altLang="en-US"/>
              </a:p>
            </p:txBody>
          </p:sp>
          <p:sp>
            <p:nvSpPr>
              <p:cNvPr id="69659" name="Line 140"/>
              <p:cNvSpPr>
                <a:spLocks noChangeShapeType="1"/>
              </p:cNvSpPr>
              <p:nvPr/>
            </p:nvSpPr>
            <p:spPr bwMode="auto">
              <a:xfrm>
                <a:off x="1721" y="2241"/>
                <a:ext cx="0" cy="191"/>
              </a:xfrm>
              <a:prstGeom prst="line">
                <a:avLst/>
              </a:prstGeom>
              <a:noFill/>
              <a:ln w="12700">
                <a:solidFill>
                  <a:schemeClr val="tx1"/>
                </a:solidFill>
                <a:round/>
              </a:ln>
            </p:spPr>
            <p:txBody>
              <a:bodyPr wrap="none" anchor="ctr"/>
              <a:lstStyle/>
              <a:p>
                <a:endParaRPr lang="zh-CN" altLang="en-US"/>
              </a:p>
            </p:txBody>
          </p:sp>
          <p:sp>
            <p:nvSpPr>
              <p:cNvPr id="69660" name="Line 141"/>
              <p:cNvSpPr>
                <a:spLocks noChangeShapeType="1"/>
              </p:cNvSpPr>
              <p:nvPr/>
            </p:nvSpPr>
            <p:spPr bwMode="auto">
              <a:xfrm>
                <a:off x="2321" y="2241"/>
                <a:ext cx="0" cy="191"/>
              </a:xfrm>
              <a:prstGeom prst="line">
                <a:avLst/>
              </a:prstGeom>
              <a:noFill/>
              <a:ln w="12700">
                <a:solidFill>
                  <a:schemeClr val="tx1"/>
                </a:solidFill>
                <a:round/>
              </a:ln>
            </p:spPr>
            <p:txBody>
              <a:bodyPr wrap="none" anchor="ctr"/>
              <a:lstStyle/>
              <a:p>
                <a:endParaRPr lang="zh-CN" altLang="en-US"/>
              </a:p>
            </p:txBody>
          </p:sp>
          <p:sp>
            <p:nvSpPr>
              <p:cNvPr id="69661" name="Line 142"/>
              <p:cNvSpPr>
                <a:spLocks noChangeShapeType="1"/>
              </p:cNvSpPr>
              <p:nvPr/>
            </p:nvSpPr>
            <p:spPr bwMode="auto">
              <a:xfrm>
                <a:off x="2921" y="2241"/>
                <a:ext cx="0" cy="191"/>
              </a:xfrm>
              <a:prstGeom prst="line">
                <a:avLst/>
              </a:prstGeom>
              <a:noFill/>
              <a:ln w="28575" cap="sq">
                <a:solidFill>
                  <a:schemeClr val="tx1"/>
                </a:solidFill>
                <a:round/>
              </a:ln>
            </p:spPr>
            <p:txBody>
              <a:bodyPr wrap="none" anchor="ctr"/>
              <a:lstStyle/>
              <a:p>
                <a:endParaRPr lang="zh-CN" altLang="en-US"/>
              </a:p>
            </p:txBody>
          </p:sp>
        </p:grpSp>
        <p:cxnSp>
          <p:nvCxnSpPr>
            <p:cNvPr id="69644" name="AutoShape 143"/>
            <p:cNvCxnSpPr>
              <a:cxnSpLocks noChangeShapeType="1"/>
              <a:stCxn id="69671" idx="1"/>
              <a:endCxn id="69655" idx="0"/>
            </p:cNvCxnSpPr>
            <p:nvPr/>
          </p:nvCxnSpPr>
          <p:spPr bwMode="auto">
            <a:xfrm flipH="1">
              <a:off x="521" y="1888"/>
              <a:ext cx="771" cy="344"/>
            </a:xfrm>
            <a:prstGeom prst="straightConnector1">
              <a:avLst/>
            </a:prstGeom>
            <a:noFill/>
            <a:ln w="9525">
              <a:solidFill>
                <a:schemeClr val="tx1"/>
              </a:solidFill>
              <a:round/>
            </a:ln>
          </p:spPr>
        </p:cxnSp>
        <p:cxnSp>
          <p:nvCxnSpPr>
            <p:cNvPr id="69645" name="AutoShape 144"/>
            <p:cNvCxnSpPr>
              <a:cxnSpLocks noChangeShapeType="1"/>
              <a:stCxn id="69672" idx="1"/>
              <a:endCxn id="69655" idx="1"/>
            </p:cNvCxnSpPr>
            <p:nvPr/>
          </p:nvCxnSpPr>
          <p:spPr bwMode="auto">
            <a:xfrm>
              <a:off x="1746" y="1888"/>
              <a:ext cx="1175" cy="362"/>
            </a:xfrm>
            <a:prstGeom prst="straightConnector1">
              <a:avLst/>
            </a:prstGeom>
            <a:noFill/>
            <a:ln w="9525">
              <a:solidFill>
                <a:schemeClr val="tx1"/>
              </a:solidFill>
              <a:round/>
            </a:ln>
          </p:spPr>
        </p:cxnSp>
        <p:cxnSp>
          <p:nvCxnSpPr>
            <p:cNvPr id="69646" name="AutoShape 145"/>
            <p:cNvCxnSpPr>
              <a:cxnSpLocks noChangeShapeType="1"/>
              <a:stCxn id="69667" idx="0"/>
            </p:cNvCxnSpPr>
            <p:nvPr/>
          </p:nvCxnSpPr>
          <p:spPr bwMode="auto">
            <a:xfrm flipH="1" flipV="1">
              <a:off x="431" y="1480"/>
              <a:ext cx="1" cy="208"/>
            </a:xfrm>
            <a:prstGeom prst="straightConnector1">
              <a:avLst/>
            </a:prstGeom>
            <a:noFill/>
            <a:ln w="9525">
              <a:solidFill>
                <a:schemeClr val="tx1"/>
              </a:solidFill>
              <a:prstDash val="dash"/>
              <a:round/>
            </a:ln>
          </p:spPr>
        </p:cxnSp>
        <p:cxnSp>
          <p:nvCxnSpPr>
            <p:cNvPr id="69647" name="AutoShape 146"/>
            <p:cNvCxnSpPr>
              <a:cxnSpLocks noChangeShapeType="1"/>
            </p:cNvCxnSpPr>
            <p:nvPr/>
          </p:nvCxnSpPr>
          <p:spPr bwMode="auto">
            <a:xfrm flipH="1" flipV="1">
              <a:off x="2971" y="1480"/>
              <a:ext cx="1" cy="208"/>
            </a:xfrm>
            <a:prstGeom prst="straightConnector1">
              <a:avLst/>
            </a:prstGeom>
            <a:noFill/>
            <a:ln w="9525">
              <a:solidFill>
                <a:schemeClr val="tx1"/>
              </a:solidFill>
              <a:prstDash val="dash"/>
              <a:round/>
            </a:ln>
          </p:spPr>
        </p:cxnSp>
        <p:sp>
          <p:nvSpPr>
            <p:cNvPr id="69648" name="Line 147"/>
            <p:cNvSpPr>
              <a:spLocks noChangeShapeType="1"/>
            </p:cNvSpPr>
            <p:nvPr/>
          </p:nvSpPr>
          <p:spPr bwMode="auto">
            <a:xfrm flipH="1">
              <a:off x="431" y="1570"/>
              <a:ext cx="907" cy="0"/>
            </a:xfrm>
            <a:prstGeom prst="line">
              <a:avLst/>
            </a:prstGeom>
            <a:noFill/>
            <a:ln w="9525">
              <a:solidFill>
                <a:schemeClr val="tx1"/>
              </a:solidFill>
              <a:round/>
              <a:tailEnd type="triangle" w="med" len="med"/>
            </a:ln>
          </p:spPr>
          <p:txBody>
            <a:bodyPr wrap="none" anchor="ctr"/>
            <a:lstStyle/>
            <a:p>
              <a:endParaRPr lang="zh-CN" altLang="en-US"/>
            </a:p>
          </p:txBody>
        </p:sp>
        <p:sp>
          <p:nvSpPr>
            <p:cNvPr id="69649" name="Line 148"/>
            <p:cNvSpPr>
              <a:spLocks noChangeShapeType="1"/>
            </p:cNvSpPr>
            <p:nvPr/>
          </p:nvSpPr>
          <p:spPr bwMode="auto">
            <a:xfrm>
              <a:off x="2018" y="1570"/>
              <a:ext cx="953" cy="0"/>
            </a:xfrm>
            <a:prstGeom prst="line">
              <a:avLst/>
            </a:prstGeom>
            <a:noFill/>
            <a:ln w="9525">
              <a:solidFill>
                <a:schemeClr val="tx1"/>
              </a:solidFill>
              <a:round/>
              <a:tailEnd type="triangle" w="med" len="med"/>
            </a:ln>
          </p:spPr>
          <p:txBody>
            <a:bodyPr wrap="none" anchor="ctr"/>
            <a:lstStyle/>
            <a:p>
              <a:endParaRPr lang="zh-CN" altLang="en-US"/>
            </a:p>
          </p:txBody>
        </p:sp>
        <p:sp>
          <p:nvSpPr>
            <p:cNvPr id="69650" name="Rectangle 149"/>
            <p:cNvSpPr>
              <a:spLocks noChangeArrowheads="1"/>
            </p:cNvSpPr>
            <p:nvPr/>
          </p:nvSpPr>
          <p:spPr bwMode="auto">
            <a:xfrm>
              <a:off x="1425" y="1482"/>
              <a:ext cx="537" cy="158"/>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pPr>
              <a:r>
                <a:rPr lang="zh-CN" altLang="en-US" sz="1400" b="1">
                  <a:solidFill>
                    <a:srgbClr val="000000"/>
                  </a:solidFill>
                  <a:latin typeface="宋体" panose="02010600030101010101" pitchFamily="2" charset="-122"/>
                </a:rPr>
                <a:t>一个</a:t>
              </a:r>
              <a:r>
                <a:rPr lang="en-US" altLang="zh-CN" sz="1400" b="1">
                  <a:solidFill>
                    <a:srgbClr val="000000"/>
                  </a:solidFill>
                  <a:latin typeface="宋体" panose="02010600030101010101" pitchFamily="2" charset="-122"/>
                </a:rPr>
                <a:t>TDMA</a:t>
              </a:r>
              <a:r>
                <a:rPr lang="zh-CN" altLang="en-US" sz="1400" b="1">
                  <a:solidFill>
                    <a:srgbClr val="000000"/>
                  </a:solidFill>
                  <a:latin typeface="Times New Roman" panose="02020603050405020304" pitchFamily="18" charset="0"/>
                </a:rPr>
                <a:t>帧</a:t>
              </a:r>
              <a:endParaRPr lang="zh-CN" altLang="en-US" sz="1400" b="1">
                <a:solidFill>
                  <a:srgbClr val="000000"/>
                </a:solidFill>
                <a:latin typeface="Times New Roman" panose="02020603050405020304" pitchFamily="18" charset="0"/>
              </a:endParaRPr>
            </a:p>
          </p:txBody>
        </p:sp>
      </p:grpSp>
      <p:sp>
        <p:nvSpPr>
          <p:cNvPr id="89238" name="Rectangle 150"/>
          <p:cNvSpPr>
            <a:spLocks noChangeArrowheads="1"/>
          </p:cNvSpPr>
          <p:nvPr/>
        </p:nvSpPr>
        <p:spPr bwMode="auto">
          <a:xfrm>
            <a:off x="5867401" y="4206181"/>
            <a:ext cx="1853328" cy="307777"/>
          </a:xfrm>
          <a:prstGeom prst="rect">
            <a:avLst/>
          </a:prstGeom>
          <a:noFill/>
          <a:ln w="9525" algn="ctr">
            <a:noFill/>
            <a:miter lim="800000"/>
          </a:ln>
        </p:spPr>
        <p:txBody>
          <a:bodyPr wrap="none" anchor="ctr">
            <a:spAutoFit/>
          </a:bodyPr>
          <a:lstStyle/>
          <a:p>
            <a:r>
              <a:rPr lang="zh-CN" altLang="en-US" sz="1400" b="1">
                <a:latin typeface="Times New Roman" panose="02020603050405020304" pitchFamily="18" charset="0"/>
              </a:rPr>
              <a:t>图</a:t>
            </a:r>
            <a:r>
              <a:rPr lang="en-US" altLang="zh-CN" sz="1400" b="1">
                <a:latin typeface="Times New Roman" panose="02020603050405020304" pitchFamily="18" charset="0"/>
              </a:rPr>
              <a:t>5</a:t>
            </a:r>
            <a:r>
              <a:rPr lang="zh-CN" altLang="en-US" sz="1400" b="1">
                <a:latin typeface="Times New Roman" panose="02020603050405020304" pitchFamily="18" charset="0"/>
              </a:rPr>
              <a:t>－</a:t>
            </a:r>
            <a:r>
              <a:rPr lang="en-US" altLang="zh-CN" sz="1400" b="1">
                <a:latin typeface="Times New Roman" panose="02020603050405020304" pitchFamily="18" charset="0"/>
              </a:rPr>
              <a:t>8 TDMA</a:t>
            </a:r>
            <a:r>
              <a:rPr lang="zh-CN" altLang="en-US" sz="1400" b="1">
                <a:latin typeface="Times New Roman" panose="02020603050405020304" pitchFamily="18" charset="0"/>
              </a:rPr>
              <a:t>帧结构</a:t>
            </a:r>
            <a:endParaRPr lang="zh-CN" altLang="en-US" sz="1400" b="1">
              <a:latin typeface="Times New Roman" panose="02020603050405020304" pitchFamily="18" charset="0"/>
            </a:endParaRPr>
          </a:p>
        </p:txBody>
      </p:sp>
      <p:sp>
        <p:nvSpPr>
          <p:cNvPr id="89239" name="Rectangle 151"/>
          <p:cNvSpPr>
            <a:spLocks noChangeArrowheads="1"/>
          </p:cNvSpPr>
          <p:nvPr/>
        </p:nvSpPr>
        <p:spPr bwMode="auto">
          <a:xfrm>
            <a:off x="1042988" y="4342333"/>
            <a:ext cx="2648417" cy="461665"/>
          </a:xfrm>
          <a:prstGeom prst="rect">
            <a:avLst/>
          </a:prstGeom>
          <a:noFill/>
          <a:ln w="9525" algn="ctr">
            <a:noFill/>
            <a:miter lim="800000"/>
          </a:ln>
          <a:effectLst/>
        </p:spPr>
        <p:txBody>
          <a:bodyPr wrap="none" anchor="ctr">
            <a:spAutoFit/>
          </a:bodyPr>
          <a:lstStyle/>
          <a:p>
            <a:pPr>
              <a:defRPr/>
            </a:pPr>
            <a:r>
              <a:rPr lang="zh-CN" altLang="en-US" sz="1400" b="1" dirty="0">
                <a:latin typeface="Times New Roman" panose="02020603050405020304" pitchFamily="18" charset="0"/>
              </a:rPr>
              <a:t>图</a:t>
            </a:r>
            <a:r>
              <a:rPr lang="en-US" altLang="zh-CN" sz="1400" b="1" dirty="0">
                <a:latin typeface="Times New Roman" panose="02020603050405020304" pitchFamily="18" charset="0"/>
              </a:rPr>
              <a:t>5</a:t>
            </a:r>
            <a:r>
              <a:rPr lang="zh-CN" altLang="en-US" sz="1400" b="1" dirty="0">
                <a:latin typeface="Times New Roman" panose="02020603050405020304" pitchFamily="18" charset="0"/>
              </a:rPr>
              <a:t>－</a:t>
            </a:r>
            <a:r>
              <a:rPr lang="en-US" altLang="zh-CN" sz="1400" b="1" dirty="0">
                <a:latin typeface="Times New Roman" panose="02020603050405020304" pitchFamily="18" charset="0"/>
              </a:rPr>
              <a:t>7 TDMA</a:t>
            </a:r>
            <a:r>
              <a:rPr lang="zh-CN" altLang="en-US" sz="1400" b="1" dirty="0">
                <a:latin typeface="Times New Roman" panose="02020603050405020304" pitchFamily="18" charset="0"/>
              </a:rPr>
              <a:t>系统工作示意图</a:t>
            </a:r>
            <a:r>
              <a:rPr lang="zh-CN" altLang="en-US" sz="2400" b="1" dirty="0">
                <a:effectLst>
                  <a:outerShdw blurRad="38100" dist="38100" dir="2700000" algn="tl">
                    <a:srgbClr val="C0C0C0"/>
                  </a:outerShdw>
                </a:effectLst>
                <a:latin typeface="Times New Roman" panose="02020603050405020304" pitchFamily="18" charset="0"/>
              </a:rPr>
              <a:t> </a:t>
            </a:r>
            <a:endParaRPr lang="zh-CN" altLang="en-US" sz="2400" b="1" dirty="0">
              <a:effectLst>
                <a:outerShdw blurRad="38100" dist="38100" dir="2700000" algn="tl">
                  <a:srgbClr val="C0C0C0"/>
                </a:outerShdw>
              </a:effectLst>
              <a:latin typeface="Times New Roman" panose="02020603050405020304" pitchFamily="18" charset="0"/>
            </a:endParaRPr>
          </a:p>
        </p:txBody>
      </p:sp>
      <p:pic>
        <p:nvPicPr>
          <p:cNvPr id="154" name="图片 153"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155"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56" name="图片 155"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157" name="TextBox 156"/>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2. </a:t>
            </a:r>
            <a:r>
              <a:rPr lang="zh-CN" altLang="en-US" sz="2200" b="1" dirty="0" smtClean="0">
                <a:solidFill>
                  <a:srgbClr val="FFFF00"/>
                </a:solidFill>
              </a:rPr>
              <a:t>时分多址方式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290">
                                          <p:stCondLst>
                                            <p:cond delay="0"/>
                                          </p:stCondLst>
                                        </p:cTn>
                                        <p:tgtEl>
                                          <p:spTgt spid="2"/>
                                        </p:tgtEl>
                                      </p:cBhvr>
                                    </p:animEffect>
                                    <p:anim calcmode="lin" valueType="num">
                                      <p:cBhvr>
                                        <p:cTn id="8" dur="911"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2"/>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2"/>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2"/>
                                        </p:tgtEl>
                                        <p:attrNameLst>
                                          <p:attrName>ppt_y</p:attrName>
                                        </p:attrNameLst>
                                      </p:cBhvr>
                                      <p:tavLst>
                                        <p:tav tm="0" fmla="#ppt_y-sin(pi*$)/81">
                                          <p:val>
                                            <p:fltVal val="0"/>
                                          </p:val>
                                        </p:tav>
                                        <p:tav tm="100000">
                                          <p:val>
                                            <p:fltVal val="1"/>
                                          </p:val>
                                        </p:tav>
                                      </p:tavLst>
                                    </p:anim>
                                    <p:animScale>
                                      <p:cBhvr>
                                        <p:cTn id="13" dur="13">
                                          <p:stCondLst>
                                            <p:cond delay="325"/>
                                          </p:stCondLst>
                                        </p:cTn>
                                        <p:tgtEl>
                                          <p:spTgt spid="2"/>
                                        </p:tgtEl>
                                      </p:cBhvr>
                                      <p:to x="100000" y="60000"/>
                                    </p:animScale>
                                    <p:animScale>
                                      <p:cBhvr>
                                        <p:cTn id="14" dur="83" decel="50000">
                                          <p:stCondLst>
                                            <p:cond delay="338"/>
                                          </p:stCondLst>
                                        </p:cTn>
                                        <p:tgtEl>
                                          <p:spTgt spid="2"/>
                                        </p:tgtEl>
                                      </p:cBhvr>
                                      <p:to x="100000" y="100000"/>
                                    </p:animScale>
                                    <p:animScale>
                                      <p:cBhvr>
                                        <p:cTn id="15" dur="13">
                                          <p:stCondLst>
                                            <p:cond delay="656"/>
                                          </p:stCondLst>
                                        </p:cTn>
                                        <p:tgtEl>
                                          <p:spTgt spid="2"/>
                                        </p:tgtEl>
                                      </p:cBhvr>
                                      <p:to x="100000" y="80000"/>
                                    </p:animScale>
                                    <p:animScale>
                                      <p:cBhvr>
                                        <p:cTn id="16" dur="83" decel="50000">
                                          <p:stCondLst>
                                            <p:cond delay="669"/>
                                          </p:stCondLst>
                                        </p:cTn>
                                        <p:tgtEl>
                                          <p:spTgt spid="2"/>
                                        </p:tgtEl>
                                      </p:cBhvr>
                                      <p:to x="100000" y="100000"/>
                                    </p:animScale>
                                    <p:animScale>
                                      <p:cBhvr>
                                        <p:cTn id="17" dur="13">
                                          <p:stCondLst>
                                            <p:cond delay="821"/>
                                          </p:stCondLst>
                                        </p:cTn>
                                        <p:tgtEl>
                                          <p:spTgt spid="2"/>
                                        </p:tgtEl>
                                      </p:cBhvr>
                                      <p:to x="100000" y="90000"/>
                                    </p:animScale>
                                    <p:animScale>
                                      <p:cBhvr>
                                        <p:cTn id="18" dur="83" decel="50000">
                                          <p:stCondLst>
                                            <p:cond delay="834"/>
                                          </p:stCondLst>
                                        </p:cTn>
                                        <p:tgtEl>
                                          <p:spTgt spid="2"/>
                                        </p:tgtEl>
                                      </p:cBhvr>
                                      <p:to x="100000" y="100000"/>
                                    </p:animScale>
                                    <p:animScale>
                                      <p:cBhvr>
                                        <p:cTn id="19" dur="13">
                                          <p:stCondLst>
                                            <p:cond delay="904"/>
                                          </p:stCondLst>
                                        </p:cTn>
                                        <p:tgtEl>
                                          <p:spTgt spid="2"/>
                                        </p:tgtEl>
                                      </p:cBhvr>
                                      <p:to x="100000" y="95000"/>
                                    </p:animScale>
                                    <p:animScale>
                                      <p:cBhvr>
                                        <p:cTn id="20" dur="83" decel="50000">
                                          <p:stCondLst>
                                            <p:cond delay="917"/>
                                          </p:stCondLst>
                                        </p:cTn>
                                        <p:tgtEl>
                                          <p:spTgt spid="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89239"/>
                                        </p:tgtEl>
                                        <p:attrNameLst>
                                          <p:attrName>style.visibility</p:attrName>
                                        </p:attrNameLst>
                                      </p:cBhvr>
                                      <p:to>
                                        <p:strVal val="visible"/>
                                      </p:to>
                                    </p:set>
                                    <p:animEffect transition="in" filter="wipe(down)">
                                      <p:cBhvr>
                                        <p:cTn id="23" dur="290">
                                          <p:stCondLst>
                                            <p:cond delay="0"/>
                                          </p:stCondLst>
                                        </p:cTn>
                                        <p:tgtEl>
                                          <p:spTgt spid="89239"/>
                                        </p:tgtEl>
                                      </p:cBhvr>
                                    </p:animEffect>
                                    <p:anim calcmode="lin" valueType="num">
                                      <p:cBhvr>
                                        <p:cTn id="24" dur="911" tmFilter="0,0; 0.14,0.36; 0.43,0.73; 0.71,0.91; 1.0,1.0">
                                          <p:stCondLst>
                                            <p:cond delay="0"/>
                                          </p:stCondLst>
                                        </p:cTn>
                                        <p:tgtEl>
                                          <p:spTgt spid="89239"/>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89239"/>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89239"/>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89239"/>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89239"/>
                                        </p:tgtEl>
                                        <p:attrNameLst>
                                          <p:attrName>ppt_y</p:attrName>
                                        </p:attrNameLst>
                                      </p:cBhvr>
                                      <p:tavLst>
                                        <p:tav tm="0" fmla="#ppt_y-sin(pi*$)/81">
                                          <p:val>
                                            <p:fltVal val="0"/>
                                          </p:val>
                                        </p:tav>
                                        <p:tav tm="100000">
                                          <p:val>
                                            <p:fltVal val="1"/>
                                          </p:val>
                                        </p:tav>
                                      </p:tavLst>
                                    </p:anim>
                                    <p:animScale>
                                      <p:cBhvr>
                                        <p:cTn id="29" dur="13">
                                          <p:stCondLst>
                                            <p:cond delay="325"/>
                                          </p:stCondLst>
                                        </p:cTn>
                                        <p:tgtEl>
                                          <p:spTgt spid="89239"/>
                                        </p:tgtEl>
                                      </p:cBhvr>
                                      <p:to x="100000" y="60000"/>
                                    </p:animScale>
                                    <p:animScale>
                                      <p:cBhvr>
                                        <p:cTn id="30" dur="83" decel="50000">
                                          <p:stCondLst>
                                            <p:cond delay="338"/>
                                          </p:stCondLst>
                                        </p:cTn>
                                        <p:tgtEl>
                                          <p:spTgt spid="89239"/>
                                        </p:tgtEl>
                                      </p:cBhvr>
                                      <p:to x="100000" y="100000"/>
                                    </p:animScale>
                                    <p:animScale>
                                      <p:cBhvr>
                                        <p:cTn id="31" dur="13">
                                          <p:stCondLst>
                                            <p:cond delay="656"/>
                                          </p:stCondLst>
                                        </p:cTn>
                                        <p:tgtEl>
                                          <p:spTgt spid="89239"/>
                                        </p:tgtEl>
                                      </p:cBhvr>
                                      <p:to x="100000" y="80000"/>
                                    </p:animScale>
                                    <p:animScale>
                                      <p:cBhvr>
                                        <p:cTn id="32" dur="83" decel="50000">
                                          <p:stCondLst>
                                            <p:cond delay="669"/>
                                          </p:stCondLst>
                                        </p:cTn>
                                        <p:tgtEl>
                                          <p:spTgt spid="89239"/>
                                        </p:tgtEl>
                                      </p:cBhvr>
                                      <p:to x="100000" y="100000"/>
                                    </p:animScale>
                                    <p:animScale>
                                      <p:cBhvr>
                                        <p:cTn id="33" dur="13">
                                          <p:stCondLst>
                                            <p:cond delay="821"/>
                                          </p:stCondLst>
                                        </p:cTn>
                                        <p:tgtEl>
                                          <p:spTgt spid="89239"/>
                                        </p:tgtEl>
                                      </p:cBhvr>
                                      <p:to x="100000" y="90000"/>
                                    </p:animScale>
                                    <p:animScale>
                                      <p:cBhvr>
                                        <p:cTn id="34" dur="83" decel="50000">
                                          <p:stCondLst>
                                            <p:cond delay="834"/>
                                          </p:stCondLst>
                                        </p:cTn>
                                        <p:tgtEl>
                                          <p:spTgt spid="89239"/>
                                        </p:tgtEl>
                                      </p:cBhvr>
                                      <p:to x="100000" y="100000"/>
                                    </p:animScale>
                                    <p:animScale>
                                      <p:cBhvr>
                                        <p:cTn id="35" dur="13">
                                          <p:stCondLst>
                                            <p:cond delay="904"/>
                                          </p:stCondLst>
                                        </p:cTn>
                                        <p:tgtEl>
                                          <p:spTgt spid="89239"/>
                                        </p:tgtEl>
                                      </p:cBhvr>
                                      <p:to x="100000" y="95000"/>
                                    </p:animScale>
                                    <p:animScale>
                                      <p:cBhvr>
                                        <p:cTn id="36" dur="83" decel="50000">
                                          <p:stCondLst>
                                            <p:cond delay="917"/>
                                          </p:stCondLst>
                                        </p:cTn>
                                        <p:tgtEl>
                                          <p:spTgt spid="89239"/>
                                        </p:tgtEl>
                                      </p:cBhvr>
                                      <p:to x="100000" y="100000"/>
                                    </p:animScale>
                                  </p:childTnLst>
                                </p:cTn>
                              </p:par>
                            </p:childTnLst>
                          </p:cTn>
                        </p:par>
                        <p:par>
                          <p:cTn id="37" fill="hold">
                            <p:stCondLst>
                              <p:cond delay="1000"/>
                            </p:stCondLst>
                            <p:childTnLst>
                              <p:par>
                                <p:cTn id="38" presetID="26" presetClass="entr" presetSubtype="0" fill="hold"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down)">
                                      <p:cBhvr>
                                        <p:cTn id="40" dur="290">
                                          <p:stCondLst>
                                            <p:cond delay="0"/>
                                          </p:stCondLst>
                                        </p:cTn>
                                        <p:tgtEl>
                                          <p:spTgt spid="31"/>
                                        </p:tgtEl>
                                      </p:cBhvr>
                                    </p:animEffect>
                                    <p:anim calcmode="lin" valueType="num">
                                      <p:cBhvr>
                                        <p:cTn id="41" dur="911"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42" dur="332"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43" dur="332" tmFilter="0, 0; 0.125,0.2665; 0.25,0.4; 0.375,0.465; 0.5,0.5;  0.625,0.535; 0.75,0.6; 0.875,0.7335; 1,1">
                                          <p:stCondLst>
                                            <p:cond delay="332"/>
                                          </p:stCondLst>
                                        </p:cTn>
                                        <p:tgtEl>
                                          <p:spTgt spid="31"/>
                                        </p:tgtEl>
                                        <p:attrNameLst>
                                          <p:attrName>ppt_y</p:attrName>
                                        </p:attrNameLst>
                                      </p:cBhvr>
                                      <p:tavLst>
                                        <p:tav tm="0" fmla="#ppt_y-sin(pi*$)/9">
                                          <p:val>
                                            <p:fltVal val="0"/>
                                          </p:val>
                                        </p:tav>
                                        <p:tav tm="100000">
                                          <p:val>
                                            <p:fltVal val="1"/>
                                          </p:val>
                                        </p:tav>
                                      </p:tavLst>
                                    </p:anim>
                                    <p:anim calcmode="lin" valueType="num">
                                      <p:cBhvr>
                                        <p:cTn id="44" dur="166" tmFilter="0, 0; 0.125,0.2665; 0.25,0.4; 0.375,0.465; 0.5,0.5;  0.625,0.535; 0.75,0.6; 0.875,0.7335; 1,1">
                                          <p:stCondLst>
                                            <p:cond delay="662"/>
                                          </p:stCondLst>
                                        </p:cTn>
                                        <p:tgtEl>
                                          <p:spTgt spid="31"/>
                                        </p:tgtEl>
                                        <p:attrNameLst>
                                          <p:attrName>ppt_y</p:attrName>
                                        </p:attrNameLst>
                                      </p:cBhvr>
                                      <p:tavLst>
                                        <p:tav tm="0" fmla="#ppt_y-sin(pi*$)/27">
                                          <p:val>
                                            <p:fltVal val="0"/>
                                          </p:val>
                                        </p:tav>
                                        <p:tav tm="100000">
                                          <p:val>
                                            <p:fltVal val="1"/>
                                          </p:val>
                                        </p:tav>
                                      </p:tavLst>
                                    </p:anim>
                                    <p:anim calcmode="lin" valueType="num">
                                      <p:cBhvr>
                                        <p:cTn id="45" dur="82" tmFilter="0, 0; 0.125,0.2665; 0.25,0.4; 0.375,0.465; 0.5,0.5;  0.625,0.535; 0.75,0.6; 0.875,0.7335; 1,1">
                                          <p:stCondLst>
                                            <p:cond delay="828"/>
                                          </p:stCondLst>
                                        </p:cTn>
                                        <p:tgtEl>
                                          <p:spTgt spid="31"/>
                                        </p:tgtEl>
                                        <p:attrNameLst>
                                          <p:attrName>ppt_y</p:attrName>
                                        </p:attrNameLst>
                                      </p:cBhvr>
                                      <p:tavLst>
                                        <p:tav tm="0" fmla="#ppt_y-sin(pi*$)/81">
                                          <p:val>
                                            <p:fltVal val="0"/>
                                          </p:val>
                                        </p:tav>
                                        <p:tav tm="100000">
                                          <p:val>
                                            <p:fltVal val="1"/>
                                          </p:val>
                                        </p:tav>
                                      </p:tavLst>
                                    </p:anim>
                                    <p:animScale>
                                      <p:cBhvr>
                                        <p:cTn id="46" dur="13">
                                          <p:stCondLst>
                                            <p:cond delay="325"/>
                                          </p:stCondLst>
                                        </p:cTn>
                                        <p:tgtEl>
                                          <p:spTgt spid="31"/>
                                        </p:tgtEl>
                                      </p:cBhvr>
                                      <p:to x="100000" y="60000"/>
                                    </p:animScale>
                                    <p:animScale>
                                      <p:cBhvr>
                                        <p:cTn id="47" dur="83" decel="50000">
                                          <p:stCondLst>
                                            <p:cond delay="338"/>
                                          </p:stCondLst>
                                        </p:cTn>
                                        <p:tgtEl>
                                          <p:spTgt spid="31"/>
                                        </p:tgtEl>
                                      </p:cBhvr>
                                      <p:to x="100000" y="100000"/>
                                    </p:animScale>
                                    <p:animScale>
                                      <p:cBhvr>
                                        <p:cTn id="48" dur="13">
                                          <p:stCondLst>
                                            <p:cond delay="656"/>
                                          </p:stCondLst>
                                        </p:cTn>
                                        <p:tgtEl>
                                          <p:spTgt spid="31"/>
                                        </p:tgtEl>
                                      </p:cBhvr>
                                      <p:to x="100000" y="80000"/>
                                    </p:animScale>
                                    <p:animScale>
                                      <p:cBhvr>
                                        <p:cTn id="49" dur="83" decel="50000">
                                          <p:stCondLst>
                                            <p:cond delay="669"/>
                                          </p:stCondLst>
                                        </p:cTn>
                                        <p:tgtEl>
                                          <p:spTgt spid="31"/>
                                        </p:tgtEl>
                                      </p:cBhvr>
                                      <p:to x="100000" y="100000"/>
                                    </p:animScale>
                                    <p:animScale>
                                      <p:cBhvr>
                                        <p:cTn id="50" dur="13">
                                          <p:stCondLst>
                                            <p:cond delay="821"/>
                                          </p:stCondLst>
                                        </p:cTn>
                                        <p:tgtEl>
                                          <p:spTgt spid="31"/>
                                        </p:tgtEl>
                                      </p:cBhvr>
                                      <p:to x="100000" y="90000"/>
                                    </p:animScale>
                                    <p:animScale>
                                      <p:cBhvr>
                                        <p:cTn id="51" dur="83" decel="50000">
                                          <p:stCondLst>
                                            <p:cond delay="834"/>
                                          </p:stCondLst>
                                        </p:cTn>
                                        <p:tgtEl>
                                          <p:spTgt spid="31"/>
                                        </p:tgtEl>
                                      </p:cBhvr>
                                      <p:to x="100000" y="100000"/>
                                    </p:animScale>
                                    <p:animScale>
                                      <p:cBhvr>
                                        <p:cTn id="52" dur="13">
                                          <p:stCondLst>
                                            <p:cond delay="904"/>
                                          </p:stCondLst>
                                        </p:cTn>
                                        <p:tgtEl>
                                          <p:spTgt spid="31"/>
                                        </p:tgtEl>
                                      </p:cBhvr>
                                      <p:to x="100000" y="95000"/>
                                    </p:animScale>
                                    <p:animScale>
                                      <p:cBhvr>
                                        <p:cTn id="53" dur="83" decel="50000">
                                          <p:stCondLst>
                                            <p:cond delay="917"/>
                                          </p:stCondLst>
                                        </p:cTn>
                                        <p:tgtEl>
                                          <p:spTgt spid="31"/>
                                        </p:tgtEl>
                                      </p:cBhvr>
                                      <p:to x="100000" y="100000"/>
                                    </p:animScale>
                                  </p:childTnLst>
                                </p:cTn>
                              </p:par>
                              <p:par>
                                <p:cTn id="54" presetID="26" presetClass="entr" presetSubtype="0" fill="hold" grpId="0" nodeType="withEffect">
                                  <p:stCondLst>
                                    <p:cond delay="0"/>
                                  </p:stCondLst>
                                  <p:childTnLst>
                                    <p:set>
                                      <p:cBhvr>
                                        <p:cTn id="55" dur="1" fill="hold">
                                          <p:stCondLst>
                                            <p:cond delay="0"/>
                                          </p:stCondLst>
                                        </p:cTn>
                                        <p:tgtEl>
                                          <p:spTgt spid="89238"/>
                                        </p:tgtEl>
                                        <p:attrNameLst>
                                          <p:attrName>style.visibility</p:attrName>
                                        </p:attrNameLst>
                                      </p:cBhvr>
                                      <p:to>
                                        <p:strVal val="visible"/>
                                      </p:to>
                                    </p:set>
                                    <p:animEffect transition="in" filter="wipe(down)">
                                      <p:cBhvr>
                                        <p:cTn id="56" dur="290">
                                          <p:stCondLst>
                                            <p:cond delay="0"/>
                                          </p:stCondLst>
                                        </p:cTn>
                                        <p:tgtEl>
                                          <p:spTgt spid="89238"/>
                                        </p:tgtEl>
                                      </p:cBhvr>
                                    </p:animEffect>
                                    <p:anim calcmode="lin" valueType="num">
                                      <p:cBhvr>
                                        <p:cTn id="57" dur="911" tmFilter="0,0; 0.14,0.36; 0.43,0.73; 0.71,0.91; 1.0,1.0">
                                          <p:stCondLst>
                                            <p:cond delay="0"/>
                                          </p:stCondLst>
                                        </p:cTn>
                                        <p:tgtEl>
                                          <p:spTgt spid="89238"/>
                                        </p:tgtEl>
                                        <p:attrNameLst>
                                          <p:attrName>ppt_x</p:attrName>
                                        </p:attrNameLst>
                                      </p:cBhvr>
                                      <p:tavLst>
                                        <p:tav tm="0">
                                          <p:val>
                                            <p:strVal val="#ppt_x-0.25"/>
                                          </p:val>
                                        </p:tav>
                                        <p:tav tm="100000">
                                          <p:val>
                                            <p:strVal val="#ppt_x"/>
                                          </p:val>
                                        </p:tav>
                                      </p:tavLst>
                                    </p:anim>
                                    <p:anim calcmode="lin" valueType="num">
                                      <p:cBhvr>
                                        <p:cTn id="58" dur="332" tmFilter="0.0,0.0; 0.25,0.07; 0.50,0.2; 0.75,0.467; 1.0,1.0">
                                          <p:stCondLst>
                                            <p:cond delay="0"/>
                                          </p:stCondLst>
                                        </p:cTn>
                                        <p:tgtEl>
                                          <p:spTgt spid="89238"/>
                                        </p:tgtEl>
                                        <p:attrNameLst>
                                          <p:attrName>ppt_y</p:attrName>
                                        </p:attrNameLst>
                                      </p:cBhvr>
                                      <p:tavLst>
                                        <p:tav tm="0" fmla="#ppt_y-sin(pi*$)/3">
                                          <p:val>
                                            <p:fltVal val="0.5"/>
                                          </p:val>
                                        </p:tav>
                                        <p:tav tm="100000">
                                          <p:val>
                                            <p:fltVal val="1"/>
                                          </p:val>
                                        </p:tav>
                                      </p:tavLst>
                                    </p:anim>
                                    <p:anim calcmode="lin" valueType="num">
                                      <p:cBhvr>
                                        <p:cTn id="59" dur="332" tmFilter="0, 0; 0.125,0.2665; 0.25,0.4; 0.375,0.465; 0.5,0.5;  0.625,0.535; 0.75,0.6; 0.875,0.7335; 1,1">
                                          <p:stCondLst>
                                            <p:cond delay="332"/>
                                          </p:stCondLst>
                                        </p:cTn>
                                        <p:tgtEl>
                                          <p:spTgt spid="89238"/>
                                        </p:tgtEl>
                                        <p:attrNameLst>
                                          <p:attrName>ppt_y</p:attrName>
                                        </p:attrNameLst>
                                      </p:cBhvr>
                                      <p:tavLst>
                                        <p:tav tm="0" fmla="#ppt_y-sin(pi*$)/9">
                                          <p:val>
                                            <p:fltVal val="0"/>
                                          </p:val>
                                        </p:tav>
                                        <p:tav tm="100000">
                                          <p:val>
                                            <p:fltVal val="1"/>
                                          </p:val>
                                        </p:tav>
                                      </p:tavLst>
                                    </p:anim>
                                    <p:anim calcmode="lin" valueType="num">
                                      <p:cBhvr>
                                        <p:cTn id="60" dur="166" tmFilter="0, 0; 0.125,0.2665; 0.25,0.4; 0.375,0.465; 0.5,0.5;  0.625,0.535; 0.75,0.6; 0.875,0.7335; 1,1">
                                          <p:stCondLst>
                                            <p:cond delay="662"/>
                                          </p:stCondLst>
                                        </p:cTn>
                                        <p:tgtEl>
                                          <p:spTgt spid="89238"/>
                                        </p:tgtEl>
                                        <p:attrNameLst>
                                          <p:attrName>ppt_y</p:attrName>
                                        </p:attrNameLst>
                                      </p:cBhvr>
                                      <p:tavLst>
                                        <p:tav tm="0" fmla="#ppt_y-sin(pi*$)/27">
                                          <p:val>
                                            <p:fltVal val="0"/>
                                          </p:val>
                                        </p:tav>
                                        <p:tav tm="100000">
                                          <p:val>
                                            <p:fltVal val="1"/>
                                          </p:val>
                                        </p:tav>
                                      </p:tavLst>
                                    </p:anim>
                                    <p:anim calcmode="lin" valueType="num">
                                      <p:cBhvr>
                                        <p:cTn id="61" dur="82" tmFilter="0, 0; 0.125,0.2665; 0.25,0.4; 0.375,0.465; 0.5,0.5;  0.625,0.535; 0.75,0.6; 0.875,0.7335; 1,1">
                                          <p:stCondLst>
                                            <p:cond delay="828"/>
                                          </p:stCondLst>
                                        </p:cTn>
                                        <p:tgtEl>
                                          <p:spTgt spid="89238"/>
                                        </p:tgtEl>
                                        <p:attrNameLst>
                                          <p:attrName>ppt_y</p:attrName>
                                        </p:attrNameLst>
                                      </p:cBhvr>
                                      <p:tavLst>
                                        <p:tav tm="0" fmla="#ppt_y-sin(pi*$)/81">
                                          <p:val>
                                            <p:fltVal val="0"/>
                                          </p:val>
                                        </p:tav>
                                        <p:tav tm="100000">
                                          <p:val>
                                            <p:fltVal val="1"/>
                                          </p:val>
                                        </p:tav>
                                      </p:tavLst>
                                    </p:anim>
                                    <p:animScale>
                                      <p:cBhvr>
                                        <p:cTn id="62" dur="13">
                                          <p:stCondLst>
                                            <p:cond delay="325"/>
                                          </p:stCondLst>
                                        </p:cTn>
                                        <p:tgtEl>
                                          <p:spTgt spid="89238"/>
                                        </p:tgtEl>
                                      </p:cBhvr>
                                      <p:to x="100000" y="60000"/>
                                    </p:animScale>
                                    <p:animScale>
                                      <p:cBhvr>
                                        <p:cTn id="63" dur="83" decel="50000">
                                          <p:stCondLst>
                                            <p:cond delay="338"/>
                                          </p:stCondLst>
                                        </p:cTn>
                                        <p:tgtEl>
                                          <p:spTgt spid="89238"/>
                                        </p:tgtEl>
                                      </p:cBhvr>
                                      <p:to x="100000" y="100000"/>
                                    </p:animScale>
                                    <p:animScale>
                                      <p:cBhvr>
                                        <p:cTn id="64" dur="13">
                                          <p:stCondLst>
                                            <p:cond delay="656"/>
                                          </p:stCondLst>
                                        </p:cTn>
                                        <p:tgtEl>
                                          <p:spTgt spid="89238"/>
                                        </p:tgtEl>
                                      </p:cBhvr>
                                      <p:to x="100000" y="80000"/>
                                    </p:animScale>
                                    <p:animScale>
                                      <p:cBhvr>
                                        <p:cTn id="65" dur="83" decel="50000">
                                          <p:stCondLst>
                                            <p:cond delay="669"/>
                                          </p:stCondLst>
                                        </p:cTn>
                                        <p:tgtEl>
                                          <p:spTgt spid="89238"/>
                                        </p:tgtEl>
                                      </p:cBhvr>
                                      <p:to x="100000" y="100000"/>
                                    </p:animScale>
                                    <p:animScale>
                                      <p:cBhvr>
                                        <p:cTn id="66" dur="13">
                                          <p:stCondLst>
                                            <p:cond delay="821"/>
                                          </p:stCondLst>
                                        </p:cTn>
                                        <p:tgtEl>
                                          <p:spTgt spid="89238"/>
                                        </p:tgtEl>
                                      </p:cBhvr>
                                      <p:to x="100000" y="90000"/>
                                    </p:animScale>
                                    <p:animScale>
                                      <p:cBhvr>
                                        <p:cTn id="67" dur="83" decel="50000">
                                          <p:stCondLst>
                                            <p:cond delay="834"/>
                                          </p:stCondLst>
                                        </p:cTn>
                                        <p:tgtEl>
                                          <p:spTgt spid="89238"/>
                                        </p:tgtEl>
                                      </p:cBhvr>
                                      <p:to x="100000" y="100000"/>
                                    </p:animScale>
                                    <p:animScale>
                                      <p:cBhvr>
                                        <p:cTn id="68" dur="13">
                                          <p:stCondLst>
                                            <p:cond delay="904"/>
                                          </p:stCondLst>
                                        </p:cTn>
                                        <p:tgtEl>
                                          <p:spTgt spid="89238"/>
                                        </p:tgtEl>
                                      </p:cBhvr>
                                      <p:to x="100000" y="95000"/>
                                    </p:animScale>
                                    <p:animScale>
                                      <p:cBhvr>
                                        <p:cTn id="69" dur="83" decel="50000">
                                          <p:stCondLst>
                                            <p:cond delay="917"/>
                                          </p:stCondLst>
                                        </p:cTn>
                                        <p:tgtEl>
                                          <p:spTgt spid="8923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38" grpId="0"/>
      <p:bldP spid="892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0659" name="Rectangle 2"/>
          <p:cNvSpPr>
            <a:spLocks noGrp="1" noChangeArrowheads="1"/>
          </p:cNvSpPr>
          <p:nvPr>
            <p:ph type="title"/>
          </p:nvPr>
        </p:nvSpPr>
        <p:spPr>
          <a:xfrm>
            <a:off x="250825" y="708918"/>
            <a:ext cx="6624638" cy="422672"/>
          </a:xfrm>
        </p:spPr>
        <p:txBody>
          <a:bodyPr/>
          <a:lstStyle/>
          <a:p>
            <a:pPr eaLnBrk="1" hangingPunct="1"/>
            <a:r>
              <a:rPr lang="en-US" altLang="zh-CN" sz="2200" dirty="0" smtClean="0">
                <a:solidFill>
                  <a:srgbClr val="0000FE"/>
                </a:solidFill>
              </a:rPr>
              <a:t>TDMA</a:t>
            </a:r>
            <a:r>
              <a:rPr lang="zh-CN" altLang="en-US" sz="2200" dirty="0" smtClean="0">
                <a:solidFill>
                  <a:srgbClr val="0000FE"/>
                </a:solidFill>
              </a:rPr>
              <a:t>系统的特点</a:t>
            </a:r>
            <a:endParaRPr lang="zh-CN" altLang="en-US" sz="2200" dirty="0" smtClean="0">
              <a:solidFill>
                <a:srgbClr val="0000FE"/>
              </a:solidFill>
            </a:endParaRPr>
          </a:p>
        </p:txBody>
      </p:sp>
      <p:pic>
        <p:nvPicPr>
          <p:cNvPr id="5" name="图片 4"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70660" name="Rectangle 3"/>
          <p:cNvSpPr>
            <a:spLocks noGrp="1" noChangeArrowheads="1"/>
          </p:cNvSpPr>
          <p:nvPr>
            <p:ph type="body" idx="1"/>
          </p:nvPr>
        </p:nvSpPr>
        <p:spPr>
          <a:xfrm>
            <a:off x="468313" y="1171451"/>
            <a:ext cx="8278812" cy="3488531"/>
          </a:xfrm>
        </p:spPr>
        <p:txBody>
          <a:bodyPr/>
          <a:lstStyle/>
          <a:p>
            <a:pPr eaLnBrk="1" hangingPunct="1">
              <a:lnSpc>
                <a:spcPct val="120000"/>
              </a:lnSpc>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1</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）突发传输的速率高，远大于语音编码速率，因为</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TDMA</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系统中需要较高的</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同步开销</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20000"/>
              </a:lnSpc>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2</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）发射信号速率随</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N</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的增大而提高，引起码间串扰加大，所以必须采用</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自适应均衡</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20000"/>
              </a:lnSpc>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3</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TDMA</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用不同的时隙来发射和接收，因此不需双工器</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20000"/>
              </a:lnSpc>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4</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）基站复杂性小，互调干扰小</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20000"/>
              </a:lnSpc>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5</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抗干扰能力强，频率利用率高，系统容量大</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120000"/>
              </a:lnSpc>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6</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）越区切换简单</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，可在无信息传输时进行，不会丢失数据</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p:txBody>
      </p:sp>
      <p:sp>
        <p:nvSpPr>
          <p:cNvPr id="6"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8" name="TextBox 7"/>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2. </a:t>
            </a:r>
            <a:r>
              <a:rPr lang="zh-CN" altLang="en-US" sz="2200" b="1" dirty="0" smtClean="0">
                <a:solidFill>
                  <a:srgbClr val="FFFF00"/>
                </a:solidFill>
              </a:rPr>
              <a:t>时分多址方式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2708" name="Rectangle 3"/>
          <p:cNvSpPr>
            <a:spLocks noGrp="1" noChangeArrowheads="1"/>
          </p:cNvSpPr>
          <p:nvPr>
            <p:ph type="body" idx="1"/>
          </p:nvPr>
        </p:nvSpPr>
        <p:spPr>
          <a:xfrm>
            <a:off x="395289" y="844154"/>
            <a:ext cx="8137525" cy="1944290"/>
          </a:xfrm>
        </p:spPr>
        <p:txBody>
          <a:bodyPr/>
          <a:lstStyle/>
          <a:p>
            <a:pPr eaLnBrk="1" hangingPunct="1">
              <a:lnSpc>
                <a:spcPct val="110000"/>
              </a:lnSpc>
              <a:buFont typeface="Wingdings" panose="05000000000000000000" pitchFamily="2" charset="2"/>
              <a:buBlip>
                <a:blip r:embed="rId1"/>
              </a:buBlip>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码分多址系统为每个用户分配了各自特定的地址码，利用公共信道来传输信息</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10000"/>
              </a:lnSpc>
              <a:buFont typeface="Wingdings" panose="05000000000000000000" pitchFamily="2" charset="2"/>
              <a:buBlip>
                <a:blip r:embed="rId1"/>
              </a:buBlip>
            </a:pPr>
            <a:r>
              <a:rPr lang="en-US" altLang="zh-CN" sz="2200" b="0" dirty="0" smtClean="0">
                <a:latin typeface="宋体" panose="02010600030101010101" pitchFamily="2" charset="-122"/>
                <a:ea typeface="宋体" panose="02010600030101010101" pitchFamily="2" charset="-122"/>
                <a:cs typeface="宋体" panose="02010600030101010101" pitchFamily="2" charset="-122"/>
              </a:rPr>
              <a:t>CDMA</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系统的地址码相互具有准正交性，以区别地址，而在频率、时间和空间上都可能重叠</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10000"/>
              </a:lnSpc>
              <a:buFont typeface="Wingdings" panose="05000000000000000000" pitchFamily="2" charset="2"/>
              <a:buBlip>
                <a:blip r:embed="rId1"/>
              </a:buBlip>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系统的接收端必须有完全一致的本地地址码，才能对接收的信号进行相关检测 </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p:txBody>
      </p:sp>
      <p:grpSp>
        <p:nvGrpSpPr>
          <p:cNvPr id="3" name="Group 5"/>
          <p:cNvGrpSpPr/>
          <p:nvPr/>
        </p:nvGrpSpPr>
        <p:grpSpPr bwMode="auto">
          <a:xfrm>
            <a:off x="467544" y="3054514"/>
            <a:ext cx="4248150" cy="1677476"/>
            <a:chOff x="1429" y="2016"/>
            <a:chExt cx="2676" cy="1596"/>
          </a:xfrm>
        </p:grpSpPr>
        <p:sp>
          <p:nvSpPr>
            <p:cNvPr id="72714" name="AutoShape 6"/>
            <p:cNvSpPr>
              <a:spLocks noChangeAspect="1" noChangeArrowheads="1" noTextEdit="1"/>
            </p:cNvSpPr>
            <p:nvPr/>
          </p:nvSpPr>
          <p:spPr bwMode="auto">
            <a:xfrm>
              <a:off x="1429" y="2016"/>
              <a:ext cx="2676" cy="1596"/>
            </a:xfrm>
            <a:prstGeom prst="rect">
              <a:avLst/>
            </a:prstGeom>
            <a:noFill/>
            <a:ln w="9525">
              <a:noFill/>
              <a:miter lim="800000"/>
            </a:ln>
          </p:spPr>
          <p:txBody>
            <a:bodyPr/>
            <a:lstStyle/>
            <a:p>
              <a:endParaRPr lang="zh-CN" altLang="en-US"/>
            </a:p>
          </p:txBody>
        </p:sp>
        <p:sp>
          <p:nvSpPr>
            <p:cNvPr id="92167" name="Rectangle 7"/>
            <p:cNvSpPr>
              <a:spLocks noChangeArrowheads="1"/>
            </p:cNvSpPr>
            <p:nvPr/>
          </p:nvSpPr>
          <p:spPr bwMode="auto">
            <a:xfrm>
              <a:off x="3685" y="3366"/>
              <a:ext cx="412" cy="194"/>
            </a:xfrm>
            <a:prstGeom prst="rect">
              <a:avLst/>
            </a:prstGeom>
            <a:solidFill>
              <a:schemeClr val="hlink"/>
            </a:solidFill>
            <a:ln w="14288">
              <a:solidFill>
                <a:srgbClr val="000000"/>
              </a:solidFill>
              <a:miter lim="800000"/>
            </a:ln>
          </p:spPr>
          <p:txBody>
            <a:bodyPr/>
            <a:lstStyle/>
            <a:p>
              <a:pPr marL="342900" indent="-342900" algn="ctr">
                <a:spcBef>
                  <a:spcPct val="20000"/>
                </a:spcBef>
                <a:buClr>
                  <a:schemeClr val="hlink"/>
                </a:buClr>
                <a:defRPr/>
              </a:pPr>
              <a:r>
                <a:rPr lang="en-US" altLang="zh-CN" sz="1300" b="1">
                  <a:effectLst>
                    <a:outerShdw blurRad="38100" dist="38100" dir="2700000" algn="tl">
                      <a:srgbClr val="000000"/>
                    </a:outerShdw>
                  </a:effectLst>
                  <a:latin typeface="Times New Roman" panose="02020603050405020304" pitchFamily="18" charset="0"/>
                </a:rPr>
                <a:t>MS</a:t>
              </a:r>
              <a:r>
                <a:rPr lang="en-US" altLang="zh-CN" sz="1300" b="1" baseline="-25000">
                  <a:effectLst>
                    <a:outerShdw blurRad="38100" dist="38100" dir="2700000" algn="tl">
                      <a:srgbClr val="000000"/>
                    </a:outerShdw>
                  </a:effectLst>
                  <a:latin typeface="Times New Roman" panose="02020603050405020304" pitchFamily="18" charset="0"/>
                </a:rPr>
                <a:t>N</a:t>
              </a:r>
              <a:endParaRPr lang="en-US" altLang="zh-CN" sz="1300" b="1" baseline="-25000">
                <a:effectLst>
                  <a:outerShdw blurRad="38100" dist="38100" dir="2700000" algn="tl">
                    <a:srgbClr val="000000"/>
                  </a:outerShdw>
                </a:effectLst>
                <a:latin typeface="Times New Roman" panose="02020603050405020304" pitchFamily="18" charset="0"/>
              </a:endParaRPr>
            </a:p>
          </p:txBody>
        </p:sp>
        <p:sp>
          <p:nvSpPr>
            <p:cNvPr id="92168" name="Rectangle 8"/>
            <p:cNvSpPr>
              <a:spLocks noChangeArrowheads="1"/>
            </p:cNvSpPr>
            <p:nvPr/>
          </p:nvSpPr>
          <p:spPr bwMode="auto">
            <a:xfrm>
              <a:off x="3685" y="2124"/>
              <a:ext cx="412" cy="195"/>
            </a:xfrm>
            <a:prstGeom prst="rect">
              <a:avLst/>
            </a:prstGeom>
            <a:solidFill>
              <a:srgbClr val="D9B3FF"/>
            </a:solidFill>
            <a:ln w="14288">
              <a:solidFill>
                <a:srgbClr val="000000"/>
              </a:solidFill>
              <a:miter lim="800000"/>
            </a:ln>
          </p:spPr>
          <p:txBody>
            <a:bodyPr/>
            <a:lstStyle/>
            <a:p>
              <a:pPr marL="342900" indent="-342900" algn="ctr">
                <a:spcBef>
                  <a:spcPct val="20000"/>
                </a:spcBef>
                <a:buClr>
                  <a:schemeClr val="hlink"/>
                </a:buClr>
                <a:defRPr/>
              </a:pPr>
              <a:r>
                <a:rPr lang="en-US" altLang="zh-CN" sz="1300" b="1">
                  <a:effectLst>
                    <a:outerShdw blurRad="38100" dist="38100" dir="2700000" algn="tl">
                      <a:srgbClr val="000000"/>
                    </a:outerShdw>
                  </a:effectLst>
                  <a:latin typeface="Times New Roman" panose="02020603050405020304" pitchFamily="18" charset="0"/>
                </a:rPr>
                <a:t>MS</a:t>
              </a:r>
              <a:r>
                <a:rPr lang="en-US" altLang="zh-CN" sz="1300" b="1" baseline="-25000">
                  <a:effectLst>
                    <a:outerShdw blurRad="38100" dist="38100" dir="2700000" algn="tl">
                      <a:srgbClr val="000000"/>
                    </a:outerShdw>
                  </a:effectLst>
                  <a:latin typeface="Times New Roman" panose="02020603050405020304" pitchFamily="18" charset="0"/>
                </a:rPr>
                <a:t>1</a:t>
              </a:r>
              <a:endParaRPr lang="en-US" altLang="zh-CN" sz="1300" b="1" baseline="-25000">
                <a:effectLst>
                  <a:outerShdw blurRad="38100" dist="38100" dir="2700000" algn="tl">
                    <a:srgbClr val="000000"/>
                  </a:outerShdw>
                </a:effectLst>
                <a:latin typeface="Times New Roman" panose="02020603050405020304" pitchFamily="18" charset="0"/>
              </a:endParaRPr>
            </a:p>
          </p:txBody>
        </p:sp>
        <p:sp>
          <p:nvSpPr>
            <p:cNvPr id="92169" name="Rectangle 9"/>
            <p:cNvSpPr>
              <a:spLocks noChangeArrowheads="1"/>
            </p:cNvSpPr>
            <p:nvPr/>
          </p:nvSpPr>
          <p:spPr bwMode="auto">
            <a:xfrm>
              <a:off x="3685" y="2664"/>
              <a:ext cx="412" cy="194"/>
            </a:xfrm>
            <a:prstGeom prst="rect">
              <a:avLst/>
            </a:prstGeom>
            <a:solidFill>
              <a:srgbClr val="FFFF0D"/>
            </a:solidFill>
            <a:ln w="14288">
              <a:solidFill>
                <a:srgbClr val="000000"/>
              </a:solidFill>
              <a:miter lim="800000"/>
            </a:ln>
          </p:spPr>
          <p:txBody>
            <a:bodyPr/>
            <a:lstStyle/>
            <a:p>
              <a:pPr marL="342900" indent="-342900" algn="ctr">
                <a:spcBef>
                  <a:spcPct val="20000"/>
                </a:spcBef>
                <a:buClr>
                  <a:schemeClr val="hlink"/>
                </a:buClr>
                <a:defRPr/>
              </a:pPr>
              <a:r>
                <a:rPr lang="en-US" altLang="zh-CN" sz="1300" b="1">
                  <a:effectLst>
                    <a:outerShdw blurRad="38100" dist="38100" dir="2700000" algn="tl">
                      <a:srgbClr val="000000"/>
                    </a:outerShdw>
                  </a:effectLst>
                  <a:latin typeface="Times New Roman" panose="02020603050405020304" pitchFamily="18" charset="0"/>
                </a:rPr>
                <a:t>MS</a:t>
              </a:r>
              <a:r>
                <a:rPr lang="en-US" altLang="zh-CN" sz="1300" b="1" baseline="-25000">
                  <a:effectLst>
                    <a:outerShdw blurRad="38100" dist="38100" dir="2700000" algn="tl">
                      <a:srgbClr val="000000"/>
                    </a:outerShdw>
                  </a:effectLst>
                  <a:latin typeface="Times New Roman" panose="02020603050405020304" pitchFamily="18" charset="0"/>
                </a:rPr>
                <a:t>2</a:t>
              </a:r>
              <a:endParaRPr lang="en-US" altLang="zh-CN" sz="1300" b="1">
                <a:effectLst>
                  <a:outerShdw blurRad="38100" dist="38100" dir="2700000" algn="tl">
                    <a:srgbClr val="000000"/>
                  </a:outerShdw>
                </a:effectLst>
                <a:latin typeface="Times New Roman" panose="02020603050405020304" pitchFamily="18" charset="0"/>
              </a:endParaRPr>
            </a:p>
          </p:txBody>
        </p:sp>
        <p:sp>
          <p:nvSpPr>
            <p:cNvPr id="72718" name="Line 10"/>
            <p:cNvSpPr>
              <a:spLocks noChangeShapeType="1"/>
            </p:cNvSpPr>
            <p:nvPr/>
          </p:nvSpPr>
          <p:spPr bwMode="auto">
            <a:xfrm>
              <a:off x="3480" y="2220"/>
              <a:ext cx="205" cy="1"/>
            </a:xfrm>
            <a:prstGeom prst="line">
              <a:avLst/>
            </a:prstGeom>
            <a:noFill/>
            <a:ln w="14288">
              <a:solidFill>
                <a:srgbClr val="000000"/>
              </a:solidFill>
              <a:round/>
            </a:ln>
          </p:spPr>
          <p:txBody>
            <a:bodyPr/>
            <a:lstStyle/>
            <a:p>
              <a:endParaRPr lang="zh-CN" altLang="en-US"/>
            </a:p>
          </p:txBody>
        </p:sp>
        <p:sp>
          <p:nvSpPr>
            <p:cNvPr id="72719" name="Line 11"/>
            <p:cNvSpPr>
              <a:spLocks noChangeShapeType="1"/>
            </p:cNvSpPr>
            <p:nvPr/>
          </p:nvSpPr>
          <p:spPr bwMode="auto">
            <a:xfrm>
              <a:off x="3480" y="2124"/>
              <a:ext cx="2" cy="96"/>
            </a:xfrm>
            <a:prstGeom prst="line">
              <a:avLst/>
            </a:prstGeom>
            <a:noFill/>
            <a:ln w="14288">
              <a:solidFill>
                <a:srgbClr val="000000"/>
              </a:solidFill>
              <a:round/>
            </a:ln>
          </p:spPr>
          <p:txBody>
            <a:bodyPr/>
            <a:lstStyle/>
            <a:p>
              <a:endParaRPr lang="zh-CN" altLang="en-US"/>
            </a:p>
          </p:txBody>
        </p:sp>
        <p:sp>
          <p:nvSpPr>
            <p:cNvPr id="72720" name="Line 12"/>
            <p:cNvSpPr>
              <a:spLocks noChangeShapeType="1"/>
            </p:cNvSpPr>
            <p:nvPr/>
          </p:nvSpPr>
          <p:spPr bwMode="auto">
            <a:xfrm>
              <a:off x="3480" y="2760"/>
              <a:ext cx="205" cy="1"/>
            </a:xfrm>
            <a:prstGeom prst="line">
              <a:avLst/>
            </a:prstGeom>
            <a:noFill/>
            <a:ln w="14288">
              <a:solidFill>
                <a:srgbClr val="000000"/>
              </a:solidFill>
              <a:round/>
            </a:ln>
          </p:spPr>
          <p:txBody>
            <a:bodyPr/>
            <a:lstStyle/>
            <a:p>
              <a:endParaRPr lang="zh-CN" altLang="en-US"/>
            </a:p>
          </p:txBody>
        </p:sp>
        <p:sp>
          <p:nvSpPr>
            <p:cNvPr id="72721" name="Line 13"/>
            <p:cNvSpPr>
              <a:spLocks noChangeShapeType="1"/>
            </p:cNvSpPr>
            <p:nvPr/>
          </p:nvSpPr>
          <p:spPr bwMode="auto">
            <a:xfrm>
              <a:off x="3480" y="2664"/>
              <a:ext cx="2" cy="96"/>
            </a:xfrm>
            <a:prstGeom prst="line">
              <a:avLst/>
            </a:prstGeom>
            <a:noFill/>
            <a:ln w="14288">
              <a:solidFill>
                <a:srgbClr val="000000"/>
              </a:solidFill>
              <a:round/>
            </a:ln>
          </p:spPr>
          <p:txBody>
            <a:bodyPr/>
            <a:lstStyle/>
            <a:p>
              <a:endParaRPr lang="zh-CN" altLang="en-US"/>
            </a:p>
          </p:txBody>
        </p:sp>
        <p:sp>
          <p:nvSpPr>
            <p:cNvPr id="72722" name="Line 14"/>
            <p:cNvSpPr>
              <a:spLocks noChangeShapeType="1"/>
            </p:cNvSpPr>
            <p:nvPr/>
          </p:nvSpPr>
          <p:spPr bwMode="auto">
            <a:xfrm>
              <a:off x="3480" y="3462"/>
              <a:ext cx="205" cy="1"/>
            </a:xfrm>
            <a:prstGeom prst="line">
              <a:avLst/>
            </a:prstGeom>
            <a:noFill/>
            <a:ln w="14288">
              <a:solidFill>
                <a:srgbClr val="000000"/>
              </a:solidFill>
              <a:round/>
            </a:ln>
          </p:spPr>
          <p:txBody>
            <a:bodyPr/>
            <a:lstStyle/>
            <a:p>
              <a:endParaRPr lang="zh-CN" altLang="en-US"/>
            </a:p>
          </p:txBody>
        </p:sp>
        <p:sp>
          <p:nvSpPr>
            <p:cNvPr id="72723" name="Line 15"/>
            <p:cNvSpPr>
              <a:spLocks noChangeShapeType="1"/>
            </p:cNvSpPr>
            <p:nvPr/>
          </p:nvSpPr>
          <p:spPr bwMode="auto">
            <a:xfrm>
              <a:off x="3480" y="3366"/>
              <a:ext cx="2" cy="96"/>
            </a:xfrm>
            <a:prstGeom prst="line">
              <a:avLst/>
            </a:prstGeom>
            <a:noFill/>
            <a:ln w="14288">
              <a:solidFill>
                <a:srgbClr val="000000"/>
              </a:solidFill>
              <a:round/>
            </a:ln>
          </p:spPr>
          <p:txBody>
            <a:bodyPr/>
            <a:lstStyle/>
            <a:p>
              <a:endParaRPr lang="zh-CN" altLang="en-US"/>
            </a:p>
          </p:txBody>
        </p:sp>
        <p:grpSp>
          <p:nvGrpSpPr>
            <p:cNvPr id="4" name="Group 16"/>
            <p:cNvGrpSpPr/>
            <p:nvPr/>
          </p:nvGrpSpPr>
          <p:grpSpPr bwMode="auto">
            <a:xfrm>
              <a:off x="2457" y="2271"/>
              <a:ext cx="920" cy="388"/>
              <a:chOff x="2981" y="2316"/>
              <a:chExt cx="653" cy="388"/>
            </a:xfrm>
          </p:grpSpPr>
          <p:sp>
            <p:nvSpPr>
              <p:cNvPr id="72779" name="Line 17"/>
              <p:cNvSpPr>
                <a:spLocks noChangeShapeType="1"/>
              </p:cNvSpPr>
              <p:nvPr/>
            </p:nvSpPr>
            <p:spPr bwMode="auto">
              <a:xfrm flipH="1">
                <a:off x="3034" y="2316"/>
                <a:ext cx="600" cy="352"/>
              </a:xfrm>
              <a:prstGeom prst="line">
                <a:avLst/>
              </a:prstGeom>
              <a:noFill/>
              <a:ln w="9525">
                <a:solidFill>
                  <a:srgbClr val="000000"/>
                </a:solidFill>
                <a:round/>
              </a:ln>
            </p:spPr>
            <p:txBody>
              <a:bodyPr/>
              <a:lstStyle/>
              <a:p>
                <a:endParaRPr lang="zh-CN" altLang="en-US"/>
              </a:p>
            </p:txBody>
          </p:sp>
          <p:sp>
            <p:nvSpPr>
              <p:cNvPr id="72780" name="Freeform 18"/>
              <p:cNvSpPr/>
              <p:nvPr/>
            </p:nvSpPr>
            <p:spPr bwMode="auto">
              <a:xfrm>
                <a:off x="2981" y="2630"/>
                <a:ext cx="68" cy="74"/>
              </a:xfrm>
              <a:custGeom>
                <a:avLst/>
                <a:gdLst>
                  <a:gd name="T0" fmla="*/ 42 w 68"/>
                  <a:gd name="T1" fmla="*/ 0 h 74"/>
                  <a:gd name="T2" fmla="*/ 0 w 68"/>
                  <a:gd name="T3" fmla="*/ 70 h 74"/>
                  <a:gd name="T4" fmla="*/ 68 w 68"/>
                  <a:gd name="T5" fmla="*/ 74 h 74"/>
                  <a:gd name="T6" fmla="*/ 42 w 68"/>
                  <a:gd name="T7" fmla="*/ 0 h 74"/>
                  <a:gd name="T8" fmla="*/ 0 60000 65536"/>
                  <a:gd name="T9" fmla="*/ 0 60000 65536"/>
                  <a:gd name="T10" fmla="*/ 0 60000 65536"/>
                  <a:gd name="T11" fmla="*/ 0 60000 65536"/>
                  <a:gd name="T12" fmla="*/ 0 w 68"/>
                  <a:gd name="T13" fmla="*/ 0 h 74"/>
                  <a:gd name="T14" fmla="*/ 68 w 68"/>
                  <a:gd name="T15" fmla="*/ 74 h 74"/>
                </a:gdLst>
                <a:ahLst/>
                <a:cxnLst>
                  <a:cxn ang="T8">
                    <a:pos x="T0" y="T1"/>
                  </a:cxn>
                  <a:cxn ang="T9">
                    <a:pos x="T2" y="T3"/>
                  </a:cxn>
                  <a:cxn ang="T10">
                    <a:pos x="T4" y="T5"/>
                  </a:cxn>
                  <a:cxn ang="T11">
                    <a:pos x="T6" y="T7"/>
                  </a:cxn>
                </a:cxnLst>
                <a:rect l="T12" t="T13" r="T14" b="T15"/>
                <a:pathLst>
                  <a:path w="68" h="74">
                    <a:moveTo>
                      <a:pt x="42" y="0"/>
                    </a:moveTo>
                    <a:lnTo>
                      <a:pt x="0" y="70"/>
                    </a:lnTo>
                    <a:lnTo>
                      <a:pt x="68" y="74"/>
                    </a:lnTo>
                    <a:lnTo>
                      <a:pt x="42" y="0"/>
                    </a:lnTo>
                    <a:close/>
                  </a:path>
                </a:pathLst>
              </a:custGeom>
              <a:solidFill>
                <a:srgbClr val="000000"/>
              </a:solidFill>
              <a:ln w="9525">
                <a:noFill/>
                <a:round/>
              </a:ln>
            </p:spPr>
            <p:txBody>
              <a:bodyPr/>
              <a:lstStyle/>
              <a:p>
                <a:endParaRPr lang="zh-CN" altLang="en-US"/>
              </a:p>
            </p:txBody>
          </p:sp>
        </p:grpSp>
        <p:grpSp>
          <p:nvGrpSpPr>
            <p:cNvPr id="5" name="Group 19"/>
            <p:cNvGrpSpPr/>
            <p:nvPr/>
          </p:nvGrpSpPr>
          <p:grpSpPr bwMode="auto">
            <a:xfrm>
              <a:off x="2457" y="2216"/>
              <a:ext cx="920" cy="388"/>
              <a:chOff x="2981" y="2216"/>
              <a:chExt cx="653" cy="388"/>
            </a:xfrm>
          </p:grpSpPr>
          <p:sp>
            <p:nvSpPr>
              <p:cNvPr id="72777" name="Line 20"/>
              <p:cNvSpPr>
                <a:spLocks noChangeShapeType="1"/>
              </p:cNvSpPr>
              <p:nvPr/>
            </p:nvSpPr>
            <p:spPr bwMode="auto">
              <a:xfrm flipV="1">
                <a:off x="2981" y="2252"/>
                <a:ext cx="600" cy="352"/>
              </a:xfrm>
              <a:prstGeom prst="line">
                <a:avLst/>
              </a:prstGeom>
              <a:noFill/>
              <a:ln w="9525">
                <a:solidFill>
                  <a:srgbClr val="000000"/>
                </a:solidFill>
                <a:round/>
              </a:ln>
            </p:spPr>
            <p:txBody>
              <a:bodyPr/>
              <a:lstStyle/>
              <a:p>
                <a:endParaRPr lang="zh-CN" altLang="en-US"/>
              </a:p>
            </p:txBody>
          </p:sp>
          <p:sp>
            <p:nvSpPr>
              <p:cNvPr id="72778" name="Freeform 21"/>
              <p:cNvSpPr/>
              <p:nvPr/>
            </p:nvSpPr>
            <p:spPr bwMode="auto">
              <a:xfrm>
                <a:off x="3566" y="2216"/>
                <a:ext cx="68" cy="74"/>
              </a:xfrm>
              <a:custGeom>
                <a:avLst/>
                <a:gdLst>
                  <a:gd name="T0" fmla="*/ 26 w 68"/>
                  <a:gd name="T1" fmla="*/ 74 h 74"/>
                  <a:gd name="T2" fmla="*/ 68 w 68"/>
                  <a:gd name="T3" fmla="*/ 4 h 74"/>
                  <a:gd name="T4" fmla="*/ 0 w 68"/>
                  <a:gd name="T5" fmla="*/ 0 h 74"/>
                  <a:gd name="T6" fmla="*/ 26 w 68"/>
                  <a:gd name="T7" fmla="*/ 74 h 74"/>
                  <a:gd name="T8" fmla="*/ 0 60000 65536"/>
                  <a:gd name="T9" fmla="*/ 0 60000 65536"/>
                  <a:gd name="T10" fmla="*/ 0 60000 65536"/>
                  <a:gd name="T11" fmla="*/ 0 60000 65536"/>
                  <a:gd name="T12" fmla="*/ 0 w 68"/>
                  <a:gd name="T13" fmla="*/ 0 h 74"/>
                  <a:gd name="T14" fmla="*/ 68 w 68"/>
                  <a:gd name="T15" fmla="*/ 74 h 74"/>
                </a:gdLst>
                <a:ahLst/>
                <a:cxnLst>
                  <a:cxn ang="T8">
                    <a:pos x="T0" y="T1"/>
                  </a:cxn>
                  <a:cxn ang="T9">
                    <a:pos x="T2" y="T3"/>
                  </a:cxn>
                  <a:cxn ang="T10">
                    <a:pos x="T4" y="T5"/>
                  </a:cxn>
                  <a:cxn ang="T11">
                    <a:pos x="T6" y="T7"/>
                  </a:cxn>
                </a:cxnLst>
                <a:rect l="T12" t="T13" r="T14" b="T15"/>
                <a:pathLst>
                  <a:path w="68" h="74">
                    <a:moveTo>
                      <a:pt x="26" y="74"/>
                    </a:moveTo>
                    <a:lnTo>
                      <a:pt x="68" y="4"/>
                    </a:lnTo>
                    <a:lnTo>
                      <a:pt x="0" y="0"/>
                    </a:lnTo>
                    <a:lnTo>
                      <a:pt x="26" y="74"/>
                    </a:lnTo>
                    <a:close/>
                  </a:path>
                </a:pathLst>
              </a:custGeom>
              <a:solidFill>
                <a:srgbClr val="000000"/>
              </a:solidFill>
              <a:ln w="9525">
                <a:noFill/>
                <a:round/>
              </a:ln>
            </p:spPr>
            <p:txBody>
              <a:bodyPr/>
              <a:lstStyle/>
              <a:p>
                <a:endParaRPr lang="zh-CN" altLang="en-US"/>
              </a:p>
            </p:txBody>
          </p:sp>
        </p:grpSp>
        <p:grpSp>
          <p:nvGrpSpPr>
            <p:cNvPr id="6" name="Group 22"/>
            <p:cNvGrpSpPr/>
            <p:nvPr/>
          </p:nvGrpSpPr>
          <p:grpSpPr bwMode="auto">
            <a:xfrm>
              <a:off x="2425" y="3159"/>
              <a:ext cx="954" cy="318"/>
              <a:chOff x="2969" y="3109"/>
              <a:chExt cx="677" cy="318"/>
            </a:xfrm>
          </p:grpSpPr>
          <p:sp>
            <p:nvSpPr>
              <p:cNvPr id="72775" name="Line 23"/>
              <p:cNvSpPr>
                <a:spLocks noChangeShapeType="1"/>
              </p:cNvSpPr>
              <p:nvPr/>
            </p:nvSpPr>
            <p:spPr bwMode="auto">
              <a:xfrm flipH="1" flipV="1">
                <a:off x="3023" y="3149"/>
                <a:ext cx="623" cy="278"/>
              </a:xfrm>
              <a:prstGeom prst="line">
                <a:avLst/>
              </a:prstGeom>
              <a:noFill/>
              <a:ln w="9525">
                <a:solidFill>
                  <a:srgbClr val="000000"/>
                </a:solidFill>
                <a:round/>
              </a:ln>
            </p:spPr>
            <p:txBody>
              <a:bodyPr/>
              <a:lstStyle/>
              <a:p>
                <a:endParaRPr lang="zh-CN" altLang="en-US"/>
              </a:p>
            </p:txBody>
          </p:sp>
          <p:sp>
            <p:nvSpPr>
              <p:cNvPr id="72776" name="Freeform 24"/>
              <p:cNvSpPr/>
              <p:nvPr/>
            </p:nvSpPr>
            <p:spPr bwMode="auto">
              <a:xfrm>
                <a:off x="2969" y="3109"/>
                <a:ext cx="68" cy="78"/>
              </a:xfrm>
              <a:custGeom>
                <a:avLst/>
                <a:gdLst>
                  <a:gd name="T0" fmla="*/ 68 w 68"/>
                  <a:gd name="T1" fmla="*/ 0 h 78"/>
                  <a:gd name="T2" fmla="*/ 0 w 68"/>
                  <a:gd name="T3" fmla="*/ 14 h 78"/>
                  <a:gd name="T4" fmla="*/ 47 w 68"/>
                  <a:gd name="T5" fmla="*/ 78 h 78"/>
                  <a:gd name="T6" fmla="*/ 68 w 68"/>
                  <a:gd name="T7" fmla="*/ 0 h 78"/>
                  <a:gd name="T8" fmla="*/ 0 60000 65536"/>
                  <a:gd name="T9" fmla="*/ 0 60000 65536"/>
                  <a:gd name="T10" fmla="*/ 0 60000 65536"/>
                  <a:gd name="T11" fmla="*/ 0 60000 65536"/>
                  <a:gd name="T12" fmla="*/ 0 w 68"/>
                  <a:gd name="T13" fmla="*/ 0 h 78"/>
                  <a:gd name="T14" fmla="*/ 68 w 68"/>
                  <a:gd name="T15" fmla="*/ 78 h 78"/>
                </a:gdLst>
                <a:ahLst/>
                <a:cxnLst>
                  <a:cxn ang="T8">
                    <a:pos x="T0" y="T1"/>
                  </a:cxn>
                  <a:cxn ang="T9">
                    <a:pos x="T2" y="T3"/>
                  </a:cxn>
                  <a:cxn ang="T10">
                    <a:pos x="T4" y="T5"/>
                  </a:cxn>
                  <a:cxn ang="T11">
                    <a:pos x="T6" y="T7"/>
                  </a:cxn>
                </a:cxnLst>
                <a:rect l="T12" t="T13" r="T14" b="T15"/>
                <a:pathLst>
                  <a:path w="68" h="78">
                    <a:moveTo>
                      <a:pt x="68" y="0"/>
                    </a:moveTo>
                    <a:lnTo>
                      <a:pt x="0" y="14"/>
                    </a:lnTo>
                    <a:lnTo>
                      <a:pt x="47" y="78"/>
                    </a:lnTo>
                    <a:lnTo>
                      <a:pt x="68" y="0"/>
                    </a:lnTo>
                    <a:close/>
                  </a:path>
                </a:pathLst>
              </a:custGeom>
              <a:solidFill>
                <a:srgbClr val="000000"/>
              </a:solidFill>
              <a:ln w="9525">
                <a:noFill/>
                <a:round/>
              </a:ln>
            </p:spPr>
            <p:txBody>
              <a:bodyPr/>
              <a:lstStyle/>
              <a:p>
                <a:endParaRPr lang="zh-CN" altLang="en-US"/>
              </a:p>
            </p:txBody>
          </p:sp>
        </p:grpSp>
        <p:grpSp>
          <p:nvGrpSpPr>
            <p:cNvPr id="7" name="Group 25"/>
            <p:cNvGrpSpPr/>
            <p:nvPr/>
          </p:nvGrpSpPr>
          <p:grpSpPr bwMode="auto">
            <a:xfrm>
              <a:off x="2440" y="3115"/>
              <a:ext cx="954" cy="317"/>
              <a:chOff x="2969" y="3028"/>
              <a:chExt cx="677" cy="317"/>
            </a:xfrm>
          </p:grpSpPr>
          <p:sp>
            <p:nvSpPr>
              <p:cNvPr id="72773" name="Line 26"/>
              <p:cNvSpPr>
                <a:spLocks noChangeShapeType="1"/>
              </p:cNvSpPr>
              <p:nvPr/>
            </p:nvSpPr>
            <p:spPr bwMode="auto">
              <a:xfrm>
                <a:off x="2969" y="3028"/>
                <a:ext cx="623" cy="277"/>
              </a:xfrm>
              <a:prstGeom prst="line">
                <a:avLst/>
              </a:prstGeom>
              <a:noFill/>
              <a:ln w="9525">
                <a:solidFill>
                  <a:srgbClr val="000000"/>
                </a:solidFill>
                <a:round/>
              </a:ln>
            </p:spPr>
            <p:txBody>
              <a:bodyPr/>
              <a:lstStyle/>
              <a:p>
                <a:endParaRPr lang="zh-CN" altLang="en-US"/>
              </a:p>
            </p:txBody>
          </p:sp>
          <p:sp>
            <p:nvSpPr>
              <p:cNvPr id="72774" name="Freeform 27"/>
              <p:cNvSpPr/>
              <p:nvPr/>
            </p:nvSpPr>
            <p:spPr bwMode="auto">
              <a:xfrm>
                <a:off x="3578" y="3267"/>
                <a:ext cx="68" cy="78"/>
              </a:xfrm>
              <a:custGeom>
                <a:avLst/>
                <a:gdLst>
                  <a:gd name="T0" fmla="*/ 0 w 68"/>
                  <a:gd name="T1" fmla="*/ 78 h 78"/>
                  <a:gd name="T2" fmla="*/ 68 w 68"/>
                  <a:gd name="T3" fmla="*/ 64 h 78"/>
                  <a:gd name="T4" fmla="*/ 22 w 68"/>
                  <a:gd name="T5" fmla="*/ 0 h 78"/>
                  <a:gd name="T6" fmla="*/ 0 w 68"/>
                  <a:gd name="T7" fmla="*/ 78 h 78"/>
                  <a:gd name="T8" fmla="*/ 0 60000 65536"/>
                  <a:gd name="T9" fmla="*/ 0 60000 65536"/>
                  <a:gd name="T10" fmla="*/ 0 60000 65536"/>
                  <a:gd name="T11" fmla="*/ 0 60000 65536"/>
                  <a:gd name="T12" fmla="*/ 0 w 68"/>
                  <a:gd name="T13" fmla="*/ 0 h 78"/>
                  <a:gd name="T14" fmla="*/ 68 w 68"/>
                  <a:gd name="T15" fmla="*/ 78 h 78"/>
                </a:gdLst>
                <a:ahLst/>
                <a:cxnLst>
                  <a:cxn ang="T8">
                    <a:pos x="T0" y="T1"/>
                  </a:cxn>
                  <a:cxn ang="T9">
                    <a:pos x="T2" y="T3"/>
                  </a:cxn>
                  <a:cxn ang="T10">
                    <a:pos x="T4" y="T5"/>
                  </a:cxn>
                  <a:cxn ang="T11">
                    <a:pos x="T6" y="T7"/>
                  </a:cxn>
                </a:cxnLst>
                <a:rect l="T12" t="T13" r="T14" b="T15"/>
                <a:pathLst>
                  <a:path w="68" h="78">
                    <a:moveTo>
                      <a:pt x="0" y="78"/>
                    </a:moveTo>
                    <a:lnTo>
                      <a:pt x="68" y="64"/>
                    </a:lnTo>
                    <a:lnTo>
                      <a:pt x="22" y="0"/>
                    </a:lnTo>
                    <a:lnTo>
                      <a:pt x="0" y="78"/>
                    </a:lnTo>
                    <a:close/>
                  </a:path>
                </a:pathLst>
              </a:custGeom>
              <a:solidFill>
                <a:srgbClr val="000000"/>
              </a:solidFill>
              <a:ln w="9525">
                <a:noFill/>
                <a:round/>
              </a:ln>
            </p:spPr>
            <p:txBody>
              <a:bodyPr/>
              <a:lstStyle/>
              <a:p>
                <a:endParaRPr lang="zh-CN" altLang="en-US"/>
              </a:p>
            </p:txBody>
          </p:sp>
        </p:grpSp>
        <p:grpSp>
          <p:nvGrpSpPr>
            <p:cNvPr id="8" name="Group 28"/>
            <p:cNvGrpSpPr/>
            <p:nvPr/>
          </p:nvGrpSpPr>
          <p:grpSpPr bwMode="auto">
            <a:xfrm>
              <a:off x="2415" y="2758"/>
              <a:ext cx="1006" cy="82"/>
              <a:chOff x="2951" y="2850"/>
              <a:chExt cx="714" cy="82"/>
            </a:xfrm>
          </p:grpSpPr>
          <p:sp>
            <p:nvSpPr>
              <p:cNvPr id="72771" name="Line 29"/>
              <p:cNvSpPr>
                <a:spLocks noChangeShapeType="1"/>
              </p:cNvSpPr>
              <p:nvPr/>
            </p:nvSpPr>
            <p:spPr bwMode="auto">
              <a:xfrm flipH="1">
                <a:off x="3008" y="2892"/>
                <a:ext cx="657" cy="1"/>
              </a:xfrm>
              <a:prstGeom prst="line">
                <a:avLst/>
              </a:prstGeom>
              <a:noFill/>
              <a:ln w="9525">
                <a:solidFill>
                  <a:srgbClr val="000000"/>
                </a:solidFill>
                <a:round/>
              </a:ln>
            </p:spPr>
            <p:txBody>
              <a:bodyPr/>
              <a:lstStyle/>
              <a:p>
                <a:endParaRPr lang="zh-CN" altLang="en-US"/>
              </a:p>
            </p:txBody>
          </p:sp>
          <p:sp>
            <p:nvSpPr>
              <p:cNvPr id="72772" name="Freeform 30"/>
              <p:cNvSpPr/>
              <p:nvPr/>
            </p:nvSpPr>
            <p:spPr bwMode="auto">
              <a:xfrm>
                <a:off x="2951" y="2850"/>
                <a:ext cx="60" cy="82"/>
              </a:xfrm>
              <a:custGeom>
                <a:avLst/>
                <a:gdLst>
                  <a:gd name="T0" fmla="*/ 60 w 60"/>
                  <a:gd name="T1" fmla="*/ 0 h 82"/>
                  <a:gd name="T2" fmla="*/ 0 w 60"/>
                  <a:gd name="T3" fmla="*/ 42 h 82"/>
                  <a:gd name="T4" fmla="*/ 60 w 60"/>
                  <a:gd name="T5" fmla="*/ 82 h 82"/>
                  <a:gd name="T6" fmla="*/ 60 w 60"/>
                  <a:gd name="T7" fmla="*/ 0 h 82"/>
                  <a:gd name="T8" fmla="*/ 0 60000 65536"/>
                  <a:gd name="T9" fmla="*/ 0 60000 65536"/>
                  <a:gd name="T10" fmla="*/ 0 60000 65536"/>
                  <a:gd name="T11" fmla="*/ 0 60000 65536"/>
                  <a:gd name="T12" fmla="*/ 0 w 60"/>
                  <a:gd name="T13" fmla="*/ 0 h 82"/>
                  <a:gd name="T14" fmla="*/ 60 w 60"/>
                  <a:gd name="T15" fmla="*/ 82 h 82"/>
                </a:gdLst>
                <a:ahLst/>
                <a:cxnLst>
                  <a:cxn ang="T8">
                    <a:pos x="T0" y="T1"/>
                  </a:cxn>
                  <a:cxn ang="T9">
                    <a:pos x="T2" y="T3"/>
                  </a:cxn>
                  <a:cxn ang="T10">
                    <a:pos x="T4" y="T5"/>
                  </a:cxn>
                  <a:cxn ang="T11">
                    <a:pos x="T6" y="T7"/>
                  </a:cxn>
                </a:cxnLst>
                <a:rect l="T12" t="T13" r="T14" b="T15"/>
                <a:pathLst>
                  <a:path w="60" h="82">
                    <a:moveTo>
                      <a:pt x="60" y="0"/>
                    </a:moveTo>
                    <a:lnTo>
                      <a:pt x="0" y="42"/>
                    </a:lnTo>
                    <a:lnTo>
                      <a:pt x="60" y="82"/>
                    </a:lnTo>
                    <a:lnTo>
                      <a:pt x="60" y="0"/>
                    </a:lnTo>
                    <a:close/>
                  </a:path>
                </a:pathLst>
              </a:custGeom>
              <a:solidFill>
                <a:srgbClr val="000000"/>
              </a:solidFill>
              <a:ln w="9525">
                <a:noFill/>
                <a:round/>
              </a:ln>
            </p:spPr>
            <p:txBody>
              <a:bodyPr/>
              <a:lstStyle/>
              <a:p>
                <a:endParaRPr lang="zh-CN" altLang="en-US"/>
              </a:p>
            </p:txBody>
          </p:sp>
        </p:grpSp>
        <p:grpSp>
          <p:nvGrpSpPr>
            <p:cNvPr id="9" name="Group 31"/>
            <p:cNvGrpSpPr/>
            <p:nvPr/>
          </p:nvGrpSpPr>
          <p:grpSpPr bwMode="auto">
            <a:xfrm>
              <a:off x="2415" y="2710"/>
              <a:ext cx="1006" cy="82"/>
              <a:chOff x="2951" y="2756"/>
              <a:chExt cx="714" cy="82"/>
            </a:xfrm>
          </p:grpSpPr>
          <p:sp>
            <p:nvSpPr>
              <p:cNvPr id="72769" name="Line 32"/>
              <p:cNvSpPr>
                <a:spLocks noChangeShapeType="1"/>
              </p:cNvSpPr>
              <p:nvPr/>
            </p:nvSpPr>
            <p:spPr bwMode="auto">
              <a:xfrm>
                <a:off x="2951" y="2796"/>
                <a:ext cx="656" cy="1"/>
              </a:xfrm>
              <a:prstGeom prst="line">
                <a:avLst/>
              </a:prstGeom>
              <a:noFill/>
              <a:ln w="9525">
                <a:solidFill>
                  <a:srgbClr val="000000"/>
                </a:solidFill>
                <a:round/>
              </a:ln>
            </p:spPr>
            <p:txBody>
              <a:bodyPr/>
              <a:lstStyle/>
              <a:p>
                <a:endParaRPr lang="zh-CN" altLang="en-US"/>
              </a:p>
            </p:txBody>
          </p:sp>
          <p:sp>
            <p:nvSpPr>
              <p:cNvPr id="72770" name="Freeform 33"/>
              <p:cNvSpPr/>
              <p:nvPr/>
            </p:nvSpPr>
            <p:spPr bwMode="auto">
              <a:xfrm>
                <a:off x="3604" y="2756"/>
                <a:ext cx="61" cy="82"/>
              </a:xfrm>
              <a:custGeom>
                <a:avLst/>
                <a:gdLst>
                  <a:gd name="T0" fmla="*/ 0 w 61"/>
                  <a:gd name="T1" fmla="*/ 82 h 82"/>
                  <a:gd name="T2" fmla="*/ 61 w 61"/>
                  <a:gd name="T3" fmla="*/ 40 h 82"/>
                  <a:gd name="T4" fmla="*/ 0 w 61"/>
                  <a:gd name="T5" fmla="*/ 0 h 82"/>
                  <a:gd name="T6" fmla="*/ 0 w 61"/>
                  <a:gd name="T7" fmla="*/ 82 h 82"/>
                  <a:gd name="T8" fmla="*/ 0 60000 65536"/>
                  <a:gd name="T9" fmla="*/ 0 60000 65536"/>
                  <a:gd name="T10" fmla="*/ 0 60000 65536"/>
                  <a:gd name="T11" fmla="*/ 0 60000 65536"/>
                  <a:gd name="T12" fmla="*/ 0 w 61"/>
                  <a:gd name="T13" fmla="*/ 0 h 82"/>
                  <a:gd name="T14" fmla="*/ 61 w 61"/>
                  <a:gd name="T15" fmla="*/ 82 h 82"/>
                </a:gdLst>
                <a:ahLst/>
                <a:cxnLst>
                  <a:cxn ang="T8">
                    <a:pos x="T0" y="T1"/>
                  </a:cxn>
                  <a:cxn ang="T9">
                    <a:pos x="T2" y="T3"/>
                  </a:cxn>
                  <a:cxn ang="T10">
                    <a:pos x="T4" y="T5"/>
                  </a:cxn>
                  <a:cxn ang="T11">
                    <a:pos x="T6" y="T7"/>
                  </a:cxn>
                </a:cxnLst>
                <a:rect l="T12" t="T13" r="T14" b="T15"/>
                <a:pathLst>
                  <a:path w="61" h="82">
                    <a:moveTo>
                      <a:pt x="0" y="82"/>
                    </a:moveTo>
                    <a:lnTo>
                      <a:pt x="61" y="40"/>
                    </a:lnTo>
                    <a:lnTo>
                      <a:pt x="0" y="0"/>
                    </a:lnTo>
                    <a:lnTo>
                      <a:pt x="0" y="82"/>
                    </a:lnTo>
                    <a:close/>
                  </a:path>
                </a:pathLst>
              </a:custGeom>
              <a:solidFill>
                <a:srgbClr val="000000"/>
              </a:solidFill>
              <a:ln w="9525">
                <a:noFill/>
                <a:round/>
              </a:ln>
            </p:spPr>
            <p:txBody>
              <a:bodyPr/>
              <a:lstStyle/>
              <a:p>
                <a:endParaRPr lang="zh-CN" altLang="en-US"/>
              </a:p>
            </p:txBody>
          </p:sp>
        </p:grpSp>
        <p:grpSp>
          <p:nvGrpSpPr>
            <p:cNvPr id="10" name="Group 34"/>
            <p:cNvGrpSpPr/>
            <p:nvPr/>
          </p:nvGrpSpPr>
          <p:grpSpPr bwMode="auto">
            <a:xfrm>
              <a:off x="3274" y="2341"/>
              <a:ext cx="68" cy="249"/>
              <a:chOff x="3551" y="2427"/>
              <a:chExt cx="48" cy="249"/>
            </a:xfrm>
          </p:grpSpPr>
          <p:sp>
            <p:nvSpPr>
              <p:cNvPr id="92195" name="Rectangle 35"/>
              <p:cNvSpPr>
                <a:spLocks noChangeArrowheads="1"/>
              </p:cNvSpPr>
              <p:nvPr/>
            </p:nvSpPr>
            <p:spPr bwMode="auto">
              <a:xfrm>
                <a:off x="3570" y="2510"/>
                <a:ext cx="29" cy="146"/>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92196" name="Rectangle 36"/>
              <p:cNvSpPr>
                <a:spLocks noChangeArrowheads="1"/>
              </p:cNvSpPr>
              <p:nvPr/>
            </p:nvSpPr>
            <p:spPr bwMode="auto">
              <a:xfrm>
                <a:off x="3551" y="2427"/>
                <a:ext cx="43" cy="2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grpSp>
          <p:nvGrpSpPr>
            <p:cNvPr id="11" name="Group 37"/>
            <p:cNvGrpSpPr/>
            <p:nvPr/>
          </p:nvGrpSpPr>
          <p:grpSpPr bwMode="auto">
            <a:xfrm>
              <a:off x="3249" y="2792"/>
              <a:ext cx="101" cy="249"/>
              <a:chOff x="3543" y="2902"/>
              <a:chExt cx="72" cy="249"/>
            </a:xfrm>
          </p:grpSpPr>
          <p:sp>
            <p:nvSpPr>
              <p:cNvPr id="92198" name="Rectangle 38"/>
              <p:cNvSpPr>
                <a:spLocks noChangeArrowheads="1"/>
              </p:cNvSpPr>
              <p:nvPr/>
            </p:nvSpPr>
            <p:spPr bwMode="auto">
              <a:xfrm>
                <a:off x="3586" y="2988"/>
                <a:ext cx="29" cy="146"/>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92199" name="Rectangle 39"/>
              <p:cNvSpPr>
                <a:spLocks noChangeArrowheads="1"/>
              </p:cNvSpPr>
              <p:nvPr/>
            </p:nvSpPr>
            <p:spPr bwMode="auto">
              <a:xfrm>
                <a:off x="3543" y="2902"/>
                <a:ext cx="43" cy="2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grpSp>
          <p:nvGrpSpPr>
            <p:cNvPr id="12" name="Group 40"/>
            <p:cNvGrpSpPr/>
            <p:nvPr/>
          </p:nvGrpSpPr>
          <p:grpSpPr bwMode="auto">
            <a:xfrm>
              <a:off x="2708" y="2235"/>
              <a:ext cx="115" cy="249"/>
              <a:chOff x="3179" y="2235"/>
              <a:chExt cx="82" cy="249"/>
            </a:xfrm>
          </p:grpSpPr>
          <p:sp>
            <p:nvSpPr>
              <p:cNvPr id="92201" name="Rectangle 41"/>
              <p:cNvSpPr>
                <a:spLocks noChangeArrowheads="1"/>
              </p:cNvSpPr>
              <p:nvPr/>
            </p:nvSpPr>
            <p:spPr bwMode="auto">
              <a:xfrm>
                <a:off x="3232" y="2317"/>
                <a:ext cx="29" cy="146"/>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1</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92202" name="Rectangle 42"/>
              <p:cNvSpPr>
                <a:spLocks noChangeArrowheads="1"/>
              </p:cNvSpPr>
              <p:nvPr/>
            </p:nvSpPr>
            <p:spPr bwMode="auto">
              <a:xfrm>
                <a:off x="3179" y="2235"/>
                <a:ext cx="65" cy="2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grpSp>
          <p:nvGrpSpPr>
            <p:cNvPr id="13" name="Group 43"/>
            <p:cNvGrpSpPr/>
            <p:nvPr/>
          </p:nvGrpSpPr>
          <p:grpSpPr bwMode="auto">
            <a:xfrm>
              <a:off x="2690" y="2573"/>
              <a:ext cx="123" cy="249"/>
              <a:chOff x="3165" y="2619"/>
              <a:chExt cx="88" cy="249"/>
            </a:xfrm>
          </p:grpSpPr>
          <p:sp>
            <p:nvSpPr>
              <p:cNvPr id="92204" name="Rectangle 44"/>
              <p:cNvSpPr>
                <a:spLocks noChangeArrowheads="1"/>
              </p:cNvSpPr>
              <p:nvPr/>
            </p:nvSpPr>
            <p:spPr bwMode="auto">
              <a:xfrm>
                <a:off x="3224" y="2702"/>
                <a:ext cx="29" cy="146"/>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a:solidFill>
                      <a:srgbClr val="000000"/>
                    </a:solidFill>
                    <a:latin typeface="Times New Roman" panose="02020603050405020304" pitchFamily="18" charset="0"/>
                  </a:rPr>
                  <a:t>2</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92205" name="Rectangle 45"/>
              <p:cNvSpPr>
                <a:spLocks noChangeArrowheads="1"/>
              </p:cNvSpPr>
              <p:nvPr/>
            </p:nvSpPr>
            <p:spPr bwMode="auto">
              <a:xfrm>
                <a:off x="3165" y="2619"/>
                <a:ext cx="66" cy="2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grpSp>
          <p:nvGrpSpPr>
            <p:cNvPr id="14" name="Group 46"/>
            <p:cNvGrpSpPr/>
            <p:nvPr/>
          </p:nvGrpSpPr>
          <p:grpSpPr bwMode="auto">
            <a:xfrm>
              <a:off x="3131" y="3341"/>
              <a:ext cx="121" cy="249"/>
              <a:chOff x="3459" y="3483"/>
              <a:chExt cx="86" cy="249"/>
            </a:xfrm>
          </p:grpSpPr>
          <p:sp>
            <p:nvSpPr>
              <p:cNvPr id="92207" name="Rectangle 47"/>
              <p:cNvSpPr>
                <a:spLocks noChangeArrowheads="1"/>
              </p:cNvSpPr>
              <p:nvPr/>
            </p:nvSpPr>
            <p:spPr bwMode="auto">
              <a:xfrm>
                <a:off x="3507" y="3567"/>
                <a:ext cx="38" cy="146"/>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i="1">
                    <a:solidFill>
                      <a:srgbClr val="000000"/>
                    </a:solidFill>
                    <a:latin typeface="Times New Roman" panose="02020603050405020304" pitchFamily="18" charset="0"/>
                  </a:rPr>
                  <a:t>N</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92208" name="Rectangle 48"/>
              <p:cNvSpPr>
                <a:spLocks noChangeArrowheads="1"/>
              </p:cNvSpPr>
              <p:nvPr/>
            </p:nvSpPr>
            <p:spPr bwMode="auto">
              <a:xfrm>
                <a:off x="3459" y="3483"/>
                <a:ext cx="43" cy="2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grpSp>
          <p:nvGrpSpPr>
            <p:cNvPr id="15" name="Group 49"/>
            <p:cNvGrpSpPr/>
            <p:nvPr/>
          </p:nvGrpSpPr>
          <p:grpSpPr bwMode="auto">
            <a:xfrm>
              <a:off x="2705" y="2938"/>
              <a:ext cx="144" cy="249"/>
              <a:chOff x="3159" y="2912"/>
              <a:chExt cx="102" cy="249"/>
            </a:xfrm>
          </p:grpSpPr>
          <p:sp>
            <p:nvSpPr>
              <p:cNvPr id="92210" name="Rectangle 50"/>
              <p:cNvSpPr>
                <a:spLocks noChangeArrowheads="1"/>
              </p:cNvSpPr>
              <p:nvPr/>
            </p:nvSpPr>
            <p:spPr bwMode="auto">
              <a:xfrm>
                <a:off x="3223" y="2991"/>
                <a:ext cx="38" cy="146"/>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000" i="1">
                    <a:solidFill>
                      <a:srgbClr val="000000"/>
                    </a:solidFill>
                    <a:latin typeface="Times New Roman" panose="02020603050405020304" pitchFamily="18" charset="0"/>
                  </a:rPr>
                  <a:t>N</a:t>
                </a:r>
                <a:endParaRPr lang="en-US" altLang="zh-CN" sz="2400" b="1">
                  <a:effectLst>
                    <a:outerShdw blurRad="38100" dist="38100" dir="2700000" algn="tl">
                      <a:srgbClr val="C0C0C0"/>
                    </a:outerShdw>
                  </a:effectLst>
                  <a:latin typeface="Times New Roman" panose="02020603050405020304" pitchFamily="18" charset="0"/>
                </a:endParaRPr>
              </a:p>
            </p:txBody>
          </p:sp>
          <p:sp>
            <p:nvSpPr>
              <p:cNvPr id="92211" name="Rectangle 51"/>
              <p:cNvSpPr>
                <a:spLocks noChangeArrowheads="1"/>
              </p:cNvSpPr>
              <p:nvPr/>
            </p:nvSpPr>
            <p:spPr bwMode="auto">
              <a:xfrm>
                <a:off x="3159" y="2912"/>
                <a:ext cx="65" cy="249"/>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700" i="1">
                    <a:solidFill>
                      <a:srgbClr val="000000"/>
                    </a:solidFill>
                    <a:latin typeface="Times New Roman" panose="02020603050405020304" pitchFamily="18" charset="0"/>
                  </a:rPr>
                  <a:t>C</a:t>
                </a:r>
                <a:endParaRPr lang="en-US" altLang="zh-CN" sz="2400" b="1">
                  <a:effectLst>
                    <a:outerShdw blurRad="38100" dist="38100" dir="2700000" algn="tl">
                      <a:srgbClr val="C0C0C0"/>
                    </a:outerShdw>
                  </a:effectLst>
                  <a:latin typeface="Times New Roman" panose="02020603050405020304" pitchFamily="18" charset="0"/>
                </a:endParaRPr>
              </a:p>
            </p:txBody>
          </p:sp>
        </p:grpSp>
        <p:sp>
          <p:nvSpPr>
            <p:cNvPr id="72736" name="Line 52"/>
            <p:cNvSpPr>
              <a:spLocks noChangeShapeType="1"/>
            </p:cNvSpPr>
            <p:nvPr/>
          </p:nvSpPr>
          <p:spPr bwMode="auto">
            <a:xfrm flipV="1">
              <a:off x="3480" y="2028"/>
              <a:ext cx="102" cy="96"/>
            </a:xfrm>
            <a:prstGeom prst="line">
              <a:avLst/>
            </a:prstGeom>
            <a:noFill/>
            <a:ln w="14288">
              <a:solidFill>
                <a:srgbClr val="000000"/>
              </a:solidFill>
              <a:round/>
            </a:ln>
          </p:spPr>
          <p:txBody>
            <a:bodyPr/>
            <a:lstStyle/>
            <a:p>
              <a:endParaRPr lang="zh-CN" altLang="en-US"/>
            </a:p>
          </p:txBody>
        </p:sp>
        <p:sp>
          <p:nvSpPr>
            <p:cNvPr id="72737" name="Line 53"/>
            <p:cNvSpPr>
              <a:spLocks noChangeShapeType="1"/>
            </p:cNvSpPr>
            <p:nvPr/>
          </p:nvSpPr>
          <p:spPr bwMode="auto">
            <a:xfrm flipV="1">
              <a:off x="3480" y="2568"/>
              <a:ext cx="102" cy="96"/>
            </a:xfrm>
            <a:prstGeom prst="line">
              <a:avLst/>
            </a:prstGeom>
            <a:noFill/>
            <a:ln w="14288">
              <a:solidFill>
                <a:srgbClr val="000000"/>
              </a:solidFill>
              <a:round/>
            </a:ln>
          </p:spPr>
          <p:txBody>
            <a:bodyPr/>
            <a:lstStyle/>
            <a:p>
              <a:endParaRPr lang="zh-CN" altLang="en-US"/>
            </a:p>
          </p:txBody>
        </p:sp>
        <p:sp>
          <p:nvSpPr>
            <p:cNvPr id="72738" name="Line 54"/>
            <p:cNvSpPr>
              <a:spLocks noChangeShapeType="1"/>
            </p:cNvSpPr>
            <p:nvPr/>
          </p:nvSpPr>
          <p:spPr bwMode="auto">
            <a:xfrm flipV="1">
              <a:off x="3480" y="3270"/>
              <a:ext cx="102" cy="96"/>
            </a:xfrm>
            <a:prstGeom prst="line">
              <a:avLst/>
            </a:prstGeom>
            <a:noFill/>
            <a:ln w="14288">
              <a:solidFill>
                <a:srgbClr val="000000"/>
              </a:solidFill>
              <a:round/>
            </a:ln>
          </p:spPr>
          <p:txBody>
            <a:bodyPr/>
            <a:lstStyle/>
            <a:p>
              <a:endParaRPr lang="zh-CN" altLang="en-US"/>
            </a:p>
          </p:txBody>
        </p:sp>
        <p:sp>
          <p:nvSpPr>
            <p:cNvPr id="72739" name="Line 55"/>
            <p:cNvSpPr>
              <a:spLocks noChangeShapeType="1"/>
            </p:cNvSpPr>
            <p:nvPr/>
          </p:nvSpPr>
          <p:spPr bwMode="auto">
            <a:xfrm flipH="1" flipV="1">
              <a:off x="3377" y="2028"/>
              <a:ext cx="103" cy="96"/>
            </a:xfrm>
            <a:prstGeom prst="line">
              <a:avLst/>
            </a:prstGeom>
            <a:noFill/>
            <a:ln w="14288">
              <a:solidFill>
                <a:srgbClr val="000000"/>
              </a:solidFill>
              <a:round/>
            </a:ln>
          </p:spPr>
          <p:txBody>
            <a:bodyPr/>
            <a:lstStyle/>
            <a:p>
              <a:endParaRPr lang="zh-CN" altLang="en-US"/>
            </a:p>
          </p:txBody>
        </p:sp>
        <p:sp>
          <p:nvSpPr>
            <p:cNvPr id="72740" name="Line 56"/>
            <p:cNvSpPr>
              <a:spLocks noChangeShapeType="1"/>
            </p:cNvSpPr>
            <p:nvPr/>
          </p:nvSpPr>
          <p:spPr bwMode="auto">
            <a:xfrm flipH="1" flipV="1">
              <a:off x="3377" y="2568"/>
              <a:ext cx="103" cy="96"/>
            </a:xfrm>
            <a:prstGeom prst="line">
              <a:avLst/>
            </a:prstGeom>
            <a:noFill/>
            <a:ln w="14288">
              <a:solidFill>
                <a:srgbClr val="000000"/>
              </a:solidFill>
              <a:round/>
            </a:ln>
          </p:spPr>
          <p:txBody>
            <a:bodyPr/>
            <a:lstStyle/>
            <a:p>
              <a:endParaRPr lang="zh-CN" altLang="en-US"/>
            </a:p>
          </p:txBody>
        </p:sp>
        <p:sp>
          <p:nvSpPr>
            <p:cNvPr id="72741" name="Line 57"/>
            <p:cNvSpPr>
              <a:spLocks noChangeShapeType="1"/>
            </p:cNvSpPr>
            <p:nvPr/>
          </p:nvSpPr>
          <p:spPr bwMode="auto">
            <a:xfrm flipH="1" flipV="1">
              <a:off x="3377" y="3270"/>
              <a:ext cx="103" cy="96"/>
            </a:xfrm>
            <a:prstGeom prst="line">
              <a:avLst/>
            </a:prstGeom>
            <a:noFill/>
            <a:ln w="14288">
              <a:solidFill>
                <a:srgbClr val="000000"/>
              </a:solidFill>
              <a:round/>
            </a:ln>
          </p:spPr>
          <p:txBody>
            <a:bodyPr/>
            <a:lstStyle/>
            <a:p>
              <a:endParaRPr lang="zh-CN" altLang="en-US"/>
            </a:p>
          </p:txBody>
        </p:sp>
        <p:grpSp>
          <p:nvGrpSpPr>
            <p:cNvPr id="16" name="Group 59"/>
            <p:cNvGrpSpPr/>
            <p:nvPr/>
          </p:nvGrpSpPr>
          <p:grpSpPr bwMode="auto">
            <a:xfrm>
              <a:off x="1429" y="2596"/>
              <a:ext cx="1224" cy="872"/>
              <a:chOff x="1429" y="2604"/>
              <a:chExt cx="1224" cy="872"/>
            </a:xfrm>
          </p:grpSpPr>
          <p:grpSp>
            <p:nvGrpSpPr>
              <p:cNvPr id="17" name="Group 60"/>
              <p:cNvGrpSpPr/>
              <p:nvPr/>
            </p:nvGrpSpPr>
            <p:grpSpPr bwMode="auto">
              <a:xfrm>
                <a:off x="1429" y="2803"/>
                <a:ext cx="616" cy="310"/>
                <a:chOff x="2255" y="2744"/>
                <a:chExt cx="437" cy="310"/>
              </a:xfrm>
            </p:grpSpPr>
            <p:sp>
              <p:nvSpPr>
                <p:cNvPr id="72754" name="Rectangle 61"/>
                <p:cNvSpPr>
                  <a:spLocks noChangeArrowheads="1"/>
                </p:cNvSpPr>
                <p:nvPr/>
              </p:nvSpPr>
              <p:spPr bwMode="auto">
                <a:xfrm>
                  <a:off x="2328" y="2744"/>
                  <a:ext cx="292" cy="290"/>
                </a:xfrm>
                <a:prstGeom prst="rect">
                  <a:avLst/>
                </a:prstGeom>
                <a:solidFill>
                  <a:srgbClr val="FF1919"/>
                </a:solidFill>
                <a:ln w="14288">
                  <a:solidFill>
                    <a:srgbClr val="FF1919"/>
                  </a:solidFill>
                  <a:miter lim="800000"/>
                </a:ln>
              </p:spPr>
              <p:txBody>
                <a:bodyPr/>
                <a:lstStyle/>
                <a:p>
                  <a:endParaRPr lang="zh-CN" altLang="en-US"/>
                </a:p>
              </p:txBody>
            </p:sp>
            <p:sp>
              <p:nvSpPr>
                <p:cNvPr id="72755" name="Rectangle 62"/>
                <p:cNvSpPr>
                  <a:spLocks noChangeArrowheads="1"/>
                </p:cNvSpPr>
                <p:nvPr/>
              </p:nvSpPr>
              <p:spPr bwMode="auto">
                <a:xfrm>
                  <a:off x="2255" y="2744"/>
                  <a:ext cx="437" cy="310"/>
                </a:xfrm>
                <a:prstGeom prst="rect">
                  <a:avLst/>
                </a:prstGeom>
                <a:noFill/>
                <a:ln w="9525">
                  <a:noFill/>
                  <a:miter lim="800000"/>
                </a:ln>
              </p:spPr>
              <p:txBody>
                <a:bodyPr/>
                <a:lstStyle/>
                <a:p>
                  <a:endParaRPr lang="zh-CN" altLang="en-US"/>
                </a:p>
              </p:txBody>
            </p:sp>
            <p:sp>
              <p:nvSpPr>
                <p:cNvPr id="92223" name="Rectangle 63"/>
                <p:cNvSpPr>
                  <a:spLocks noChangeArrowheads="1"/>
                </p:cNvSpPr>
                <p:nvPr/>
              </p:nvSpPr>
              <p:spPr bwMode="auto">
                <a:xfrm>
                  <a:off x="2391" y="2816"/>
                  <a:ext cx="203" cy="234"/>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sz="1600" b="1">
                      <a:solidFill>
                        <a:srgbClr val="000000"/>
                      </a:solidFill>
                      <a:latin typeface="Times New Roman" panose="02020603050405020304" pitchFamily="18" charset="0"/>
                    </a:rPr>
                    <a:t>MSC</a:t>
                  </a:r>
                  <a:endParaRPr lang="en-US" altLang="zh-CN" sz="1600" b="1">
                    <a:effectLst>
                      <a:outerShdw blurRad="38100" dist="38100" dir="2700000" algn="tl">
                        <a:srgbClr val="C0C0C0"/>
                      </a:outerShdw>
                    </a:effectLst>
                    <a:latin typeface="Times New Roman" panose="02020603050405020304" pitchFamily="18" charset="0"/>
                  </a:endParaRPr>
                </a:p>
              </p:txBody>
            </p:sp>
          </p:grpSp>
          <p:grpSp>
            <p:nvGrpSpPr>
              <p:cNvPr id="18" name="Group 64"/>
              <p:cNvGrpSpPr/>
              <p:nvPr/>
            </p:nvGrpSpPr>
            <p:grpSpPr bwMode="auto">
              <a:xfrm>
                <a:off x="2037" y="2604"/>
                <a:ext cx="616" cy="872"/>
                <a:chOff x="2037" y="2604"/>
                <a:chExt cx="616" cy="872"/>
              </a:xfrm>
            </p:grpSpPr>
            <p:grpSp>
              <p:nvGrpSpPr>
                <p:cNvPr id="19" name="Group 65"/>
                <p:cNvGrpSpPr/>
                <p:nvPr/>
              </p:nvGrpSpPr>
              <p:grpSpPr bwMode="auto">
                <a:xfrm>
                  <a:off x="2138" y="2604"/>
                  <a:ext cx="205" cy="599"/>
                  <a:chOff x="2763" y="2604"/>
                  <a:chExt cx="145" cy="479"/>
                </a:xfrm>
              </p:grpSpPr>
              <p:sp>
                <p:nvSpPr>
                  <p:cNvPr id="72750" name="Freeform 66"/>
                  <p:cNvSpPr/>
                  <p:nvPr/>
                </p:nvSpPr>
                <p:spPr bwMode="auto">
                  <a:xfrm>
                    <a:off x="2763" y="2604"/>
                    <a:ext cx="145" cy="479"/>
                  </a:xfrm>
                  <a:custGeom>
                    <a:avLst/>
                    <a:gdLst>
                      <a:gd name="T0" fmla="*/ 73 w 145"/>
                      <a:gd name="T1" fmla="*/ 0 h 479"/>
                      <a:gd name="T2" fmla="*/ 145 w 145"/>
                      <a:gd name="T3" fmla="*/ 479 h 479"/>
                      <a:gd name="T4" fmla="*/ 0 w 145"/>
                      <a:gd name="T5" fmla="*/ 479 h 479"/>
                      <a:gd name="T6" fmla="*/ 73 w 145"/>
                      <a:gd name="T7" fmla="*/ 0 h 479"/>
                      <a:gd name="T8" fmla="*/ 0 60000 65536"/>
                      <a:gd name="T9" fmla="*/ 0 60000 65536"/>
                      <a:gd name="T10" fmla="*/ 0 60000 65536"/>
                      <a:gd name="T11" fmla="*/ 0 60000 65536"/>
                      <a:gd name="T12" fmla="*/ 0 w 145"/>
                      <a:gd name="T13" fmla="*/ 0 h 479"/>
                      <a:gd name="T14" fmla="*/ 145 w 145"/>
                      <a:gd name="T15" fmla="*/ 479 h 479"/>
                    </a:gdLst>
                    <a:ahLst/>
                    <a:cxnLst>
                      <a:cxn ang="T8">
                        <a:pos x="T0" y="T1"/>
                      </a:cxn>
                      <a:cxn ang="T9">
                        <a:pos x="T2" y="T3"/>
                      </a:cxn>
                      <a:cxn ang="T10">
                        <a:pos x="T4" y="T5"/>
                      </a:cxn>
                      <a:cxn ang="T11">
                        <a:pos x="T6" y="T7"/>
                      </a:cxn>
                    </a:cxnLst>
                    <a:rect l="T12" t="T13" r="T14" b="T15"/>
                    <a:pathLst>
                      <a:path w="145" h="479">
                        <a:moveTo>
                          <a:pt x="73" y="0"/>
                        </a:moveTo>
                        <a:lnTo>
                          <a:pt x="145" y="479"/>
                        </a:lnTo>
                        <a:lnTo>
                          <a:pt x="0" y="479"/>
                        </a:lnTo>
                        <a:lnTo>
                          <a:pt x="73" y="0"/>
                        </a:lnTo>
                        <a:close/>
                      </a:path>
                    </a:pathLst>
                  </a:custGeom>
                  <a:solidFill>
                    <a:srgbClr val="808000"/>
                  </a:solidFill>
                  <a:ln w="14288">
                    <a:solidFill>
                      <a:srgbClr val="000000"/>
                    </a:solidFill>
                    <a:round/>
                  </a:ln>
                </p:spPr>
                <p:txBody>
                  <a:bodyPr/>
                  <a:lstStyle/>
                  <a:p>
                    <a:endParaRPr lang="zh-CN" altLang="en-US"/>
                  </a:p>
                </p:txBody>
              </p:sp>
              <p:sp>
                <p:nvSpPr>
                  <p:cNvPr id="72751" name="Line 67"/>
                  <p:cNvSpPr>
                    <a:spLocks noChangeShapeType="1"/>
                  </p:cNvSpPr>
                  <p:nvPr/>
                </p:nvSpPr>
                <p:spPr bwMode="auto">
                  <a:xfrm>
                    <a:off x="2798" y="2892"/>
                    <a:ext cx="110" cy="191"/>
                  </a:xfrm>
                  <a:prstGeom prst="line">
                    <a:avLst/>
                  </a:prstGeom>
                  <a:noFill/>
                  <a:ln w="14288">
                    <a:solidFill>
                      <a:srgbClr val="000000"/>
                    </a:solidFill>
                    <a:round/>
                  </a:ln>
                </p:spPr>
                <p:txBody>
                  <a:bodyPr/>
                  <a:lstStyle/>
                  <a:p>
                    <a:endParaRPr lang="zh-CN" altLang="en-US"/>
                  </a:p>
                </p:txBody>
              </p:sp>
              <p:sp>
                <p:nvSpPr>
                  <p:cNvPr id="72752" name="Line 68"/>
                  <p:cNvSpPr>
                    <a:spLocks noChangeShapeType="1"/>
                  </p:cNvSpPr>
                  <p:nvPr/>
                </p:nvSpPr>
                <p:spPr bwMode="auto">
                  <a:xfrm flipH="1">
                    <a:off x="2763" y="2892"/>
                    <a:ext cx="111" cy="191"/>
                  </a:xfrm>
                  <a:prstGeom prst="line">
                    <a:avLst/>
                  </a:prstGeom>
                  <a:noFill/>
                  <a:ln w="14288">
                    <a:solidFill>
                      <a:srgbClr val="000000"/>
                    </a:solidFill>
                    <a:round/>
                  </a:ln>
                </p:spPr>
                <p:txBody>
                  <a:bodyPr/>
                  <a:lstStyle/>
                  <a:p>
                    <a:endParaRPr lang="zh-CN" altLang="en-US"/>
                  </a:p>
                </p:txBody>
              </p:sp>
              <p:sp>
                <p:nvSpPr>
                  <p:cNvPr id="72753" name="Line 69"/>
                  <p:cNvSpPr>
                    <a:spLocks noChangeShapeType="1"/>
                  </p:cNvSpPr>
                  <p:nvPr/>
                </p:nvSpPr>
                <p:spPr bwMode="auto">
                  <a:xfrm>
                    <a:off x="2798" y="2892"/>
                    <a:ext cx="79" cy="1"/>
                  </a:xfrm>
                  <a:prstGeom prst="line">
                    <a:avLst/>
                  </a:prstGeom>
                  <a:noFill/>
                  <a:ln w="14288">
                    <a:solidFill>
                      <a:srgbClr val="000000"/>
                    </a:solidFill>
                    <a:round/>
                  </a:ln>
                </p:spPr>
                <p:txBody>
                  <a:bodyPr/>
                  <a:lstStyle/>
                  <a:p>
                    <a:endParaRPr lang="zh-CN" altLang="en-US"/>
                  </a:p>
                </p:txBody>
              </p:sp>
            </p:grpSp>
            <p:sp>
              <p:nvSpPr>
                <p:cNvPr id="72748" name="Rectangle 70"/>
                <p:cNvSpPr>
                  <a:spLocks noChangeArrowheads="1"/>
                </p:cNvSpPr>
                <p:nvPr/>
              </p:nvSpPr>
              <p:spPr bwMode="auto">
                <a:xfrm>
                  <a:off x="2037" y="3083"/>
                  <a:ext cx="616" cy="310"/>
                </a:xfrm>
                <a:prstGeom prst="rect">
                  <a:avLst/>
                </a:prstGeom>
                <a:noFill/>
                <a:ln w="9525">
                  <a:noFill/>
                  <a:miter lim="800000"/>
                </a:ln>
              </p:spPr>
              <p:txBody>
                <a:bodyPr/>
                <a:lstStyle/>
                <a:p>
                  <a:endParaRPr lang="zh-CN" altLang="en-US"/>
                </a:p>
              </p:txBody>
            </p:sp>
            <p:sp>
              <p:nvSpPr>
                <p:cNvPr id="92231" name="Rectangle 71"/>
                <p:cNvSpPr>
                  <a:spLocks noChangeArrowheads="1"/>
                </p:cNvSpPr>
                <p:nvPr/>
              </p:nvSpPr>
              <p:spPr bwMode="auto">
                <a:xfrm>
                  <a:off x="2159" y="3212"/>
                  <a:ext cx="178" cy="264"/>
                </a:xfrm>
                <a:prstGeom prst="rect">
                  <a:avLst/>
                </a:prstGeom>
                <a:noFill/>
                <a:ln w="9525">
                  <a:noFill/>
                  <a:miter lim="800000"/>
                </a:ln>
              </p:spPr>
              <p:txBody>
                <a:bodyPr wrap="none" lIns="0" tIns="0" rIns="0" bIns="0">
                  <a:spAutoFit/>
                </a:bodyPr>
                <a:lstStyle/>
                <a:p>
                  <a:pPr marL="342900" indent="-342900" algn="ctr">
                    <a:spcBef>
                      <a:spcPct val="20000"/>
                    </a:spcBef>
                    <a:buClr>
                      <a:schemeClr val="hlink"/>
                    </a:buClr>
                    <a:defRPr/>
                  </a:pPr>
                  <a:r>
                    <a:rPr lang="en-US" altLang="zh-CN" b="1">
                      <a:solidFill>
                        <a:srgbClr val="000000"/>
                      </a:solidFill>
                      <a:latin typeface="Times New Roman" panose="02020603050405020304" pitchFamily="18" charset="0"/>
                    </a:rPr>
                    <a:t>BS</a:t>
                  </a:r>
                  <a:endParaRPr lang="en-US" altLang="zh-CN" b="1">
                    <a:effectLst>
                      <a:outerShdw blurRad="38100" dist="38100" dir="2700000" algn="tl">
                        <a:srgbClr val="C0C0C0"/>
                      </a:outerShdw>
                    </a:effectLst>
                    <a:latin typeface="Times New Roman" panose="02020603050405020304" pitchFamily="18" charset="0"/>
                  </a:endParaRPr>
                </a:p>
              </p:txBody>
            </p:sp>
          </p:grpSp>
          <p:sp>
            <p:nvSpPr>
              <p:cNvPr id="72746" name="Line 72"/>
              <p:cNvSpPr>
                <a:spLocks noChangeShapeType="1"/>
              </p:cNvSpPr>
              <p:nvPr/>
            </p:nvSpPr>
            <p:spPr bwMode="auto">
              <a:xfrm>
                <a:off x="1945" y="2975"/>
                <a:ext cx="345" cy="1"/>
              </a:xfrm>
              <a:prstGeom prst="line">
                <a:avLst/>
              </a:prstGeom>
              <a:noFill/>
              <a:ln w="14288">
                <a:solidFill>
                  <a:srgbClr val="000000"/>
                </a:solidFill>
                <a:round/>
              </a:ln>
            </p:spPr>
            <p:txBody>
              <a:bodyPr/>
              <a:lstStyle/>
              <a:p>
                <a:endParaRPr lang="zh-CN" altLang="en-US"/>
              </a:p>
            </p:txBody>
          </p:sp>
        </p:grpSp>
      </p:grpSp>
      <p:sp>
        <p:nvSpPr>
          <p:cNvPr id="72712" name="Line 73"/>
          <p:cNvSpPr>
            <a:spLocks noChangeShapeType="1"/>
          </p:cNvSpPr>
          <p:nvPr/>
        </p:nvSpPr>
        <p:spPr bwMode="auto">
          <a:xfrm>
            <a:off x="4355332" y="4016225"/>
            <a:ext cx="0" cy="285886"/>
          </a:xfrm>
          <a:prstGeom prst="line">
            <a:avLst/>
          </a:prstGeom>
          <a:noFill/>
          <a:ln w="9525">
            <a:solidFill>
              <a:schemeClr val="tx1"/>
            </a:solidFill>
            <a:prstDash val="dash"/>
            <a:round/>
          </a:ln>
        </p:spPr>
        <p:txBody>
          <a:bodyPr wrap="none" anchor="ctr"/>
          <a:lstStyle/>
          <a:p>
            <a:endParaRPr lang="zh-CN" altLang="en-US"/>
          </a:p>
        </p:txBody>
      </p:sp>
      <p:sp>
        <p:nvSpPr>
          <p:cNvPr id="72713" name="Line 74"/>
          <p:cNvSpPr>
            <a:spLocks noChangeShapeType="1"/>
          </p:cNvSpPr>
          <p:nvPr/>
        </p:nvSpPr>
        <p:spPr bwMode="auto">
          <a:xfrm>
            <a:off x="2123307" y="3967877"/>
            <a:ext cx="0" cy="191291"/>
          </a:xfrm>
          <a:prstGeom prst="line">
            <a:avLst/>
          </a:prstGeom>
          <a:noFill/>
          <a:ln w="9525">
            <a:solidFill>
              <a:schemeClr val="tx1"/>
            </a:solidFill>
            <a:prstDash val="dash"/>
            <a:round/>
          </a:ln>
        </p:spPr>
        <p:txBody>
          <a:bodyPr wrap="none" anchor="ctr"/>
          <a:lstStyle/>
          <a:p>
            <a:endParaRPr lang="zh-CN" altLang="en-US"/>
          </a:p>
        </p:txBody>
      </p:sp>
      <p:sp>
        <p:nvSpPr>
          <p:cNvPr id="92235" name="Rectangle 75"/>
          <p:cNvSpPr>
            <a:spLocks noChangeArrowheads="1"/>
          </p:cNvSpPr>
          <p:nvPr/>
        </p:nvSpPr>
        <p:spPr bwMode="auto">
          <a:xfrm>
            <a:off x="5004048" y="4011910"/>
            <a:ext cx="2584362" cy="307777"/>
          </a:xfrm>
          <a:prstGeom prst="rect">
            <a:avLst/>
          </a:prstGeom>
          <a:noFill/>
          <a:ln w="9525" algn="ctr">
            <a:noFill/>
            <a:miter lim="800000"/>
          </a:ln>
        </p:spPr>
        <p:txBody>
          <a:bodyPr wrap="none" anchor="ctr">
            <a:spAutoFit/>
          </a:bodyPr>
          <a:lstStyle/>
          <a:p>
            <a:r>
              <a:rPr lang="zh-CN" altLang="en-US" sz="1400" b="1" dirty="0">
                <a:latin typeface="Times New Roman" panose="02020603050405020304" pitchFamily="18" charset="0"/>
              </a:rPr>
              <a:t>图</a:t>
            </a:r>
            <a:r>
              <a:rPr lang="en-US" altLang="zh-CN" sz="1400" b="1" dirty="0">
                <a:latin typeface="Times New Roman" panose="02020603050405020304" pitchFamily="18" charset="0"/>
              </a:rPr>
              <a:t>5</a:t>
            </a:r>
            <a:r>
              <a:rPr lang="zh-CN" altLang="en-US" sz="1400" b="1" dirty="0">
                <a:latin typeface="Times New Roman" panose="02020603050405020304" pitchFamily="18" charset="0"/>
              </a:rPr>
              <a:t>－</a:t>
            </a:r>
            <a:r>
              <a:rPr lang="en-US" altLang="zh-CN" sz="1400" b="1" dirty="0">
                <a:latin typeface="Times New Roman" panose="02020603050405020304" pitchFamily="18" charset="0"/>
              </a:rPr>
              <a:t>9 CDMA</a:t>
            </a:r>
            <a:r>
              <a:rPr lang="zh-CN" altLang="en-US" sz="1400" b="1" dirty="0">
                <a:latin typeface="Times New Roman" panose="02020603050405020304" pitchFamily="18" charset="0"/>
              </a:rPr>
              <a:t>系统工作示意图</a:t>
            </a:r>
            <a:endParaRPr lang="zh-CN" altLang="en-US" sz="1400" b="1" dirty="0">
              <a:latin typeface="Times New Roman" panose="02020603050405020304" pitchFamily="18" charset="0"/>
            </a:endParaRPr>
          </a:p>
        </p:txBody>
      </p:sp>
      <p:pic>
        <p:nvPicPr>
          <p:cNvPr id="78" name="图片 77"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79"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0" name="图片 79"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81" name="TextBox 80"/>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3. </a:t>
            </a:r>
            <a:r>
              <a:rPr lang="zh-CN" altLang="en-US" sz="2200" b="1" dirty="0" smtClean="0">
                <a:solidFill>
                  <a:srgbClr val="FFFF00"/>
                </a:solidFill>
              </a:rPr>
              <a:t>码分多址方式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grpId="0" nodeType="afterEffect">
                                  <p:stCondLst>
                                    <p:cond delay="0"/>
                                  </p:stCondLst>
                                  <p:childTnLst>
                                    <p:set>
                                      <p:cBhvr>
                                        <p:cTn id="6" dur="1" fill="hold">
                                          <p:stCondLst>
                                            <p:cond delay="0"/>
                                          </p:stCondLst>
                                        </p:cTn>
                                        <p:tgtEl>
                                          <p:spTgt spid="92235"/>
                                        </p:tgtEl>
                                        <p:attrNameLst>
                                          <p:attrName>style.visibility</p:attrName>
                                        </p:attrNameLst>
                                      </p:cBhvr>
                                      <p:to>
                                        <p:strVal val="visible"/>
                                      </p:to>
                                    </p:set>
                                    <p:anim calcmode="lin" valueType="num">
                                      <p:cBhvr>
                                        <p:cTn id="7" dur="500" fill="hold"/>
                                        <p:tgtEl>
                                          <p:spTgt spid="92235"/>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92235"/>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92235"/>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922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3731" name="Rectangle 2"/>
          <p:cNvSpPr>
            <a:spLocks noGrp="1" noChangeArrowheads="1"/>
          </p:cNvSpPr>
          <p:nvPr>
            <p:ph type="title"/>
          </p:nvPr>
        </p:nvSpPr>
        <p:spPr>
          <a:xfrm>
            <a:off x="293689" y="708918"/>
            <a:ext cx="7119937" cy="422672"/>
          </a:xfrm>
        </p:spPr>
        <p:txBody>
          <a:bodyPr/>
          <a:lstStyle/>
          <a:p>
            <a:pPr eaLnBrk="1" hangingPunct="1"/>
            <a:r>
              <a:rPr lang="en-US" altLang="zh-CN" sz="2200" dirty="0" smtClean="0">
                <a:solidFill>
                  <a:srgbClr val="0000FE"/>
                </a:solidFill>
              </a:rPr>
              <a:t>CDMA</a:t>
            </a:r>
            <a:r>
              <a:rPr lang="zh-CN" altLang="en-US" sz="2200" dirty="0" smtClean="0">
                <a:solidFill>
                  <a:srgbClr val="0000FE"/>
                </a:solidFill>
              </a:rPr>
              <a:t>系统的特点 </a:t>
            </a:r>
            <a:endParaRPr lang="zh-CN" altLang="en-US" sz="2200" dirty="0" smtClean="0">
              <a:solidFill>
                <a:srgbClr val="0000FE"/>
              </a:solidFill>
            </a:endParaRPr>
          </a:p>
        </p:txBody>
      </p:sp>
      <p:sp>
        <p:nvSpPr>
          <p:cNvPr id="73732" name="Rectangle 3"/>
          <p:cNvSpPr>
            <a:spLocks noGrp="1" noChangeArrowheads="1"/>
          </p:cNvSpPr>
          <p:nvPr>
            <p:ph type="body" idx="1"/>
          </p:nvPr>
        </p:nvSpPr>
        <p:spPr>
          <a:xfrm>
            <a:off x="250825" y="1072058"/>
            <a:ext cx="8675688" cy="3515916"/>
          </a:xfrm>
        </p:spPr>
        <p:txBody>
          <a:bodyPr/>
          <a:lstStyle/>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1</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）多用户共享同一频率</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2</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）通信容量大</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3</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）容量的软特性：多增加一个用户只会使通信质量略有下降，不会出现硬阻塞现象</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4</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）由于信号被扩展在一较宽频谱上而可以减小多径衰落</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5</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）信道数据速率很高，无需自适应均衡</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6</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）平滑的软切换和有效的宏分集，不会引起通信中断</a:t>
            </a:r>
            <a:endParaRPr lang="zh-CN" altLang="en-US" sz="2200" b="0" dirty="0" smtClean="0">
              <a:latin typeface="宋体" panose="02010600030101010101" pitchFamily="2" charset="-122"/>
              <a:ea typeface="宋体" panose="02010600030101010101" pitchFamily="2" charset="-122"/>
              <a:cs typeface="宋体" panose="02010600030101010101" pitchFamily="2" charset="-122"/>
            </a:endParaRPr>
          </a:p>
          <a:p>
            <a:pPr marL="0" eaLnBrk="1" latinLnBrk="0" hangingPunct="1">
              <a:lnSpc>
                <a:spcPct val="130000"/>
              </a:lnSpc>
              <a:spcBef>
                <a:spcPts val="0"/>
              </a:spcBef>
              <a:buNone/>
            </a:pPr>
            <a:r>
              <a:rPr lang="zh-CN" altLang="en-US" sz="2200" b="0" dirty="0" smtClean="0">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latin typeface="宋体" panose="02010600030101010101" pitchFamily="2" charset="-122"/>
                <a:ea typeface="宋体" panose="02010600030101010101" pitchFamily="2" charset="-122"/>
                <a:cs typeface="宋体" panose="02010600030101010101" pitchFamily="2" charset="-122"/>
              </a:rPr>
              <a:t>7</a:t>
            </a:r>
            <a:r>
              <a:rPr lang="zh-CN" altLang="en-US" sz="2200" b="0" dirty="0" smtClean="0">
                <a:latin typeface="宋体" panose="02010600030101010101" pitchFamily="2" charset="-122"/>
                <a:ea typeface="宋体" panose="02010600030101010101" pitchFamily="2" charset="-122"/>
                <a:cs typeface="宋体" panose="02010600030101010101" pitchFamily="2" charset="-122"/>
              </a:rPr>
              <a:t>）低信号功率谱密度。其好处是：</a:t>
            </a:r>
            <a:r>
              <a:rPr lang="zh-CN" altLang="en-US" sz="2200" dirty="0" smtClean="0">
                <a:latin typeface="宋体" panose="02010600030101010101" pitchFamily="2" charset="-122"/>
                <a:ea typeface="宋体" panose="02010600030101010101" pitchFamily="2" charset="-122"/>
                <a:cs typeface="宋体" panose="02010600030101010101" pitchFamily="2" charset="-122"/>
              </a:rPr>
              <a:t>抗窄带干扰能力强；对窄带系统的干扰很小，可以与其它系统共用频段</a:t>
            </a:r>
            <a:endParaRPr lang="zh-CN" altLang="en-US" sz="2200" dirty="0" smtClean="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6"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8" name="TextBox 7"/>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3. </a:t>
            </a:r>
            <a:r>
              <a:rPr lang="zh-CN" altLang="en-US" sz="2200" b="1" dirty="0" smtClean="0">
                <a:solidFill>
                  <a:srgbClr val="FFFF00"/>
                </a:solidFill>
              </a:rPr>
              <a:t>码分多址方式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5779" name="Rectangle 2"/>
          <p:cNvSpPr>
            <a:spLocks noGrp="1" noChangeArrowheads="1"/>
          </p:cNvSpPr>
          <p:nvPr>
            <p:ph type="title"/>
          </p:nvPr>
        </p:nvSpPr>
        <p:spPr>
          <a:xfrm>
            <a:off x="250825" y="562372"/>
            <a:ext cx="7461250" cy="569218"/>
          </a:xfrm>
        </p:spPr>
        <p:txBody>
          <a:bodyPr/>
          <a:lstStyle/>
          <a:p>
            <a:pPr eaLnBrk="1" hangingPunct="1"/>
            <a:r>
              <a:rPr lang="en-US" altLang="zh-CN" sz="2200" dirty="0" smtClean="0">
                <a:solidFill>
                  <a:srgbClr val="0000FE"/>
                </a:solidFill>
              </a:rPr>
              <a:t>CDMA</a:t>
            </a:r>
            <a:r>
              <a:rPr lang="zh-CN" altLang="en-US" sz="2200" dirty="0" smtClean="0">
                <a:solidFill>
                  <a:srgbClr val="0000FE"/>
                </a:solidFill>
              </a:rPr>
              <a:t>系统存在问题</a:t>
            </a:r>
            <a:endParaRPr lang="zh-CN" altLang="en-US" sz="2200" dirty="0" smtClean="0">
              <a:solidFill>
                <a:srgbClr val="0000FE"/>
              </a:solidFill>
            </a:endParaRPr>
          </a:p>
        </p:txBody>
      </p:sp>
      <p:sp>
        <p:nvSpPr>
          <p:cNvPr id="75780" name="Rectangle 3"/>
          <p:cNvSpPr>
            <a:spLocks noGrp="1" noChangeArrowheads="1"/>
          </p:cNvSpPr>
          <p:nvPr>
            <p:ph type="body" idx="1"/>
          </p:nvPr>
        </p:nvSpPr>
        <p:spPr>
          <a:xfrm>
            <a:off x="395536" y="1054100"/>
            <a:ext cx="8134102" cy="3821906"/>
          </a:xfrm>
        </p:spPr>
        <p:txBody>
          <a:bodyPr/>
          <a:lstStyle/>
          <a:p>
            <a:pPr eaLnBrk="1" hangingPunct="1">
              <a:lnSpc>
                <a:spcPct val="130000"/>
              </a:lnSpc>
              <a:spcBef>
                <a:spcPts val="0"/>
              </a:spcBef>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1</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）多址干扰</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lvl="1" eaLnBrk="1" hangingPunct="1">
              <a:lnSpc>
                <a:spcPct val="130000"/>
              </a:lnSpc>
              <a:spcBef>
                <a:spcPts val="0"/>
              </a:spcBef>
              <a:buFont typeface="Wingdings" panose="05000000000000000000" pitchFamily="2" charset="2"/>
              <a:buBlip>
                <a:blip r:embed="rId1"/>
              </a:buBlip>
            </a:pPr>
            <a:r>
              <a:rPr lang="zh-CN" altLang="en-US" sz="2200" dirty="0" smtClean="0">
                <a:latin typeface="宋体" panose="02010600030101010101" pitchFamily="2" charset="-122"/>
                <a:ea typeface="宋体" panose="02010600030101010101" pitchFamily="2" charset="-122"/>
                <a:cs typeface="宋体" panose="02010600030101010101" pitchFamily="2" charset="-122"/>
              </a:rPr>
              <a:t>原因：不同用户的扩频序列不完全正交，扩频码集的非零互相关系数会引起用户间的相互干扰</a:t>
            </a:r>
            <a:endParaRPr lang="zh-CN" altLang="en-US" sz="2200" dirty="0" smtClean="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30000"/>
              </a:lnSpc>
              <a:spcBef>
                <a:spcPts val="0"/>
              </a:spcBef>
              <a:buNone/>
            </a:pP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2</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）“远</a:t>
            </a:r>
            <a:r>
              <a:rPr lang="en-US" altLang="zh-CN"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近”</a:t>
            </a:r>
            <a:r>
              <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rPr>
              <a:t>效应</a:t>
            </a:r>
            <a:endParaRPr lang="zh-CN" altLang="en-US" sz="2200" b="0" dirty="0" smtClean="0">
              <a:solidFill>
                <a:srgbClr val="003300"/>
              </a:solidFill>
              <a:latin typeface="宋体" panose="02010600030101010101" pitchFamily="2" charset="-122"/>
              <a:ea typeface="宋体" panose="02010600030101010101" pitchFamily="2" charset="-122"/>
              <a:cs typeface="宋体" panose="02010600030101010101" pitchFamily="2" charset="-122"/>
            </a:endParaRPr>
          </a:p>
          <a:p>
            <a:pPr lvl="1" eaLnBrk="1" hangingPunct="1">
              <a:lnSpc>
                <a:spcPct val="130000"/>
              </a:lnSpc>
              <a:spcBef>
                <a:spcPts val="0"/>
              </a:spcBef>
              <a:buFont typeface="Wingdings" panose="05000000000000000000" pitchFamily="2" charset="2"/>
              <a:buBlip>
                <a:blip r:embed="rId1"/>
              </a:buBlip>
            </a:pPr>
            <a:r>
              <a:rPr lang="zh-CN" altLang="en-US" sz="2200" dirty="0" smtClean="0">
                <a:latin typeface="宋体" panose="02010600030101010101" pitchFamily="2" charset="-122"/>
                <a:ea typeface="宋体" panose="02010600030101010101" pitchFamily="2" charset="-122"/>
                <a:cs typeface="宋体" panose="02010600030101010101" pitchFamily="2" charset="-122"/>
              </a:rPr>
              <a:t>原因：移动用户所在的位置的变化以及深衰落的存在，会使基站接收到的各用户信号功率相差很大，强信号对弱信号有着明显的抑制作用</a:t>
            </a:r>
            <a:endParaRPr lang="en-US" altLang="zh-CN" sz="2200" dirty="0" smtClean="0">
              <a:latin typeface="宋体" panose="02010600030101010101" pitchFamily="2" charset="-122"/>
              <a:ea typeface="宋体" panose="02010600030101010101" pitchFamily="2" charset="-122"/>
              <a:cs typeface="宋体" panose="02010600030101010101" pitchFamily="2" charset="-122"/>
            </a:endParaRPr>
          </a:p>
          <a:p>
            <a:pPr lvl="1" eaLnBrk="1" hangingPunct="1">
              <a:lnSpc>
                <a:spcPct val="130000"/>
              </a:lnSpc>
              <a:spcBef>
                <a:spcPts val="0"/>
              </a:spcBef>
              <a:buNone/>
            </a:pPr>
            <a:r>
              <a:rPr lang="zh-CN" altLang="en-US" sz="2200" b="1" dirty="0" smtClean="0">
                <a:solidFill>
                  <a:srgbClr val="0000FE"/>
                </a:solidFill>
                <a:latin typeface="宋体" panose="02010600030101010101" pitchFamily="2" charset="-122"/>
                <a:ea typeface="宋体" panose="02010600030101010101" pitchFamily="2" charset="-122"/>
                <a:cs typeface="宋体" panose="02010600030101010101" pitchFamily="2" charset="-122"/>
              </a:rPr>
              <a:t>解决方法： 使用功率控制</a:t>
            </a:r>
            <a:endParaRPr lang="zh-CN" altLang="en-US" sz="2200" b="1" dirty="0" smtClean="0">
              <a:solidFill>
                <a:srgbClr val="0000FE"/>
              </a:solidFill>
              <a:latin typeface="宋体" panose="02010600030101010101" pitchFamily="2" charset="-122"/>
              <a:ea typeface="宋体" panose="02010600030101010101" pitchFamily="2" charset="-122"/>
              <a:cs typeface="宋体" panose="02010600030101010101" pitchFamily="2" charset="-122"/>
            </a:endParaRPr>
          </a:p>
        </p:txBody>
      </p:sp>
      <p:pic>
        <p:nvPicPr>
          <p:cNvPr id="5" name="图片 4"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6"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8" name="TextBox 7"/>
          <p:cNvSpPr txBox="1"/>
          <p:nvPr/>
        </p:nvSpPr>
        <p:spPr>
          <a:xfrm>
            <a:off x="4932040" y="123478"/>
            <a:ext cx="3240360" cy="429895"/>
          </a:xfrm>
          <a:prstGeom prst="rect">
            <a:avLst/>
          </a:prstGeom>
          <a:noFill/>
        </p:spPr>
        <p:txBody>
          <a:bodyPr wrap="square" rtlCol="0">
            <a:spAutoFit/>
          </a:bodyPr>
          <a:lstStyle/>
          <a:p>
            <a:r>
              <a:rPr lang="en-US" altLang="zh-CN" sz="2200" b="1" dirty="0" smtClean="0">
                <a:solidFill>
                  <a:srgbClr val="FFFF00"/>
                </a:solidFill>
              </a:rPr>
              <a:t>3. </a:t>
            </a:r>
            <a:r>
              <a:rPr lang="zh-CN" altLang="en-US" sz="2200" b="1" dirty="0" smtClean="0">
                <a:solidFill>
                  <a:srgbClr val="FFFF00"/>
                </a:solidFill>
              </a:rPr>
              <a:t>频分多址方式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6804" name="Rectangle 3"/>
          <p:cNvSpPr>
            <a:spLocks noGrp="1" noChangeArrowheads="1"/>
          </p:cNvSpPr>
          <p:nvPr>
            <p:ph type="body" idx="1"/>
          </p:nvPr>
        </p:nvSpPr>
        <p:spPr>
          <a:xfrm>
            <a:off x="539750" y="1168004"/>
            <a:ext cx="8135938" cy="3086100"/>
          </a:xfrm>
        </p:spPr>
        <p:txBody>
          <a:bodyPr/>
          <a:lstStyle/>
          <a:p>
            <a:pPr eaLnBrk="1" hangingPunct="1">
              <a:lnSpc>
                <a:spcPct val="150000"/>
              </a:lnSpc>
              <a:buFont typeface="Wingdings" panose="05000000000000000000" pitchFamily="2" charset="2"/>
              <a:buNone/>
            </a:pPr>
            <a:r>
              <a:rPr lang="zh-CN" altLang="en-US" sz="2200" b="0" dirty="0" smtClean="0">
                <a:latin typeface="华文楷体" pitchFamily="2" charset="-122"/>
                <a:ea typeface="华文楷体" pitchFamily="2" charset="-122"/>
              </a:rPr>
              <a:t>通过空间的分割来区别不同的用户 </a:t>
            </a:r>
            <a:endParaRPr lang="zh-CN" altLang="en-US" sz="2200" b="0" dirty="0" smtClean="0">
              <a:latin typeface="华文楷体" pitchFamily="2" charset="-122"/>
              <a:ea typeface="华文楷体" pitchFamily="2" charset="-122"/>
            </a:endParaRPr>
          </a:p>
          <a:p>
            <a:pPr eaLnBrk="1" hangingPunct="1">
              <a:lnSpc>
                <a:spcPct val="150000"/>
              </a:lnSpc>
              <a:buFont typeface="Wingdings" panose="05000000000000000000" pitchFamily="2" charset="2"/>
              <a:buNone/>
            </a:pPr>
            <a:r>
              <a:rPr lang="zh-CN" altLang="en-US" sz="2200" b="0" dirty="0" smtClean="0">
                <a:latin typeface="华文楷体" pitchFamily="2" charset="-122"/>
                <a:ea typeface="华文楷体" pitchFamily="2" charset="-122"/>
              </a:rPr>
              <a:t>常与</a:t>
            </a:r>
            <a:r>
              <a:rPr lang="en-US" altLang="zh-CN" sz="2200" b="0" dirty="0" smtClean="0">
                <a:latin typeface="华文楷体" pitchFamily="2" charset="-122"/>
                <a:ea typeface="华文楷体" pitchFamily="2" charset="-122"/>
              </a:rPr>
              <a:t>FDMA</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TDMA</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CDMA</a:t>
            </a:r>
            <a:r>
              <a:rPr lang="zh-CN" altLang="en-US" sz="2200" b="0" dirty="0" smtClean="0">
                <a:latin typeface="华文楷体" pitchFamily="2" charset="-122"/>
                <a:ea typeface="华文楷体" pitchFamily="2" charset="-122"/>
              </a:rPr>
              <a:t>结合使用</a:t>
            </a:r>
            <a:endParaRPr lang="zh-CN" altLang="en-US" sz="2200" b="0" dirty="0" smtClean="0">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工作原理</a:t>
            </a:r>
            <a:endParaRPr lang="zh-CN" altLang="en-US" sz="2200" b="0" dirty="0" smtClean="0">
              <a:solidFill>
                <a:srgbClr val="003300"/>
              </a:solidFill>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蜂窝系统中反向链路的困难</a:t>
            </a:r>
            <a:endParaRPr lang="zh-CN" altLang="en-US" sz="2200" b="0" dirty="0" smtClean="0">
              <a:solidFill>
                <a:srgbClr val="003300"/>
              </a:solidFill>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自适应式阵列天线</a:t>
            </a:r>
            <a:endParaRPr lang="zh-CN" altLang="en-US" sz="2200" b="0" dirty="0" smtClean="0">
              <a:solidFill>
                <a:srgbClr val="003300"/>
              </a:solidFill>
              <a:latin typeface="华文楷体" pitchFamily="2" charset="-122"/>
              <a:ea typeface="华文楷体" pitchFamily="2" charset="-122"/>
            </a:endParaRPr>
          </a:p>
        </p:txBody>
      </p:sp>
      <p:pic>
        <p:nvPicPr>
          <p:cNvPr id="6" name="图片 5"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7"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 name="图片 7"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9" name="TextBox 8"/>
          <p:cNvSpPr txBox="1"/>
          <p:nvPr/>
        </p:nvSpPr>
        <p:spPr>
          <a:xfrm>
            <a:off x="4932040" y="123478"/>
            <a:ext cx="3240360" cy="430887"/>
          </a:xfrm>
          <a:prstGeom prst="rect">
            <a:avLst/>
          </a:prstGeom>
          <a:noFill/>
        </p:spPr>
        <p:txBody>
          <a:bodyPr wrap="square" rtlCol="0">
            <a:spAutoFit/>
          </a:bodyPr>
          <a:lstStyle/>
          <a:p>
            <a:r>
              <a:rPr lang="en-US" altLang="zh-CN" sz="2200" b="1" dirty="0" smtClean="0">
                <a:solidFill>
                  <a:srgbClr val="FFFF00"/>
                </a:solidFill>
              </a:rPr>
              <a:t>4. </a:t>
            </a:r>
            <a:r>
              <a:rPr lang="zh-CN" altLang="en-US" sz="2200" b="1" dirty="0" smtClean="0">
                <a:solidFill>
                  <a:srgbClr val="FFFF00"/>
                </a:solidFill>
              </a:rPr>
              <a:t>空分多址方式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7827" name="Rectangle 2"/>
          <p:cNvSpPr>
            <a:spLocks noGrp="1" noChangeArrowheads="1"/>
          </p:cNvSpPr>
          <p:nvPr>
            <p:ph type="title"/>
          </p:nvPr>
        </p:nvSpPr>
        <p:spPr>
          <a:xfrm>
            <a:off x="361950" y="636910"/>
            <a:ext cx="6707188" cy="422672"/>
          </a:xfrm>
        </p:spPr>
        <p:txBody>
          <a:bodyPr/>
          <a:lstStyle/>
          <a:p>
            <a:pPr eaLnBrk="1" hangingPunct="1"/>
            <a:r>
              <a:rPr lang="en-US" altLang="zh-CN" sz="2200" dirty="0" smtClean="0">
                <a:solidFill>
                  <a:srgbClr val="0000FE"/>
                </a:solidFill>
              </a:rPr>
              <a:t>SDMA</a:t>
            </a:r>
            <a:r>
              <a:rPr lang="zh-CN" altLang="en-US" sz="2200" dirty="0" smtClean="0">
                <a:solidFill>
                  <a:srgbClr val="0000FE"/>
                </a:solidFill>
              </a:rPr>
              <a:t>的工作原理</a:t>
            </a:r>
            <a:endParaRPr lang="zh-CN" altLang="en-US" sz="2200" dirty="0" smtClean="0">
              <a:solidFill>
                <a:srgbClr val="0000FE"/>
              </a:solidFill>
            </a:endParaRPr>
          </a:p>
        </p:txBody>
      </p:sp>
      <p:sp>
        <p:nvSpPr>
          <p:cNvPr id="77828" name="Rectangle 3"/>
          <p:cNvSpPr>
            <a:spLocks noGrp="1" noChangeArrowheads="1"/>
          </p:cNvSpPr>
          <p:nvPr>
            <p:ph type="body" idx="1"/>
          </p:nvPr>
        </p:nvSpPr>
        <p:spPr>
          <a:xfrm>
            <a:off x="251521" y="1051768"/>
            <a:ext cx="8497194" cy="3680222"/>
          </a:xfrm>
        </p:spPr>
        <p:txBody>
          <a:bodyPr/>
          <a:lstStyle/>
          <a:p>
            <a:pPr eaLnBrk="1" hangingPunct="1">
              <a:lnSpc>
                <a:spcPct val="130000"/>
              </a:lnSpc>
              <a:buFont typeface="Wingdings" panose="05000000000000000000" pitchFamily="2" charset="2"/>
              <a:buBlip>
                <a:blip r:embed="rId1"/>
              </a:buBlip>
            </a:pPr>
            <a:r>
              <a:rPr lang="zh-CN" altLang="en-US" sz="2200" b="0" dirty="0" smtClean="0">
                <a:latin typeface="华文楷体" pitchFamily="2" charset="-122"/>
                <a:ea typeface="华文楷体" pitchFamily="2" charset="-122"/>
              </a:rPr>
              <a:t>使用</a:t>
            </a:r>
            <a:r>
              <a:rPr lang="zh-CN" altLang="en-US" sz="2200" b="0" dirty="0" smtClean="0">
                <a:solidFill>
                  <a:srgbClr val="003300"/>
                </a:solidFill>
                <a:latin typeface="华文楷体" pitchFamily="2" charset="-122"/>
                <a:ea typeface="华文楷体" pitchFamily="2" charset="-122"/>
              </a:rPr>
              <a:t>定向波束天线</a:t>
            </a:r>
            <a:r>
              <a:rPr lang="zh-CN" altLang="en-US" sz="2200" b="0" dirty="0" smtClean="0">
                <a:latin typeface="华文楷体" pitchFamily="2" charset="-122"/>
                <a:ea typeface="华文楷体" pitchFamily="2" charset="-122"/>
              </a:rPr>
              <a:t>在不同用户方向上形成不同的波束</a:t>
            </a:r>
            <a:endParaRPr lang="zh-CN" altLang="en-US" sz="2200" b="0" dirty="0" smtClean="0">
              <a:latin typeface="华文楷体" pitchFamily="2" charset="-122"/>
              <a:ea typeface="华文楷体" pitchFamily="2" charset="-122"/>
            </a:endParaRPr>
          </a:p>
          <a:p>
            <a:pPr eaLnBrk="1" hangingPunct="1">
              <a:lnSpc>
                <a:spcPct val="130000"/>
              </a:lnSpc>
              <a:buFont typeface="Wingdings" panose="05000000000000000000" pitchFamily="2" charset="2"/>
              <a:buBlip>
                <a:blip r:embed="rId1"/>
              </a:buBlip>
            </a:pPr>
            <a:r>
              <a:rPr lang="zh-CN" altLang="en-US" sz="2200" b="0" dirty="0" smtClean="0">
                <a:solidFill>
                  <a:srgbClr val="003300"/>
                </a:solidFill>
                <a:latin typeface="华文楷体" pitchFamily="2" charset="-122"/>
                <a:ea typeface="华文楷体" pitchFamily="2" charset="-122"/>
              </a:rPr>
              <a:t>相同的频率</a:t>
            </a:r>
            <a:r>
              <a:rPr lang="zh-CN" altLang="en-US" sz="2200" b="0" dirty="0" smtClean="0">
                <a:latin typeface="华文楷体" pitchFamily="2" charset="-122"/>
                <a:ea typeface="华文楷体" pitchFamily="2" charset="-122"/>
              </a:rPr>
              <a:t>（在</a:t>
            </a:r>
            <a:r>
              <a:rPr lang="en-US" altLang="zh-CN" sz="2200" b="0" dirty="0" smtClean="0">
                <a:latin typeface="华文楷体" pitchFamily="2" charset="-122"/>
                <a:ea typeface="华文楷体" pitchFamily="2" charset="-122"/>
              </a:rPr>
              <a:t>TDMA</a:t>
            </a:r>
            <a:r>
              <a:rPr lang="zh-CN" altLang="en-US" sz="2200" b="0" dirty="0" smtClean="0">
                <a:latin typeface="华文楷体" pitchFamily="2" charset="-122"/>
                <a:ea typeface="华文楷体" pitchFamily="2" charset="-122"/>
              </a:rPr>
              <a:t>或</a:t>
            </a:r>
            <a:r>
              <a:rPr lang="en-US" altLang="zh-CN" sz="2200" b="0" dirty="0" smtClean="0">
                <a:latin typeface="华文楷体" pitchFamily="2" charset="-122"/>
                <a:ea typeface="华文楷体" pitchFamily="2" charset="-122"/>
              </a:rPr>
              <a:t>CDMA</a:t>
            </a:r>
            <a:r>
              <a:rPr lang="zh-CN" altLang="en-US" sz="2200" b="0" dirty="0" smtClean="0">
                <a:latin typeface="华文楷体" pitchFamily="2" charset="-122"/>
                <a:ea typeface="华文楷体" pitchFamily="2" charset="-122"/>
              </a:rPr>
              <a:t>系统中）或</a:t>
            </a:r>
            <a:r>
              <a:rPr lang="zh-CN" altLang="en-US" sz="2200" b="0" dirty="0" smtClean="0">
                <a:solidFill>
                  <a:srgbClr val="003300"/>
                </a:solidFill>
                <a:latin typeface="华文楷体" pitchFamily="2" charset="-122"/>
                <a:ea typeface="华文楷体" pitchFamily="2" charset="-122"/>
              </a:rPr>
              <a:t>不同的频率</a:t>
            </a:r>
            <a:r>
              <a:rPr lang="zh-CN" altLang="en-US" sz="2200" b="0" dirty="0" smtClean="0">
                <a:latin typeface="华文楷体" pitchFamily="2" charset="-122"/>
                <a:ea typeface="华文楷体" pitchFamily="2" charset="-122"/>
              </a:rPr>
              <a:t>（在</a:t>
            </a:r>
            <a:r>
              <a:rPr lang="en-US" altLang="zh-CN" sz="2200" b="0" dirty="0" smtClean="0">
                <a:latin typeface="华文楷体" pitchFamily="2" charset="-122"/>
                <a:ea typeface="华文楷体" pitchFamily="2" charset="-122"/>
              </a:rPr>
              <a:t>FDMA</a:t>
            </a:r>
            <a:r>
              <a:rPr lang="zh-CN" altLang="en-US" sz="2200" b="0" dirty="0" smtClean="0">
                <a:latin typeface="华文楷体" pitchFamily="2" charset="-122"/>
                <a:ea typeface="华文楷体" pitchFamily="2" charset="-122"/>
              </a:rPr>
              <a:t>系统中）用来服务于被天线波束覆盖的这些不同区域</a:t>
            </a:r>
            <a:endParaRPr lang="zh-CN" altLang="en-US" sz="2200" b="0" dirty="0" smtClean="0">
              <a:latin typeface="华文楷体" pitchFamily="2" charset="-122"/>
              <a:ea typeface="华文楷体" pitchFamily="2" charset="-122"/>
            </a:endParaRPr>
          </a:p>
        </p:txBody>
      </p:sp>
      <p:sp>
        <p:nvSpPr>
          <p:cNvPr id="77829" name="AutoShape 4"/>
          <p:cNvSpPr>
            <a:spLocks noChangeAspect="1" noChangeArrowheads="1" noTextEdit="1"/>
          </p:cNvSpPr>
          <p:nvPr/>
        </p:nvSpPr>
        <p:spPr bwMode="auto">
          <a:xfrm>
            <a:off x="2771776" y="2842023"/>
            <a:ext cx="3529013" cy="1512094"/>
          </a:xfrm>
          <a:prstGeom prst="rect">
            <a:avLst/>
          </a:prstGeom>
          <a:noFill/>
          <a:ln w="9525">
            <a:noFill/>
            <a:miter lim="800000"/>
          </a:ln>
        </p:spPr>
        <p:txBody>
          <a:bodyPr/>
          <a:lstStyle/>
          <a:p>
            <a:endParaRPr lang="zh-CN" altLang="en-US"/>
          </a:p>
        </p:txBody>
      </p:sp>
      <p:grpSp>
        <p:nvGrpSpPr>
          <p:cNvPr id="2" name="Group 5"/>
          <p:cNvGrpSpPr/>
          <p:nvPr/>
        </p:nvGrpSpPr>
        <p:grpSpPr bwMode="auto">
          <a:xfrm>
            <a:off x="2774950" y="3896917"/>
            <a:ext cx="509588" cy="105965"/>
            <a:chOff x="1560" y="2924"/>
            <a:chExt cx="382" cy="134"/>
          </a:xfrm>
        </p:grpSpPr>
        <p:grpSp>
          <p:nvGrpSpPr>
            <p:cNvPr id="3" name="Group 6"/>
            <p:cNvGrpSpPr/>
            <p:nvPr/>
          </p:nvGrpSpPr>
          <p:grpSpPr bwMode="auto">
            <a:xfrm>
              <a:off x="1560" y="2924"/>
              <a:ext cx="382" cy="121"/>
              <a:chOff x="1560" y="2924"/>
              <a:chExt cx="382" cy="121"/>
            </a:xfrm>
          </p:grpSpPr>
          <p:grpSp>
            <p:nvGrpSpPr>
              <p:cNvPr id="4" name="Group 7"/>
              <p:cNvGrpSpPr/>
              <p:nvPr/>
            </p:nvGrpSpPr>
            <p:grpSpPr bwMode="auto">
              <a:xfrm>
                <a:off x="1580" y="2924"/>
                <a:ext cx="262" cy="47"/>
                <a:chOff x="1580" y="2924"/>
                <a:chExt cx="262" cy="47"/>
              </a:xfrm>
            </p:grpSpPr>
            <p:grpSp>
              <p:nvGrpSpPr>
                <p:cNvPr id="5" name="Group 8"/>
                <p:cNvGrpSpPr/>
                <p:nvPr/>
              </p:nvGrpSpPr>
              <p:grpSpPr bwMode="auto">
                <a:xfrm>
                  <a:off x="1672" y="2929"/>
                  <a:ext cx="140" cy="41"/>
                  <a:chOff x="1672" y="2929"/>
                  <a:chExt cx="140" cy="41"/>
                </a:xfrm>
              </p:grpSpPr>
              <p:grpSp>
                <p:nvGrpSpPr>
                  <p:cNvPr id="6" name="Group 9"/>
                  <p:cNvGrpSpPr/>
                  <p:nvPr/>
                </p:nvGrpSpPr>
                <p:grpSpPr bwMode="auto">
                  <a:xfrm>
                    <a:off x="1703" y="2930"/>
                    <a:ext cx="90" cy="36"/>
                    <a:chOff x="1703" y="2930"/>
                    <a:chExt cx="90" cy="36"/>
                  </a:xfrm>
                </p:grpSpPr>
                <p:sp>
                  <p:nvSpPr>
                    <p:cNvPr id="78030" name="Freeform 10"/>
                    <p:cNvSpPr/>
                    <p:nvPr/>
                  </p:nvSpPr>
                  <p:spPr bwMode="auto">
                    <a:xfrm>
                      <a:off x="1703" y="2930"/>
                      <a:ext cx="16" cy="30"/>
                    </a:xfrm>
                    <a:custGeom>
                      <a:avLst/>
                      <a:gdLst>
                        <a:gd name="T0" fmla="*/ 0 w 168"/>
                        <a:gd name="T1" fmla="*/ 0 h 235"/>
                        <a:gd name="T2" fmla="*/ 0 w 168"/>
                        <a:gd name="T3" fmla="*/ 0 h 235"/>
                        <a:gd name="T4" fmla="*/ 0 w 168"/>
                        <a:gd name="T5" fmla="*/ 0 h 235"/>
                        <a:gd name="T6" fmla="*/ 0 w 168"/>
                        <a:gd name="T7" fmla="*/ 0 h 235"/>
                        <a:gd name="T8" fmla="*/ 0 w 168"/>
                        <a:gd name="T9" fmla="*/ 0 h 235"/>
                        <a:gd name="T10" fmla="*/ 0 w 168"/>
                        <a:gd name="T11" fmla="*/ 0 h 235"/>
                        <a:gd name="T12" fmla="*/ 0 60000 65536"/>
                        <a:gd name="T13" fmla="*/ 0 60000 65536"/>
                        <a:gd name="T14" fmla="*/ 0 60000 65536"/>
                        <a:gd name="T15" fmla="*/ 0 60000 65536"/>
                        <a:gd name="T16" fmla="*/ 0 60000 65536"/>
                        <a:gd name="T17" fmla="*/ 0 60000 65536"/>
                        <a:gd name="T18" fmla="*/ 0 w 168"/>
                        <a:gd name="T19" fmla="*/ 0 h 235"/>
                        <a:gd name="T20" fmla="*/ 168 w 168"/>
                        <a:gd name="T21" fmla="*/ 235 h 235"/>
                      </a:gdLst>
                      <a:ahLst/>
                      <a:cxnLst>
                        <a:cxn ang="T12">
                          <a:pos x="T0" y="T1"/>
                        </a:cxn>
                        <a:cxn ang="T13">
                          <a:pos x="T2" y="T3"/>
                        </a:cxn>
                        <a:cxn ang="T14">
                          <a:pos x="T4" y="T5"/>
                        </a:cxn>
                        <a:cxn ang="T15">
                          <a:pos x="T6" y="T7"/>
                        </a:cxn>
                        <a:cxn ang="T16">
                          <a:pos x="T8" y="T9"/>
                        </a:cxn>
                        <a:cxn ang="T17">
                          <a:pos x="T10" y="T11"/>
                        </a:cxn>
                      </a:cxnLst>
                      <a:rect l="T18" t="T19" r="T20" b="T21"/>
                      <a:pathLst>
                        <a:path w="168" h="235">
                          <a:moveTo>
                            <a:pt x="4" y="3"/>
                          </a:moveTo>
                          <a:lnTo>
                            <a:pt x="0" y="0"/>
                          </a:lnTo>
                          <a:lnTo>
                            <a:pt x="111" y="235"/>
                          </a:lnTo>
                          <a:lnTo>
                            <a:pt x="168" y="235"/>
                          </a:lnTo>
                          <a:lnTo>
                            <a:pt x="46" y="0"/>
                          </a:lnTo>
                          <a:lnTo>
                            <a:pt x="4" y="3"/>
                          </a:lnTo>
                          <a:close/>
                        </a:path>
                      </a:pathLst>
                    </a:custGeom>
                    <a:solidFill>
                      <a:srgbClr val="800000"/>
                    </a:solidFill>
                    <a:ln w="1588">
                      <a:solidFill>
                        <a:srgbClr val="000000"/>
                      </a:solidFill>
                      <a:round/>
                    </a:ln>
                  </p:spPr>
                  <p:txBody>
                    <a:bodyPr/>
                    <a:lstStyle/>
                    <a:p>
                      <a:endParaRPr lang="zh-CN" altLang="en-US"/>
                    </a:p>
                  </p:txBody>
                </p:sp>
                <p:sp>
                  <p:nvSpPr>
                    <p:cNvPr id="78031" name="Freeform 11"/>
                    <p:cNvSpPr/>
                    <p:nvPr/>
                  </p:nvSpPr>
                  <p:spPr bwMode="auto">
                    <a:xfrm>
                      <a:off x="1778" y="2947"/>
                      <a:ext cx="15" cy="19"/>
                    </a:xfrm>
                    <a:custGeom>
                      <a:avLst/>
                      <a:gdLst>
                        <a:gd name="T0" fmla="*/ 0 w 155"/>
                        <a:gd name="T1" fmla="*/ 0 h 157"/>
                        <a:gd name="T2" fmla="*/ 0 w 155"/>
                        <a:gd name="T3" fmla="*/ 0 h 157"/>
                        <a:gd name="T4" fmla="*/ 0 w 155"/>
                        <a:gd name="T5" fmla="*/ 0 h 157"/>
                        <a:gd name="T6" fmla="*/ 0 w 155"/>
                        <a:gd name="T7" fmla="*/ 0 h 157"/>
                        <a:gd name="T8" fmla="*/ 0 w 155"/>
                        <a:gd name="T9" fmla="*/ 0 h 157"/>
                        <a:gd name="T10" fmla="*/ 0 w 155"/>
                        <a:gd name="T11" fmla="*/ 0 h 157"/>
                        <a:gd name="T12" fmla="*/ 0 60000 65536"/>
                        <a:gd name="T13" fmla="*/ 0 60000 65536"/>
                        <a:gd name="T14" fmla="*/ 0 60000 65536"/>
                        <a:gd name="T15" fmla="*/ 0 60000 65536"/>
                        <a:gd name="T16" fmla="*/ 0 60000 65536"/>
                        <a:gd name="T17" fmla="*/ 0 60000 65536"/>
                        <a:gd name="T18" fmla="*/ 0 w 155"/>
                        <a:gd name="T19" fmla="*/ 0 h 157"/>
                        <a:gd name="T20" fmla="*/ 155 w 155"/>
                        <a:gd name="T21" fmla="*/ 157 h 157"/>
                      </a:gdLst>
                      <a:ahLst/>
                      <a:cxnLst>
                        <a:cxn ang="T12">
                          <a:pos x="T0" y="T1"/>
                        </a:cxn>
                        <a:cxn ang="T13">
                          <a:pos x="T2" y="T3"/>
                        </a:cxn>
                        <a:cxn ang="T14">
                          <a:pos x="T4" y="T5"/>
                        </a:cxn>
                        <a:cxn ang="T15">
                          <a:pos x="T6" y="T7"/>
                        </a:cxn>
                        <a:cxn ang="T16">
                          <a:pos x="T8" y="T9"/>
                        </a:cxn>
                        <a:cxn ang="T17">
                          <a:pos x="T10" y="T11"/>
                        </a:cxn>
                      </a:cxnLst>
                      <a:rect l="T18" t="T19" r="T20" b="T21"/>
                      <a:pathLst>
                        <a:path w="155" h="157">
                          <a:moveTo>
                            <a:pt x="41" y="19"/>
                          </a:moveTo>
                          <a:lnTo>
                            <a:pt x="45" y="16"/>
                          </a:lnTo>
                          <a:lnTo>
                            <a:pt x="155" y="157"/>
                          </a:lnTo>
                          <a:lnTo>
                            <a:pt x="101" y="149"/>
                          </a:lnTo>
                          <a:lnTo>
                            <a:pt x="0" y="0"/>
                          </a:lnTo>
                          <a:lnTo>
                            <a:pt x="41" y="19"/>
                          </a:lnTo>
                          <a:close/>
                        </a:path>
                      </a:pathLst>
                    </a:custGeom>
                    <a:solidFill>
                      <a:srgbClr val="800000"/>
                    </a:solidFill>
                    <a:ln w="1588">
                      <a:solidFill>
                        <a:srgbClr val="000000"/>
                      </a:solidFill>
                      <a:round/>
                    </a:ln>
                  </p:spPr>
                  <p:txBody>
                    <a:bodyPr/>
                    <a:lstStyle/>
                    <a:p>
                      <a:endParaRPr lang="zh-CN" altLang="en-US"/>
                    </a:p>
                  </p:txBody>
                </p:sp>
              </p:grpSp>
              <p:sp>
                <p:nvSpPr>
                  <p:cNvPr id="78029" name="Freeform 12"/>
                  <p:cNvSpPr/>
                  <p:nvPr/>
                </p:nvSpPr>
                <p:spPr bwMode="auto">
                  <a:xfrm>
                    <a:off x="1672" y="2929"/>
                    <a:ext cx="140" cy="41"/>
                  </a:xfrm>
                  <a:custGeom>
                    <a:avLst/>
                    <a:gdLst>
                      <a:gd name="T0" fmla="*/ 0 w 1539"/>
                      <a:gd name="T1" fmla="*/ 0 h 333"/>
                      <a:gd name="T2" fmla="*/ 0 w 1539"/>
                      <a:gd name="T3" fmla="*/ 0 h 333"/>
                      <a:gd name="T4" fmla="*/ 0 w 1539"/>
                      <a:gd name="T5" fmla="*/ 0 h 333"/>
                      <a:gd name="T6" fmla="*/ 0 w 1539"/>
                      <a:gd name="T7" fmla="*/ 0 h 333"/>
                      <a:gd name="T8" fmla="*/ 0 w 1539"/>
                      <a:gd name="T9" fmla="*/ 0 h 333"/>
                      <a:gd name="T10" fmla="*/ 0 w 1539"/>
                      <a:gd name="T11" fmla="*/ 0 h 333"/>
                      <a:gd name="T12" fmla="*/ 0 w 1539"/>
                      <a:gd name="T13" fmla="*/ 0 h 333"/>
                      <a:gd name="T14" fmla="*/ 0 w 1539"/>
                      <a:gd name="T15" fmla="*/ 0 h 333"/>
                      <a:gd name="T16" fmla="*/ 0 w 1539"/>
                      <a:gd name="T17" fmla="*/ 0 h 333"/>
                      <a:gd name="T18" fmla="*/ 0 w 1539"/>
                      <a:gd name="T19" fmla="*/ 0 h 333"/>
                      <a:gd name="T20" fmla="*/ 0 w 1539"/>
                      <a:gd name="T21" fmla="*/ 0 h 333"/>
                      <a:gd name="T22" fmla="*/ 0 w 1539"/>
                      <a:gd name="T23" fmla="*/ 0 h 333"/>
                      <a:gd name="T24" fmla="*/ 0 w 1539"/>
                      <a:gd name="T25" fmla="*/ 0 h 333"/>
                      <a:gd name="T26" fmla="*/ 0 w 1539"/>
                      <a:gd name="T27" fmla="*/ 0 h 333"/>
                      <a:gd name="T28" fmla="*/ 0 w 1539"/>
                      <a:gd name="T29" fmla="*/ 0 h 333"/>
                      <a:gd name="T30" fmla="*/ 0 w 1539"/>
                      <a:gd name="T31" fmla="*/ 0 h 333"/>
                      <a:gd name="T32" fmla="*/ 0 w 1539"/>
                      <a:gd name="T33" fmla="*/ 0 h 333"/>
                      <a:gd name="T34" fmla="*/ 0 w 1539"/>
                      <a:gd name="T35" fmla="*/ 0 h 333"/>
                      <a:gd name="T36" fmla="*/ 0 w 1539"/>
                      <a:gd name="T37" fmla="*/ 0 h 333"/>
                      <a:gd name="T38" fmla="*/ 0 w 1539"/>
                      <a:gd name="T39" fmla="*/ 0 h 333"/>
                      <a:gd name="T40" fmla="*/ 0 w 1539"/>
                      <a:gd name="T41" fmla="*/ 0 h 333"/>
                      <a:gd name="T42" fmla="*/ 0 w 1539"/>
                      <a:gd name="T43" fmla="*/ 0 h 333"/>
                      <a:gd name="T44" fmla="*/ 0 w 1539"/>
                      <a:gd name="T45" fmla="*/ 0 h 333"/>
                      <a:gd name="T46" fmla="*/ 0 w 1539"/>
                      <a:gd name="T47" fmla="*/ 0 h 333"/>
                      <a:gd name="T48" fmla="*/ 0 w 1539"/>
                      <a:gd name="T49" fmla="*/ 0 h 333"/>
                      <a:gd name="T50" fmla="*/ 0 w 1539"/>
                      <a:gd name="T51" fmla="*/ 0 h 333"/>
                      <a:gd name="T52" fmla="*/ 0 w 1539"/>
                      <a:gd name="T53" fmla="*/ 0 h 333"/>
                      <a:gd name="T54" fmla="*/ 0 w 1539"/>
                      <a:gd name="T55" fmla="*/ 0 h 333"/>
                      <a:gd name="T56" fmla="*/ 0 w 1539"/>
                      <a:gd name="T57" fmla="*/ 0 h 333"/>
                      <a:gd name="T58" fmla="*/ 0 w 1539"/>
                      <a:gd name="T59" fmla="*/ 0 h 33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39"/>
                      <a:gd name="T91" fmla="*/ 0 h 333"/>
                      <a:gd name="T92" fmla="*/ 1539 w 1539"/>
                      <a:gd name="T93" fmla="*/ 333 h 33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39" h="333">
                        <a:moveTo>
                          <a:pt x="11" y="44"/>
                        </a:moveTo>
                        <a:lnTo>
                          <a:pt x="156" y="38"/>
                        </a:lnTo>
                        <a:lnTo>
                          <a:pt x="266" y="38"/>
                        </a:lnTo>
                        <a:lnTo>
                          <a:pt x="415" y="30"/>
                        </a:lnTo>
                        <a:lnTo>
                          <a:pt x="552" y="30"/>
                        </a:lnTo>
                        <a:lnTo>
                          <a:pt x="707" y="30"/>
                        </a:lnTo>
                        <a:lnTo>
                          <a:pt x="845" y="34"/>
                        </a:lnTo>
                        <a:lnTo>
                          <a:pt x="911" y="43"/>
                        </a:lnTo>
                        <a:lnTo>
                          <a:pt x="967" y="55"/>
                        </a:lnTo>
                        <a:lnTo>
                          <a:pt x="1030" y="78"/>
                        </a:lnTo>
                        <a:lnTo>
                          <a:pt x="1089" y="102"/>
                        </a:lnTo>
                        <a:lnTo>
                          <a:pt x="1306" y="213"/>
                        </a:lnTo>
                        <a:lnTo>
                          <a:pt x="1422" y="265"/>
                        </a:lnTo>
                        <a:lnTo>
                          <a:pt x="1489" y="307"/>
                        </a:lnTo>
                        <a:lnTo>
                          <a:pt x="1428" y="306"/>
                        </a:lnTo>
                        <a:lnTo>
                          <a:pt x="0" y="198"/>
                        </a:lnTo>
                        <a:lnTo>
                          <a:pt x="2" y="232"/>
                        </a:lnTo>
                        <a:lnTo>
                          <a:pt x="1493" y="333"/>
                        </a:lnTo>
                        <a:lnTo>
                          <a:pt x="1539" y="325"/>
                        </a:lnTo>
                        <a:lnTo>
                          <a:pt x="1515" y="295"/>
                        </a:lnTo>
                        <a:lnTo>
                          <a:pt x="1474" y="265"/>
                        </a:lnTo>
                        <a:lnTo>
                          <a:pt x="1374" y="213"/>
                        </a:lnTo>
                        <a:lnTo>
                          <a:pt x="1296" y="172"/>
                        </a:lnTo>
                        <a:lnTo>
                          <a:pt x="1098" y="76"/>
                        </a:lnTo>
                        <a:lnTo>
                          <a:pt x="1009" y="41"/>
                        </a:lnTo>
                        <a:lnTo>
                          <a:pt x="921" y="19"/>
                        </a:lnTo>
                        <a:lnTo>
                          <a:pt x="723" y="0"/>
                        </a:lnTo>
                        <a:lnTo>
                          <a:pt x="453" y="0"/>
                        </a:lnTo>
                        <a:lnTo>
                          <a:pt x="11" y="23"/>
                        </a:lnTo>
                        <a:lnTo>
                          <a:pt x="11" y="44"/>
                        </a:lnTo>
                        <a:close/>
                      </a:path>
                    </a:pathLst>
                  </a:custGeom>
                  <a:solidFill>
                    <a:srgbClr val="800000"/>
                  </a:solidFill>
                  <a:ln w="1588">
                    <a:solidFill>
                      <a:srgbClr val="000000"/>
                    </a:solidFill>
                    <a:round/>
                  </a:ln>
                </p:spPr>
                <p:txBody>
                  <a:bodyPr/>
                  <a:lstStyle/>
                  <a:p>
                    <a:endParaRPr lang="zh-CN" altLang="en-US"/>
                  </a:p>
                </p:txBody>
              </p:sp>
            </p:grpSp>
            <p:sp>
              <p:nvSpPr>
                <p:cNvPr id="78027" name="Freeform 13"/>
                <p:cNvSpPr/>
                <p:nvPr/>
              </p:nvSpPr>
              <p:spPr bwMode="auto">
                <a:xfrm>
                  <a:off x="1580" y="2924"/>
                  <a:ext cx="262" cy="47"/>
                </a:xfrm>
                <a:custGeom>
                  <a:avLst/>
                  <a:gdLst>
                    <a:gd name="T0" fmla="*/ 0 w 2881"/>
                    <a:gd name="T1" fmla="*/ 0 h 378"/>
                    <a:gd name="T2" fmla="*/ 0 w 2881"/>
                    <a:gd name="T3" fmla="*/ 0 h 378"/>
                    <a:gd name="T4" fmla="*/ 0 w 2881"/>
                    <a:gd name="T5" fmla="*/ 0 h 378"/>
                    <a:gd name="T6" fmla="*/ 0 w 2881"/>
                    <a:gd name="T7" fmla="*/ 0 h 378"/>
                    <a:gd name="T8" fmla="*/ 0 w 2881"/>
                    <a:gd name="T9" fmla="*/ 0 h 378"/>
                    <a:gd name="T10" fmla="*/ 0 w 2881"/>
                    <a:gd name="T11" fmla="*/ 0 h 378"/>
                    <a:gd name="T12" fmla="*/ 0 w 2881"/>
                    <a:gd name="T13" fmla="*/ 0 h 378"/>
                    <a:gd name="T14" fmla="*/ 0 w 2881"/>
                    <a:gd name="T15" fmla="*/ 0 h 378"/>
                    <a:gd name="T16" fmla="*/ 0 w 2881"/>
                    <a:gd name="T17" fmla="*/ 0 h 378"/>
                    <a:gd name="T18" fmla="*/ 0 w 2881"/>
                    <a:gd name="T19" fmla="*/ 0 h 378"/>
                    <a:gd name="T20" fmla="*/ 0 w 2881"/>
                    <a:gd name="T21" fmla="*/ 0 h 378"/>
                    <a:gd name="T22" fmla="*/ 0 w 2881"/>
                    <a:gd name="T23" fmla="*/ 0 h 378"/>
                    <a:gd name="T24" fmla="*/ 0 w 2881"/>
                    <a:gd name="T25" fmla="*/ 0 h 378"/>
                    <a:gd name="T26" fmla="*/ 0 w 2881"/>
                    <a:gd name="T27" fmla="*/ 0 h 378"/>
                    <a:gd name="T28" fmla="*/ 0 w 2881"/>
                    <a:gd name="T29" fmla="*/ 0 h 378"/>
                    <a:gd name="T30" fmla="*/ 0 w 2881"/>
                    <a:gd name="T31" fmla="*/ 0 h 378"/>
                    <a:gd name="T32" fmla="*/ 0 w 2881"/>
                    <a:gd name="T33" fmla="*/ 0 h 378"/>
                    <a:gd name="T34" fmla="*/ 0 w 2881"/>
                    <a:gd name="T35" fmla="*/ 0 h 378"/>
                    <a:gd name="T36" fmla="*/ 0 w 2881"/>
                    <a:gd name="T37" fmla="*/ 0 h 378"/>
                    <a:gd name="T38" fmla="*/ 0 w 2881"/>
                    <a:gd name="T39" fmla="*/ 0 h 378"/>
                    <a:gd name="T40" fmla="*/ 0 w 2881"/>
                    <a:gd name="T41" fmla="*/ 0 h 378"/>
                    <a:gd name="T42" fmla="*/ 0 w 2881"/>
                    <a:gd name="T43" fmla="*/ 0 h 378"/>
                    <a:gd name="T44" fmla="*/ 0 w 2881"/>
                    <a:gd name="T45" fmla="*/ 0 h 378"/>
                    <a:gd name="T46" fmla="*/ 0 w 2881"/>
                    <a:gd name="T47" fmla="*/ 0 h 378"/>
                    <a:gd name="T48" fmla="*/ 0 w 2881"/>
                    <a:gd name="T49" fmla="*/ 0 h 378"/>
                    <a:gd name="T50" fmla="*/ 0 w 2881"/>
                    <a:gd name="T51" fmla="*/ 0 h 378"/>
                    <a:gd name="T52" fmla="*/ 0 w 2881"/>
                    <a:gd name="T53" fmla="*/ 0 h 378"/>
                    <a:gd name="T54" fmla="*/ 0 w 2881"/>
                    <a:gd name="T55" fmla="*/ 0 h 378"/>
                    <a:gd name="T56" fmla="*/ 0 w 2881"/>
                    <a:gd name="T57" fmla="*/ 0 h 378"/>
                    <a:gd name="T58" fmla="*/ 0 w 2881"/>
                    <a:gd name="T59" fmla="*/ 0 h 378"/>
                    <a:gd name="T60" fmla="*/ 0 w 2881"/>
                    <a:gd name="T61" fmla="*/ 0 h 378"/>
                    <a:gd name="T62" fmla="*/ 0 w 2881"/>
                    <a:gd name="T63" fmla="*/ 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881"/>
                    <a:gd name="T97" fmla="*/ 0 h 378"/>
                    <a:gd name="T98" fmla="*/ 2881 w 2881"/>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881" h="378">
                      <a:moveTo>
                        <a:pt x="0" y="252"/>
                      </a:moveTo>
                      <a:lnTo>
                        <a:pt x="111" y="237"/>
                      </a:lnTo>
                      <a:lnTo>
                        <a:pt x="196" y="218"/>
                      </a:lnTo>
                      <a:lnTo>
                        <a:pt x="253" y="202"/>
                      </a:lnTo>
                      <a:lnTo>
                        <a:pt x="300" y="189"/>
                      </a:lnTo>
                      <a:lnTo>
                        <a:pt x="362" y="173"/>
                      </a:lnTo>
                      <a:lnTo>
                        <a:pt x="414" y="158"/>
                      </a:lnTo>
                      <a:lnTo>
                        <a:pt x="473" y="143"/>
                      </a:lnTo>
                      <a:lnTo>
                        <a:pt x="526" y="132"/>
                      </a:lnTo>
                      <a:lnTo>
                        <a:pt x="587" y="123"/>
                      </a:lnTo>
                      <a:lnTo>
                        <a:pt x="636" y="115"/>
                      </a:lnTo>
                      <a:lnTo>
                        <a:pt x="678" y="108"/>
                      </a:lnTo>
                      <a:lnTo>
                        <a:pt x="741" y="97"/>
                      </a:lnTo>
                      <a:lnTo>
                        <a:pt x="794" y="89"/>
                      </a:lnTo>
                      <a:lnTo>
                        <a:pt x="844" y="81"/>
                      </a:lnTo>
                      <a:lnTo>
                        <a:pt x="896" y="67"/>
                      </a:lnTo>
                      <a:lnTo>
                        <a:pt x="939" y="46"/>
                      </a:lnTo>
                      <a:lnTo>
                        <a:pt x="970" y="22"/>
                      </a:lnTo>
                      <a:lnTo>
                        <a:pt x="1033" y="18"/>
                      </a:lnTo>
                      <a:lnTo>
                        <a:pt x="1123" y="16"/>
                      </a:lnTo>
                      <a:lnTo>
                        <a:pt x="1225" y="8"/>
                      </a:lnTo>
                      <a:lnTo>
                        <a:pt x="1305" y="4"/>
                      </a:lnTo>
                      <a:lnTo>
                        <a:pt x="1423" y="2"/>
                      </a:lnTo>
                      <a:lnTo>
                        <a:pt x="1537" y="1"/>
                      </a:lnTo>
                      <a:lnTo>
                        <a:pt x="1645" y="0"/>
                      </a:lnTo>
                      <a:lnTo>
                        <a:pt x="1728" y="0"/>
                      </a:lnTo>
                      <a:lnTo>
                        <a:pt x="1818" y="7"/>
                      </a:lnTo>
                      <a:lnTo>
                        <a:pt x="1911" y="22"/>
                      </a:lnTo>
                      <a:lnTo>
                        <a:pt x="1979" y="39"/>
                      </a:lnTo>
                      <a:lnTo>
                        <a:pt x="2041" y="55"/>
                      </a:lnTo>
                      <a:lnTo>
                        <a:pt x="2107" y="75"/>
                      </a:lnTo>
                      <a:lnTo>
                        <a:pt x="2180" y="97"/>
                      </a:lnTo>
                      <a:lnTo>
                        <a:pt x="2254" y="123"/>
                      </a:lnTo>
                      <a:lnTo>
                        <a:pt x="2333" y="149"/>
                      </a:lnTo>
                      <a:lnTo>
                        <a:pt x="2410" y="175"/>
                      </a:lnTo>
                      <a:lnTo>
                        <a:pt x="2490" y="201"/>
                      </a:lnTo>
                      <a:lnTo>
                        <a:pt x="2551" y="221"/>
                      </a:lnTo>
                      <a:lnTo>
                        <a:pt x="2607" y="236"/>
                      </a:lnTo>
                      <a:lnTo>
                        <a:pt x="2669" y="258"/>
                      </a:lnTo>
                      <a:lnTo>
                        <a:pt x="2732" y="278"/>
                      </a:lnTo>
                      <a:lnTo>
                        <a:pt x="2810" y="303"/>
                      </a:lnTo>
                      <a:lnTo>
                        <a:pt x="2881" y="329"/>
                      </a:lnTo>
                      <a:lnTo>
                        <a:pt x="2852" y="347"/>
                      </a:lnTo>
                      <a:lnTo>
                        <a:pt x="2810" y="359"/>
                      </a:lnTo>
                      <a:lnTo>
                        <a:pt x="2764" y="371"/>
                      </a:lnTo>
                      <a:lnTo>
                        <a:pt x="2707" y="377"/>
                      </a:lnTo>
                      <a:lnTo>
                        <a:pt x="2631" y="378"/>
                      </a:lnTo>
                      <a:lnTo>
                        <a:pt x="2555" y="376"/>
                      </a:lnTo>
                      <a:lnTo>
                        <a:pt x="2536" y="347"/>
                      </a:lnTo>
                      <a:lnTo>
                        <a:pt x="2517" y="329"/>
                      </a:lnTo>
                      <a:lnTo>
                        <a:pt x="2481" y="304"/>
                      </a:lnTo>
                      <a:lnTo>
                        <a:pt x="2403" y="262"/>
                      </a:lnTo>
                      <a:lnTo>
                        <a:pt x="2307" y="213"/>
                      </a:lnTo>
                      <a:lnTo>
                        <a:pt x="2221" y="170"/>
                      </a:lnTo>
                      <a:lnTo>
                        <a:pt x="2117" y="119"/>
                      </a:lnTo>
                      <a:lnTo>
                        <a:pt x="2029" y="85"/>
                      </a:lnTo>
                      <a:lnTo>
                        <a:pt x="1946" y="62"/>
                      </a:lnTo>
                      <a:lnTo>
                        <a:pt x="1879" y="53"/>
                      </a:lnTo>
                      <a:lnTo>
                        <a:pt x="1754" y="41"/>
                      </a:lnTo>
                      <a:lnTo>
                        <a:pt x="1591" y="40"/>
                      </a:lnTo>
                      <a:lnTo>
                        <a:pt x="1400" y="45"/>
                      </a:lnTo>
                      <a:lnTo>
                        <a:pt x="1255" y="50"/>
                      </a:lnTo>
                      <a:lnTo>
                        <a:pt x="1022" y="62"/>
                      </a:lnTo>
                      <a:lnTo>
                        <a:pt x="1009" y="287"/>
                      </a:lnTo>
                      <a:lnTo>
                        <a:pt x="0" y="252"/>
                      </a:lnTo>
                      <a:close/>
                    </a:path>
                  </a:pathLst>
                </a:custGeom>
                <a:solidFill>
                  <a:srgbClr val="FF0000"/>
                </a:solidFill>
                <a:ln w="1588">
                  <a:solidFill>
                    <a:srgbClr val="000000"/>
                  </a:solidFill>
                  <a:round/>
                </a:ln>
              </p:spPr>
              <p:txBody>
                <a:bodyPr/>
                <a:lstStyle/>
                <a:p>
                  <a:endParaRPr lang="zh-CN" altLang="en-US"/>
                </a:p>
              </p:txBody>
            </p:sp>
          </p:grpSp>
          <p:sp>
            <p:nvSpPr>
              <p:cNvPr id="77999" name="Freeform 14"/>
              <p:cNvSpPr/>
              <p:nvPr/>
            </p:nvSpPr>
            <p:spPr bwMode="auto">
              <a:xfrm>
                <a:off x="1588" y="2970"/>
                <a:ext cx="354" cy="75"/>
              </a:xfrm>
              <a:custGeom>
                <a:avLst/>
                <a:gdLst>
                  <a:gd name="T0" fmla="*/ 0 w 3896"/>
                  <a:gd name="T1" fmla="*/ 0 h 596"/>
                  <a:gd name="T2" fmla="*/ 0 w 3896"/>
                  <a:gd name="T3" fmla="*/ 0 h 596"/>
                  <a:gd name="T4" fmla="*/ 0 w 3896"/>
                  <a:gd name="T5" fmla="*/ 0 h 596"/>
                  <a:gd name="T6" fmla="*/ 0 w 3896"/>
                  <a:gd name="T7" fmla="*/ 0 h 596"/>
                  <a:gd name="T8" fmla="*/ 0 w 3896"/>
                  <a:gd name="T9" fmla="*/ 0 h 596"/>
                  <a:gd name="T10" fmla="*/ 0 w 3896"/>
                  <a:gd name="T11" fmla="*/ 0 h 596"/>
                  <a:gd name="T12" fmla="*/ 0 w 3896"/>
                  <a:gd name="T13" fmla="*/ 0 h 596"/>
                  <a:gd name="T14" fmla="*/ 0 w 3896"/>
                  <a:gd name="T15" fmla="*/ 0 h 596"/>
                  <a:gd name="T16" fmla="*/ 0 w 3896"/>
                  <a:gd name="T17" fmla="*/ 0 h 596"/>
                  <a:gd name="T18" fmla="*/ 0 w 3896"/>
                  <a:gd name="T19" fmla="*/ 0 h 596"/>
                  <a:gd name="T20" fmla="*/ 0 w 3896"/>
                  <a:gd name="T21" fmla="*/ 0 h 596"/>
                  <a:gd name="T22" fmla="*/ 0 w 3896"/>
                  <a:gd name="T23" fmla="*/ 0 h 596"/>
                  <a:gd name="T24" fmla="*/ 0 w 3896"/>
                  <a:gd name="T25" fmla="*/ 0 h 596"/>
                  <a:gd name="T26" fmla="*/ 0 w 3896"/>
                  <a:gd name="T27" fmla="*/ 0 h 596"/>
                  <a:gd name="T28" fmla="*/ 0 w 3896"/>
                  <a:gd name="T29" fmla="*/ 0 h 596"/>
                  <a:gd name="T30" fmla="*/ 0 w 3896"/>
                  <a:gd name="T31" fmla="*/ 0 h 596"/>
                  <a:gd name="T32" fmla="*/ 0 w 3896"/>
                  <a:gd name="T33" fmla="*/ 0 h 596"/>
                  <a:gd name="T34" fmla="*/ 0 w 3896"/>
                  <a:gd name="T35" fmla="*/ 0 h 596"/>
                  <a:gd name="T36" fmla="*/ 0 w 3896"/>
                  <a:gd name="T37" fmla="*/ 0 h 596"/>
                  <a:gd name="T38" fmla="*/ 0 w 3896"/>
                  <a:gd name="T39" fmla="*/ 0 h 596"/>
                  <a:gd name="T40" fmla="*/ 0 w 3896"/>
                  <a:gd name="T41" fmla="*/ 0 h 596"/>
                  <a:gd name="T42" fmla="*/ 0 w 3896"/>
                  <a:gd name="T43" fmla="*/ 0 h 596"/>
                  <a:gd name="T44" fmla="*/ 0 w 3896"/>
                  <a:gd name="T45" fmla="*/ 0 h 596"/>
                  <a:gd name="T46" fmla="*/ 0 w 3896"/>
                  <a:gd name="T47" fmla="*/ 0 h 596"/>
                  <a:gd name="T48" fmla="*/ 0 w 3896"/>
                  <a:gd name="T49" fmla="*/ 0 h 596"/>
                  <a:gd name="T50" fmla="*/ 0 w 3896"/>
                  <a:gd name="T51" fmla="*/ 0 h 5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896"/>
                  <a:gd name="T79" fmla="*/ 0 h 596"/>
                  <a:gd name="T80" fmla="*/ 3896 w 3896"/>
                  <a:gd name="T81" fmla="*/ 596 h 59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896" h="596">
                    <a:moveTo>
                      <a:pt x="3287" y="282"/>
                    </a:moveTo>
                    <a:lnTo>
                      <a:pt x="3317" y="372"/>
                    </a:lnTo>
                    <a:lnTo>
                      <a:pt x="3317" y="441"/>
                    </a:lnTo>
                    <a:lnTo>
                      <a:pt x="3896" y="441"/>
                    </a:lnTo>
                    <a:lnTo>
                      <a:pt x="3856" y="488"/>
                    </a:lnTo>
                    <a:lnTo>
                      <a:pt x="3883" y="540"/>
                    </a:lnTo>
                    <a:lnTo>
                      <a:pt x="3883" y="564"/>
                    </a:lnTo>
                    <a:lnTo>
                      <a:pt x="3865" y="582"/>
                    </a:lnTo>
                    <a:lnTo>
                      <a:pt x="3532" y="582"/>
                    </a:lnTo>
                    <a:lnTo>
                      <a:pt x="3506" y="596"/>
                    </a:lnTo>
                    <a:lnTo>
                      <a:pt x="3336" y="596"/>
                    </a:lnTo>
                    <a:lnTo>
                      <a:pt x="3313" y="580"/>
                    </a:lnTo>
                    <a:lnTo>
                      <a:pt x="230" y="580"/>
                    </a:lnTo>
                    <a:lnTo>
                      <a:pt x="108" y="470"/>
                    </a:lnTo>
                    <a:lnTo>
                      <a:pt x="12" y="507"/>
                    </a:lnTo>
                    <a:lnTo>
                      <a:pt x="0" y="217"/>
                    </a:lnTo>
                    <a:lnTo>
                      <a:pt x="234" y="0"/>
                    </a:lnTo>
                    <a:lnTo>
                      <a:pt x="601" y="8"/>
                    </a:lnTo>
                    <a:lnTo>
                      <a:pt x="2512" y="488"/>
                    </a:lnTo>
                    <a:lnTo>
                      <a:pt x="2566" y="430"/>
                    </a:lnTo>
                    <a:lnTo>
                      <a:pt x="2613" y="281"/>
                    </a:lnTo>
                    <a:lnTo>
                      <a:pt x="2681" y="159"/>
                    </a:lnTo>
                    <a:lnTo>
                      <a:pt x="2882" y="60"/>
                    </a:lnTo>
                    <a:lnTo>
                      <a:pt x="3068" y="65"/>
                    </a:lnTo>
                    <a:lnTo>
                      <a:pt x="3208" y="137"/>
                    </a:lnTo>
                    <a:lnTo>
                      <a:pt x="3287" y="282"/>
                    </a:lnTo>
                    <a:close/>
                  </a:path>
                </a:pathLst>
              </a:custGeom>
              <a:solidFill>
                <a:srgbClr val="000000"/>
              </a:solidFill>
              <a:ln w="1588">
                <a:solidFill>
                  <a:srgbClr val="000000"/>
                </a:solidFill>
                <a:round/>
              </a:ln>
            </p:spPr>
            <p:txBody>
              <a:bodyPr/>
              <a:lstStyle/>
              <a:p>
                <a:endParaRPr lang="zh-CN" altLang="en-US"/>
              </a:p>
            </p:txBody>
          </p:sp>
          <p:grpSp>
            <p:nvGrpSpPr>
              <p:cNvPr id="7" name="Group 15"/>
              <p:cNvGrpSpPr/>
              <p:nvPr/>
            </p:nvGrpSpPr>
            <p:grpSpPr bwMode="auto">
              <a:xfrm>
                <a:off x="1560" y="2939"/>
                <a:ext cx="382" cy="95"/>
                <a:chOff x="1560" y="2939"/>
                <a:chExt cx="382" cy="95"/>
              </a:xfrm>
            </p:grpSpPr>
            <p:grpSp>
              <p:nvGrpSpPr>
                <p:cNvPr id="8" name="Group 16"/>
                <p:cNvGrpSpPr/>
                <p:nvPr/>
              </p:nvGrpSpPr>
              <p:grpSpPr bwMode="auto">
                <a:xfrm>
                  <a:off x="1560" y="2969"/>
                  <a:ext cx="24" cy="56"/>
                  <a:chOff x="1560" y="2969"/>
                  <a:chExt cx="24" cy="56"/>
                </a:xfrm>
              </p:grpSpPr>
              <p:sp>
                <p:nvSpPr>
                  <p:cNvPr id="78013" name="Rectangle 17"/>
                  <p:cNvSpPr>
                    <a:spLocks noChangeArrowheads="1"/>
                  </p:cNvSpPr>
                  <p:nvPr/>
                </p:nvSpPr>
                <p:spPr bwMode="auto">
                  <a:xfrm>
                    <a:off x="1562" y="2981"/>
                    <a:ext cx="10" cy="3"/>
                  </a:xfrm>
                  <a:prstGeom prst="rect">
                    <a:avLst/>
                  </a:prstGeom>
                  <a:solidFill>
                    <a:srgbClr val="808080"/>
                  </a:solidFill>
                  <a:ln w="1588">
                    <a:solidFill>
                      <a:srgbClr val="C0C0C0"/>
                    </a:solidFill>
                    <a:miter lim="800000"/>
                  </a:ln>
                </p:spPr>
                <p:txBody>
                  <a:bodyPr/>
                  <a:lstStyle/>
                  <a:p>
                    <a:endParaRPr lang="zh-CN" altLang="en-US"/>
                  </a:p>
                </p:txBody>
              </p:sp>
              <p:sp>
                <p:nvSpPr>
                  <p:cNvPr id="78014" name="Rectangle 18"/>
                  <p:cNvSpPr>
                    <a:spLocks noChangeArrowheads="1"/>
                  </p:cNvSpPr>
                  <p:nvPr/>
                </p:nvSpPr>
                <p:spPr bwMode="auto">
                  <a:xfrm>
                    <a:off x="1562" y="2969"/>
                    <a:ext cx="10" cy="6"/>
                  </a:xfrm>
                  <a:prstGeom prst="rect">
                    <a:avLst/>
                  </a:prstGeom>
                  <a:solidFill>
                    <a:srgbClr val="808080"/>
                  </a:solidFill>
                  <a:ln w="1588">
                    <a:solidFill>
                      <a:srgbClr val="C0C0C0"/>
                    </a:solidFill>
                    <a:miter lim="800000"/>
                  </a:ln>
                </p:spPr>
                <p:txBody>
                  <a:bodyPr/>
                  <a:lstStyle/>
                  <a:p>
                    <a:endParaRPr lang="zh-CN" altLang="en-US"/>
                  </a:p>
                </p:txBody>
              </p:sp>
              <p:sp>
                <p:nvSpPr>
                  <p:cNvPr id="78015" name="Rectangle 19"/>
                  <p:cNvSpPr>
                    <a:spLocks noChangeArrowheads="1"/>
                  </p:cNvSpPr>
                  <p:nvPr/>
                </p:nvSpPr>
                <p:spPr bwMode="auto">
                  <a:xfrm>
                    <a:off x="1562" y="2976"/>
                    <a:ext cx="10" cy="3"/>
                  </a:xfrm>
                  <a:prstGeom prst="rect">
                    <a:avLst/>
                  </a:prstGeom>
                  <a:solidFill>
                    <a:srgbClr val="808080"/>
                  </a:solidFill>
                  <a:ln w="1588">
                    <a:solidFill>
                      <a:srgbClr val="C0C0C0"/>
                    </a:solidFill>
                    <a:miter lim="800000"/>
                  </a:ln>
                </p:spPr>
                <p:txBody>
                  <a:bodyPr/>
                  <a:lstStyle/>
                  <a:p>
                    <a:endParaRPr lang="zh-CN" altLang="en-US"/>
                  </a:p>
                </p:txBody>
              </p:sp>
              <p:sp>
                <p:nvSpPr>
                  <p:cNvPr id="78016" name="Freeform 20"/>
                  <p:cNvSpPr/>
                  <p:nvPr/>
                </p:nvSpPr>
                <p:spPr bwMode="auto">
                  <a:xfrm>
                    <a:off x="1562" y="2986"/>
                    <a:ext cx="9" cy="13"/>
                  </a:xfrm>
                  <a:custGeom>
                    <a:avLst/>
                    <a:gdLst>
                      <a:gd name="T0" fmla="*/ 0 w 97"/>
                      <a:gd name="T1" fmla="*/ 0 h 100"/>
                      <a:gd name="T2" fmla="*/ 0 w 97"/>
                      <a:gd name="T3" fmla="*/ 0 h 100"/>
                      <a:gd name="T4" fmla="*/ 0 w 97"/>
                      <a:gd name="T5" fmla="*/ 0 h 100"/>
                      <a:gd name="T6" fmla="*/ 0 w 97"/>
                      <a:gd name="T7" fmla="*/ 0 h 100"/>
                      <a:gd name="T8" fmla="*/ 0 w 97"/>
                      <a:gd name="T9" fmla="*/ 0 h 100"/>
                      <a:gd name="T10" fmla="*/ 0 60000 65536"/>
                      <a:gd name="T11" fmla="*/ 0 60000 65536"/>
                      <a:gd name="T12" fmla="*/ 0 60000 65536"/>
                      <a:gd name="T13" fmla="*/ 0 60000 65536"/>
                      <a:gd name="T14" fmla="*/ 0 60000 65536"/>
                      <a:gd name="T15" fmla="*/ 0 w 97"/>
                      <a:gd name="T16" fmla="*/ 0 h 100"/>
                      <a:gd name="T17" fmla="*/ 97 w 97"/>
                      <a:gd name="T18" fmla="*/ 100 h 100"/>
                    </a:gdLst>
                    <a:ahLst/>
                    <a:cxnLst>
                      <a:cxn ang="T10">
                        <a:pos x="T0" y="T1"/>
                      </a:cxn>
                      <a:cxn ang="T11">
                        <a:pos x="T2" y="T3"/>
                      </a:cxn>
                      <a:cxn ang="T12">
                        <a:pos x="T4" y="T5"/>
                      </a:cxn>
                      <a:cxn ang="T13">
                        <a:pos x="T6" y="T7"/>
                      </a:cxn>
                      <a:cxn ang="T14">
                        <a:pos x="T8" y="T9"/>
                      </a:cxn>
                    </a:cxnLst>
                    <a:rect l="T15" t="T16" r="T17" b="T18"/>
                    <a:pathLst>
                      <a:path w="97" h="100">
                        <a:moveTo>
                          <a:pt x="1" y="0"/>
                        </a:moveTo>
                        <a:cubicBezTo>
                          <a:pt x="1" y="0"/>
                          <a:pt x="1" y="0"/>
                          <a:pt x="1" y="0"/>
                        </a:cubicBezTo>
                        <a:cubicBezTo>
                          <a:pt x="0" y="55"/>
                          <a:pt x="42" y="100"/>
                          <a:pt x="94" y="100"/>
                        </a:cubicBezTo>
                        <a:lnTo>
                          <a:pt x="97" y="0"/>
                        </a:lnTo>
                        <a:lnTo>
                          <a:pt x="1" y="0"/>
                        </a:lnTo>
                        <a:close/>
                      </a:path>
                    </a:pathLst>
                  </a:custGeom>
                  <a:noFill/>
                  <a:ln w="1588">
                    <a:solidFill>
                      <a:srgbClr val="C0C0C0"/>
                    </a:solidFill>
                    <a:round/>
                  </a:ln>
                </p:spPr>
                <p:txBody>
                  <a:bodyPr/>
                  <a:lstStyle/>
                  <a:p>
                    <a:endParaRPr lang="zh-CN" altLang="en-US"/>
                  </a:p>
                </p:txBody>
              </p:sp>
              <p:grpSp>
                <p:nvGrpSpPr>
                  <p:cNvPr id="9" name="Group 21"/>
                  <p:cNvGrpSpPr/>
                  <p:nvPr/>
                </p:nvGrpSpPr>
                <p:grpSpPr bwMode="auto">
                  <a:xfrm>
                    <a:off x="1560" y="3017"/>
                    <a:ext cx="24" cy="3"/>
                    <a:chOff x="1560" y="3017"/>
                    <a:chExt cx="24" cy="3"/>
                  </a:xfrm>
                </p:grpSpPr>
                <p:sp>
                  <p:nvSpPr>
                    <p:cNvPr id="78024" name="Rectangle 22"/>
                    <p:cNvSpPr>
                      <a:spLocks noChangeArrowheads="1"/>
                    </p:cNvSpPr>
                    <p:nvPr/>
                  </p:nvSpPr>
                  <p:spPr bwMode="auto">
                    <a:xfrm>
                      <a:off x="1561" y="3017"/>
                      <a:ext cx="23" cy="3"/>
                    </a:xfrm>
                    <a:prstGeom prst="rect">
                      <a:avLst/>
                    </a:prstGeom>
                    <a:solidFill>
                      <a:srgbClr val="808080"/>
                    </a:solidFill>
                    <a:ln w="1588">
                      <a:solidFill>
                        <a:srgbClr val="C0C0C0"/>
                      </a:solidFill>
                      <a:miter lim="800000"/>
                    </a:ln>
                  </p:spPr>
                  <p:txBody>
                    <a:bodyPr/>
                    <a:lstStyle/>
                    <a:p>
                      <a:endParaRPr lang="zh-CN" altLang="en-US"/>
                    </a:p>
                  </p:txBody>
                </p:sp>
                <p:sp>
                  <p:nvSpPr>
                    <p:cNvPr id="78025" name="Oval 23"/>
                    <p:cNvSpPr>
                      <a:spLocks noChangeArrowheads="1"/>
                    </p:cNvSpPr>
                    <p:nvPr/>
                  </p:nvSpPr>
                  <p:spPr bwMode="auto">
                    <a:xfrm>
                      <a:off x="1560" y="3017"/>
                      <a:ext cx="3" cy="3"/>
                    </a:xfrm>
                    <a:prstGeom prst="ellipse">
                      <a:avLst/>
                    </a:prstGeom>
                    <a:solidFill>
                      <a:srgbClr val="808080"/>
                    </a:solidFill>
                    <a:ln w="1588">
                      <a:solidFill>
                        <a:srgbClr val="C0C0C0"/>
                      </a:solidFill>
                      <a:round/>
                    </a:ln>
                  </p:spPr>
                  <p:txBody>
                    <a:bodyPr/>
                    <a:lstStyle/>
                    <a:p>
                      <a:endParaRPr lang="zh-CN" altLang="en-US"/>
                    </a:p>
                  </p:txBody>
                </p:sp>
              </p:grpSp>
              <p:grpSp>
                <p:nvGrpSpPr>
                  <p:cNvPr id="10" name="Group 24"/>
                  <p:cNvGrpSpPr/>
                  <p:nvPr/>
                </p:nvGrpSpPr>
                <p:grpSpPr bwMode="auto">
                  <a:xfrm>
                    <a:off x="1560" y="3022"/>
                    <a:ext cx="24" cy="3"/>
                    <a:chOff x="1560" y="3022"/>
                    <a:chExt cx="24" cy="3"/>
                  </a:xfrm>
                </p:grpSpPr>
                <p:sp>
                  <p:nvSpPr>
                    <p:cNvPr id="78022" name="Rectangle 25"/>
                    <p:cNvSpPr>
                      <a:spLocks noChangeArrowheads="1"/>
                    </p:cNvSpPr>
                    <p:nvPr/>
                  </p:nvSpPr>
                  <p:spPr bwMode="auto">
                    <a:xfrm>
                      <a:off x="1561" y="3022"/>
                      <a:ext cx="23" cy="3"/>
                    </a:xfrm>
                    <a:prstGeom prst="rect">
                      <a:avLst/>
                    </a:prstGeom>
                    <a:solidFill>
                      <a:srgbClr val="808080"/>
                    </a:solidFill>
                    <a:ln w="1588">
                      <a:solidFill>
                        <a:srgbClr val="C0C0C0"/>
                      </a:solidFill>
                      <a:miter lim="800000"/>
                    </a:ln>
                  </p:spPr>
                  <p:txBody>
                    <a:bodyPr/>
                    <a:lstStyle/>
                    <a:p>
                      <a:endParaRPr lang="zh-CN" altLang="en-US"/>
                    </a:p>
                  </p:txBody>
                </p:sp>
                <p:sp>
                  <p:nvSpPr>
                    <p:cNvPr id="78023" name="Oval 26"/>
                    <p:cNvSpPr>
                      <a:spLocks noChangeArrowheads="1"/>
                    </p:cNvSpPr>
                    <p:nvPr/>
                  </p:nvSpPr>
                  <p:spPr bwMode="auto">
                    <a:xfrm>
                      <a:off x="1560" y="3022"/>
                      <a:ext cx="3" cy="3"/>
                    </a:xfrm>
                    <a:prstGeom prst="ellipse">
                      <a:avLst/>
                    </a:prstGeom>
                    <a:solidFill>
                      <a:srgbClr val="808080"/>
                    </a:solidFill>
                    <a:ln w="1588">
                      <a:solidFill>
                        <a:srgbClr val="C0C0C0"/>
                      </a:solidFill>
                      <a:round/>
                    </a:ln>
                  </p:spPr>
                  <p:txBody>
                    <a:bodyPr/>
                    <a:lstStyle/>
                    <a:p>
                      <a:endParaRPr lang="zh-CN" altLang="en-US"/>
                    </a:p>
                  </p:txBody>
                </p:sp>
              </p:grpSp>
              <p:grpSp>
                <p:nvGrpSpPr>
                  <p:cNvPr id="11" name="Group 27"/>
                  <p:cNvGrpSpPr/>
                  <p:nvPr/>
                </p:nvGrpSpPr>
                <p:grpSpPr bwMode="auto">
                  <a:xfrm>
                    <a:off x="1560" y="3013"/>
                    <a:ext cx="24" cy="3"/>
                    <a:chOff x="1560" y="3013"/>
                    <a:chExt cx="24" cy="3"/>
                  </a:xfrm>
                </p:grpSpPr>
                <p:sp>
                  <p:nvSpPr>
                    <p:cNvPr id="78020" name="Rectangle 28"/>
                    <p:cNvSpPr>
                      <a:spLocks noChangeArrowheads="1"/>
                    </p:cNvSpPr>
                    <p:nvPr/>
                  </p:nvSpPr>
                  <p:spPr bwMode="auto">
                    <a:xfrm>
                      <a:off x="1561" y="3013"/>
                      <a:ext cx="23" cy="3"/>
                    </a:xfrm>
                    <a:prstGeom prst="rect">
                      <a:avLst/>
                    </a:prstGeom>
                    <a:solidFill>
                      <a:srgbClr val="808080"/>
                    </a:solidFill>
                    <a:ln w="1588">
                      <a:solidFill>
                        <a:srgbClr val="C0C0C0"/>
                      </a:solidFill>
                      <a:miter lim="800000"/>
                    </a:ln>
                  </p:spPr>
                  <p:txBody>
                    <a:bodyPr/>
                    <a:lstStyle/>
                    <a:p>
                      <a:endParaRPr lang="zh-CN" altLang="en-US"/>
                    </a:p>
                  </p:txBody>
                </p:sp>
                <p:sp>
                  <p:nvSpPr>
                    <p:cNvPr id="78021" name="Oval 29"/>
                    <p:cNvSpPr>
                      <a:spLocks noChangeArrowheads="1"/>
                    </p:cNvSpPr>
                    <p:nvPr/>
                  </p:nvSpPr>
                  <p:spPr bwMode="auto">
                    <a:xfrm>
                      <a:off x="1560" y="3013"/>
                      <a:ext cx="3" cy="3"/>
                    </a:xfrm>
                    <a:prstGeom prst="ellipse">
                      <a:avLst/>
                    </a:prstGeom>
                    <a:solidFill>
                      <a:srgbClr val="808080"/>
                    </a:solidFill>
                    <a:ln w="1588">
                      <a:solidFill>
                        <a:srgbClr val="C0C0C0"/>
                      </a:solidFill>
                      <a:round/>
                    </a:ln>
                  </p:spPr>
                  <p:txBody>
                    <a:bodyPr/>
                    <a:lstStyle/>
                    <a:p>
                      <a:endParaRPr lang="zh-CN" altLang="en-US"/>
                    </a:p>
                  </p:txBody>
                </p:sp>
              </p:grpSp>
            </p:grpSp>
            <p:sp>
              <p:nvSpPr>
                <p:cNvPr id="78002" name="Freeform 30"/>
                <p:cNvSpPr/>
                <p:nvPr/>
              </p:nvSpPr>
              <p:spPr bwMode="auto">
                <a:xfrm>
                  <a:off x="1562" y="2955"/>
                  <a:ext cx="380" cy="79"/>
                </a:xfrm>
                <a:custGeom>
                  <a:avLst/>
                  <a:gdLst>
                    <a:gd name="T0" fmla="*/ 0 w 4179"/>
                    <a:gd name="T1" fmla="*/ 0 h 629"/>
                    <a:gd name="T2" fmla="*/ 0 w 4179"/>
                    <a:gd name="T3" fmla="*/ 0 h 629"/>
                    <a:gd name="T4" fmla="*/ 0 w 4179"/>
                    <a:gd name="T5" fmla="*/ 0 h 629"/>
                    <a:gd name="T6" fmla="*/ 0 w 4179"/>
                    <a:gd name="T7" fmla="*/ 0 h 629"/>
                    <a:gd name="T8" fmla="*/ 0 w 4179"/>
                    <a:gd name="T9" fmla="*/ 0 h 629"/>
                    <a:gd name="T10" fmla="*/ 0 w 4179"/>
                    <a:gd name="T11" fmla="*/ 0 h 629"/>
                    <a:gd name="T12" fmla="*/ 0 w 4179"/>
                    <a:gd name="T13" fmla="*/ 0 h 629"/>
                    <a:gd name="T14" fmla="*/ 0 w 4179"/>
                    <a:gd name="T15" fmla="*/ 0 h 629"/>
                    <a:gd name="T16" fmla="*/ 0 w 4179"/>
                    <a:gd name="T17" fmla="*/ 0 h 629"/>
                    <a:gd name="T18" fmla="*/ 0 w 4179"/>
                    <a:gd name="T19" fmla="*/ 0 h 629"/>
                    <a:gd name="T20" fmla="*/ 0 w 4179"/>
                    <a:gd name="T21" fmla="*/ 0 h 629"/>
                    <a:gd name="T22" fmla="*/ 0 w 4179"/>
                    <a:gd name="T23" fmla="*/ 0 h 629"/>
                    <a:gd name="T24" fmla="*/ 0 w 4179"/>
                    <a:gd name="T25" fmla="*/ 0 h 629"/>
                    <a:gd name="T26" fmla="*/ 0 w 4179"/>
                    <a:gd name="T27" fmla="*/ 0 h 629"/>
                    <a:gd name="T28" fmla="*/ 0 w 4179"/>
                    <a:gd name="T29" fmla="*/ 0 h 629"/>
                    <a:gd name="T30" fmla="*/ 0 w 4179"/>
                    <a:gd name="T31" fmla="*/ 0 h 629"/>
                    <a:gd name="T32" fmla="*/ 0 w 4179"/>
                    <a:gd name="T33" fmla="*/ 0 h 629"/>
                    <a:gd name="T34" fmla="*/ 0 w 4179"/>
                    <a:gd name="T35" fmla="*/ 0 h 629"/>
                    <a:gd name="T36" fmla="*/ 0 w 4179"/>
                    <a:gd name="T37" fmla="*/ 0 h 629"/>
                    <a:gd name="T38" fmla="*/ 0 w 4179"/>
                    <a:gd name="T39" fmla="*/ 0 h 629"/>
                    <a:gd name="T40" fmla="*/ 0 w 4179"/>
                    <a:gd name="T41" fmla="*/ 0 h 629"/>
                    <a:gd name="T42" fmla="*/ 0 w 4179"/>
                    <a:gd name="T43" fmla="*/ 0 h 629"/>
                    <a:gd name="T44" fmla="*/ 0 w 4179"/>
                    <a:gd name="T45" fmla="*/ 0 h 629"/>
                    <a:gd name="T46" fmla="*/ 0 w 4179"/>
                    <a:gd name="T47" fmla="*/ 0 h 629"/>
                    <a:gd name="T48" fmla="*/ 0 w 4179"/>
                    <a:gd name="T49" fmla="*/ 0 h 629"/>
                    <a:gd name="T50" fmla="*/ 0 w 4179"/>
                    <a:gd name="T51" fmla="*/ 0 h 629"/>
                    <a:gd name="T52" fmla="*/ 0 w 4179"/>
                    <a:gd name="T53" fmla="*/ 0 h 629"/>
                    <a:gd name="T54" fmla="*/ 0 w 4179"/>
                    <a:gd name="T55" fmla="*/ 0 h 629"/>
                    <a:gd name="T56" fmla="*/ 0 w 4179"/>
                    <a:gd name="T57" fmla="*/ 0 h 629"/>
                    <a:gd name="T58" fmla="*/ 0 w 4179"/>
                    <a:gd name="T59" fmla="*/ 0 h 629"/>
                    <a:gd name="T60" fmla="*/ 0 w 4179"/>
                    <a:gd name="T61" fmla="*/ 0 h 629"/>
                    <a:gd name="T62" fmla="*/ 0 w 4179"/>
                    <a:gd name="T63" fmla="*/ 0 h 629"/>
                    <a:gd name="T64" fmla="*/ 0 w 4179"/>
                    <a:gd name="T65" fmla="*/ 0 h 629"/>
                    <a:gd name="T66" fmla="*/ 0 w 4179"/>
                    <a:gd name="T67" fmla="*/ 0 h 629"/>
                    <a:gd name="T68" fmla="*/ 0 w 4179"/>
                    <a:gd name="T69" fmla="*/ 0 h 629"/>
                    <a:gd name="T70" fmla="*/ 0 w 4179"/>
                    <a:gd name="T71" fmla="*/ 0 h 629"/>
                    <a:gd name="T72" fmla="*/ 0 w 4179"/>
                    <a:gd name="T73" fmla="*/ 0 h 629"/>
                    <a:gd name="T74" fmla="*/ 0 w 4179"/>
                    <a:gd name="T75" fmla="*/ 0 h 629"/>
                    <a:gd name="T76" fmla="*/ 0 w 4179"/>
                    <a:gd name="T77" fmla="*/ 0 h 629"/>
                    <a:gd name="T78" fmla="*/ 0 w 4179"/>
                    <a:gd name="T79" fmla="*/ 0 h 629"/>
                    <a:gd name="T80" fmla="*/ 0 w 4179"/>
                    <a:gd name="T81" fmla="*/ 0 h 629"/>
                    <a:gd name="T82" fmla="*/ 0 w 4179"/>
                    <a:gd name="T83" fmla="*/ 0 h 629"/>
                    <a:gd name="T84" fmla="*/ 0 w 4179"/>
                    <a:gd name="T85" fmla="*/ 0 h 629"/>
                    <a:gd name="T86" fmla="*/ 0 w 4179"/>
                    <a:gd name="T87" fmla="*/ 0 h 629"/>
                    <a:gd name="T88" fmla="*/ 0 w 4179"/>
                    <a:gd name="T89" fmla="*/ 0 h 629"/>
                    <a:gd name="T90" fmla="*/ 0 w 4179"/>
                    <a:gd name="T91" fmla="*/ 0 h 629"/>
                    <a:gd name="T92" fmla="*/ 0 w 4179"/>
                    <a:gd name="T93" fmla="*/ 0 h 629"/>
                    <a:gd name="T94" fmla="*/ 0 w 4179"/>
                    <a:gd name="T95" fmla="*/ 0 h 629"/>
                    <a:gd name="T96" fmla="*/ 0 w 4179"/>
                    <a:gd name="T97" fmla="*/ 0 h 629"/>
                    <a:gd name="T98" fmla="*/ 0 w 4179"/>
                    <a:gd name="T99" fmla="*/ 0 h 629"/>
                    <a:gd name="T100" fmla="*/ 0 w 4179"/>
                    <a:gd name="T101" fmla="*/ 0 h 629"/>
                    <a:gd name="T102" fmla="*/ 0 w 4179"/>
                    <a:gd name="T103" fmla="*/ 0 h 629"/>
                    <a:gd name="T104" fmla="*/ 0 w 4179"/>
                    <a:gd name="T105" fmla="*/ 0 h 629"/>
                    <a:gd name="T106" fmla="*/ 0 w 4179"/>
                    <a:gd name="T107" fmla="*/ 0 h 629"/>
                    <a:gd name="T108" fmla="*/ 0 w 4179"/>
                    <a:gd name="T109" fmla="*/ 0 h 629"/>
                    <a:gd name="T110" fmla="*/ 0 w 4179"/>
                    <a:gd name="T111" fmla="*/ 0 h 629"/>
                    <a:gd name="T112" fmla="*/ 0 w 4179"/>
                    <a:gd name="T113" fmla="*/ 0 h 629"/>
                    <a:gd name="T114" fmla="*/ 0 w 4179"/>
                    <a:gd name="T115" fmla="*/ 0 h 629"/>
                    <a:gd name="T116" fmla="*/ 0 w 4179"/>
                    <a:gd name="T117" fmla="*/ 0 h 629"/>
                    <a:gd name="T118" fmla="*/ 0 w 4179"/>
                    <a:gd name="T119" fmla="*/ 0 h 629"/>
                    <a:gd name="T120" fmla="*/ 0 w 4179"/>
                    <a:gd name="T121" fmla="*/ 0 h 629"/>
                    <a:gd name="T122" fmla="*/ 0 w 4179"/>
                    <a:gd name="T123" fmla="*/ 0 h 629"/>
                    <a:gd name="T124" fmla="*/ 0 w 4179"/>
                    <a:gd name="T125" fmla="*/ 0 h 62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179"/>
                    <a:gd name="T190" fmla="*/ 0 h 629"/>
                    <a:gd name="T191" fmla="*/ 4179 w 4179"/>
                    <a:gd name="T192" fmla="*/ 629 h 62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179" h="629">
                      <a:moveTo>
                        <a:pt x="209" y="0"/>
                      </a:moveTo>
                      <a:lnTo>
                        <a:pt x="25" y="0"/>
                      </a:lnTo>
                      <a:lnTo>
                        <a:pt x="0" y="97"/>
                      </a:lnTo>
                      <a:lnTo>
                        <a:pt x="82" y="97"/>
                      </a:lnTo>
                      <a:lnTo>
                        <a:pt x="82" y="449"/>
                      </a:lnTo>
                      <a:lnTo>
                        <a:pt x="243" y="608"/>
                      </a:lnTo>
                      <a:lnTo>
                        <a:pt x="279" y="624"/>
                      </a:lnTo>
                      <a:lnTo>
                        <a:pt x="310" y="629"/>
                      </a:lnTo>
                      <a:lnTo>
                        <a:pt x="304" y="549"/>
                      </a:lnTo>
                      <a:lnTo>
                        <a:pt x="300" y="454"/>
                      </a:lnTo>
                      <a:lnTo>
                        <a:pt x="322" y="373"/>
                      </a:lnTo>
                      <a:lnTo>
                        <a:pt x="352" y="313"/>
                      </a:lnTo>
                      <a:lnTo>
                        <a:pt x="390" y="260"/>
                      </a:lnTo>
                      <a:lnTo>
                        <a:pt x="447" y="209"/>
                      </a:lnTo>
                      <a:lnTo>
                        <a:pt x="512" y="170"/>
                      </a:lnTo>
                      <a:lnTo>
                        <a:pt x="605" y="146"/>
                      </a:lnTo>
                      <a:lnTo>
                        <a:pt x="725" y="137"/>
                      </a:lnTo>
                      <a:lnTo>
                        <a:pt x="810" y="158"/>
                      </a:lnTo>
                      <a:lnTo>
                        <a:pt x="871" y="192"/>
                      </a:lnTo>
                      <a:lnTo>
                        <a:pt x="922" y="230"/>
                      </a:lnTo>
                      <a:lnTo>
                        <a:pt x="984" y="290"/>
                      </a:lnTo>
                      <a:lnTo>
                        <a:pt x="1023" y="356"/>
                      </a:lnTo>
                      <a:lnTo>
                        <a:pt x="1048" y="414"/>
                      </a:lnTo>
                      <a:lnTo>
                        <a:pt x="1056" y="471"/>
                      </a:lnTo>
                      <a:lnTo>
                        <a:pt x="1056" y="594"/>
                      </a:lnTo>
                      <a:lnTo>
                        <a:pt x="2882" y="629"/>
                      </a:lnTo>
                      <a:lnTo>
                        <a:pt x="2882" y="509"/>
                      </a:lnTo>
                      <a:lnTo>
                        <a:pt x="2908" y="427"/>
                      </a:lnTo>
                      <a:lnTo>
                        <a:pt x="2937" y="364"/>
                      </a:lnTo>
                      <a:lnTo>
                        <a:pt x="2982" y="304"/>
                      </a:lnTo>
                      <a:lnTo>
                        <a:pt x="3047" y="251"/>
                      </a:lnTo>
                      <a:lnTo>
                        <a:pt x="3113" y="217"/>
                      </a:lnTo>
                      <a:lnTo>
                        <a:pt x="3177" y="197"/>
                      </a:lnTo>
                      <a:lnTo>
                        <a:pt x="3291" y="197"/>
                      </a:lnTo>
                      <a:lnTo>
                        <a:pt x="3351" y="209"/>
                      </a:lnTo>
                      <a:lnTo>
                        <a:pt x="3413" y="235"/>
                      </a:lnTo>
                      <a:lnTo>
                        <a:pt x="3468" y="282"/>
                      </a:lnTo>
                      <a:lnTo>
                        <a:pt x="3521" y="342"/>
                      </a:lnTo>
                      <a:lnTo>
                        <a:pt x="3556" y="414"/>
                      </a:lnTo>
                      <a:lnTo>
                        <a:pt x="3578" y="492"/>
                      </a:lnTo>
                      <a:lnTo>
                        <a:pt x="3578" y="573"/>
                      </a:lnTo>
                      <a:lnTo>
                        <a:pt x="4179" y="571"/>
                      </a:lnTo>
                      <a:lnTo>
                        <a:pt x="4179" y="545"/>
                      </a:lnTo>
                      <a:lnTo>
                        <a:pt x="4160" y="545"/>
                      </a:lnTo>
                      <a:lnTo>
                        <a:pt x="4160" y="506"/>
                      </a:lnTo>
                      <a:lnTo>
                        <a:pt x="4178" y="504"/>
                      </a:lnTo>
                      <a:lnTo>
                        <a:pt x="4178" y="388"/>
                      </a:lnTo>
                      <a:lnTo>
                        <a:pt x="4162" y="364"/>
                      </a:lnTo>
                      <a:lnTo>
                        <a:pt x="4022" y="295"/>
                      </a:lnTo>
                      <a:lnTo>
                        <a:pt x="3869" y="235"/>
                      </a:lnTo>
                      <a:lnTo>
                        <a:pt x="3683" y="179"/>
                      </a:lnTo>
                      <a:lnTo>
                        <a:pt x="3482" y="132"/>
                      </a:lnTo>
                      <a:lnTo>
                        <a:pt x="3298" y="93"/>
                      </a:lnTo>
                      <a:lnTo>
                        <a:pt x="3122" y="63"/>
                      </a:lnTo>
                      <a:lnTo>
                        <a:pt x="3061" y="63"/>
                      </a:lnTo>
                      <a:lnTo>
                        <a:pt x="3021" y="80"/>
                      </a:lnTo>
                      <a:lnTo>
                        <a:pt x="2834" y="107"/>
                      </a:lnTo>
                      <a:lnTo>
                        <a:pt x="2685" y="120"/>
                      </a:lnTo>
                      <a:lnTo>
                        <a:pt x="1906" y="71"/>
                      </a:lnTo>
                      <a:lnTo>
                        <a:pt x="1532" y="42"/>
                      </a:lnTo>
                      <a:lnTo>
                        <a:pt x="1179" y="15"/>
                      </a:lnTo>
                      <a:lnTo>
                        <a:pt x="1001" y="3"/>
                      </a:lnTo>
                      <a:lnTo>
                        <a:pt x="209" y="0"/>
                      </a:lnTo>
                      <a:close/>
                    </a:path>
                  </a:pathLst>
                </a:custGeom>
                <a:solidFill>
                  <a:srgbClr val="FF0000"/>
                </a:solidFill>
                <a:ln w="1588">
                  <a:solidFill>
                    <a:srgbClr val="000000"/>
                  </a:solidFill>
                  <a:round/>
                </a:ln>
              </p:spPr>
              <p:txBody>
                <a:bodyPr/>
                <a:lstStyle/>
                <a:p>
                  <a:endParaRPr lang="zh-CN" altLang="en-US"/>
                </a:p>
              </p:txBody>
            </p:sp>
            <p:sp>
              <p:nvSpPr>
                <p:cNvPr id="78003" name="Freeform 31"/>
                <p:cNvSpPr/>
                <p:nvPr/>
              </p:nvSpPr>
              <p:spPr bwMode="auto">
                <a:xfrm>
                  <a:off x="1715" y="2962"/>
                  <a:ext cx="77" cy="70"/>
                </a:xfrm>
                <a:custGeom>
                  <a:avLst/>
                  <a:gdLst>
                    <a:gd name="T0" fmla="*/ 0 w 843"/>
                    <a:gd name="T1" fmla="*/ 0 h 566"/>
                    <a:gd name="T2" fmla="*/ 0 w 843"/>
                    <a:gd name="T3" fmla="*/ 0 h 566"/>
                    <a:gd name="T4" fmla="*/ 0 w 843"/>
                    <a:gd name="T5" fmla="*/ 0 h 566"/>
                    <a:gd name="T6" fmla="*/ 0 w 843"/>
                    <a:gd name="T7" fmla="*/ 0 h 566"/>
                    <a:gd name="T8" fmla="*/ 0 w 843"/>
                    <a:gd name="T9" fmla="*/ 0 h 566"/>
                    <a:gd name="T10" fmla="*/ 0 w 843"/>
                    <a:gd name="T11" fmla="*/ 0 h 566"/>
                    <a:gd name="T12" fmla="*/ 0 w 843"/>
                    <a:gd name="T13" fmla="*/ 0 h 566"/>
                    <a:gd name="T14" fmla="*/ 0 w 843"/>
                    <a:gd name="T15" fmla="*/ 0 h 566"/>
                    <a:gd name="T16" fmla="*/ 0 w 843"/>
                    <a:gd name="T17" fmla="*/ 0 h 566"/>
                    <a:gd name="T18" fmla="*/ 0 w 843"/>
                    <a:gd name="T19" fmla="*/ 0 h 566"/>
                    <a:gd name="T20" fmla="*/ 0 w 843"/>
                    <a:gd name="T21" fmla="*/ 0 h 5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3"/>
                    <a:gd name="T34" fmla="*/ 0 h 566"/>
                    <a:gd name="T35" fmla="*/ 843 w 843"/>
                    <a:gd name="T36" fmla="*/ 566 h 5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3" h="566">
                      <a:moveTo>
                        <a:pt x="0" y="0"/>
                      </a:moveTo>
                      <a:lnTo>
                        <a:pt x="0" y="552"/>
                      </a:lnTo>
                      <a:lnTo>
                        <a:pt x="843" y="566"/>
                      </a:lnTo>
                      <a:lnTo>
                        <a:pt x="843" y="60"/>
                      </a:lnTo>
                      <a:lnTo>
                        <a:pt x="732" y="48"/>
                      </a:lnTo>
                      <a:lnTo>
                        <a:pt x="578" y="38"/>
                      </a:lnTo>
                      <a:lnTo>
                        <a:pt x="423" y="31"/>
                      </a:lnTo>
                      <a:lnTo>
                        <a:pt x="323" y="22"/>
                      </a:lnTo>
                      <a:lnTo>
                        <a:pt x="225" y="16"/>
                      </a:lnTo>
                      <a:lnTo>
                        <a:pt x="92" y="5"/>
                      </a:lnTo>
                      <a:lnTo>
                        <a:pt x="0" y="0"/>
                      </a:lnTo>
                      <a:close/>
                    </a:path>
                  </a:pathLst>
                </a:custGeom>
                <a:solidFill>
                  <a:srgbClr val="FF0000"/>
                </a:solidFill>
                <a:ln w="1588">
                  <a:solidFill>
                    <a:srgbClr val="000000"/>
                  </a:solidFill>
                  <a:round/>
                </a:ln>
              </p:spPr>
              <p:txBody>
                <a:bodyPr/>
                <a:lstStyle/>
                <a:p>
                  <a:endParaRPr lang="zh-CN" altLang="en-US"/>
                </a:p>
              </p:txBody>
            </p:sp>
            <p:grpSp>
              <p:nvGrpSpPr>
                <p:cNvPr id="12" name="Group 32"/>
                <p:cNvGrpSpPr/>
                <p:nvPr/>
              </p:nvGrpSpPr>
              <p:grpSpPr bwMode="auto">
                <a:xfrm>
                  <a:off x="1653" y="2939"/>
                  <a:ext cx="129" cy="80"/>
                  <a:chOff x="1653" y="2939"/>
                  <a:chExt cx="129" cy="80"/>
                </a:xfrm>
              </p:grpSpPr>
              <p:sp>
                <p:nvSpPr>
                  <p:cNvPr id="78005" name="Oval 33"/>
                  <p:cNvSpPr>
                    <a:spLocks noChangeArrowheads="1"/>
                  </p:cNvSpPr>
                  <p:nvPr/>
                </p:nvSpPr>
                <p:spPr bwMode="auto">
                  <a:xfrm>
                    <a:off x="1653" y="2939"/>
                    <a:ext cx="15" cy="12"/>
                  </a:xfrm>
                  <a:prstGeom prst="ellipse">
                    <a:avLst/>
                  </a:prstGeom>
                  <a:solidFill>
                    <a:srgbClr val="800000"/>
                  </a:solidFill>
                  <a:ln w="1588">
                    <a:solidFill>
                      <a:srgbClr val="800000"/>
                    </a:solidFill>
                    <a:round/>
                  </a:ln>
                </p:spPr>
                <p:txBody>
                  <a:bodyPr/>
                  <a:lstStyle/>
                  <a:p>
                    <a:endParaRPr lang="zh-CN" altLang="en-US"/>
                  </a:p>
                </p:txBody>
              </p:sp>
              <p:sp>
                <p:nvSpPr>
                  <p:cNvPr id="78006" name="Oval 34"/>
                  <p:cNvSpPr>
                    <a:spLocks noChangeArrowheads="1"/>
                  </p:cNvSpPr>
                  <p:nvPr/>
                </p:nvSpPr>
                <p:spPr bwMode="auto">
                  <a:xfrm>
                    <a:off x="1656" y="2942"/>
                    <a:ext cx="2" cy="4"/>
                  </a:xfrm>
                  <a:prstGeom prst="ellipse">
                    <a:avLst/>
                  </a:prstGeom>
                  <a:solidFill>
                    <a:srgbClr val="000000"/>
                  </a:solidFill>
                  <a:ln w="1588">
                    <a:solidFill>
                      <a:srgbClr val="000000"/>
                    </a:solidFill>
                    <a:round/>
                  </a:ln>
                </p:spPr>
                <p:txBody>
                  <a:bodyPr/>
                  <a:lstStyle/>
                  <a:p>
                    <a:endParaRPr lang="zh-CN" altLang="en-US"/>
                  </a:p>
                </p:txBody>
              </p:sp>
              <p:grpSp>
                <p:nvGrpSpPr>
                  <p:cNvPr id="13" name="Group 35"/>
                  <p:cNvGrpSpPr/>
                  <p:nvPr/>
                </p:nvGrpSpPr>
                <p:grpSpPr bwMode="auto">
                  <a:xfrm>
                    <a:off x="1701" y="2971"/>
                    <a:ext cx="81" cy="48"/>
                    <a:chOff x="1701" y="2971"/>
                    <a:chExt cx="81" cy="48"/>
                  </a:xfrm>
                </p:grpSpPr>
                <p:sp>
                  <p:nvSpPr>
                    <p:cNvPr id="78008" name="Freeform 36"/>
                    <p:cNvSpPr/>
                    <p:nvPr/>
                  </p:nvSpPr>
                  <p:spPr bwMode="auto">
                    <a:xfrm>
                      <a:off x="1701" y="3004"/>
                      <a:ext cx="81" cy="15"/>
                    </a:xfrm>
                    <a:custGeom>
                      <a:avLst/>
                      <a:gdLst>
                        <a:gd name="T0" fmla="*/ 0 w 892"/>
                        <a:gd name="T1" fmla="*/ 0 h 123"/>
                        <a:gd name="T2" fmla="*/ 0 w 892"/>
                        <a:gd name="T3" fmla="*/ 0 h 123"/>
                        <a:gd name="T4" fmla="*/ 0 w 892"/>
                        <a:gd name="T5" fmla="*/ 0 h 123"/>
                        <a:gd name="T6" fmla="*/ 0 w 892"/>
                        <a:gd name="T7" fmla="*/ 0 h 123"/>
                        <a:gd name="T8" fmla="*/ 0 60000 65536"/>
                        <a:gd name="T9" fmla="*/ 0 60000 65536"/>
                        <a:gd name="T10" fmla="*/ 0 60000 65536"/>
                        <a:gd name="T11" fmla="*/ 0 60000 65536"/>
                        <a:gd name="T12" fmla="*/ 0 w 892"/>
                        <a:gd name="T13" fmla="*/ 0 h 123"/>
                        <a:gd name="T14" fmla="*/ 892 w 892"/>
                        <a:gd name="T15" fmla="*/ 123 h 123"/>
                      </a:gdLst>
                      <a:ahLst/>
                      <a:cxnLst>
                        <a:cxn ang="T8">
                          <a:pos x="T0" y="T1"/>
                        </a:cxn>
                        <a:cxn ang="T9">
                          <a:pos x="T2" y="T3"/>
                        </a:cxn>
                        <a:cxn ang="T10">
                          <a:pos x="T4" y="T5"/>
                        </a:cxn>
                        <a:cxn ang="T11">
                          <a:pos x="T6" y="T7"/>
                        </a:cxn>
                      </a:cxnLst>
                      <a:rect l="T12" t="T13" r="T14" b="T15"/>
                      <a:pathLst>
                        <a:path w="892" h="123">
                          <a:moveTo>
                            <a:pt x="0" y="69"/>
                          </a:moveTo>
                          <a:lnTo>
                            <a:pt x="0" y="123"/>
                          </a:lnTo>
                          <a:lnTo>
                            <a:pt x="892" y="0"/>
                          </a:lnTo>
                          <a:lnTo>
                            <a:pt x="0" y="69"/>
                          </a:lnTo>
                          <a:close/>
                        </a:path>
                      </a:pathLst>
                    </a:custGeom>
                    <a:solidFill>
                      <a:srgbClr val="800000"/>
                    </a:solidFill>
                    <a:ln w="1588">
                      <a:solidFill>
                        <a:srgbClr val="800000"/>
                      </a:solidFill>
                      <a:round/>
                    </a:ln>
                  </p:spPr>
                  <p:txBody>
                    <a:bodyPr/>
                    <a:lstStyle/>
                    <a:p>
                      <a:endParaRPr lang="zh-CN" altLang="en-US"/>
                    </a:p>
                  </p:txBody>
                </p:sp>
                <p:sp>
                  <p:nvSpPr>
                    <p:cNvPr id="78009" name="Freeform 37"/>
                    <p:cNvSpPr/>
                    <p:nvPr/>
                  </p:nvSpPr>
                  <p:spPr bwMode="auto">
                    <a:xfrm>
                      <a:off x="1701" y="2971"/>
                      <a:ext cx="80" cy="18"/>
                    </a:xfrm>
                    <a:custGeom>
                      <a:avLst/>
                      <a:gdLst>
                        <a:gd name="T0" fmla="*/ 0 w 883"/>
                        <a:gd name="T1" fmla="*/ 0 h 146"/>
                        <a:gd name="T2" fmla="*/ 0 w 883"/>
                        <a:gd name="T3" fmla="*/ 0 h 146"/>
                        <a:gd name="T4" fmla="*/ 0 w 883"/>
                        <a:gd name="T5" fmla="*/ 0 h 146"/>
                        <a:gd name="T6" fmla="*/ 0 w 883"/>
                        <a:gd name="T7" fmla="*/ 0 h 146"/>
                        <a:gd name="T8" fmla="*/ 0 60000 65536"/>
                        <a:gd name="T9" fmla="*/ 0 60000 65536"/>
                        <a:gd name="T10" fmla="*/ 0 60000 65536"/>
                        <a:gd name="T11" fmla="*/ 0 60000 65536"/>
                        <a:gd name="T12" fmla="*/ 0 w 883"/>
                        <a:gd name="T13" fmla="*/ 0 h 146"/>
                        <a:gd name="T14" fmla="*/ 883 w 883"/>
                        <a:gd name="T15" fmla="*/ 146 h 146"/>
                      </a:gdLst>
                      <a:ahLst/>
                      <a:cxnLst>
                        <a:cxn ang="T8">
                          <a:pos x="T0" y="T1"/>
                        </a:cxn>
                        <a:cxn ang="T9">
                          <a:pos x="T2" y="T3"/>
                        </a:cxn>
                        <a:cxn ang="T10">
                          <a:pos x="T4" y="T5"/>
                        </a:cxn>
                        <a:cxn ang="T11">
                          <a:pos x="T6" y="T7"/>
                        </a:cxn>
                      </a:cxnLst>
                      <a:rect l="T12" t="T13" r="T14" b="T15"/>
                      <a:pathLst>
                        <a:path w="883" h="146">
                          <a:moveTo>
                            <a:pt x="0" y="0"/>
                          </a:moveTo>
                          <a:lnTo>
                            <a:pt x="0" y="56"/>
                          </a:lnTo>
                          <a:lnTo>
                            <a:pt x="883" y="146"/>
                          </a:lnTo>
                          <a:lnTo>
                            <a:pt x="0" y="0"/>
                          </a:lnTo>
                          <a:close/>
                        </a:path>
                      </a:pathLst>
                    </a:custGeom>
                    <a:solidFill>
                      <a:srgbClr val="800000"/>
                    </a:solidFill>
                    <a:ln w="1588">
                      <a:solidFill>
                        <a:srgbClr val="800000"/>
                      </a:solidFill>
                      <a:round/>
                    </a:ln>
                  </p:spPr>
                  <p:txBody>
                    <a:bodyPr/>
                    <a:lstStyle/>
                    <a:p>
                      <a:endParaRPr lang="zh-CN" altLang="en-US"/>
                    </a:p>
                  </p:txBody>
                </p:sp>
                <p:sp>
                  <p:nvSpPr>
                    <p:cNvPr id="78010" name="Freeform 38"/>
                    <p:cNvSpPr/>
                    <p:nvPr/>
                  </p:nvSpPr>
                  <p:spPr bwMode="auto">
                    <a:xfrm>
                      <a:off x="1701" y="2982"/>
                      <a:ext cx="80" cy="11"/>
                    </a:xfrm>
                    <a:custGeom>
                      <a:avLst/>
                      <a:gdLst>
                        <a:gd name="T0" fmla="*/ 0 w 883"/>
                        <a:gd name="T1" fmla="*/ 0 h 90"/>
                        <a:gd name="T2" fmla="*/ 0 w 883"/>
                        <a:gd name="T3" fmla="*/ 0 h 90"/>
                        <a:gd name="T4" fmla="*/ 0 w 883"/>
                        <a:gd name="T5" fmla="*/ 0 h 90"/>
                        <a:gd name="T6" fmla="*/ 0 w 883"/>
                        <a:gd name="T7" fmla="*/ 0 h 90"/>
                        <a:gd name="T8" fmla="*/ 0 60000 65536"/>
                        <a:gd name="T9" fmla="*/ 0 60000 65536"/>
                        <a:gd name="T10" fmla="*/ 0 60000 65536"/>
                        <a:gd name="T11" fmla="*/ 0 60000 65536"/>
                        <a:gd name="T12" fmla="*/ 0 w 883"/>
                        <a:gd name="T13" fmla="*/ 0 h 90"/>
                        <a:gd name="T14" fmla="*/ 883 w 883"/>
                        <a:gd name="T15" fmla="*/ 90 h 90"/>
                      </a:gdLst>
                      <a:ahLst/>
                      <a:cxnLst>
                        <a:cxn ang="T8">
                          <a:pos x="T0" y="T1"/>
                        </a:cxn>
                        <a:cxn ang="T9">
                          <a:pos x="T2" y="T3"/>
                        </a:cxn>
                        <a:cxn ang="T10">
                          <a:pos x="T4" y="T5"/>
                        </a:cxn>
                        <a:cxn ang="T11">
                          <a:pos x="T6" y="T7"/>
                        </a:cxn>
                      </a:cxnLst>
                      <a:rect l="T12" t="T13" r="T14" b="T15"/>
                      <a:pathLst>
                        <a:path w="883" h="90">
                          <a:moveTo>
                            <a:pt x="0" y="0"/>
                          </a:moveTo>
                          <a:lnTo>
                            <a:pt x="0" y="55"/>
                          </a:lnTo>
                          <a:lnTo>
                            <a:pt x="883" y="90"/>
                          </a:lnTo>
                          <a:lnTo>
                            <a:pt x="0" y="0"/>
                          </a:lnTo>
                          <a:close/>
                        </a:path>
                      </a:pathLst>
                    </a:custGeom>
                    <a:solidFill>
                      <a:srgbClr val="800000"/>
                    </a:solidFill>
                    <a:ln w="1588">
                      <a:solidFill>
                        <a:srgbClr val="800000"/>
                      </a:solidFill>
                      <a:round/>
                    </a:ln>
                  </p:spPr>
                  <p:txBody>
                    <a:bodyPr/>
                    <a:lstStyle/>
                    <a:p>
                      <a:endParaRPr lang="zh-CN" altLang="en-US"/>
                    </a:p>
                  </p:txBody>
                </p:sp>
                <p:sp>
                  <p:nvSpPr>
                    <p:cNvPr id="78011" name="Freeform 39"/>
                    <p:cNvSpPr/>
                    <p:nvPr/>
                  </p:nvSpPr>
                  <p:spPr bwMode="auto">
                    <a:xfrm>
                      <a:off x="1701" y="2992"/>
                      <a:ext cx="81" cy="7"/>
                    </a:xfrm>
                    <a:custGeom>
                      <a:avLst/>
                      <a:gdLst>
                        <a:gd name="T0" fmla="*/ 0 w 892"/>
                        <a:gd name="T1" fmla="*/ 0 h 55"/>
                        <a:gd name="T2" fmla="*/ 0 w 892"/>
                        <a:gd name="T3" fmla="*/ 0 h 55"/>
                        <a:gd name="T4" fmla="*/ 0 w 892"/>
                        <a:gd name="T5" fmla="*/ 0 h 55"/>
                        <a:gd name="T6" fmla="*/ 0 w 892"/>
                        <a:gd name="T7" fmla="*/ 0 h 55"/>
                        <a:gd name="T8" fmla="*/ 0 60000 65536"/>
                        <a:gd name="T9" fmla="*/ 0 60000 65536"/>
                        <a:gd name="T10" fmla="*/ 0 60000 65536"/>
                        <a:gd name="T11" fmla="*/ 0 60000 65536"/>
                        <a:gd name="T12" fmla="*/ 0 w 892"/>
                        <a:gd name="T13" fmla="*/ 0 h 55"/>
                        <a:gd name="T14" fmla="*/ 892 w 892"/>
                        <a:gd name="T15" fmla="*/ 55 h 55"/>
                      </a:gdLst>
                      <a:ahLst/>
                      <a:cxnLst>
                        <a:cxn ang="T8">
                          <a:pos x="T0" y="T1"/>
                        </a:cxn>
                        <a:cxn ang="T9">
                          <a:pos x="T2" y="T3"/>
                        </a:cxn>
                        <a:cxn ang="T10">
                          <a:pos x="T4" y="T5"/>
                        </a:cxn>
                        <a:cxn ang="T11">
                          <a:pos x="T6" y="T7"/>
                        </a:cxn>
                      </a:cxnLst>
                      <a:rect l="T12" t="T13" r="T14" b="T15"/>
                      <a:pathLst>
                        <a:path w="892" h="55">
                          <a:moveTo>
                            <a:pt x="0" y="0"/>
                          </a:moveTo>
                          <a:lnTo>
                            <a:pt x="0" y="55"/>
                          </a:lnTo>
                          <a:lnTo>
                            <a:pt x="892" y="33"/>
                          </a:lnTo>
                          <a:lnTo>
                            <a:pt x="0" y="0"/>
                          </a:lnTo>
                          <a:close/>
                        </a:path>
                      </a:pathLst>
                    </a:custGeom>
                    <a:solidFill>
                      <a:srgbClr val="800000"/>
                    </a:solidFill>
                    <a:ln w="1588">
                      <a:solidFill>
                        <a:srgbClr val="800000"/>
                      </a:solidFill>
                      <a:round/>
                    </a:ln>
                  </p:spPr>
                  <p:txBody>
                    <a:bodyPr/>
                    <a:lstStyle/>
                    <a:p>
                      <a:endParaRPr lang="zh-CN" altLang="en-US"/>
                    </a:p>
                  </p:txBody>
                </p:sp>
                <p:sp>
                  <p:nvSpPr>
                    <p:cNvPr id="78012" name="Freeform 40"/>
                    <p:cNvSpPr/>
                    <p:nvPr/>
                  </p:nvSpPr>
                  <p:spPr bwMode="auto">
                    <a:xfrm>
                      <a:off x="1701" y="3000"/>
                      <a:ext cx="81" cy="9"/>
                    </a:xfrm>
                    <a:custGeom>
                      <a:avLst/>
                      <a:gdLst>
                        <a:gd name="T0" fmla="*/ 0 w 892"/>
                        <a:gd name="T1" fmla="*/ 0 h 72"/>
                        <a:gd name="T2" fmla="*/ 0 w 892"/>
                        <a:gd name="T3" fmla="*/ 0 h 72"/>
                        <a:gd name="T4" fmla="*/ 0 w 892"/>
                        <a:gd name="T5" fmla="*/ 0 h 72"/>
                        <a:gd name="T6" fmla="*/ 0 w 892"/>
                        <a:gd name="T7" fmla="*/ 0 h 72"/>
                        <a:gd name="T8" fmla="*/ 0 60000 65536"/>
                        <a:gd name="T9" fmla="*/ 0 60000 65536"/>
                        <a:gd name="T10" fmla="*/ 0 60000 65536"/>
                        <a:gd name="T11" fmla="*/ 0 60000 65536"/>
                        <a:gd name="T12" fmla="*/ 0 w 892"/>
                        <a:gd name="T13" fmla="*/ 0 h 72"/>
                        <a:gd name="T14" fmla="*/ 892 w 892"/>
                        <a:gd name="T15" fmla="*/ 72 h 72"/>
                      </a:gdLst>
                      <a:ahLst/>
                      <a:cxnLst>
                        <a:cxn ang="T8">
                          <a:pos x="T0" y="T1"/>
                        </a:cxn>
                        <a:cxn ang="T9">
                          <a:pos x="T2" y="T3"/>
                        </a:cxn>
                        <a:cxn ang="T10">
                          <a:pos x="T4" y="T5"/>
                        </a:cxn>
                        <a:cxn ang="T11">
                          <a:pos x="T6" y="T7"/>
                        </a:cxn>
                      </a:cxnLst>
                      <a:rect l="T12" t="T13" r="T14" b="T15"/>
                      <a:pathLst>
                        <a:path w="892" h="72">
                          <a:moveTo>
                            <a:pt x="0" y="17"/>
                          </a:moveTo>
                          <a:lnTo>
                            <a:pt x="0" y="72"/>
                          </a:lnTo>
                          <a:lnTo>
                            <a:pt x="892" y="0"/>
                          </a:lnTo>
                          <a:lnTo>
                            <a:pt x="0" y="17"/>
                          </a:lnTo>
                          <a:close/>
                        </a:path>
                      </a:pathLst>
                    </a:custGeom>
                    <a:solidFill>
                      <a:srgbClr val="800000"/>
                    </a:solidFill>
                    <a:ln w="1588">
                      <a:solidFill>
                        <a:srgbClr val="800000"/>
                      </a:solidFill>
                      <a:round/>
                    </a:ln>
                  </p:spPr>
                  <p:txBody>
                    <a:bodyPr/>
                    <a:lstStyle/>
                    <a:p>
                      <a:endParaRPr lang="zh-CN" altLang="en-US"/>
                    </a:p>
                  </p:txBody>
                </p:sp>
              </p:grpSp>
            </p:grpSp>
          </p:grpSp>
        </p:grpSp>
        <p:grpSp>
          <p:nvGrpSpPr>
            <p:cNvPr id="14" name="Group 41"/>
            <p:cNvGrpSpPr/>
            <p:nvPr/>
          </p:nvGrpSpPr>
          <p:grpSpPr bwMode="auto">
            <a:xfrm>
              <a:off x="1593" y="2975"/>
              <a:ext cx="294" cy="83"/>
              <a:chOff x="1593" y="2975"/>
              <a:chExt cx="294" cy="83"/>
            </a:xfrm>
          </p:grpSpPr>
          <p:grpSp>
            <p:nvGrpSpPr>
              <p:cNvPr id="15" name="Group 42"/>
              <p:cNvGrpSpPr/>
              <p:nvPr/>
            </p:nvGrpSpPr>
            <p:grpSpPr bwMode="auto">
              <a:xfrm>
                <a:off x="1826" y="2975"/>
                <a:ext cx="61" cy="83"/>
                <a:chOff x="1826" y="2975"/>
                <a:chExt cx="61" cy="83"/>
              </a:xfrm>
            </p:grpSpPr>
            <p:sp>
              <p:nvSpPr>
                <p:cNvPr id="77989" name="Oval 43"/>
                <p:cNvSpPr>
                  <a:spLocks noChangeArrowheads="1"/>
                </p:cNvSpPr>
                <p:nvPr/>
              </p:nvSpPr>
              <p:spPr bwMode="auto">
                <a:xfrm>
                  <a:off x="1826" y="2975"/>
                  <a:ext cx="61" cy="83"/>
                </a:xfrm>
                <a:prstGeom prst="ellipse">
                  <a:avLst/>
                </a:prstGeom>
                <a:solidFill>
                  <a:srgbClr val="000000"/>
                </a:solidFill>
                <a:ln w="1588">
                  <a:solidFill>
                    <a:srgbClr val="000000"/>
                  </a:solidFill>
                  <a:round/>
                </a:ln>
              </p:spPr>
              <p:txBody>
                <a:bodyPr/>
                <a:lstStyle/>
                <a:p>
                  <a:endParaRPr lang="zh-CN" altLang="en-US"/>
                </a:p>
              </p:txBody>
            </p:sp>
            <p:sp>
              <p:nvSpPr>
                <p:cNvPr id="77990" name="Freeform 44"/>
                <p:cNvSpPr/>
                <p:nvPr/>
              </p:nvSpPr>
              <p:spPr bwMode="auto">
                <a:xfrm>
                  <a:off x="1851" y="3029"/>
                  <a:ext cx="11" cy="17"/>
                </a:xfrm>
                <a:custGeom>
                  <a:avLst/>
                  <a:gdLst>
                    <a:gd name="T0" fmla="*/ 0 w 116"/>
                    <a:gd name="T1" fmla="*/ 0 h 141"/>
                    <a:gd name="T2" fmla="*/ 0 w 116"/>
                    <a:gd name="T3" fmla="*/ 0 h 141"/>
                    <a:gd name="T4" fmla="*/ 0 w 116"/>
                    <a:gd name="T5" fmla="*/ 0 h 141"/>
                    <a:gd name="T6" fmla="*/ 0 w 116"/>
                    <a:gd name="T7" fmla="*/ 0 h 141"/>
                    <a:gd name="T8" fmla="*/ 0 w 116"/>
                    <a:gd name="T9" fmla="*/ 0 h 141"/>
                    <a:gd name="T10" fmla="*/ 0 w 116"/>
                    <a:gd name="T11" fmla="*/ 0 h 141"/>
                    <a:gd name="T12" fmla="*/ 0 60000 65536"/>
                    <a:gd name="T13" fmla="*/ 0 60000 65536"/>
                    <a:gd name="T14" fmla="*/ 0 60000 65536"/>
                    <a:gd name="T15" fmla="*/ 0 60000 65536"/>
                    <a:gd name="T16" fmla="*/ 0 60000 65536"/>
                    <a:gd name="T17" fmla="*/ 0 60000 65536"/>
                    <a:gd name="T18" fmla="*/ 0 w 116"/>
                    <a:gd name="T19" fmla="*/ 0 h 141"/>
                    <a:gd name="T20" fmla="*/ 116 w 116"/>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6" h="141">
                      <a:moveTo>
                        <a:pt x="0" y="131"/>
                      </a:moveTo>
                      <a:lnTo>
                        <a:pt x="45" y="0"/>
                      </a:lnTo>
                      <a:lnTo>
                        <a:pt x="73" y="0"/>
                      </a:lnTo>
                      <a:lnTo>
                        <a:pt x="116" y="136"/>
                      </a:lnTo>
                      <a:lnTo>
                        <a:pt x="60" y="141"/>
                      </a:lnTo>
                      <a:lnTo>
                        <a:pt x="0" y="131"/>
                      </a:lnTo>
                      <a:close/>
                    </a:path>
                  </a:pathLst>
                </a:custGeom>
                <a:solidFill>
                  <a:srgbClr val="FF0000"/>
                </a:solidFill>
                <a:ln w="1588">
                  <a:solidFill>
                    <a:srgbClr val="000000"/>
                  </a:solidFill>
                  <a:round/>
                </a:ln>
              </p:spPr>
              <p:txBody>
                <a:bodyPr/>
                <a:lstStyle/>
                <a:p>
                  <a:endParaRPr lang="zh-CN" altLang="en-US"/>
                </a:p>
              </p:txBody>
            </p:sp>
            <p:sp>
              <p:nvSpPr>
                <p:cNvPr id="77991" name="Freeform 45"/>
                <p:cNvSpPr/>
                <p:nvPr/>
              </p:nvSpPr>
              <p:spPr bwMode="auto">
                <a:xfrm>
                  <a:off x="1851" y="2986"/>
                  <a:ext cx="11" cy="18"/>
                </a:xfrm>
                <a:custGeom>
                  <a:avLst/>
                  <a:gdLst>
                    <a:gd name="T0" fmla="*/ 0 w 118"/>
                    <a:gd name="T1" fmla="*/ 0 h 141"/>
                    <a:gd name="T2" fmla="*/ 0 w 118"/>
                    <a:gd name="T3" fmla="*/ 0 h 141"/>
                    <a:gd name="T4" fmla="*/ 0 w 118"/>
                    <a:gd name="T5" fmla="*/ 0 h 141"/>
                    <a:gd name="T6" fmla="*/ 0 w 118"/>
                    <a:gd name="T7" fmla="*/ 0 h 141"/>
                    <a:gd name="T8" fmla="*/ 0 w 118"/>
                    <a:gd name="T9" fmla="*/ 0 h 141"/>
                    <a:gd name="T10" fmla="*/ 0 w 118"/>
                    <a:gd name="T11" fmla="*/ 0 h 141"/>
                    <a:gd name="T12" fmla="*/ 0 60000 65536"/>
                    <a:gd name="T13" fmla="*/ 0 60000 65536"/>
                    <a:gd name="T14" fmla="*/ 0 60000 65536"/>
                    <a:gd name="T15" fmla="*/ 0 60000 65536"/>
                    <a:gd name="T16" fmla="*/ 0 60000 65536"/>
                    <a:gd name="T17" fmla="*/ 0 60000 65536"/>
                    <a:gd name="T18" fmla="*/ 0 w 118"/>
                    <a:gd name="T19" fmla="*/ 0 h 141"/>
                    <a:gd name="T20" fmla="*/ 118 w 118"/>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8" h="141">
                      <a:moveTo>
                        <a:pt x="0" y="10"/>
                      </a:moveTo>
                      <a:lnTo>
                        <a:pt x="47" y="141"/>
                      </a:lnTo>
                      <a:lnTo>
                        <a:pt x="74" y="141"/>
                      </a:lnTo>
                      <a:lnTo>
                        <a:pt x="118" y="6"/>
                      </a:lnTo>
                      <a:lnTo>
                        <a:pt x="60" y="0"/>
                      </a:lnTo>
                      <a:lnTo>
                        <a:pt x="0" y="10"/>
                      </a:lnTo>
                      <a:close/>
                    </a:path>
                  </a:pathLst>
                </a:custGeom>
                <a:solidFill>
                  <a:srgbClr val="FF0000"/>
                </a:solidFill>
                <a:ln w="1588">
                  <a:solidFill>
                    <a:srgbClr val="000000"/>
                  </a:solidFill>
                  <a:round/>
                </a:ln>
              </p:spPr>
              <p:txBody>
                <a:bodyPr/>
                <a:lstStyle/>
                <a:p>
                  <a:endParaRPr lang="zh-CN" altLang="en-US"/>
                </a:p>
              </p:txBody>
            </p:sp>
            <p:sp>
              <p:nvSpPr>
                <p:cNvPr id="77992" name="Freeform 46"/>
                <p:cNvSpPr/>
                <p:nvPr/>
              </p:nvSpPr>
              <p:spPr bwMode="auto">
                <a:xfrm>
                  <a:off x="1865" y="3009"/>
                  <a:ext cx="13" cy="14"/>
                </a:xfrm>
                <a:custGeom>
                  <a:avLst/>
                  <a:gdLst>
                    <a:gd name="T0" fmla="*/ 0 w 141"/>
                    <a:gd name="T1" fmla="*/ 0 h 115"/>
                    <a:gd name="T2" fmla="*/ 0 w 141"/>
                    <a:gd name="T3" fmla="*/ 0 h 115"/>
                    <a:gd name="T4" fmla="*/ 0 w 141"/>
                    <a:gd name="T5" fmla="*/ 0 h 115"/>
                    <a:gd name="T6" fmla="*/ 0 w 141"/>
                    <a:gd name="T7" fmla="*/ 0 h 115"/>
                    <a:gd name="T8" fmla="*/ 0 w 141"/>
                    <a:gd name="T9" fmla="*/ 0 h 115"/>
                    <a:gd name="T10" fmla="*/ 0 w 141"/>
                    <a:gd name="T11" fmla="*/ 0 h 115"/>
                    <a:gd name="T12" fmla="*/ 0 60000 65536"/>
                    <a:gd name="T13" fmla="*/ 0 60000 65536"/>
                    <a:gd name="T14" fmla="*/ 0 60000 65536"/>
                    <a:gd name="T15" fmla="*/ 0 60000 65536"/>
                    <a:gd name="T16" fmla="*/ 0 60000 65536"/>
                    <a:gd name="T17" fmla="*/ 0 60000 65536"/>
                    <a:gd name="T18" fmla="*/ 0 w 141"/>
                    <a:gd name="T19" fmla="*/ 0 h 115"/>
                    <a:gd name="T20" fmla="*/ 141 w 141"/>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1" h="115">
                      <a:moveTo>
                        <a:pt x="131" y="0"/>
                      </a:moveTo>
                      <a:lnTo>
                        <a:pt x="0" y="46"/>
                      </a:lnTo>
                      <a:lnTo>
                        <a:pt x="0" y="73"/>
                      </a:lnTo>
                      <a:lnTo>
                        <a:pt x="135" y="115"/>
                      </a:lnTo>
                      <a:lnTo>
                        <a:pt x="141" y="60"/>
                      </a:lnTo>
                      <a:lnTo>
                        <a:pt x="131" y="0"/>
                      </a:lnTo>
                      <a:close/>
                    </a:path>
                  </a:pathLst>
                </a:custGeom>
                <a:solidFill>
                  <a:srgbClr val="FF0000"/>
                </a:solidFill>
                <a:ln w="1588">
                  <a:solidFill>
                    <a:srgbClr val="000000"/>
                  </a:solidFill>
                  <a:round/>
                </a:ln>
              </p:spPr>
              <p:txBody>
                <a:bodyPr/>
                <a:lstStyle/>
                <a:p>
                  <a:endParaRPr lang="zh-CN" altLang="en-US"/>
                </a:p>
              </p:txBody>
            </p:sp>
            <p:sp>
              <p:nvSpPr>
                <p:cNvPr id="77993" name="Freeform 47"/>
                <p:cNvSpPr/>
                <p:nvPr/>
              </p:nvSpPr>
              <p:spPr bwMode="auto">
                <a:xfrm>
                  <a:off x="1835" y="3009"/>
                  <a:ext cx="12" cy="14"/>
                </a:xfrm>
                <a:custGeom>
                  <a:avLst/>
                  <a:gdLst>
                    <a:gd name="T0" fmla="*/ 0 w 141"/>
                    <a:gd name="T1" fmla="*/ 0 h 115"/>
                    <a:gd name="T2" fmla="*/ 0 w 141"/>
                    <a:gd name="T3" fmla="*/ 0 h 115"/>
                    <a:gd name="T4" fmla="*/ 0 w 141"/>
                    <a:gd name="T5" fmla="*/ 0 h 115"/>
                    <a:gd name="T6" fmla="*/ 0 w 141"/>
                    <a:gd name="T7" fmla="*/ 0 h 115"/>
                    <a:gd name="T8" fmla="*/ 0 w 141"/>
                    <a:gd name="T9" fmla="*/ 0 h 115"/>
                    <a:gd name="T10" fmla="*/ 0 w 141"/>
                    <a:gd name="T11" fmla="*/ 0 h 115"/>
                    <a:gd name="T12" fmla="*/ 0 60000 65536"/>
                    <a:gd name="T13" fmla="*/ 0 60000 65536"/>
                    <a:gd name="T14" fmla="*/ 0 60000 65536"/>
                    <a:gd name="T15" fmla="*/ 0 60000 65536"/>
                    <a:gd name="T16" fmla="*/ 0 60000 65536"/>
                    <a:gd name="T17" fmla="*/ 0 60000 65536"/>
                    <a:gd name="T18" fmla="*/ 0 w 141"/>
                    <a:gd name="T19" fmla="*/ 0 h 115"/>
                    <a:gd name="T20" fmla="*/ 141 w 141"/>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1" h="115">
                      <a:moveTo>
                        <a:pt x="10" y="0"/>
                      </a:moveTo>
                      <a:lnTo>
                        <a:pt x="141" y="46"/>
                      </a:lnTo>
                      <a:lnTo>
                        <a:pt x="141" y="73"/>
                      </a:lnTo>
                      <a:lnTo>
                        <a:pt x="5" y="115"/>
                      </a:lnTo>
                      <a:lnTo>
                        <a:pt x="0" y="60"/>
                      </a:lnTo>
                      <a:lnTo>
                        <a:pt x="10" y="0"/>
                      </a:lnTo>
                      <a:close/>
                    </a:path>
                  </a:pathLst>
                </a:custGeom>
                <a:solidFill>
                  <a:srgbClr val="FF0000"/>
                </a:solidFill>
                <a:ln w="1588">
                  <a:solidFill>
                    <a:srgbClr val="000000"/>
                  </a:solidFill>
                  <a:round/>
                </a:ln>
              </p:spPr>
              <p:txBody>
                <a:bodyPr/>
                <a:lstStyle/>
                <a:p>
                  <a:endParaRPr lang="zh-CN" altLang="en-US"/>
                </a:p>
              </p:txBody>
            </p:sp>
            <p:sp>
              <p:nvSpPr>
                <p:cNvPr id="77994" name="Oval 48"/>
                <p:cNvSpPr>
                  <a:spLocks noChangeArrowheads="1"/>
                </p:cNvSpPr>
                <p:nvPr/>
              </p:nvSpPr>
              <p:spPr bwMode="auto">
                <a:xfrm>
                  <a:off x="1834" y="2985"/>
                  <a:ext cx="44" cy="62"/>
                </a:xfrm>
                <a:prstGeom prst="ellipse">
                  <a:avLst/>
                </a:prstGeom>
                <a:noFill/>
                <a:ln w="1588">
                  <a:solidFill>
                    <a:srgbClr val="FFFFFF"/>
                  </a:solidFill>
                  <a:round/>
                </a:ln>
              </p:spPr>
              <p:txBody>
                <a:bodyPr/>
                <a:lstStyle/>
                <a:p>
                  <a:endParaRPr lang="zh-CN" altLang="en-US"/>
                </a:p>
              </p:txBody>
            </p:sp>
            <p:grpSp>
              <p:nvGrpSpPr>
                <p:cNvPr id="16" name="Group 49"/>
                <p:cNvGrpSpPr/>
                <p:nvPr/>
              </p:nvGrpSpPr>
              <p:grpSpPr bwMode="auto">
                <a:xfrm>
                  <a:off x="1847" y="3004"/>
                  <a:ext cx="18" cy="24"/>
                  <a:chOff x="1847" y="3004"/>
                  <a:chExt cx="18" cy="24"/>
                </a:xfrm>
              </p:grpSpPr>
              <p:sp>
                <p:nvSpPr>
                  <p:cNvPr id="77996" name="Oval 50"/>
                  <p:cNvSpPr>
                    <a:spLocks noChangeArrowheads="1"/>
                  </p:cNvSpPr>
                  <p:nvPr/>
                </p:nvSpPr>
                <p:spPr bwMode="auto">
                  <a:xfrm>
                    <a:off x="1847" y="3004"/>
                    <a:ext cx="18" cy="24"/>
                  </a:xfrm>
                  <a:prstGeom prst="ellipse">
                    <a:avLst/>
                  </a:prstGeom>
                  <a:solidFill>
                    <a:srgbClr val="000000"/>
                  </a:solidFill>
                  <a:ln w="1588">
                    <a:solidFill>
                      <a:srgbClr val="FFFFFF"/>
                    </a:solidFill>
                    <a:round/>
                  </a:ln>
                </p:spPr>
                <p:txBody>
                  <a:bodyPr/>
                  <a:lstStyle/>
                  <a:p>
                    <a:endParaRPr lang="zh-CN" altLang="en-US"/>
                  </a:p>
                </p:txBody>
              </p:sp>
              <p:sp>
                <p:nvSpPr>
                  <p:cNvPr id="77997" name="Oval 51"/>
                  <p:cNvSpPr>
                    <a:spLocks noChangeArrowheads="1"/>
                  </p:cNvSpPr>
                  <p:nvPr/>
                </p:nvSpPr>
                <p:spPr bwMode="auto">
                  <a:xfrm>
                    <a:off x="1851" y="3008"/>
                    <a:ext cx="10" cy="16"/>
                  </a:xfrm>
                  <a:prstGeom prst="ellipse">
                    <a:avLst/>
                  </a:prstGeom>
                  <a:solidFill>
                    <a:srgbClr val="000000"/>
                  </a:solidFill>
                  <a:ln w="1588">
                    <a:solidFill>
                      <a:srgbClr val="FFFFFF"/>
                    </a:solidFill>
                    <a:round/>
                  </a:ln>
                </p:spPr>
                <p:txBody>
                  <a:bodyPr/>
                  <a:lstStyle/>
                  <a:p>
                    <a:endParaRPr lang="zh-CN" altLang="en-US"/>
                  </a:p>
                </p:txBody>
              </p:sp>
            </p:grpSp>
          </p:grpSp>
          <p:grpSp>
            <p:nvGrpSpPr>
              <p:cNvPr id="17" name="Group 52"/>
              <p:cNvGrpSpPr/>
              <p:nvPr/>
            </p:nvGrpSpPr>
            <p:grpSpPr bwMode="auto">
              <a:xfrm>
                <a:off x="1593" y="2975"/>
                <a:ext cx="61" cy="83"/>
                <a:chOff x="1593" y="2975"/>
                <a:chExt cx="61" cy="83"/>
              </a:xfrm>
            </p:grpSpPr>
            <p:sp>
              <p:nvSpPr>
                <p:cNvPr id="77980" name="Oval 53"/>
                <p:cNvSpPr>
                  <a:spLocks noChangeArrowheads="1"/>
                </p:cNvSpPr>
                <p:nvPr/>
              </p:nvSpPr>
              <p:spPr bwMode="auto">
                <a:xfrm>
                  <a:off x="1593" y="2975"/>
                  <a:ext cx="61" cy="83"/>
                </a:xfrm>
                <a:prstGeom prst="ellipse">
                  <a:avLst/>
                </a:prstGeom>
                <a:solidFill>
                  <a:srgbClr val="000000"/>
                </a:solidFill>
                <a:ln w="1588">
                  <a:solidFill>
                    <a:srgbClr val="000000"/>
                  </a:solidFill>
                  <a:round/>
                </a:ln>
              </p:spPr>
              <p:txBody>
                <a:bodyPr/>
                <a:lstStyle/>
                <a:p>
                  <a:endParaRPr lang="zh-CN" altLang="en-US"/>
                </a:p>
              </p:txBody>
            </p:sp>
            <p:sp>
              <p:nvSpPr>
                <p:cNvPr id="77981" name="Freeform 54"/>
                <p:cNvSpPr/>
                <p:nvPr/>
              </p:nvSpPr>
              <p:spPr bwMode="auto">
                <a:xfrm>
                  <a:off x="1619" y="3029"/>
                  <a:ext cx="10" cy="17"/>
                </a:xfrm>
                <a:custGeom>
                  <a:avLst/>
                  <a:gdLst>
                    <a:gd name="T0" fmla="*/ 0 w 115"/>
                    <a:gd name="T1" fmla="*/ 0 h 141"/>
                    <a:gd name="T2" fmla="*/ 0 w 115"/>
                    <a:gd name="T3" fmla="*/ 0 h 141"/>
                    <a:gd name="T4" fmla="*/ 0 w 115"/>
                    <a:gd name="T5" fmla="*/ 0 h 141"/>
                    <a:gd name="T6" fmla="*/ 0 w 115"/>
                    <a:gd name="T7" fmla="*/ 0 h 141"/>
                    <a:gd name="T8" fmla="*/ 0 w 115"/>
                    <a:gd name="T9" fmla="*/ 0 h 141"/>
                    <a:gd name="T10" fmla="*/ 0 w 115"/>
                    <a:gd name="T11" fmla="*/ 0 h 141"/>
                    <a:gd name="T12" fmla="*/ 0 60000 65536"/>
                    <a:gd name="T13" fmla="*/ 0 60000 65536"/>
                    <a:gd name="T14" fmla="*/ 0 60000 65536"/>
                    <a:gd name="T15" fmla="*/ 0 60000 65536"/>
                    <a:gd name="T16" fmla="*/ 0 60000 65536"/>
                    <a:gd name="T17" fmla="*/ 0 60000 65536"/>
                    <a:gd name="T18" fmla="*/ 0 w 115"/>
                    <a:gd name="T19" fmla="*/ 0 h 141"/>
                    <a:gd name="T20" fmla="*/ 115 w 115"/>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5" h="141">
                      <a:moveTo>
                        <a:pt x="0" y="131"/>
                      </a:moveTo>
                      <a:lnTo>
                        <a:pt x="44" y="0"/>
                      </a:lnTo>
                      <a:lnTo>
                        <a:pt x="72" y="0"/>
                      </a:lnTo>
                      <a:lnTo>
                        <a:pt x="115" y="136"/>
                      </a:lnTo>
                      <a:lnTo>
                        <a:pt x="59" y="141"/>
                      </a:lnTo>
                      <a:lnTo>
                        <a:pt x="0" y="131"/>
                      </a:lnTo>
                      <a:close/>
                    </a:path>
                  </a:pathLst>
                </a:custGeom>
                <a:solidFill>
                  <a:srgbClr val="FF0000"/>
                </a:solidFill>
                <a:ln w="1588">
                  <a:solidFill>
                    <a:srgbClr val="000000"/>
                  </a:solidFill>
                  <a:round/>
                </a:ln>
              </p:spPr>
              <p:txBody>
                <a:bodyPr/>
                <a:lstStyle/>
                <a:p>
                  <a:endParaRPr lang="zh-CN" altLang="en-US"/>
                </a:p>
              </p:txBody>
            </p:sp>
            <p:sp>
              <p:nvSpPr>
                <p:cNvPr id="77982" name="Freeform 55"/>
                <p:cNvSpPr/>
                <p:nvPr/>
              </p:nvSpPr>
              <p:spPr bwMode="auto">
                <a:xfrm>
                  <a:off x="1618" y="2986"/>
                  <a:ext cx="11" cy="18"/>
                </a:xfrm>
                <a:custGeom>
                  <a:avLst/>
                  <a:gdLst>
                    <a:gd name="T0" fmla="*/ 0 w 119"/>
                    <a:gd name="T1" fmla="*/ 0 h 141"/>
                    <a:gd name="T2" fmla="*/ 0 w 119"/>
                    <a:gd name="T3" fmla="*/ 0 h 141"/>
                    <a:gd name="T4" fmla="*/ 0 w 119"/>
                    <a:gd name="T5" fmla="*/ 0 h 141"/>
                    <a:gd name="T6" fmla="*/ 0 w 119"/>
                    <a:gd name="T7" fmla="*/ 0 h 141"/>
                    <a:gd name="T8" fmla="*/ 0 w 119"/>
                    <a:gd name="T9" fmla="*/ 0 h 141"/>
                    <a:gd name="T10" fmla="*/ 0 w 119"/>
                    <a:gd name="T11" fmla="*/ 0 h 141"/>
                    <a:gd name="T12" fmla="*/ 0 60000 65536"/>
                    <a:gd name="T13" fmla="*/ 0 60000 65536"/>
                    <a:gd name="T14" fmla="*/ 0 60000 65536"/>
                    <a:gd name="T15" fmla="*/ 0 60000 65536"/>
                    <a:gd name="T16" fmla="*/ 0 60000 65536"/>
                    <a:gd name="T17" fmla="*/ 0 60000 65536"/>
                    <a:gd name="T18" fmla="*/ 0 w 119"/>
                    <a:gd name="T19" fmla="*/ 0 h 141"/>
                    <a:gd name="T20" fmla="*/ 119 w 119"/>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9" h="141">
                      <a:moveTo>
                        <a:pt x="0" y="10"/>
                      </a:moveTo>
                      <a:lnTo>
                        <a:pt x="47" y="141"/>
                      </a:lnTo>
                      <a:lnTo>
                        <a:pt x="76" y="141"/>
                      </a:lnTo>
                      <a:lnTo>
                        <a:pt x="119" y="6"/>
                      </a:lnTo>
                      <a:lnTo>
                        <a:pt x="61" y="0"/>
                      </a:lnTo>
                      <a:lnTo>
                        <a:pt x="0" y="10"/>
                      </a:lnTo>
                      <a:close/>
                    </a:path>
                  </a:pathLst>
                </a:custGeom>
                <a:solidFill>
                  <a:srgbClr val="FF0000"/>
                </a:solidFill>
                <a:ln w="1588">
                  <a:solidFill>
                    <a:srgbClr val="000000"/>
                  </a:solidFill>
                  <a:round/>
                </a:ln>
              </p:spPr>
              <p:txBody>
                <a:bodyPr/>
                <a:lstStyle/>
                <a:p>
                  <a:endParaRPr lang="zh-CN" altLang="en-US"/>
                </a:p>
              </p:txBody>
            </p:sp>
            <p:sp>
              <p:nvSpPr>
                <p:cNvPr id="77983" name="Freeform 56"/>
                <p:cNvSpPr/>
                <p:nvPr/>
              </p:nvSpPr>
              <p:spPr bwMode="auto">
                <a:xfrm>
                  <a:off x="1633" y="3009"/>
                  <a:ext cx="12"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32" y="0"/>
                      </a:moveTo>
                      <a:lnTo>
                        <a:pt x="0" y="46"/>
                      </a:lnTo>
                      <a:lnTo>
                        <a:pt x="0" y="73"/>
                      </a:lnTo>
                      <a:lnTo>
                        <a:pt x="136" y="115"/>
                      </a:lnTo>
                      <a:lnTo>
                        <a:pt x="142" y="60"/>
                      </a:lnTo>
                      <a:lnTo>
                        <a:pt x="132" y="0"/>
                      </a:lnTo>
                      <a:close/>
                    </a:path>
                  </a:pathLst>
                </a:custGeom>
                <a:solidFill>
                  <a:srgbClr val="FF0000"/>
                </a:solidFill>
                <a:ln w="1588">
                  <a:solidFill>
                    <a:srgbClr val="000000"/>
                  </a:solidFill>
                  <a:round/>
                </a:ln>
              </p:spPr>
              <p:txBody>
                <a:bodyPr/>
                <a:lstStyle/>
                <a:p>
                  <a:endParaRPr lang="zh-CN" altLang="en-US"/>
                </a:p>
              </p:txBody>
            </p:sp>
            <p:sp>
              <p:nvSpPr>
                <p:cNvPr id="77984" name="Freeform 57"/>
                <p:cNvSpPr/>
                <p:nvPr/>
              </p:nvSpPr>
              <p:spPr bwMode="auto">
                <a:xfrm>
                  <a:off x="1602" y="3009"/>
                  <a:ext cx="13" cy="14"/>
                </a:xfrm>
                <a:custGeom>
                  <a:avLst/>
                  <a:gdLst>
                    <a:gd name="T0" fmla="*/ 0 w 143"/>
                    <a:gd name="T1" fmla="*/ 0 h 115"/>
                    <a:gd name="T2" fmla="*/ 0 w 143"/>
                    <a:gd name="T3" fmla="*/ 0 h 115"/>
                    <a:gd name="T4" fmla="*/ 0 w 143"/>
                    <a:gd name="T5" fmla="*/ 0 h 115"/>
                    <a:gd name="T6" fmla="*/ 0 w 143"/>
                    <a:gd name="T7" fmla="*/ 0 h 115"/>
                    <a:gd name="T8" fmla="*/ 0 w 143"/>
                    <a:gd name="T9" fmla="*/ 0 h 115"/>
                    <a:gd name="T10" fmla="*/ 0 w 143"/>
                    <a:gd name="T11" fmla="*/ 0 h 115"/>
                    <a:gd name="T12" fmla="*/ 0 60000 65536"/>
                    <a:gd name="T13" fmla="*/ 0 60000 65536"/>
                    <a:gd name="T14" fmla="*/ 0 60000 65536"/>
                    <a:gd name="T15" fmla="*/ 0 60000 65536"/>
                    <a:gd name="T16" fmla="*/ 0 60000 65536"/>
                    <a:gd name="T17" fmla="*/ 0 60000 65536"/>
                    <a:gd name="T18" fmla="*/ 0 w 143"/>
                    <a:gd name="T19" fmla="*/ 0 h 115"/>
                    <a:gd name="T20" fmla="*/ 143 w 143"/>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3" h="115">
                      <a:moveTo>
                        <a:pt x="11" y="0"/>
                      </a:moveTo>
                      <a:lnTo>
                        <a:pt x="143" y="46"/>
                      </a:lnTo>
                      <a:lnTo>
                        <a:pt x="143" y="73"/>
                      </a:lnTo>
                      <a:lnTo>
                        <a:pt x="7" y="115"/>
                      </a:lnTo>
                      <a:lnTo>
                        <a:pt x="0" y="60"/>
                      </a:lnTo>
                      <a:lnTo>
                        <a:pt x="11" y="0"/>
                      </a:lnTo>
                      <a:close/>
                    </a:path>
                  </a:pathLst>
                </a:custGeom>
                <a:solidFill>
                  <a:srgbClr val="FF0000"/>
                </a:solidFill>
                <a:ln w="1588">
                  <a:solidFill>
                    <a:srgbClr val="000000"/>
                  </a:solidFill>
                  <a:round/>
                </a:ln>
              </p:spPr>
              <p:txBody>
                <a:bodyPr/>
                <a:lstStyle/>
                <a:p>
                  <a:endParaRPr lang="zh-CN" altLang="en-US"/>
                </a:p>
              </p:txBody>
            </p:sp>
            <p:sp>
              <p:nvSpPr>
                <p:cNvPr id="77985" name="Oval 58"/>
                <p:cNvSpPr>
                  <a:spLocks noChangeArrowheads="1"/>
                </p:cNvSpPr>
                <p:nvPr/>
              </p:nvSpPr>
              <p:spPr bwMode="auto">
                <a:xfrm>
                  <a:off x="1601" y="2985"/>
                  <a:ext cx="45" cy="62"/>
                </a:xfrm>
                <a:prstGeom prst="ellipse">
                  <a:avLst/>
                </a:prstGeom>
                <a:noFill/>
                <a:ln w="1588">
                  <a:solidFill>
                    <a:srgbClr val="FFFFFF"/>
                  </a:solidFill>
                  <a:round/>
                </a:ln>
              </p:spPr>
              <p:txBody>
                <a:bodyPr/>
                <a:lstStyle/>
                <a:p>
                  <a:endParaRPr lang="zh-CN" altLang="en-US"/>
                </a:p>
              </p:txBody>
            </p:sp>
            <p:grpSp>
              <p:nvGrpSpPr>
                <p:cNvPr id="18" name="Group 59"/>
                <p:cNvGrpSpPr/>
                <p:nvPr/>
              </p:nvGrpSpPr>
              <p:grpSpPr bwMode="auto">
                <a:xfrm>
                  <a:off x="1614" y="3004"/>
                  <a:ext cx="18" cy="24"/>
                  <a:chOff x="1614" y="3004"/>
                  <a:chExt cx="18" cy="24"/>
                </a:xfrm>
              </p:grpSpPr>
              <p:sp>
                <p:nvSpPr>
                  <p:cNvPr id="77987" name="Oval 60"/>
                  <p:cNvSpPr>
                    <a:spLocks noChangeArrowheads="1"/>
                  </p:cNvSpPr>
                  <p:nvPr/>
                </p:nvSpPr>
                <p:spPr bwMode="auto">
                  <a:xfrm>
                    <a:off x="1614" y="3004"/>
                    <a:ext cx="18" cy="24"/>
                  </a:xfrm>
                  <a:prstGeom prst="ellipse">
                    <a:avLst/>
                  </a:prstGeom>
                  <a:solidFill>
                    <a:srgbClr val="000000"/>
                  </a:solidFill>
                  <a:ln w="1588">
                    <a:solidFill>
                      <a:srgbClr val="FFFFFF"/>
                    </a:solidFill>
                    <a:round/>
                  </a:ln>
                </p:spPr>
                <p:txBody>
                  <a:bodyPr/>
                  <a:lstStyle/>
                  <a:p>
                    <a:endParaRPr lang="zh-CN" altLang="en-US"/>
                  </a:p>
                </p:txBody>
              </p:sp>
              <p:sp>
                <p:nvSpPr>
                  <p:cNvPr id="77988" name="Oval 61"/>
                  <p:cNvSpPr>
                    <a:spLocks noChangeArrowheads="1"/>
                  </p:cNvSpPr>
                  <p:nvPr/>
                </p:nvSpPr>
                <p:spPr bwMode="auto">
                  <a:xfrm>
                    <a:off x="1618" y="3008"/>
                    <a:ext cx="11" cy="16"/>
                  </a:xfrm>
                  <a:prstGeom prst="ellipse">
                    <a:avLst/>
                  </a:prstGeom>
                  <a:solidFill>
                    <a:srgbClr val="000000"/>
                  </a:solidFill>
                  <a:ln w="1588">
                    <a:solidFill>
                      <a:srgbClr val="FFFFFF"/>
                    </a:solidFill>
                    <a:round/>
                  </a:ln>
                </p:spPr>
                <p:txBody>
                  <a:bodyPr/>
                  <a:lstStyle/>
                  <a:p>
                    <a:endParaRPr lang="zh-CN" altLang="en-US"/>
                  </a:p>
                </p:txBody>
              </p:sp>
            </p:grpSp>
          </p:grpSp>
        </p:grpSp>
      </p:grpSp>
      <p:grpSp>
        <p:nvGrpSpPr>
          <p:cNvPr id="19" name="Group 62"/>
          <p:cNvGrpSpPr/>
          <p:nvPr/>
        </p:nvGrpSpPr>
        <p:grpSpPr bwMode="auto">
          <a:xfrm>
            <a:off x="5784851" y="2852738"/>
            <a:ext cx="511175" cy="105966"/>
            <a:chOff x="3816" y="1595"/>
            <a:chExt cx="382" cy="135"/>
          </a:xfrm>
        </p:grpSpPr>
        <p:grpSp>
          <p:nvGrpSpPr>
            <p:cNvPr id="20" name="Group 63"/>
            <p:cNvGrpSpPr/>
            <p:nvPr/>
          </p:nvGrpSpPr>
          <p:grpSpPr bwMode="auto">
            <a:xfrm>
              <a:off x="3816" y="1595"/>
              <a:ext cx="382" cy="121"/>
              <a:chOff x="3816" y="1595"/>
              <a:chExt cx="382" cy="121"/>
            </a:xfrm>
          </p:grpSpPr>
          <p:grpSp>
            <p:nvGrpSpPr>
              <p:cNvPr id="21" name="Group 64"/>
              <p:cNvGrpSpPr/>
              <p:nvPr/>
            </p:nvGrpSpPr>
            <p:grpSpPr bwMode="auto">
              <a:xfrm>
                <a:off x="3836" y="1595"/>
                <a:ext cx="262" cy="47"/>
                <a:chOff x="3836" y="1595"/>
                <a:chExt cx="262" cy="47"/>
              </a:xfrm>
            </p:grpSpPr>
            <p:grpSp>
              <p:nvGrpSpPr>
                <p:cNvPr id="22" name="Group 65"/>
                <p:cNvGrpSpPr/>
                <p:nvPr/>
              </p:nvGrpSpPr>
              <p:grpSpPr bwMode="auto">
                <a:xfrm>
                  <a:off x="3928" y="1600"/>
                  <a:ext cx="140" cy="42"/>
                  <a:chOff x="3928" y="1600"/>
                  <a:chExt cx="140" cy="42"/>
                </a:xfrm>
              </p:grpSpPr>
              <p:grpSp>
                <p:nvGrpSpPr>
                  <p:cNvPr id="23" name="Group 66"/>
                  <p:cNvGrpSpPr/>
                  <p:nvPr/>
                </p:nvGrpSpPr>
                <p:grpSpPr bwMode="auto">
                  <a:xfrm>
                    <a:off x="3959" y="1602"/>
                    <a:ext cx="90" cy="36"/>
                    <a:chOff x="3959" y="1602"/>
                    <a:chExt cx="90" cy="36"/>
                  </a:xfrm>
                </p:grpSpPr>
                <p:sp>
                  <p:nvSpPr>
                    <p:cNvPr id="77974" name="Freeform 67"/>
                    <p:cNvSpPr/>
                    <p:nvPr/>
                  </p:nvSpPr>
                  <p:spPr bwMode="auto">
                    <a:xfrm>
                      <a:off x="3959" y="1602"/>
                      <a:ext cx="16" cy="29"/>
                    </a:xfrm>
                    <a:custGeom>
                      <a:avLst/>
                      <a:gdLst>
                        <a:gd name="T0" fmla="*/ 0 w 168"/>
                        <a:gd name="T1" fmla="*/ 0 h 235"/>
                        <a:gd name="T2" fmla="*/ 0 w 168"/>
                        <a:gd name="T3" fmla="*/ 0 h 235"/>
                        <a:gd name="T4" fmla="*/ 0 w 168"/>
                        <a:gd name="T5" fmla="*/ 0 h 235"/>
                        <a:gd name="T6" fmla="*/ 0 w 168"/>
                        <a:gd name="T7" fmla="*/ 0 h 235"/>
                        <a:gd name="T8" fmla="*/ 0 w 168"/>
                        <a:gd name="T9" fmla="*/ 0 h 235"/>
                        <a:gd name="T10" fmla="*/ 0 w 168"/>
                        <a:gd name="T11" fmla="*/ 0 h 235"/>
                        <a:gd name="T12" fmla="*/ 0 60000 65536"/>
                        <a:gd name="T13" fmla="*/ 0 60000 65536"/>
                        <a:gd name="T14" fmla="*/ 0 60000 65536"/>
                        <a:gd name="T15" fmla="*/ 0 60000 65536"/>
                        <a:gd name="T16" fmla="*/ 0 60000 65536"/>
                        <a:gd name="T17" fmla="*/ 0 60000 65536"/>
                        <a:gd name="T18" fmla="*/ 0 w 168"/>
                        <a:gd name="T19" fmla="*/ 0 h 235"/>
                        <a:gd name="T20" fmla="*/ 168 w 168"/>
                        <a:gd name="T21" fmla="*/ 235 h 235"/>
                      </a:gdLst>
                      <a:ahLst/>
                      <a:cxnLst>
                        <a:cxn ang="T12">
                          <a:pos x="T0" y="T1"/>
                        </a:cxn>
                        <a:cxn ang="T13">
                          <a:pos x="T2" y="T3"/>
                        </a:cxn>
                        <a:cxn ang="T14">
                          <a:pos x="T4" y="T5"/>
                        </a:cxn>
                        <a:cxn ang="T15">
                          <a:pos x="T6" y="T7"/>
                        </a:cxn>
                        <a:cxn ang="T16">
                          <a:pos x="T8" y="T9"/>
                        </a:cxn>
                        <a:cxn ang="T17">
                          <a:pos x="T10" y="T11"/>
                        </a:cxn>
                      </a:cxnLst>
                      <a:rect l="T18" t="T19" r="T20" b="T21"/>
                      <a:pathLst>
                        <a:path w="168" h="235">
                          <a:moveTo>
                            <a:pt x="4" y="3"/>
                          </a:moveTo>
                          <a:lnTo>
                            <a:pt x="0" y="0"/>
                          </a:lnTo>
                          <a:lnTo>
                            <a:pt x="110" y="235"/>
                          </a:lnTo>
                          <a:lnTo>
                            <a:pt x="168" y="235"/>
                          </a:lnTo>
                          <a:lnTo>
                            <a:pt x="46" y="0"/>
                          </a:lnTo>
                          <a:lnTo>
                            <a:pt x="4" y="3"/>
                          </a:lnTo>
                          <a:close/>
                        </a:path>
                      </a:pathLst>
                    </a:custGeom>
                    <a:solidFill>
                      <a:srgbClr val="800000"/>
                    </a:solidFill>
                    <a:ln w="1588">
                      <a:solidFill>
                        <a:srgbClr val="000000"/>
                      </a:solidFill>
                      <a:round/>
                    </a:ln>
                  </p:spPr>
                  <p:txBody>
                    <a:bodyPr/>
                    <a:lstStyle/>
                    <a:p>
                      <a:endParaRPr lang="zh-CN" altLang="en-US"/>
                    </a:p>
                  </p:txBody>
                </p:sp>
                <p:sp>
                  <p:nvSpPr>
                    <p:cNvPr id="77975" name="Freeform 68"/>
                    <p:cNvSpPr/>
                    <p:nvPr/>
                  </p:nvSpPr>
                  <p:spPr bwMode="auto">
                    <a:xfrm>
                      <a:off x="4034" y="1618"/>
                      <a:ext cx="15" cy="20"/>
                    </a:xfrm>
                    <a:custGeom>
                      <a:avLst/>
                      <a:gdLst>
                        <a:gd name="T0" fmla="*/ 0 w 155"/>
                        <a:gd name="T1" fmla="*/ 0 h 157"/>
                        <a:gd name="T2" fmla="*/ 0 w 155"/>
                        <a:gd name="T3" fmla="*/ 0 h 157"/>
                        <a:gd name="T4" fmla="*/ 0 w 155"/>
                        <a:gd name="T5" fmla="*/ 0 h 157"/>
                        <a:gd name="T6" fmla="*/ 0 w 155"/>
                        <a:gd name="T7" fmla="*/ 0 h 157"/>
                        <a:gd name="T8" fmla="*/ 0 w 155"/>
                        <a:gd name="T9" fmla="*/ 0 h 157"/>
                        <a:gd name="T10" fmla="*/ 0 w 155"/>
                        <a:gd name="T11" fmla="*/ 0 h 157"/>
                        <a:gd name="T12" fmla="*/ 0 60000 65536"/>
                        <a:gd name="T13" fmla="*/ 0 60000 65536"/>
                        <a:gd name="T14" fmla="*/ 0 60000 65536"/>
                        <a:gd name="T15" fmla="*/ 0 60000 65536"/>
                        <a:gd name="T16" fmla="*/ 0 60000 65536"/>
                        <a:gd name="T17" fmla="*/ 0 60000 65536"/>
                        <a:gd name="T18" fmla="*/ 0 w 155"/>
                        <a:gd name="T19" fmla="*/ 0 h 157"/>
                        <a:gd name="T20" fmla="*/ 155 w 155"/>
                        <a:gd name="T21" fmla="*/ 157 h 157"/>
                      </a:gdLst>
                      <a:ahLst/>
                      <a:cxnLst>
                        <a:cxn ang="T12">
                          <a:pos x="T0" y="T1"/>
                        </a:cxn>
                        <a:cxn ang="T13">
                          <a:pos x="T2" y="T3"/>
                        </a:cxn>
                        <a:cxn ang="T14">
                          <a:pos x="T4" y="T5"/>
                        </a:cxn>
                        <a:cxn ang="T15">
                          <a:pos x="T6" y="T7"/>
                        </a:cxn>
                        <a:cxn ang="T16">
                          <a:pos x="T8" y="T9"/>
                        </a:cxn>
                        <a:cxn ang="T17">
                          <a:pos x="T10" y="T11"/>
                        </a:cxn>
                      </a:cxnLst>
                      <a:rect l="T18" t="T19" r="T20" b="T21"/>
                      <a:pathLst>
                        <a:path w="155" h="157">
                          <a:moveTo>
                            <a:pt x="41" y="19"/>
                          </a:moveTo>
                          <a:lnTo>
                            <a:pt x="45" y="16"/>
                          </a:lnTo>
                          <a:lnTo>
                            <a:pt x="155" y="157"/>
                          </a:lnTo>
                          <a:lnTo>
                            <a:pt x="102" y="149"/>
                          </a:lnTo>
                          <a:lnTo>
                            <a:pt x="0" y="0"/>
                          </a:lnTo>
                          <a:lnTo>
                            <a:pt x="41" y="19"/>
                          </a:lnTo>
                          <a:close/>
                        </a:path>
                      </a:pathLst>
                    </a:custGeom>
                    <a:solidFill>
                      <a:srgbClr val="800000"/>
                    </a:solidFill>
                    <a:ln w="1588">
                      <a:solidFill>
                        <a:srgbClr val="000000"/>
                      </a:solidFill>
                      <a:round/>
                    </a:ln>
                  </p:spPr>
                  <p:txBody>
                    <a:bodyPr/>
                    <a:lstStyle/>
                    <a:p>
                      <a:endParaRPr lang="zh-CN" altLang="en-US"/>
                    </a:p>
                  </p:txBody>
                </p:sp>
              </p:grpSp>
              <p:sp>
                <p:nvSpPr>
                  <p:cNvPr id="77973" name="Freeform 69"/>
                  <p:cNvSpPr/>
                  <p:nvPr/>
                </p:nvSpPr>
                <p:spPr bwMode="auto">
                  <a:xfrm>
                    <a:off x="3928" y="1600"/>
                    <a:ext cx="140" cy="42"/>
                  </a:xfrm>
                  <a:custGeom>
                    <a:avLst/>
                    <a:gdLst>
                      <a:gd name="T0" fmla="*/ 0 w 1539"/>
                      <a:gd name="T1" fmla="*/ 0 h 333"/>
                      <a:gd name="T2" fmla="*/ 0 w 1539"/>
                      <a:gd name="T3" fmla="*/ 0 h 333"/>
                      <a:gd name="T4" fmla="*/ 0 w 1539"/>
                      <a:gd name="T5" fmla="*/ 0 h 333"/>
                      <a:gd name="T6" fmla="*/ 0 w 1539"/>
                      <a:gd name="T7" fmla="*/ 0 h 333"/>
                      <a:gd name="T8" fmla="*/ 0 w 1539"/>
                      <a:gd name="T9" fmla="*/ 0 h 333"/>
                      <a:gd name="T10" fmla="*/ 0 w 1539"/>
                      <a:gd name="T11" fmla="*/ 0 h 333"/>
                      <a:gd name="T12" fmla="*/ 0 w 1539"/>
                      <a:gd name="T13" fmla="*/ 0 h 333"/>
                      <a:gd name="T14" fmla="*/ 0 w 1539"/>
                      <a:gd name="T15" fmla="*/ 0 h 333"/>
                      <a:gd name="T16" fmla="*/ 0 w 1539"/>
                      <a:gd name="T17" fmla="*/ 0 h 333"/>
                      <a:gd name="T18" fmla="*/ 0 w 1539"/>
                      <a:gd name="T19" fmla="*/ 0 h 333"/>
                      <a:gd name="T20" fmla="*/ 0 w 1539"/>
                      <a:gd name="T21" fmla="*/ 0 h 333"/>
                      <a:gd name="T22" fmla="*/ 0 w 1539"/>
                      <a:gd name="T23" fmla="*/ 0 h 333"/>
                      <a:gd name="T24" fmla="*/ 0 w 1539"/>
                      <a:gd name="T25" fmla="*/ 0 h 333"/>
                      <a:gd name="T26" fmla="*/ 0 w 1539"/>
                      <a:gd name="T27" fmla="*/ 0 h 333"/>
                      <a:gd name="T28" fmla="*/ 0 w 1539"/>
                      <a:gd name="T29" fmla="*/ 0 h 333"/>
                      <a:gd name="T30" fmla="*/ 0 w 1539"/>
                      <a:gd name="T31" fmla="*/ 0 h 333"/>
                      <a:gd name="T32" fmla="*/ 0 w 1539"/>
                      <a:gd name="T33" fmla="*/ 0 h 333"/>
                      <a:gd name="T34" fmla="*/ 0 w 1539"/>
                      <a:gd name="T35" fmla="*/ 0 h 333"/>
                      <a:gd name="T36" fmla="*/ 0 w 1539"/>
                      <a:gd name="T37" fmla="*/ 0 h 333"/>
                      <a:gd name="T38" fmla="*/ 0 w 1539"/>
                      <a:gd name="T39" fmla="*/ 0 h 333"/>
                      <a:gd name="T40" fmla="*/ 0 w 1539"/>
                      <a:gd name="T41" fmla="*/ 0 h 333"/>
                      <a:gd name="T42" fmla="*/ 0 w 1539"/>
                      <a:gd name="T43" fmla="*/ 0 h 333"/>
                      <a:gd name="T44" fmla="*/ 0 w 1539"/>
                      <a:gd name="T45" fmla="*/ 0 h 333"/>
                      <a:gd name="T46" fmla="*/ 0 w 1539"/>
                      <a:gd name="T47" fmla="*/ 0 h 333"/>
                      <a:gd name="T48" fmla="*/ 0 w 1539"/>
                      <a:gd name="T49" fmla="*/ 0 h 333"/>
                      <a:gd name="T50" fmla="*/ 0 w 1539"/>
                      <a:gd name="T51" fmla="*/ 0 h 333"/>
                      <a:gd name="T52" fmla="*/ 0 w 1539"/>
                      <a:gd name="T53" fmla="*/ 0 h 333"/>
                      <a:gd name="T54" fmla="*/ 0 w 1539"/>
                      <a:gd name="T55" fmla="*/ 0 h 333"/>
                      <a:gd name="T56" fmla="*/ 0 w 1539"/>
                      <a:gd name="T57" fmla="*/ 0 h 333"/>
                      <a:gd name="T58" fmla="*/ 0 w 1539"/>
                      <a:gd name="T59" fmla="*/ 0 h 33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39"/>
                      <a:gd name="T91" fmla="*/ 0 h 333"/>
                      <a:gd name="T92" fmla="*/ 1539 w 1539"/>
                      <a:gd name="T93" fmla="*/ 333 h 33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39" h="333">
                        <a:moveTo>
                          <a:pt x="12" y="44"/>
                        </a:moveTo>
                        <a:lnTo>
                          <a:pt x="156" y="38"/>
                        </a:lnTo>
                        <a:lnTo>
                          <a:pt x="267" y="38"/>
                        </a:lnTo>
                        <a:lnTo>
                          <a:pt x="415" y="30"/>
                        </a:lnTo>
                        <a:lnTo>
                          <a:pt x="553" y="30"/>
                        </a:lnTo>
                        <a:lnTo>
                          <a:pt x="707" y="30"/>
                        </a:lnTo>
                        <a:lnTo>
                          <a:pt x="846" y="34"/>
                        </a:lnTo>
                        <a:lnTo>
                          <a:pt x="911" y="43"/>
                        </a:lnTo>
                        <a:lnTo>
                          <a:pt x="968" y="55"/>
                        </a:lnTo>
                        <a:lnTo>
                          <a:pt x="1030" y="78"/>
                        </a:lnTo>
                        <a:lnTo>
                          <a:pt x="1090" y="102"/>
                        </a:lnTo>
                        <a:lnTo>
                          <a:pt x="1307" y="213"/>
                        </a:lnTo>
                        <a:lnTo>
                          <a:pt x="1422" y="265"/>
                        </a:lnTo>
                        <a:lnTo>
                          <a:pt x="1489" y="307"/>
                        </a:lnTo>
                        <a:lnTo>
                          <a:pt x="1429" y="306"/>
                        </a:lnTo>
                        <a:lnTo>
                          <a:pt x="0" y="198"/>
                        </a:lnTo>
                        <a:lnTo>
                          <a:pt x="3" y="231"/>
                        </a:lnTo>
                        <a:lnTo>
                          <a:pt x="1493" y="333"/>
                        </a:lnTo>
                        <a:lnTo>
                          <a:pt x="1539" y="325"/>
                        </a:lnTo>
                        <a:lnTo>
                          <a:pt x="1516" y="295"/>
                        </a:lnTo>
                        <a:lnTo>
                          <a:pt x="1475" y="265"/>
                        </a:lnTo>
                        <a:lnTo>
                          <a:pt x="1374" y="213"/>
                        </a:lnTo>
                        <a:lnTo>
                          <a:pt x="1296" y="172"/>
                        </a:lnTo>
                        <a:lnTo>
                          <a:pt x="1099" y="76"/>
                        </a:lnTo>
                        <a:lnTo>
                          <a:pt x="1010" y="41"/>
                        </a:lnTo>
                        <a:lnTo>
                          <a:pt x="921" y="19"/>
                        </a:lnTo>
                        <a:lnTo>
                          <a:pt x="724" y="0"/>
                        </a:lnTo>
                        <a:lnTo>
                          <a:pt x="453" y="0"/>
                        </a:lnTo>
                        <a:lnTo>
                          <a:pt x="12" y="23"/>
                        </a:lnTo>
                        <a:lnTo>
                          <a:pt x="12" y="44"/>
                        </a:lnTo>
                        <a:close/>
                      </a:path>
                    </a:pathLst>
                  </a:custGeom>
                  <a:solidFill>
                    <a:srgbClr val="800000"/>
                  </a:solidFill>
                  <a:ln w="1588">
                    <a:solidFill>
                      <a:srgbClr val="000000"/>
                    </a:solidFill>
                    <a:round/>
                  </a:ln>
                </p:spPr>
                <p:txBody>
                  <a:bodyPr/>
                  <a:lstStyle/>
                  <a:p>
                    <a:endParaRPr lang="zh-CN" altLang="en-US"/>
                  </a:p>
                </p:txBody>
              </p:sp>
            </p:grpSp>
            <p:sp>
              <p:nvSpPr>
                <p:cNvPr id="77971" name="Freeform 70"/>
                <p:cNvSpPr/>
                <p:nvPr/>
              </p:nvSpPr>
              <p:spPr bwMode="auto">
                <a:xfrm>
                  <a:off x="3836" y="1595"/>
                  <a:ext cx="262" cy="47"/>
                </a:xfrm>
                <a:custGeom>
                  <a:avLst/>
                  <a:gdLst>
                    <a:gd name="T0" fmla="*/ 0 w 2881"/>
                    <a:gd name="T1" fmla="*/ 0 h 378"/>
                    <a:gd name="T2" fmla="*/ 0 w 2881"/>
                    <a:gd name="T3" fmla="*/ 0 h 378"/>
                    <a:gd name="T4" fmla="*/ 0 w 2881"/>
                    <a:gd name="T5" fmla="*/ 0 h 378"/>
                    <a:gd name="T6" fmla="*/ 0 w 2881"/>
                    <a:gd name="T7" fmla="*/ 0 h 378"/>
                    <a:gd name="T8" fmla="*/ 0 w 2881"/>
                    <a:gd name="T9" fmla="*/ 0 h 378"/>
                    <a:gd name="T10" fmla="*/ 0 w 2881"/>
                    <a:gd name="T11" fmla="*/ 0 h 378"/>
                    <a:gd name="T12" fmla="*/ 0 w 2881"/>
                    <a:gd name="T13" fmla="*/ 0 h 378"/>
                    <a:gd name="T14" fmla="*/ 0 w 2881"/>
                    <a:gd name="T15" fmla="*/ 0 h 378"/>
                    <a:gd name="T16" fmla="*/ 0 w 2881"/>
                    <a:gd name="T17" fmla="*/ 0 h 378"/>
                    <a:gd name="T18" fmla="*/ 0 w 2881"/>
                    <a:gd name="T19" fmla="*/ 0 h 378"/>
                    <a:gd name="T20" fmla="*/ 0 w 2881"/>
                    <a:gd name="T21" fmla="*/ 0 h 378"/>
                    <a:gd name="T22" fmla="*/ 0 w 2881"/>
                    <a:gd name="T23" fmla="*/ 0 h 378"/>
                    <a:gd name="T24" fmla="*/ 0 w 2881"/>
                    <a:gd name="T25" fmla="*/ 0 h 378"/>
                    <a:gd name="T26" fmla="*/ 0 w 2881"/>
                    <a:gd name="T27" fmla="*/ 0 h 378"/>
                    <a:gd name="T28" fmla="*/ 0 w 2881"/>
                    <a:gd name="T29" fmla="*/ 0 h 378"/>
                    <a:gd name="T30" fmla="*/ 0 w 2881"/>
                    <a:gd name="T31" fmla="*/ 0 h 378"/>
                    <a:gd name="T32" fmla="*/ 0 w 2881"/>
                    <a:gd name="T33" fmla="*/ 0 h 378"/>
                    <a:gd name="T34" fmla="*/ 0 w 2881"/>
                    <a:gd name="T35" fmla="*/ 0 h 378"/>
                    <a:gd name="T36" fmla="*/ 0 w 2881"/>
                    <a:gd name="T37" fmla="*/ 0 h 378"/>
                    <a:gd name="T38" fmla="*/ 0 w 2881"/>
                    <a:gd name="T39" fmla="*/ 0 h 378"/>
                    <a:gd name="T40" fmla="*/ 0 w 2881"/>
                    <a:gd name="T41" fmla="*/ 0 h 378"/>
                    <a:gd name="T42" fmla="*/ 0 w 2881"/>
                    <a:gd name="T43" fmla="*/ 0 h 378"/>
                    <a:gd name="T44" fmla="*/ 0 w 2881"/>
                    <a:gd name="T45" fmla="*/ 0 h 378"/>
                    <a:gd name="T46" fmla="*/ 0 w 2881"/>
                    <a:gd name="T47" fmla="*/ 0 h 378"/>
                    <a:gd name="T48" fmla="*/ 0 w 2881"/>
                    <a:gd name="T49" fmla="*/ 0 h 378"/>
                    <a:gd name="T50" fmla="*/ 0 w 2881"/>
                    <a:gd name="T51" fmla="*/ 0 h 378"/>
                    <a:gd name="T52" fmla="*/ 0 w 2881"/>
                    <a:gd name="T53" fmla="*/ 0 h 378"/>
                    <a:gd name="T54" fmla="*/ 0 w 2881"/>
                    <a:gd name="T55" fmla="*/ 0 h 378"/>
                    <a:gd name="T56" fmla="*/ 0 w 2881"/>
                    <a:gd name="T57" fmla="*/ 0 h 378"/>
                    <a:gd name="T58" fmla="*/ 0 w 2881"/>
                    <a:gd name="T59" fmla="*/ 0 h 378"/>
                    <a:gd name="T60" fmla="*/ 0 w 2881"/>
                    <a:gd name="T61" fmla="*/ 0 h 378"/>
                    <a:gd name="T62" fmla="*/ 0 w 2881"/>
                    <a:gd name="T63" fmla="*/ 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881"/>
                    <a:gd name="T97" fmla="*/ 0 h 378"/>
                    <a:gd name="T98" fmla="*/ 2881 w 2881"/>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881" h="378">
                      <a:moveTo>
                        <a:pt x="0" y="252"/>
                      </a:moveTo>
                      <a:lnTo>
                        <a:pt x="111" y="237"/>
                      </a:lnTo>
                      <a:lnTo>
                        <a:pt x="196" y="218"/>
                      </a:lnTo>
                      <a:lnTo>
                        <a:pt x="253" y="202"/>
                      </a:lnTo>
                      <a:lnTo>
                        <a:pt x="300" y="188"/>
                      </a:lnTo>
                      <a:lnTo>
                        <a:pt x="362" y="173"/>
                      </a:lnTo>
                      <a:lnTo>
                        <a:pt x="414" y="158"/>
                      </a:lnTo>
                      <a:lnTo>
                        <a:pt x="474" y="143"/>
                      </a:lnTo>
                      <a:lnTo>
                        <a:pt x="527" y="132"/>
                      </a:lnTo>
                      <a:lnTo>
                        <a:pt x="587" y="123"/>
                      </a:lnTo>
                      <a:lnTo>
                        <a:pt x="637" y="115"/>
                      </a:lnTo>
                      <a:lnTo>
                        <a:pt x="679" y="108"/>
                      </a:lnTo>
                      <a:lnTo>
                        <a:pt x="741" y="97"/>
                      </a:lnTo>
                      <a:lnTo>
                        <a:pt x="794" y="89"/>
                      </a:lnTo>
                      <a:lnTo>
                        <a:pt x="844" y="81"/>
                      </a:lnTo>
                      <a:lnTo>
                        <a:pt x="897" y="67"/>
                      </a:lnTo>
                      <a:lnTo>
                        <a:pt x="940" y="46"/>
                      </a:lnTo>
                      <a:lnTo>
                        <a:pt x="970" y="21"/>
                      </a:lnTo>
                      <a:lnTo>
                        <a:pt x="1033" y="18"/>
                      </a:lnTo>
                      <a:lnTo>
                        <a:pt x="1123" y="16"/>
                      </a:lnTo>
                      <a:lnTo>
                        <a:pt x="1226" y="8"/>
                      </a:lnTo>
                      <a:lnTo>
                        <a:pt x="1305" y="4"/>
                      </a:lnTo>
                      <a:lnTo>
                        <a:pt x="1423" y="2"/>
                      </a:lnTo>
                      <a:lnTo>
                        <a:pt x="1537" y="1"/>
                      </a:lnTo>
                      <a:lnTo>
                        <a:pt x="1646" y="0"/>
                      </a:lnTo>
                      <a:lnTo>
                        <a:pt x="1729" y="0"/>
                      </a:lnTo>
                      <a:lnTo>
                        <a:pt x="1819" y="7"/>
                      </a:lnTo>
                      <a:lnTo>
                        <a:pt x="1911" y="21"/>
                      </a:lnTo>
                      <a:lnTo>
                        <a:pt x="1980" y="39"/>
                      </a:lnTo>
                      <a:lnTo>
                        <a:pt x="2041" y="55"/>
                      </a:lnTo>
                      <a:lnTo>
                        <a:pt x="2108" y="75"/>
                      </a:lnTo>
                      <a:lnTo>
                        <a:pt x="2180" y="97"/>
                      </a:lnTo>
                      <a:lnTo>
                        <a:pt x="2254" y="123"/>
                      </a:lnTo>
                      <a:lnTo>
                        <a:pt x="2333" y="149"/>
                      </a:lnTo>
                      <a:lnTo>
                        <a:pt x="2410" y="175"/>
                      </a:lnTo>
                      <a:lnTo>
                        <a:pt x="2491" y="201"/>
                      </a:lnTo>
                      <a:lnTo>
                        <a:pt x="2551" y="221"/>
                      </a:lnTo>
                      <a:lnTo>
                        <a:pt x="2608" y="236"/>
                      </a:lnTo>
                      <a:lnTo>
                        <a:pt x="2669" y="258"/>
                      </a:lnTo>
                      <a:lnTo>
                        <a:pt x="2733" y="278"/>
                      </a:lnTo>
                      <a:lnTo>
                        <a:pt x="2810" y="303"/>
                      </a:lnTo>
                      <a:lnTo>
                        <a:pt x="2881" y="329"/>
                      </a:lnTo>
                      <a:lnTo>
                        <a:pt x="2852" y="347"/>
                      </a:lnTo>
                      <a:lnTo>
                        <a:pt x="2810" y="359"/>
                      </a:lnTo>
                      <a:lnTo>
                        <a:pt x="2764" y="371"/>
                      </a:lnTo>
                      <a:lnTo>
                        <a:pt x="2707" y="377"/>
                      </a:lnTo>
                      <a:lnTo>
                        <a:pt x="2631" y="378"/>
                      </a:lnTo>
                      <a:lnTo>
                        <a:pt x="2555" y="376"/>
                      </a:lnTo>
                      <a:lnTo>
                        <a:pt x="2536" y="347"/>
                      </a:lnTo>
                      <a:lnTo>
                        <a:pt x="2517" y="329"/>
                      </a:lnTo>
                      <a:lnTo>
                        <a:pt x="2482" y="304"/>
                      </a:lnTo>
                      <a:lnTo>
                        <a:pt x="2404" y="262"/>
                      </a:lnTo>
                      <a:lnTo>
                        <a:pt x="2307" y="213"/>
                      </a:lnTo>
                      <a:lnTo>
                        <a:pt x="2221" y="170"/>
                      </a:lnTo>
                      <a:lnTo>
                        <a:pt x="2117" y="119"/>
                      </a:lnTo>
                      <a:lnTo>
                        <a:pt x="2030" y="85"/>
                      </a:lnTo>
                      <a:lnTo>
                        <a:pt x="1947" y="62"/>
                      </a:lnTo>
                      <a:lnTo>
                        <a:pt x="1879" y="53"/>
                      </a:lnTo>
                      <a:lnTo>
                        <a:pt x="1754" y="41"/>
                      </a:lnTo>
                      <a:lnTo>
                        <a:pt x="1591" y="40"/>
                      </a:lnTo>
                      <a:lnTo>
                        <a:pt x="1401" y="45"/>
                      </a:lnTo>
                      <a:lnTo>
                        <a:pt x="1255" y="50"/>
                      </a:lnTo>
                      <a:lnTo>
                        <a:pt x="1023" y="62"/>
                      </a:lnTo>
                      <a:lnTo>
                        <a:pt x="1009" y="287"/>
                      </a:lnTo>
                      <a:lnTo>
                        <a:pt x="0" y="252"/>
                      </a:lnTo>
                      <a:close/>
                    </a:path>
                  </a:pathLst>
                </a:custGeom>
                <a:solidFill>
                  <a:srgbClr val="FF0000"/>
                </a:solidFill>
                <a:ln w="1588">
                  <a:solidFill>
                    <a:srgbClr val="000000"/>
                  </a:solidFill>
                  <a:round/>
                </a:ln>
              </p:spPr>
              <p:txBody>
                <a:bodyPr/>
                <a:lstStyle/>
                <a:p>
                  <a:endParaRPr lang="zh-CN" altLang="en-US"/>
                </a:p>
              </p:txBody>
            </p:sp>
          </p:grpSp>
          <p:sp>
            <p:nvSpPr>
              <p:cNvPr id="77943" name="Freeform 71"/>
              <p:cNvSpPr/>
              <p:nvPr/>
            </p:nvSpPr>
            <p:spPr bwMode="auto">
              <a:xfrm>
                <a:off x="3844" y="1641"/>
                <a:ext cx="354" cy="75"/>
              </a:xfrm>
              <a:custGeom>
                <a:avLst/>
                <a:gdLst>
                  <a:gd name="T0" fmla="*/ 0 w 3896"/>
                  <a:gd name="T1" fmla="*/ 0 h 596"/>
                  <a:gd name="T2" fmla="*/ 0 w 3896"/>
                  <a:gd name="T3" fmla="*/ 0 h 596"/>
                  <a:gd name="T4" fmla="*/ 0 w 3896"/>
                  <a:gd name="T5" fmla="*/ 0 h 596"/>
                  <a:gd name="T6" fmla="*/ 0 w 3896"/>
                  <a:gd name="T7" fmla="*/ 0 h 596"/>
                  <a:gd name="T8" fmla="*/ 0 w 3896"/>
                  <a:gd name="T9" fmla="*/ 0 h 596"/>
                  <a:gd name="T10" fmla="*/ 0 w 3896"/>
                  <a:gd name="T11" fmla="*/ 0 h 596"/>
                  <a:gd name="T12" fmla="*/ 0 w 3896"/>
                  <a:gd name="T13" fmla="*/ 0 h 596"/>
                  <a:gd name="T14" fmla="*/ 0 w 3896"/>
                  <a:gd name="T15" fmla="*/ 0 h 596"/>
                  <a:gd name="T16" fmla="*/ 0 w 3896"/>
                  <a:gd name="T17" fmla="*/ 0 h 596"/>
                  <a:gd name="T18" fmla="*/ 0 w 3896"/>
                  <a:gd name="T19" fmla="*/ 0 h 596"/>
                  <a:gd name="T20" fmla="*/ 0 w 3896"/>
                  <a:gd name="T21" fmla="*/ 0 h 596"/>
                  <a:gd name="T22" fmla="*/ 0 w 3896"/>
                  <a:gd name="T23" fmla="*/ 0 h 596"/>
                  <a:gd name="T24" fmla="*/ 0 w 3896"/>
                  <a:gd name="T25" fmla="*/ 0 h 596"/>
                  <a:gd name="T26" fmla="*/ 0 w 3896"/>
                  <a:gd name="T27" fmla="*/ 0 h 596"/>
                  <a:gd name="T28" fmla="*/ 0 w 3896"/>
                  <a:gd name="T29" fmla="*/ 0 h 596"/>
                  <a:gd name="T30" fmla="*/ 0 w 3896"/>
                  <a:gd name="T31" fmla="*/ 0 h 596"/>
                  <a:gd name="T32" fmla="*/ 0 w 3896"/>
                  <a:gd name="T33" fmla="*/ 0 h 596"/>
                  <a:gd name="T34" fmla="*/ 0 w 3896"/>
                  <a:gd name="T35" fmla="*/ 0 h 596"/>
                  <a:gd name="T36" fmla="*/ 0 w 3896"/>
                  <a:gd name="T37" fmla="*/ 0 h 596"/>
                  <a:gd name="T38" fmla="*/ 0 w 3896"/>
                  <a:gd name="T39" fmla="*/ 0 h 596"/>
                  <a:gd name="T40" fmla="*/ 0 w 3896"/>
                  <a:gd name="T41" fmla="*/ 0 h 596"/>
                  <a:gd name="T42" fmla="*/ 0 w 3896"/>
                  <a:gd name="T43" fmla="*/ 0 h 596"/>
                  <a:gd name="T44" fmla="*/ 0 w 3896"/>
                  <a:gd name="T45" fmla="*/ 0 h 596"/>
                  <a:gd name="T46" fmla="*/ 0 w 3896"/>
                  <a:gd name="T47" fmla="*/ 0 h 596"/>
                  <a:gd name="T48" fmla="*/ 0 w 3896"/>
                  <a:gd name="T49" fmla="*/ 0 h 596"/>
                  <a:gd name="T50" fmla="*/ 0 w 3896"/>
                  <a:gd name="T51" fmla="*/ 0 h 5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896"/>
                  <a:gd name="T79" fmla="*/ 0 h 596"/>
                  <a:gd name="T80" fmla="*/ 3896 w 3896"/>
                  <a:gd name="T81" fmla="*/ 596 h 59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896" h="596">
                    <a:moveTo>
                      <a:pt x="3288" y="282"/>
                    </a:moveTo>
                    <a:lnTo>
                      <a:pt x="3318" y="372"/>
                    </a:lnTo>
                    <a:lnTo>
                      <a:pt x="3318" y="441"/>
                    </a:lnTo>
                    <a:lnTo>
                      <a:pt x="3896" y="441"/>
                    </a:lnTo>
                    <a:lnTo>
                      <a:pt x="3856" y="488"/>
                    </a:lnTo>
                    <a:lnTo>
                      <a:pt x="3883" y="540"/>
                    </a:lnTo>
                    <a:lnTo>
                      <a:pt x="3883" y="564"/>
                    </a:lnTo>
                    <a:lnTo>
                      <a:pt x="3866" y="582"/>
                    </a:lnTo>
                    <a:lnTo>
                      <a:pt x="3533" y="582"/>
                    </a:lnTo>
                    <a:lnTo>
                      <a:pt x="3506" y="596"/>
                    </a:lnTo>
                    <a:lnTo>
                      <a:pt x="3336" y="596"/>
                    </a:lnTo>
                    <a:lnTo>
                      <a:pt x="3313" y="580"/>
                    </a:lnTo>
                    <a:lnTo>
                      <a:pt x="231" y="580"/>
                    </a:lnTo>
                    <a:lnTo>
                      <a:pt x="109" y="470"/>
                    </a:lnTo>
                    <a:lnTo>
                      <a:pt x="13" y="507"/>
                    </a:lnTo>
                    <a:lnTo>
                      <a:pt x="0" y="217"/>
                    </a:lnTo>
                    <a:lnTo>
                      <a:pt x="235" y="0"/>
                    </a:lnTo>
                    <a:lnTo>
                      <a:pt x="602" y="8"/>
                    </a:lnTo>
                    <a:lnTo>
                      <a:pt x="2512" y="488"/>
                    </a:lnTo>
                    <a:lnTo>
                      <a:pt x="2567" y="430"/>
                    </a:lnTo>
                    <a:lnTo>
                      <a:pt x="2614" y="281"/>
                    </a:lnTo>
                    <a:lnTo>
                      <a:pt x="2681" y="159"/>
                    </a:lnTo>
                    <a:lnTo>
                      <a:pt x="2882" y="60"/>
                    </a:lnTo>
                    <a:lnTo>
                      <a:pt x="3069" y="65"/>
                    </a:lnTo>
                    <a:lnTo>
                      <a:pt x="3208" y="137"/>
                    </a:lnTo>
                    <a:lnTo>
                      <a:pt x="3288" y="282"/>
                    </a:lnTo>
                    <a:close/>
                  </a:path>
                </a:pathLst>
              </a:custGeom>
              <a:solidFill>
                <a:srgbClr val="000000"/>
              </a:solidFill>
              <a:ln w="1588">
                <a:solidFill>
                  <a:srgbClr val="000000"/>
                </a:solidFill>
                <a:round/>
              </a:ln>
            </p:spPr>
            <p:txBody>
              <a:bodyPr/>
              <a:lstStyle/>
              <a:p>
                <a:endParaRPr lang="zh-CN" altLang="en-US"/>
              </a:p>
            </p:txBody>
          </p:sp>
          <p:grpSp>
            <p:nvGrpSpPr>
              <p:cNvPr id="24" name="Group 72"/>
              <p:cNvGrpSpPr/>
              <p:nvPr/>
            </p:nvGrpSpPr>
            <p:grpSpPr bwMode="auto">
              <a:xfrm>
                <a:off x="3816" y="1610"/>
                <a:ext cx="382" cy="95"/>
                <a:chOff x="3816" y="1610"/>
                <a:chExt cx="382" cy="95"/>
              </a:xfrm>
            </p:grpSpPr>
            <p:grpSp>
              <p:nvGrpSpPr>
                <p:cNvPr id="25" name="Group 73"/>
                <p:cNvGrpSpPr/>
                <p:nvPr/>
              </p:nvGrpSpPr>
              <p:grpSpPr bwMode="auto">
                <a:xfrm>
                  <a:off x="3816" y="1640"/>
                  <a:ext cx="24" cy="56"/>
                  <a:chOff x="3816" y="1640"/>
                  <a:chExt cx="24" cy="56"/>
                </a:xfrm>
              </p:grpSpPr>
              <p:sp>
                <p:nvSpPr>
                  <p:cNvPr id="77957" name="Rectangle 74"/>
                  <p:cNvSpPr>
                    <a:spLocks noChangeArrowheads="1"/>
                  </p:cNvSpPr>
                  <p:nvPr/>
                </p:nvSpPr>
                <p:spPr bwMode="auto">
                  <a:xfrm>
                    <a:off x="3818" y="1652"/>
                    <a:ext cx="10" cy="3"/>
                  </a:xfrm>
                  <a:prstGeom prst="rect">
                    <a:avLst/>
                  </a:prstGeom>
                  <a:solidFill>
                    <a:srgbClr val="808080"/>
                  </a:solidFill>
                  <a:ln w="1588">
                    <a:solidFill>
                      <a:srgbClr val="C0C0C0"/>
                    </a:solidFill>
                    <a:miter lim="800000"/>
                  </a:ln>
                </p:spPr>
                <p:txBody>
                  <a:bodyPr/>
                  <a:lstStyle/>
                  <a:p>
                    <a:endParaRPr lang="zh-CN" altLang="en-US"/>
                  </a:p>
                </p:txBody>
              </p:sp>
              <p:sp>
                <p:nvSpPr>
                  <p:cNvPr id="77958" name="Rectangle 75"/>
                  <p:cNvSpPr>
                    <a:spLocks noChangeArrowheads="1"/>
                  </p:cNvSpPr>
                  <p:nvPr/>
                </p:nvSpPr>
                <p:spPr bwMode="auto">
                  <a:xfrm>
                    <a:off x="3818" y="1640"/>
                    <a:ext cx="10" cy="6"/>
                  </a:xfrm>
                  <a:prstGeom prst="rect">
                    <a:avLst/>
                  </a:prstGeom>
                  <a:solidFill>
                    <a:srgbClr val="808080"/>
                  </a:solidFill>
                  <a:ln w="1588">
                    <a:solidFill>
                      <a:srgbClr val="C0C0C0"/>
                    </a:solidFill>
                    <a:miter lim="800000"/>
                  </a:ln>
                </p:spPr>
                <p:txBody>
                  <a:bodyPr/>
                  <a:lstStyle/>
                  <a:p>
                    <a:endParaRPr lang="zh-CN" altLang="en-US"/>
                  </a:p>
                </p:txBody>
              </p:sp>
              <p:sp>
                <p:nvSpPr>
                  <p:cNvPr id="77959" name="Rectangle 76"/>
                  <p:cNvSpPr>
                    <a:spLocks noChangeArrowheads="1"/>
                  </p:cNvSpPr>
                  <p:nvPr/>
                </p:nvSpPr>
                <p:spPr bwMode="auto">
                  <a:xfrm>
                    <a:off x="3818" y="1648"/>
                    <a:ext cx="10" cy="3"/>
                  </a:xfrm>
                  <a:prstGeom prst="rect">
                    <a:avLst/>
                  </a:prstGeom>
                  <a:solidFill>
                    <a:srgbClr val="808080"/>
                  </a:solidFill>
                  <a:ln w="1588">
                    <a:solidFill>
                      <a:srgbClr val="C0C0C0"/>
                    </a:solidFill>
                    <a:miter lim="800000"/>
                  </a:ln>
                </p:spPr>
                <p:txBody>
                  <a:bodyPr/>
                  <a:lstStyle/>
                  <a:p>
                    <a:endParaRPr lang="zh-CN" altLang="en-US"/>
                  </a:p>
                </p:txBody>
              </p:sp>
              <p:sp>
                <p:nvSpPr>
                  <p:cNvPr id="77960" name="Freeform 77"/>
                  <p:cNvSpPr/>
                  <p:nvPr/>
                </p:nvSpPr>
                <p:spPr bwMode="auto">
                  <a:xfrm>
                    <a:off x="3818" y="1657"/>
                    <a:ext cx="9" cy="13"/>
                  </a:xfrm>
                  <a:custGeom>
                    <a:avLst/>
                    <a:gdLst>
                      <a:gd name="T0" fmla="*/ 0 w 97"/>
                      <a:gd name="T1" fmla="*/ 0 h 100"/>
                      <a:gd name="T2" fmla="*/ 0 w 97"/>
                      <a:gd name="T3" fmla="*/ 0 h 100"/>
                      <a:gd name="T4" fmla="*/ 0 w 97"/>
                      <a:gd name="T5" fmla="*/ 0 h 100"/>
                      <a:gd name="T6" fmla="*/ 0 w 97"/>
                      <a:gd name="T7" fmla="*/ 0 h 100"/>
                      <a:gd name="T8" fmla="*/ 0 w 97"/>
                      <a:gd name="T9" fmla="*/ 0 h 100"/>
                      <a:gd name="T10" fmla="*/ 0 60000 65536"/>
                      <a:gd name="T11" fmla="*/ 0 60000 65536"/>
                      <a:gd name="T12" fmla="*/ 0 60000 65536"/>
                      <a:gd name="T13" fmla="*/ 0 60000 65536"/>
                      <a:gd name="T14" fmla="*/ 0 60000 65536"/>
                      <a:gd name="T15" fmla="*/ 0 w 97"/>
                      <a:gd name="T16" fmla="*/ 0 h 100"/>
                      <a:gd name="T17" fmla="*/ 97 w 97"/>
                      <a:gd name="T18" fmla="*/ 100 h 100"/>
                    </a:gdLst>
                    <a:ahLst/>
                    <a:cxnLst>
                      <a:cxn ang="T10">
                        <a:pos x="T0" y="T1"/>
                      </a:cxn>
                      <a:cxn ang="T11">
                        <a:pos x="T2" y="T3"/>
                      </a:cxn>
                      <a:cxn ang="T12">
                        <a:pos x="T4" y="T5"/>
                      </a:cxn>
                      <a:cxn ang="T13">
                        <a:pos x="T6" y="T7"/>
                      </a:cxn>
                      <a:cxn ang="T14">
                        <a:pos x="T8" y="T9"/>
                      </a:cxn>
                    </a:cxnLst>
                    <a:rect l="T15" t="T16" r="T17" b="T18"/>
                    <a:pathLst>
                      <a:path w="97" h="100">
                        <a:moveTo>
                          <a:pt x="1" y="0"/>
                        </a:moveTo>
                        <a:cubicBezTo>
                          <a:pt x="1" y="0"/>
                          <a:pt x="1" y="0"/>
                          <a:pt x="1" y="0"/>
                        </a:cubicBezTo>
                        <a:cubicBezTo>
                          <a:pt x="0" y="55"/>
                          <a:pt x="42" y="100"/>
                          <a:pt x="94" y="100"/>
                        </a:cubicBezTo>
                        <a:lnTo>
                          <a:pt x="97" y="0"/>
                        </a:lnTo>
                        <a:lnTo>
                          <a:pt x="1" y="0"/>
                        </a:lnTo>
                        <a:close/>
                      </a:path>
                    </a:pathLst>
                  </a:custGeom>
                  <a:noFill/>
                  <a:ln w="1588">
                    <a:solidFill>
                      <a:srgbClr val="C0C0C0"/>
                    </a:solidFill>
                    <a:round/>
                  </a:ln>
                </p:spPr>
                <p:txBody>
                  <a:bodyPr/>
                  <a:lstStyle/>
                  <a:p>
                    <a:endParaRPr lang="zh-CN" altLang="en-US"/>
                  </a:p>
                </p:txBody>
              </p:sp>
              <p:grpSp>
                <p:nvGrpSpPr>
                  <p:cNvPr id="26" name="Group 78"/>
                  <p:cNvGrpSpPr/>
                  <p:nvPr/>
                </p:nvGrpSpPr>
                <p:grpSpPr bwMode="auto">
                  <a:xfrm>
                    <a:off x="3816" y="1689"/>
                    <a:ext cx="24" cy="3"/>
                    <a:chOff x="3816" y="1689"/>
                    <a:chExt cx="24" cy="3"/>
                  </a:xfrm>
                </p:grpSpPr>
                <p:sp>
                  <p:nvSpPr>
                    <p:cNvPr id="77968" name="Rectangle 79"/>
                    <p:cNvSpPr>
                      <a:spLocks noChangeArrowheads="1"/>
                    </p:cNvSpPr>
                    <p:nvPr/>
                  </p:nvSpPr>
                  <p:spPr bwMode="auto">
                    <a:xfrm>
                      <a:off x="3817" y="1689"/>
                      <a:ext cx="23" cy="3"/>
                    </a:xfrm>
                    <a:prstGeom prst="rect">
                      <a:avLst/>
                    </a:prstGeom>
                    <a:solidFill>
                      <a:srgbClr val="808080"/>
                    </a:solidFill>
                    <a:ln w="1588">
                      <a:solidFill>
                        <a:srgbClr val="C0C0C0"/>
                      </a:solidFill>
                      <a:miter lim="800000"/>
                    </a:ln>
                  </p:spPr>
                  <p:txBody>
                    <a:bodyPr/>
                    <a:lstStyle/>
                    <a:p>
                      <a:endParaRPr lang="zh-CN" altLang="en-US"/>
                    </a:p>
                  </p:txBody>
                </p:sp>
                <p:sp>
                  <p:nvSpPr>
                    <p:cNvPr id="77969" name="Oval 80"/>
                    <p:cNvSpPr>
                      <a:spLocks noChangeArrowheads="1"/>
                    </p:cNvSpPr>
                    <p:nvPr/>
                  </p:nvSpPr>
                  <p:spPr bwMode="auto">
                    <a:xfrm>
                      <a:off x="3816" y="1689"/>
                      <a:ext cx="3" cy="3"/>
                    </a:xfrm>
                    <a:prstGeom prst="ellipse">
                      <a:avLst/>
                    </a:prstGeom>
                    <a:solidFill>
                      <a:srgbClr val="808080"/>
                    </a:solidFill>
                    <a:ln w="1588">
                      <a:solidFill>
                        <a:srgbClr val="C0C0C0"/>
                      </a:solidFill>
                      <a:round/>
                    </a:ln>
                  </p:spPr>
                  <p:txBody>
                    <a:bodyPr/>
                    <a:lstStyle/>
                    <a:p>
                      <a:endParaRPr lang="zh-CN" altLang="en-US"/>
                    </a:p>
                  </p:txBody>
                </p:sp>
              </p:grpSp>
              <p:grpSp>
                <p:nvGrpSpPr>
                  <p:cNvPr id="27" name="Group 81"/>
                  <p:cNvGrpSpPr/>
                  <p:nvPr/>
                </p:nvGrpSpPr>
                <p:grpSpPr bwMode="auto">
                  <a:xfrm>
                    <a:off x="3816" y="1693"/>
                    <a:ext cx="24" cy="3"/>
                    <a:chOff x="3816" y="1693"/>
                    <a:chExt cx="24" cy="3"/>
                  </a:xfrm>
                </p:grpSpPr>
                <p:sp>
                  <p:nvSpPr>
                    <p:cNvPr id="77966" name="Rectangle 82"/>
                    <p:cNvSpPr>
                      <a:spLocks noChangeArrowheads="1"/>
                    </p:cNvSpPr>
                    <p:nvPr/>
                  </p:nvSpPr>
                  <p:spPr bwMode="auto">
                    <a:xfrm>
                      <a:off x="3817" y="1693"/>
                      <a:ext cx="23" cy="3"/>
                    </a:xfrm>
                    <a:prstGeom prst="rect">
                      <a:avLst/>
                    </a:prstGeom>
                    <a:solidFill>
                      <a:srgbClr val="808080"/>
                    </a:solidFill>
                    <a:ln w="1588">
                      <a:solidFill>
                        <a:srgbClr val="C0C0C0"/>
                      </a:solidFill>
                      <a:miter lim="800000"/>
                    </a:ln>
                  </p:spPr>
                  <p:txBody>
                    <a:bodyPr/>
                    <a:lstStyle/>
                    <a:p>
                      <a:endParaRPr lang="zh-CN" altLang="en-US"/>
                    </a:p>
                  </p:txBody>
                </p:sp>
                <p:sp>
                  <p:nvSpPr>
                    <p:cNvPr id="77967" name="Oval 83"/>
                    <p:cNvSpPr>
                      <a:spLocks noChangeArrowheads="1"/>
                    </p:cNvSpPr>
                    <p:nvPr/>
                  </p:nvSpPr>
                  <p:spPr bwMode="auto">
                    <a:xfrm>
                      <a:off x="3816" y="1693"/>
                      <a:ext cx="3" cy="3"/>
                    </a:xfrm>
                    <a:prstGeom prst="ellipse">
                      <a:avLst/>
                    </a:prstGeom>
                    <a:solidFill>
                      <a:srgbClr val="808080"/>
                    </a:solidFill>
                    <a:ln w="1588">
                      <a:solidFill>
                        <a:srgbClr val="C0C0C0"/>
                      </a:solidFill>
                      <a:round/>
                    </a:ln>
                  </p:spPr>
                  <p:txBody>
                    <a:bodyPr/>
                    <a:lstStyle/>
                    <a:p>
                      <a:endParaRPr lang="zh-CN" altLang="en-US"/>
                    </a:p>
                  </p:txBody>
                </p:sp>
              </p:grpSp>
              <p:grpSp>
                <p:nvGrpSpPr>
                  <p:cNvPr id="28" name="Group 84"/>
                  <p:cNvGrpSpPr/>
                  <p:nvPr/>
                </p:nvGrpSpPr>
                <p:grpSpPr bwMode="auto">
                  <a:xfrm>
                    <a:off x="3816" y="1684"/>
                    <a:ext cx="24" cy="3"/>
                    <a:chOff x="3816" y="1684"/>
                    <a:chExt cx="24" cy="3"/>
                  </a:xfrm>
                </p:grpSpPr>
                <p:sp>
                  <p:nvSpPr>
                    <p:cNvPr id="77964" name="Rectangle 85"/>
                    <p:cNvSpPr>
                      <a:spLocks noChangeArrowheads="1"/>
                    </p:cNvSpPr>
                    <p:nvPr/>
                  </p:nvSpPr>
                  <p:spPr bwMode="auto">
                    <a:xfrm>
                      <a:off x="3817" y="1684"/>
                      <a:ext cx="23" cy="3"/>
                    </a:xfrm>
                    <a:prstGeom prst="rect">
                      <a:avLst/>
                    </a:prstGeom>
                    <a:solidFill>
                      <a:srgbClr val="808080"/>
                    </a:solidFill>
                    <a:ln w="1588">
                      <a:solidFill>
                        <a:srgbClr val="C0C0C0"/>
                      </a:solidFill>
                      <a:miter lim="800000"/>
                    </a:ln>
                  </p:spPr>
                  <p:txBody>
                    <a:bodyPr/>
                    <a:lstStyle/>
                    <a:p>
                      <a:endParaRPr lang="zh-CN" altLang="en-US"/>
                    </a:p>
                  </p:txBody>
                </p:sp>
                <p:sp>
                  <p:nvSpPr>
                    <p:cNvPr id="77965" name="Oval 86"/>
                    <p:cNvSpPr>
                      <a:spLocks noChangeArrowheads="1"/>
                    </p:cNvSpPr>
                    <p:nvPr/>
                  </p:nvSpPr>
                  <p:spPr bwMode="auto">
                    <a:xfrm>
                      <a:off x="3816" y="1684"/>
                      <a:ext cx="3" cy="3"/>
                    </a:xfrm>
                    <a:prstGeom prst="ellipse">
                      <a:avLst/>
                    </a:prstGeom>
                    <a:solidFill>
                      <a:srgbClr val="808080"/>
                    </a:solidFill>
                    <a:ln w="1588">
                      <a:solidFill>
                        <a:srgbClr val="C0C0C0"/>
                      </a:solidFill>
                      <a:round/>
                    </a:ln>
                  </p:spPr>
                  <p:txBody>
                    <a:bodyPr/>
                    <a:lstStyle/>
                    <a:p>
                      <a:endParaRPr lang="zh-CN" altLang="en-US"/>
                    </a:p>
                  </p:txBody>
                </p:sp>
              </p:grpSp>
            </p:grpSp>
            <p:sp>
              <p:nvSpPr>
                <p:cNvPr id="77946" name="Freeform 87"/>
                <p:cNvSpPr/>
                <p:nvPr/>
              </p:nvSpPr>
              <p:spPr bwMode="auto">
                <a:xfrm>
                  <a:off x="3818" y="1626"/>
                  <a:ext cx="380" cy="79"/>
                </a:xfrm>
                <a:custGeom>
                  <a:avLst/>
                  <a:gdLst>
                    <a:gd name="T0" fmla="*/ 0 w 4178"/>
                    <a:gd name="T1" fmla="*/ 0 h 629"/>
                    <a:gd name="T2" fmla="*/ 0 w 4178"/>
                    <a:gd name="T3" fmla="*/ 0 h 629"/>
                    <a:gd name="T4" fmla="*/ 0 w 4178"/>
                    <a:gd name="T5" fmla="*/ 0 h 629"/>
                    <a:gd name="T6" fmla="*/ 0 w 4178"/>
                    <a:gd name="T7" fmla="*/ 0 h 629"/>
                    <a:gd name="T8" fmla="*/ 0 w 4178"/>
                    <a:gd name="T9" fmla="*/ 0 h 629"/>
                    <a:gd name="T10" fmla="*/ 0 w 4178"/>
                    <a:gd name="T11" fmla="*/ 0 h 629"/>
                    <a:gd name="T12" fmla="*/ 0 w 4178"/>
                    <a:gd name="T13" fmla="*/ 0 h 629"/>
                    <a:gd name="T14" fmla="*/ 0 w 4178"/>
                    <a:gd name="T15" fmla="*/ 0 h 629"/>
                    <a:gd name="T16" fmla="*/ 0 w 4178"/>
                    <a:gd name="T17" fmla="*/ 0 h 629"/>
                    <a:gd name="T18" fmla="*/ 0 w 4178"/>
                    <a:gd name="T19" fmla="*/ 0 h 629"/>
                    <a:gd name="T20" fmla="*/ 0 w 4178"/>
                    <a:gd name="T21" fmla="*/ 0 h 629"/>
                    <a:gd name="T22" fmla="*/ 0 w 4178"/>
                    <a:gd name="T23" fmla="*/ 0 h 629"/>
                    <a:gd name="T24" fmla="*/ 0 w 4178"/>
                    <a:gd name="T25" fmla="*/ 0 h 629"/>
                    <a:gd name="T26" fmla="*/ 0 w 4178"/>
                    <a:gd name="T27" fmla="*/ 0 h 629"/>
                    <a:gd name="T28" fmla="*/ 0 w 4178"/>
                    <a:gd name="T29" fmla="*/ 0 h 629"/>
                    <a:gd name="T30" fmla="*/ 0 w 4178"/>
                    <a:gd name="T31" fmla="*/ 0 h 629"/>
                    <a:gd name="T32" fmla="*/ 0 w 4178"/>
                    <a:gd name="T33" fmla="*/ 0 h 629"/>
                    <a:gd name="T34" fmla="*/ 0 w 4178"/>
                    <a:gd name="T35" fmla="*/ 0 h 629"/>
                    <a:gd name="T36" fmla="*/ 0 w 4178"/>
                    <a:gd name="T37" fmla="*/ 0 h 629"/>
                    <a:gd name="T38" fmla="*/ 0 w 4178"/>
                    <a:gd name="T39" fmla="*/ 0 h 629"/>
                    <a:gd name="T40" fmla="*/ 0 w 4178"/>
                    <a:gd name="T41" fmla="*/ 0 h 629"/>
                    <a:gd name="T42" fmla="*/ 0 w 4178"/>
                    <a:gd name="T43" fmla="*/ 0 h 629"/>
                    <a:gd name="T44" fmla="*/ 0 w 4178"/>
                    <a:gd name="T45" fmla="*/ 0 h 629"/>
                    <a:gd name="T46" fmla="*/ 0 w 4178"/>
                    <a:gd name="T47" fmla="*/ 0 h 629"/>
                    <a:gd name="T48" fmla="*/ 0 w 4178"/>
                    <a:gd name="T49" fmla="*/ 0 h 629"/>
                    <a:gd name="T50" fmla="*/ 0 w 4178"/>
                    <a:gd name="T51" fmla="*/ 0 h 629"/>
                    <a:gd name="T52" fmla="*/ 0 w 4178"/>
                    <a:gd name="T53" fmla="*/ 0 h 629"/>
                    <a:gd name="T54" fmla="*/ 0 w 4178"/>
                    <a:gd name="T55" fmla="*/ 0 h 629"/>
                    <a:gd name="T56" fmla="*/ 0 w 4178"/>
                    <a:gd name="T57" fmla="*/ 0 h 629"/>
                    <a:gd name="T58" fmla="*/ 0 w 4178"/>
                    <a:gd name="T59" fmla="*/ 0 h 629"/>
                    <a:gd name="T60" fmla="*/ 0 w 4178"/>
                    <a:gd name="T61" fmla="*/ 0 h 629"/>
                    <a:gd name="T62" fmla="*/ 0 w 4178"/>
                    <a:gd name="T63" fmla="*/ 0 h 629"/>
                    <a:gd name="T64" fmla="*/ 0 w 4178"/>
                    <a:gd name="T65" fmla="*/ 0 h 629"/>
                    <a:gd name="T66" fmla="*/ 0 w 4178"/>
                    <a:gd name="T67" fmla="*/ 0 h 629"/>
                    <a:gd name="T68" fmla="*/ 0 w 4178"/>
                    <a:gd name="T69" fmla="*/ 0 h 629"/>
                    <a:gd name="T70" fmla="*/ 0 w 4178"/>
                    <a:gd name="T71" fmla="*/ 0 h 629"/>
                    <a:gd name="T72" fmla="*/ 0 w 4178"/>
                    <a:gd name="T73" fmla="*/ 0 h 629"/>
                    <a:gd name="T74" fmla="*/ 0 w 4178"/>
                    <a:gd name="T75" fmla="*/ 0 h 629"/>
                    <a:gd name="T76" fmla="*/ 0 w 4178"/>
                    <a:gd name="T77" fmla="*/ 0 h 629"/>
                    <a:gd name="T78" fmla="*/ 0 w 4178"/>
                    <a:gd name="T79" fmla="*/ 0 h 629"/>
                    <a:gd name="T80" fmla="*/ 0 w 4178"/>
                    <a:gd name="T81" fmla="*/ 0 h 629"/>
                    <a:gd name="T82" fmla="*/ 0 w 4178"/>
                    <a:gd name="T83" fmla="*/ 0 h 629"/>
                    <a:gd name="T84" fmla="*/ 0 w 4178"/>
                    <a:gd name="T85" fmla="*/ 0 h 629"/>
                    <a:gd name="T86" fmla="*/ 0 w 4178"/>
                    <a:gd name="T87" fmla="*/ 0 h 629"/>
                    <a:gd name="T88" fmla="*/ 0 w 4178"/>
                    <a:gd name="T89" fmla="*/ 0 h 629"/>
                    <a:gd name="T90" fmla="*/ 0 w 4178"/>
                    <a:gd name="T91" fmla="*/ 0 h 629"/>
                    <a:gd name="T92" fmla="*/ 0 w 4178"/>
                    <a:gd name="T93" fmla="*/ 0 h 629"/>
                    <a:gd name="T94" fmla="*/ 0 w 4178"/>
                    <a:gd name="T95" fmla="*/ 0 h 629"/>
                    <a:gd name="T96" fmla="*/ 0 w 4178"/>
                    <a:gd name="T97" fmla="*/ 0 h 629"/>
                    <a:gd name="T98" fmla="*/ 0 w 4178"/>
                    <a:gd name="T99" fmla="*/ 0 h 629"/>
                    <a:gd name="T100" fmla="*/ 0 w 4178"/>
                    <a:gd name="T101" fmla="*/ 0 h 629"/>
                    <a:gd name="T102" fmla="*/ 0 w 4178"/>
                    <a:gd name="T103" fmla="*/ 0 h 629"/>
                    <a:gd name="T104" fmla="*/ 0 w 4178"/>
                    <a:gd name="T105" fmla="*/ 0 h 629"/>
                    <a:gd name="T106" fmla="*/ 0 w 4178"/>
                    <a:gd name="T107" fmla="*/ 0 h 629"/>
                    <a:gd name="T108" fmla="*/ 0 w 4178"/>
                    <a:gd name="T109" fmla="*/ 0 h 629"/>
                    <a:gd name="T110" fmla="*/ 0 w 4178"/>
                    <a:gd name="T111" fmla="*/ 0 h 629"/>
                    <a:gd name="T112" fmla="*/ 0 w 4178"/>
                    <a:gd name="T113" fmla="*/ 0 h 629"/>
                    <a:gd name="T114" fmla="*/ 0 w 4178"/>
                    <a:gd name="T115" fmla="*/ 0 h 629"/>
                    <a:gd name="T116" fmla="*/ 0 w 4178"/>
                    <a:gd name="T117" fmla="*/ 0 h 629"/>
                    <a:gd name="T118" fmla="*/ 0 w 4178"/>
                    <a:gd name="T119" fmla="*/ 0 h 629"/>
                    <a:gd name="T120" fmla="*/ 0 w 4178"/>
                    <a:gd name="T121" fmla="*/ 0 h 629"/>
                    <a:gd name="T122" fmla="*/ 0 w 4178"/>
                    <a:gd name="T123" fmla="*/ 0 h 629"/>
                    <a:gd name="T124" fmla="*/ 0 w 4178"/>
                    <a:gd name="T125" fmla="*/ 0 h 62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178"/>
                    <a:gd name="T190" fmla="*/ 0 h 629"/>
                    <a:gd name="T191" fmla="*/ 4178 w 4178"/>
                    <a:gd name="T192" fmla="*/ 629 h 62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178" h="629">
                      <a:moveTo>
                        <a:pt x="209" y="0"/>
                      </a:moveTo>
                      <a:lnTo>
                        <a:pt x="24" y="0"/>
                      </a:lnTo>
                      <a:lnTo>
                        <a:pt x="0" y="97"/>
                      </a:lnTo>
                      <a:lnTo>
                        <a:pt x="81" y="97"/>
                      </a:lnTo>
                      <a:lnTo>
                        <a:pt x="81" y="449"/>
                      </a:lnTo>
                      <a:lnTo>
                        <a:pt x="242" y="608"/>
                      </a:lnTo>
                      <a:lnTo>
                        <a:pt x="278" y="624"/>
                      </a:lnTo>
                      <a:lnTo>
                        <a:pt x="309" y="629"/>
                      </a:lnTo>
                      <a:lnTo>
                        <a:pt x="304" y="549"/>
                      </a:lnTo>
                      <a:lnTo>
                        <a:pt x="300" y="454"/>
                      </a:lnTo>
                      <a:lnTo>
                        <a:pt x="321" y="373"/>
                      </a:lnTo>
                      <a:lnTo>
                        <a:pt x="351" y="313"/>
                      </a:lnTo>
                      <a:lnTo>
                        <a:pt x="390" y="260"/>
                      </a:lnTo>
                      <a:lnTo>
                        <a:pt x="446" y="209"/>
                      </a:lnTo>
                      <a:lnTo>
                        <a:pt x="512" y="170"/>
                      </a:lnTo>
                      <a:lnTo>
                        <a:pt x="604" y="146"/>
                      </a:lnTo>
                      <a:lnTo>
                        <a:pt x="725" y="137"/>
                      </a:lnTo>
                      <a:lnTo>
                        <a:pt x="809" y="158"/>
                      </a:lnTo>
                      <a:lnTo>
                        <a:pt x="870" y="192"/>
                      </a:lnTo>
                      <a:lnTo>
                        <a:pt x="922" y="230"/>
                      </a:lnTo>
                      <a:lnTo>
                        <a:pt x="983" y="290"/>
                      </a:lnTo>
                      <a:lnTo>
                        <a:pt x="1022" y="355"/>
                      </a:lnTo>
                      <a:lnTo>
                        <a:pt x="1048" y="414"/>
                      </a:lnTo>
                      <a:lnTo>
                        <a:pt x="1056" y="471"/>
                      </a:lnTo>
                      <a:lnTo>
                        <a:pt x="1056" y="594"/>
                      </a:lnTo>
                      <a:lnTo>
                        <a:pt x="2881" y="629"/>
                      </a:lnTo>
                      <a:lnTo>
                        <a:pt x="2881" y="509"/>
                      </a:lnTo>
                      <a:lnTo>
                        <a:pt x="2907" y="427"/>
                      </a:lnTo>
                      <a:lnTo>
                        <a:pt x="2937" y="364"/>
                      </a:lnTo>
                      <a:lnTo>
                        <a:pt x="2982" y="304"/>
                      </a:lnTo>
                      <a:lnTo>
                        <a:pt x="3046" y="251"/>
                      </a:lnTo>
                      <a:lnTo>
                        <a:pt x="3112" y="217"/>
                      </a:lnTo>
                      <a:lnTo>
                        <a:pt x="3176" y="197"/>
                      </a:lnTo>
                      <a:lnTo>
                        <a:pt x="3290" y="197"/>
                      </a:lnTo>
                      <a:lnTo>
                        <a:pt x="3351" y="209"/>
                      </a:lnTo>
                      <a:lnTo>
                        <a:pt x="3412" y="235"/>
                      </a:lnTo>
                      <a:lnTo>
                        <a:pt x="3467" y="282"/>
                      </a:lnTo>
                      <a:lnTo>
                        <a:pt x="3521" y="342"/>
                      </a:lnTo>
                      <a:lnTo>
                        <a:pt x="3556" y="414"/>
                      </a:lnTo>
                      <a:lnTo>
                        <a:pt x="3577" y="492"/>
                      </a:lnTo>
                      <a:lnTo>
                        <a:pt x="3577" y="573"/>
                      </a:lnTo>
                      <a:lnTo>
                        <a:pt x="4178" y="571"/>
                      </a:lnTo>
                      <a:lnTo>
                        <a:pt x="4178" y="545"/>
                      </a:lnTo>
                      <a:lnTo>
                        <a:pt x="4159" y="545"/>
                      </a:lnTo>
                      <a:lnTo>
                        <a:pt x="4159" y="506"/>
                      </a:lnTo>
                      <a:lnTo>
                        <a:pt x="4177" y="504"/>
                      </a:lnTo>
                      <a:lnTo>
                        <a:pt x="4177" y="388"/>
                      </a:lnTo>
                      <a:lnTo>
                        <a:pt x="4161" y="364"/>
                      </a:lnTo>
                      <a:lnTo>
                        <a:pt x="4022" y="295"/>
                      </a:lnTo>
                      <a:lnTo>
                        <a:pt x="3868" y="235"/>
                      </a:lnTo>
                      <a:lnTo>
                        <a:pt x="3683" y="179"/>
                      </a:lnTo>
                      <a:lnTo>
                        <a:pt x="3482" y="132"/>
                      </a:lnTo>
                      <a:lnTo>
                        <a:pt x="3297" y="93"/>
                      </a:lnTo>
                      <a:lnTo>
                        <a:pt x="3121" y="63"/>
                      </a:lnTo>
                      <a:lnTo>
                        <a:pt x="3061" y="63"/>
                      </a:lnTo>
                      <a:lnTo>
                        <a:pt x="3021" y="80"/>
                      </a:lnTo>
                      <a:lnTo>
                        <a:pt x="2833" y="107"/>
                      </a:lnTo>
                      <a:lnTo>
                        <a:pt x="2685" y="120"/>
                      </a:lnTo>
                      <a:lnTo>
                        <a:pt x="1905" y="71"/>
                      </a:lnTo>
                      <a:lnTo>
                        <a:pt x="1531" y="42"/>
                      </a:lnTo>
                      <a:lnTo>
                        <a:pt x="1179" y="15"/>
                      </a:lnTo>
                      <a:lnTo>
                        <a:pt x="1000" y="3"/>
                      </a:lnTo>
                      <a:lnTo>
                        <a:pt x="209" y="0"/>
                      </a:lnTo>
                      <a:close/>
                    </a:path>
                  </a:pathLst>
                </a:custGeom>
                <a:solidFill>
                  <a:srgbClr val="FF0000"/>
                </a:solidFill>
                <a:ln w="1588">
                  <a:solidFill>
                    <a:srgbClr val="000000"/>
                  </a:solidFill>
                  <a:round/>
                </a:ln>
              </p:spPr>
              <p:txBody>
                <a:bodyPr/>
                <a:lstStyle/>
                <a:p>
                  <a:endParaRPr lang="zh-CN" altLang="en-US"/>
                </a:p>
              </p:txBody>
            </p:sp>
            <p:sp>
              <p:nvSpPr>
                <p:cNvPr id="77947" name="Freeform 88"/>
                <p:cNvSpPr/>
                <p:nvPr/>
              </p:nvSpPr>
              <p:spPr bwMode="auto">
                <a:xfrm>
                  <a:off x="3971" y="1633"/>
                  <a:ext cx="77" cy="71"/>
                </a:xfrm>
                <a:custGeom>
                  <a:avLst/>
                  <a:gdLst>
                    <a:gd name="T0" fmla="*/ 0 w 843"/>
                    <a:gd name="T1" fmla="*/ 0 h 566"/>
                    <a:gd name="T2" fmla="*/ 0 w 843"/>
                    <a:gd name="T3" fmla="*/ 0 h 566"/>
                    <a:gd name="T4" fmla="*/ 0 w 843"/>
                    <a:gd name="T5" fmla="*/ 0 h 566"/>
                    <a:gd name="T6" fmla="*/ 0 w 843"/>
                    <a:gd name="T7" fmla="*/ 0 h 566"/>
                    <a:gd name="T8" fmla="*/ 0 w 843"/>
                    <a:gd name="T9" fmla="*/ 0 h 566"/>
                    <a:gd name="T10" fmla="*/ 0 w 843"/>
                    <a:gd name="T11" fmla="*/ 0 h 566"/>
                    <a:gd name="T12" fmla="*/ 0 w 843"/>
                    <a:gd name="T13" fmla="*/ 0 h 566"/>
                    <a:gd name="T14" fmla="*/ 0 w 843"/>
                    <a:gd name="T15" fmla="*/ 0 h 566"/>
                    <a:gd name="T16" fmla="*/ 0 w 843"/>
                    <a:gd name="T17" fmla="*/ 0 h 566"/>
                    <a:gd name="T18" fmla="*/ 0 w 843"/>
                    <a:gd name="T19" fmla="*/ 0 h 566"/>
                    <a:gd name="T20" fmla="*/ 0 w 843"/>
                    <a:gd name="T21" fmla="*/ 0 h 5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3"/>
                    <a:gd name="T34" fmla="*/ 0 h 566"/>
                    <a:gd name="T35" fmla="*/ 843 w 843"/>
                    <a:gd name="T36" fmla="*/ 566 h 5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3" h="566">
                      <a:moveTo>
                        <a:pt x="0" y="0"/>
                      </a:moveTo>
                      <a:lnTo>
                        <a:pt x="0" y="552"/>
                      </a:lnTo>
                      <a:lnTo>
                        <a:pt x="843" y="566"/>
                      </a:lnTo>
                      <a:lnTo>
                        <a:pt x="843" y="60"/>
                      </a:lnTo>
                      <a:lnTo>
                        <a:pt x="731" y="48"/>
                      </a:lnTo>
                      <a:lnTo>
                        <a:pt x="578" y="38"/>
                      </a:lnTo>
                      <a:lnTo>
                        <a:pt x="423" y="31"/>
                      </a:lnTo>
                      <a:lnTo>
                        <a:pt x="322" y="22"/>
                      </a:lnTo>
                      <a:lnTo>
                        <a:pt x="224" y="16"/>
                      </a:lnTo>
                      <a:lnTo>
                        <a:pt x="91" y="5"/>
                      </a:lnTo>
                      <a:lnTo>
                        <a:pt x="0" y="0"/>
                      </a:lnTo>
                      <a:close/>
                    </a:path>
                  </a:pathLst>
                </a:custGeom>
                <a:solidFill>
                  <a:srgbClr val="FF0000"/>
                </a:solidFill>
                <a:ln w="1588">
                  <a:solidFill>
                    <a:srgbClr val="000000"/>
                  </a:solidFill>
                  <a:round/>
                </a:ln>
              </p:spPr>
              <p:txBody>
                <a:bodyPr/>
                <a:lstStyle/>
                <a:p>
                  <a:endParaRPr lang="zh-CN" altLang="en-US"/>
                </a:p>
              </p:txBody>
            </p:sp>
            <p:grpSp>
              <p:nvGrpSpPr>
                <p:cNvPr id="29" name="Group 89"/>
                <p:cNvGrpSpPr/>
                <p:nvPr/>
              </p:nvGrpSpPr>
              <p:grpSpPr bwMode="auto">
                <a:xfrm>
                  <a:off x="3909" y="1610"/>
                  <a:ext cx="129" cy="81"/>
                  <a:chOff x="3909" y="1610"/>
                  <a:chExt cx="129" cy="81"/>
                </a:xfrm>
              </p:grpSpPr>
              <p:sp>
                <p:nvSpPr>
                  <p:cNvPr id="77949" name="Oval 90"/>
                  <p:cNvSpPr>
                    <a:spLocks noChangeArrowheads="1"/>
                  </p:cNvSpPr>
                  <p:nvPr/>
                </p:nvSpPr>
                <p:spPr bwMode="auto">
                  <a:xfrm>
                    <a:off x="3909" y="1610"/>
                    <a:ext cx="15" cy="12"/>
                  </a:xfrm>
                  <a:prstGeom prst="ellipse">
                    <a:avLst/>
                  </a:prstGeom>
                  <a:solidFill>
                    <a:srgbClr val="800000"/>
                  </a:solidFill>
                  <a:ln w="1588">
                    <a:solidFill>
                      <a:srgbClr val="800000"/>
                    </a:solidFill>
                    <a:round/>
                  </a:ln>
                </p:spPr>
                <p:txBody>
                  <a:bodyPr/>
                  <a:lstStyle/>
                  <a:p>
                    <a:endParaRPr lang="zh-CN" altLang="en-US"/>
                  </a:p>
                </p:txBody>
              </p:sp>
              <p:sp>
                <p:nvSpPr>
                  <p:cNvPr id="77950" name="Oval 91"/>
                  <p:cNvSpPr>
                    <a:spLocks noChangeArrowheads="1"/>
                  </p:cNvSpPr>
                  <p:nvPr/>
                </p:nvSpPr>
                <p:spPr bwMode="auto">
                  <a:xfrm>
                    <a:off x="3912" y="1614"/>
                    <a:ext cx="3" cy="4"/>
                  </a:xfrm>
                  <a:prstGeom prst="ellipse">
                    <a:avLst/>
                  </a:prstGeom>
                  <a:solidFill>
                    <a:srgbClr val="000000"/>
                  </a:solidFill>
                  <a:ln w="1588">
                    <a:solidFill>
                      <a:srgbClr val="000000"/>
                    </a:solidFill>
                    <a:round/>
                  </a:ln>
                </p:spPr>
                <p:txBody>
                  <a:bodyPr/>
                  <a:lstStyle/>
                  <a:p>
                    <a:endParaRPr lang="zh-CN" altLang="en-US"/>
                  </a:p>
                </p:txBody>
              </p:sp>
              <p:grpSp>
                <p:nvGrpSpPr>
                  <p:cNvPr id="30" name="Group 92"/>
                  <p:cNvGrpSpPr/>
                  <p:nvPr/>
                </p:nvGrpSpPr>
                <p:grpSpPr bwMode="auto">
                  <a:xfrm>
                    <a:off x="3957" y="1642"/>
                    <a:ext cx="81" cy="49"/>
                    <a:chOff x="3957" y="1642"/>
                    <a:chExt cx="81" cy="49"/>
                  </a:xfrm>
                </p:grpSpPr>
                <p:sp>
                  <p:nvSpPr>
                    <p:cNvPr id="77952" name="Freeform 93"/>
                    <p:cNvSpPr/>
                    <p:nvPr/>
                  </p:nvSpPr>
                  <p:spPr bwMode="auto">
                    <a:xfrm>
                      <a:off x="3957" y="1675"/>
                      <a:ext cx="81" cy="16"/>
                    </a:xfrm>
                    <a:custGeom>
                      <a:avLst/>
                      <a:gdLst>
                        <a:gd name="T0" fmla="*/ 0 w 892"/>
                        <a:gd name="T1" fmla="*/ 0 h 123"/>
                        <a:gd name="T2" fmla="*/ 0 w 892"/>
                        <a:gd name="T3" fmla="*/ 0 h 123"/>
                        <a:gd name="T4" fmla="*/ 0 w 892"/>
                        <a:gd name="T5" fmla="*/ 0 h 123"/>
                        <a:gd name="T6" fmla="*/ 0 w 892"/>
                        <a:gd name="T7" fmla="*/ 0 h 123"/>
                        <a:gd name="T8" fmla="*/ 0 60000 65536"/>
                        <a:gd name="T9" fmla="*/ 0 60000 65536"/>
                        <a:gd name="T10" fmla="*/ 0 60000 65536"/>
                        <a:gd name="T11" fmla="*/ 0 60000 65536"/>
                        <a:gd name="T12" fmla="*/ 0 w 892"/>
                        <a:gd name="T13" fmla="*/ 0 h 123"/>
                        <a:gd name="T14" fmla="*/ 892 w 892"/>
                        <a:gd name="T15" fmla="*/ 123 h 123"/>
                      </a:gdLst>
                      <a:ahLst/>
                      <a:cxnLst>
                        <a:cxn ang="T8">
                          <a:pos x="T0" y="T1"/>
                        </a:cxn>
                        <a:cxn ang="T9">
                          <a:pos x="T2" y="T3"/>
                        </a:cxn>
                        <a:cxn ang="T10">
                          <a:pos x="T4" y="T5"/>
                        </a:cxn>
                        <a:cxn ang="T11">
                          <a:pos x="T6" y="T7"/>
                        </a:cxn>
                      </a:cxnLst>
                      <a:rect l="T12" t="T13" r="T14" b="T15"/>
                      <a:pathLst>
                        <a:path w="892" h="123">
                          <a:moveTo>
                            <a:pt x="0" y="69"/>
                          </a:moveTo>
                          <a:lnTo>
                            <a:pt x="0" y="123"/>
                          </a:lnTo>
                          <a:lnTo>
                            <a:pt x="892" y="0"/>
                          </a:lnTo>
                          <a:lnTo>
                            <a:pt x="0" y="69"/>
                          </a:lnTo>
                          <a:close/>
                        </a:path>
                      </a:pathLst>
                    </a:custGeom>
                    <a:solidFill>
                      <a:srgbClr val="800000"/>
                    </a:solidFill>
                    <a:ln w="1588">
                      <a:solidFill>
                        <a:srgbClr val="800000"/>
                      </a:solidFill>
                      <a:round/>
                    </a:ln>
                  </p:spPr>
                  <p:txBody>
                    <a:bodyPr/>
                    <a:lstStyle/>
                    <a:p>
                      <a:endParaRPr lang="zh-CN" altLang="en-US"/>
                    </a:p>
                  </p:txBody>
                </p:sp>
                <p:sp>
                  <p:nvSpPr>
                    <p:cNvPr id="77953" name="Freeform 94"/>
                    <p:cNvSpPr/>
                    <p:nvPr/>
                  </p:nvSpPr>
                  <p:spPr bwMode="auto">
                    <a:xfrm>
                      <a:off x="3957" y="1642"/>
                      <a:ext cx="80" cy="19"/>
                    </a:xfrm>
                    <a:custGeom>
                      <a:avLst/>
                      <a:gdLst>
                        <a:gd name="T0" fmla="*/ 0 w 883"/>
                        <a:gd name="T1" fmla="*/ 0 h 146"/>
                        <a:gd name="T2" fmla="*/ 0 w 883"/>
                        <a:gd name="T3" fmla="*/ 0 h 146"/>
                        <a:gd name="T4" fmla="*/ 0 w 883"/>
                        <a:gd name="T5" fmla="*/ 0 h 146"/>
                        <a:gd name="T6" fmla="*/ 0 w 883"/>
                        <a:gd name="T7" fmla="*/ 0 h 146"/>
                        <a:gd name="T8" fmla="*/ 0 60000 65536"/>
                        <a:gd name="T9" fmla="*/ 0 60000 65536"/>
                        <a:gd name="T10" fmla="*/ 0 60000 65536"/>
                        <a:gd name="T11" fmla="*/ 0 60000 65536"/>
                        <a:gd name="T12" fmla="*/ 0 w 883"/>
                        <a:gd name="T13" fmla="*/ 0 h 146"/>
                        <a:gd name="T14" fmla="*/ 883 w 883"/>
                        <a:gd name="T15" fmla="*/ 146 h 146"/>
                      </a:gdLst>
                      <a:ahLst/>
                      <a:cxnLst>
                        <a:cxn ang="T8">
                          <a:pos x="T0" y="T1"/>
                        </a:cxn>
                        <a:cxn ang="T9">
                          <a:pos x="T2" y="T3"/>
                        </a:cxn>
                        <a:cxn ang="T10">
                          <a:pos x="T4" y="T5"/>
                        </a:cxn>
                        <a:cxn ang="T11">
                          <a:pos x="T6" y="T7"/>
                        </a:cxn>
                      </a:cxnLst>
                      <a:rect l="T12" t="T13" r="T14" b="T15"/>
                      <a:pathLst>
                        <a:path w="883" h="146">
                          <a:moveTo>
                            <a:pt x="0" y="0"/>
                          </a:moveTo>
                          <a:lnTo>
                            <a:pt x="0" y="56"/>
                          </a:lnTo>
                          <a:lnTo>
                            <a:pt x="883" y="146"/>
                          </a:lnTo>
                          <a:lnTo>
                            <a:pt x="0" y="0"/>
                          </a:lnTo>
                          <a:close/>
                        </a:path>
                      </a:pathLst>
                    </a:custGeom>
                    <a:solidFill>
                      <a:srgbClr val="800000"/>
                    </a:solidFill>
                    <a:ln w="1588">
                      <a:solidFill>
                        <a:srgbClr val="800000"/>
                      </a:solidFill>
                      <a:round/>
                    </a:ln>
                  </p:spPr>
                  <p:txBody>
                    <a:bodyPr/>
                    <a:lstStyle/>
                    <a:p>
                      <a:endParaRPr lang="zh-CN" altLang="en-US"/>
                    </a:p>
                  </p:txBody>
                </p:sp>
                <p:sp>
                  <p:nvSpPr>
                    <p:cNvPr id="77954" name="Freeform 95"/>
                    <p:cNvSpPr/>
                    <p:nvPr/>
                  </p:nvSpPr>
                  <p:spPr bwMode="auto">
                    <a:xfrm>
                      <a:off x="3957" y="1653"/>
                      <a:ext cx="80" cy="11"/>
                    </a:xfrm>
                    <a:custGeom>
                      <a:avLst/>
                      <a:gdLst>
                        <a:gd name="T0" fmla="*/ 0 w 883"/>
                        <a:gd name="T1" fmla="*/ 0 h 90"/>
                        <a:gd name="T2" fmla="*/ 0 w 883"/>
                        <a:gd name="T3" fmla="*/ 0 h 90"/>
                        <a:gd name="T4" fmla="*/ 0 w 883"/>
                        <a:gd name="T5" fmla="*/ 0 h 90"/>
                        <a:gd name="T6" fmla="*/ 0 w 883"/>
                        <a:gd name="T7" fmla="*/ 0 h 90"/>
                        <a:gd name="T8" fmla="*/ 0 60000 65536"/>
                        <a:gd name="T9" fmla="*/ 0 60000 65536"/>
                        <a:gd name="T10" fmla="*/ 0 60000 65536"/>
                        <a:gd name="T11" fmla="*/ 0 60000 65536"/>
                        <a:gd name="T12" fmla="*/ 0 w 883"/>
                        <a:gd name="T13" fmla="*/ 0 h 90"/>
                        <a:gd name="T14" fmla="*/ 883 w 883"/>
                        <a:gd name="T15" fmla="*/ 90 h 90"/>
                      </a:gdLst>
                      <a:ahLst/>
                      <a:cxnLst>
                        <a:cxn ang="T8">
                          <a:pos x="T0" y="T1"/>
                        </a:cxn>
                        <a:cxn ang="T9">
                          <a:pos x="T2" y="T3"/>
                        </a:cxn>
                        <a:cxn ang="T10">
                          <a:pos x="T4" y="T5"/>
                        </a:cxn>
                        <a:cxn ang="T11">
                          <a:pos x="T6" y="T7"/>
                        </a:cxn>
                      </a:cxnLst>
                      <a:rect l="T12" t="T13" r="T14" b="T15"/>
                      <a:pathLst>
                        <a:path w="883" h="90">
                          <a:moveTo>
                            <a:pt x="0" y="0"/>
                          </a:moveTo>
                          <a:lnTo>
                            <a:pt x="0" y="55"/>
                          </a:lnTo>
                          <a:lnTo>
                            <a:pt x="883" y="90"/>
                          </a:lnTo>
                          <a:lnTo>
                            <a:pt x="0" y="0"/>
                          </a:lnTo>
                          <a:close/>
                        </a:path>
                      </a:pathLst>
                    </a:custGeom>
                    <a:solidFill>
                      <a:srgbClr val="800000"/>
                    </a:solidFill>
                    <a:ln w="1588">
                      <a:solidFill>
                        <a:srgbClr val="800000"/>
                      </a:solidFill>
                      <a:round/>
                    </a:ln>
                  </p:spPr>
                  <p:txBody>
                    <a:bodyPr/>
                    <a:lstStyle/>
                    <a:p>
                      <a:endParaRPr lang="zh-CN" altLang="en-US"/>
                    </a:p>
                  </p:txBody>
                </p:sp>
                <p:sp>
                  <p:nvSpPr>
                    <p:cNvPr id="77955" name="Freeform 96"/>
                    <p:cNvSpPr/>
                    <p:nvPr/>
                  </p:nvSpPr>
                  <p:spPr bwMode="auto">
                    <a:xfrm>
                      <a:off x="3957" y="1663"/>
                      <a:ext cx="81" cy="7"/>
                    </a:xfrm>
                    <a:custGeom>
                      <a:avLst/>
                      <a:gdLst>
                        <a:gd name="T0" fmla="*/ 0 w 892"/>
                        <a:gd name="T1" fmla="*/ 0 h 55"/>
                        <a:gd name="T2" fmla="*/ 0 w 892"/>
                        <a:gd name="T3" fmla="*/ 0 h 55"/>
                        <a:gd name="T4" fmla="*/ 0 w 892"/>
                        <a:gd name="T5" fmla="*/ 0 h 55"/>
                        <a:gd name="T6" fmla="*/ 0 w 892"/>
                        <a:gd name="T7" fmla="*/ 0 h 55"/>
                        <a:gd name="T8" fmla="*/ 0 60000 65536"/>
                        <a:gd name="T9" fmla="*/ 0 60000 65536"/>
                        <a:gd name="T10" fmla="*/ 0 60000 65536"/>
                        <a:gd name="T11" fmla="*/ 0 60000 65536"/>
                        <a:gd name="T12" fmla="*/ 0 w 892"/>
                        <a:gd name="T13" fmla="*/ 0 h 55"/>
                        <a:gd name="T14" fmla="*/ 892 w 892"/>
                        <a:gd name="T15" fmla="*/ 55 h 55"/>
                      </a:gdLst>
                      <a:ahLst/>
                      <a:cxnLst>
                        <a:cxn ang="T8">
                          <a:pos x="T0" y="T1"/>
                        </a:cxn>
                        <a:cxn ang="T9">
                          <a:pos x="T2" y="T3"/>
                        </a:cxn>
                        <a:cxn ang="T10">
                          <a:pos x="T4" y="T5"/>
                        </a:cxn>
                        <a:cxn ang="T11">
                          <a:pos x="T6" y="T7"/>
                        </a:cxn>
                      </a:cxnLst>
                      <a:rect l="T12" t="T13" r="T14" b="T15"/>
                      <a:pathLst>
                        <a:path w="892" h="55">
                          <a:moveTo>
                            <a:pt x="0" y="0"/>
                          </a:moveTo>
                          <a:lnTo>
                            <a:pt x="0" y="55"/>
                          </a:lnTo>
                          <a:lnTo>
                            <a:pt x="892" y="33"/>
                          </a:lnTo>
                          <a:lnTo>
                            <a:pt x="0" y="0"/>
                          </a:lnTo>
                          <a:close/>
                        </a:path>
                      </a:pathLst>
                    </a:custGeom>
                    <a:solidFill>
                      <a:srgbClr val="800000"/>
                    </a:solidFill>
                    <a:ln w="1588">
                      <a:solidFill>
                        <a:srgbClr val="800000"/>
                      </a:solidFill>
                      <a:round/>
                    </a:ln>
                  </p:spPr>
                  <p:txBody>
                    <a:bodyPr/>
                    <a:lstStyle/>
                    <a:p>
                      <a:endParaRPr lang="zh-CN" altLang="en-US"/>
                    </a:p>
                  </p:txBody>
                </p:sp>
                <p:sp>
                  <p:nvSpPr>
                    <p:cNvPr id="77956" name="Freeform 97"/>
                    <p:cNvSpPr/>
                    <p:nvPr/>
                  </p:nvSpPr>
                  <p:spPr bwMode="auto">
                    <a:xfrm>
                      <a:off x="3957" y="1671"/>
                      <a:ext cx="81" cy="10"/>
                    </a:xfrm>
                    <a:custGeom>
                      <a:avLst/>
                      <a:gdLst>
                        <a:gd name="T0" fmla="*/ 0 w 892"/>
                        <a:gd name="T1" fmla="*/ 0 h 72"/>
                        <a:gd name="T2" fmla="*/ 0 w 892"/>
                        <a:gd name="T3" fmla="*/ 0 h 72"/>
                        <a:gd name="T4" fmla="*/ 0 w 892"/>
                        <a:gd name="T5" fmla="*/ 0 h 72"/>
                        <a:gd name="T6" fmla="*/ 0 w 892"/>
                        <a:gd name="T7" fmla="*/ 0 h 72"/>
                        <a:gd name="T8" fmla="*/ 0 60000 65536"/>
                        <a:gd name="T9" fmla="*/ 0 60000 65536"/>
                        <a:gd name="T10" fmla="*/ 0 60000 65536"/>
                        <a:gd name="T11" fmla="*/ 0 60000 65536"/>
                        <a:gd name="T12" fmla="*/ 0 w 892"/>
                        <a:gd name="T13" fmla="*/ 0 h 72"/>
                        <a:gd name="T14" fmla="*/ 892 w 892"/>
                        <a:gd name="T15" fmla="*/ 72 h 72"/>
                      </a:gdLst>
                      <a:ahLst/>
                      <a:cxnLst>
                        <a:cxn ang="T8">
                          <a:pos x="T0" y="T1"/>
                        </a:cxn>
                        <a:cxn ang="T9">
                          <a:pos x="T2" y="T3"/>
                        </a:cxn>
                        <a:cxn ang="T10">
                          <a:pos x="T4" y="T5"/>
                        </a:cxn>
                        <a:cxn ang="T11">
                          <a:pos x="T6" y="T7"/>
                        </a:cxn>
                      </a:cxnLst>
                      <a:rect l="T12" t="T13" r="T14" b="T15"/>
                      <a:pathLst>
                        <a:path w="892" h="72">
                          <a:moveTo>
                            <a:pt x="0" y="17"/>
                          </a:moveTo>
                          <a:lnTo>
                            <a:pt x="0" y="72"/>
                          </a:lnTo>
                          <a:lnTo>
                            <a:pt x="892" y="0"/>
                          </a:lnTo>
                          <a:lnTo>
                            <a:pt x="0" y="17"/>
                          </a:lnTo>
                          <a:close/>
                        </a:path>
                      </a:pathLst>
                    </a:custGeom>
                    <a:solidFill>
                      <a:srgbClr val="800000"/>
                    </a:solidFill>
                    <a:ln w="1588">
                      <a:solidFill>
                        <a:srgbClr val="800000"/>
                      </a:solidFill>
                      <a:round/>
                    </a:ln>
                  </p:spPr>
                  <p:txBody>
                    <a:bodyPr/>
                    <a:lstStyle/>
                    <a:p>
                      <a:endParaRPr lang="zh-CN" altLang="en-US"/>
                    </a:p>
                  </p:txBody>
                </p:sp>
              </p:grpSp>
            </p:grpSp>
          </p:grpSp>
        </p:grpSp>
        <p:grpSp>
          <p:nvGrpSpPr>
            <p:cNvPr id="31" name="Group 98"/>
            <p:cNvGrpSpPr/>
            <p:nvPr/>
          </p:nvGrpSpPr>
          <p:grpSpPr bwMode="auto">
            <a:xfrm>
              <a:off x="3849" y="1646"/>
              <a:ext cx="294" cy="84"/>
              <a:chOff x="3849" y="1646"/>
              <a:chExt cx="294" cy="84"/>
            </a:xfrm>
          </p:grpSpPr>
          <p:grpSp>
            <p:nvGrpSpPr>
              <p:cNvPr id="78017" name="Group 99"/>
              <p:cNvGrpSpPr/>
              <p:nvPr/>
            </p:nvGrpSpPr>
            <p:grpSpPr bwMode="auto">
              <a:xfrm>
                <a:off x="4082" y="1646"/>
                <a:ext cx="61" cy="84"/>
                <a:chOff x="4082" y="1646"/>
                <a:chExt cx="61" cy="84"/>
              </a:xfrm>
            </p:grpSpPr>
            <p:sp>
              <p:nvSpPr>
                <p:cNvPr id="77933" name="Oval 100"/>
                <p:cNvSpPr>
                  <a:spLocks noChangeArrowheads="1"/>
                </p:cNvSpPr>
                <p:nvPr/>
              </p:nvSpPr>
              <p:spPr bwMode="auto">
                <a:xfrm>
                  <a:off x="4082" y="1646"/>
                  <a:ext cx="61" cy="84"/>
                </a:xfrm>
                <a:prstGeom prst="ellipse">
                  <a:avLst/>
                </a:prstGeom>
                <a:solidFill>
                  <a:srgbClr val="000000"/>
                </a:solidFill>
                <a:ln w="1588">
                  <a:solidFill>
                    <a:srgbClr val="000000"/>
                  </a:solidFill>
                  <a:round/>
                </a:ln>
              </p:spPr>
              <p:txBody>
                <a:bodyPr/>
                <a:lstStyle/>
                <a:p>
                  <a:endParaRPr lang="zh-CN" altLang="en-US"/>
                </a:p>
              </p:txBody>
            </p:sp>
            <p:sp>
              <p:nvSpPr>
                <p:cNvPr id="77934" name="Freeform 101"/>
                <p:cNvSpPr/>
                <p:nvPr/>
              </p:nvSpPr>
              <p:spPr bwMode="auto">
                <a:xfrm>
                  <a:off x="4108" y="1700"/>
                  <a:ext cx="10" cy="18"/>
                </a:xfrm>
                <a:custGeom>
                  <a:avLst/>
                  <a:gdLst>
                    <a:gd name="T0" fmla="*/ 0 w 115"/>
                    <a:gd name="T1" fmla="*/ 0 h 141"/>
                    <a:gd name="T2" fmla="*/ 0 w 115"/>
                    <a:gd name="T3" fmla="*/ 0 h 141"/>
                    <a:gd name="T4" fmla="*/ 0 w 115"/>
                    <a:gd name="T5" fmla="*/ 0 h 141"/>
                    <a:gd name="T6" fmla="*/ 0 w 115"/>
                    <a:gd name="T7" fmla="*/ 0 h 141"/>
                    <a:gd name="T8" fmla="*/ 0 w 115"/>
                    <a:gd name="T9" fmla="*/ 0 h 141"/>
                    <a:gd name="T10" fmla="*/ 0 w 115"/>
                    <a:gd name="T11" fmla="*/ 0 h 141"/>
                    <a:gd name="T12" fmla="*/ 0 60000 65536"/>
                    <a:gd name="T13" fmla="*/ 0 60000 65536"/>
                    <a:gd name="T14" fmla="*/ 0 60000 65536"/>
                    <a:gd name="T15" fmla="*/ 0 60000 65536"/>
                    <a:gd name="T16" fmla="*/ 0 60000 65536"/>
                    <a:gd name="T17" fmla="*/ 0 60000 65536"/>
                    <a:gd name="T18" fmla="*/ 0 w 115"/>
                    <a:gd name="T19" fmla="*/ 0 h 141"/>
                    <a:gd name="T20" fmla="*/ 115 w 115"/>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5" h="141">
                      <a:moveTo>
                        <a:pt x="0" y="131"/>
                      </a:moveTo>
                      <a:lnTo>
                        <a:pt x="45" y="0"/>
                      </a:lnTo>
                      <a:lnTo>
                        <a:pt x="72" y="0"/>
                      </a:lnTo>
                      <a:lnTo>
                        <a:pt x="115" y="136"/>
                      </a:lnTo>
                      <a:lnTo>
                        <a:pt x="59" y="141"/>
                      </a:lnTo>
                      <a:lnTo>
                        <a:pt x="0" y="131"/>
                      </a:lnTo>
                      <a:close/>
                    </a:path>
                  </a:pathLst>
                </a:custGeom>
                <a:solidFill>
                  <a:srgbClr val="FF0000"/>
                </a:solidFill>
                <a:ln w="1588">
                  <a:solidFill>
                    <a:srgbClr val="000000"/>
                  </a:solidFill>
                  <a:round/>
                </a:ln>
              </p:spPr>
              <p:txBody>
                <a:bodyPr/>
                <a:lstStyle/>
                <a:p>
                  <a:endParaRPr lang="zh-CN" altLang="en-US"/>
                </a:p>
              </p:txBody>
            </p:sp>
            <p:sp>
              <p:nvSpPr>
                <p:cNvPr id="77935" name="Freeform 102"/>
                <p:cNvSpPr/>
                <p:nvPr/>
              </p:nvSpPr>
              <p:spPr bwMode="auto">
                <a:xfrm>
                  <a:off x="4107" y="1658"/>
                  <a:ext cx="11" cy="17"/>
                </a:xfrm>
                <a:custGeom>
                  <a:avLst/>
                  <a:gdLst>
                    <a:gd name="T0" fmla="*/ 0 w 118"/>
                    <a:gd name="T1" fmla="*/ 0 h 141"/>
                    <a:gd name="T2" fmla="*/ 0 w 118"/>
                    <a:gd name="T3" fmla="*/ 0 h 141"/>
                    <a:gd name="T4" fmla="*/ 0 w 118"/>
                    <a:gd name="T5" fmla="*/ 0 h 141"/>
                    <a:gd name="T6" fmla="*/ 0 w 118"/>
                    <a:gd name="T7" fmla="*/ 0 h 141"/>
                    <a:gd name="T8" fmla="*/ 0 w 118"/>
                    <a:gd name="T9" fmla="*/ 0 h 141"/>
                    <a:gd name="T10" fmla="*/ 0 w 118"/>
                    <a:gd name="T11" fmla="*/ 0 h 141"/>
                    <a:gd name="T12" fmla="*/ 0 60000 65536"/>
                    <a:gd name="T13" fmla="*/ 0 60000 65536"/>
                    <a:gd name="T14" fmla="*/ 0 60000 65536"/>
                    <a:gd name="T15" fmla="*/ 0 60000 65536"/>
                    <a:gd name="T16" fmla="*/ 0 60000 65536"/>
                    <a:gd name="T17" fmla="*/ 0 60000 65536"/>
                    <a:gd name="T18" fmla="*/ 0 w 118"/>
                    <a:gd name="T19" fmla="*/ 0 h 141"/>
                    <a:gd name="T20" fmla="*/ 118 w 118"/>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8" h="141">
                      <a:moveTo>
                        <a:pt x="0" y="10"/>
                      </a:moveTo>
                      <a:lnTo>
                        <a:pt x="48" y="141"/>
                      </a:lnTo>
                      <a:lnTo>
                        <a:pt x="74" y="141"/>
                      </a:lnTo>
                      <a:lnTo>
                        <a:pt x="118" y="6"/>
                      </a:lnTo>
                      <a:lnTo>
                        <a:pt x="61" y="0"/>
                      </a:lnTo>
                      <a:lnTo>
                        <a:pt x="0" y="10"/>
                      </a:lnTo>
                      <a:close/>
                    </a:path>
                  </a:pathLst>
                </a:custGeom>
                <a:solidFill>
                  <a:srgbClr val="FF0000"/>
                </a:solidFill>
                <a:ln w="1588">
                  <a:solidFill>
                    <a:srgbClr val="000000"/>
                  </a:solidFill>
                  <a:round/>
                </a:ln>
              </p:spPr>
              <p:txBody>
                <a:bodyPr/>
                <a:lstStyle/>
                <a:p>
                  <a:endParaRPr lang="zh-CN" altLang="en-US"/>
                </a:p>
              </p:txBody>
            </p:sp>
            <p:sp>
              <p:nvSpPr>
                <p:cNvPr id="77936" name="Freeform 103"/>
                <p:cNvSpPr/>
                <p:nvPr/>
              </p:nvSpPr>
              <p:spPr bwMode="auto">
                <a:xfrm>
                  <a:off x="4121" y="1680"/>
                  <a:ext cx="13"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31" y="0"/>
                      </a:moveTo>
                      <a:lnTo>
                        <a:pt x="0" y="46"/>
                      </a:lnTo>
                      <a:lnTo>
                        <a:pt x="0" y="73"/>
                      </a:lnTo>
                      <a:lnTo>
                        <a:pt x="135" y="115"/>
                      </a:lnTo>
                      <a:lnTo>
                        <a:pt x="142" y="60"/>
                      </a:lnTo>
                      <a:lnTo>
                        <a:pt x="131" y="0"/>
                      </a:lnTo>
                      <a:close/>
                    </a:path>
                  </a:pathLst>
                </a:custGeom>
                <a:solidFill>
                  <a:srgbClr val="FF0000"/>
                </a:solidFill>
                <a:ln w="1588">
                  <a:solidFill>
                    <a:srgbClr val="000000"/>
                  </a:solidFill>
                  <a:round/>
                </a:ln>
              </p:spPr>
              <p:txBody>
                <a:bodyPr/>
                <a:lstStyle/>
                <a:p>
                  <a:endParaRPr lang="zh-CN" altLang="en-US"/>
                </a:p>
              </p:txBody>
            </p:sp>
            <p:sp>
              <p:nvSpPr>
                <p:cNvPr id="77937" name="Freeform 104"/>
                <p:cNvSpPr/>
                <p:nvPr/>
              </p:nvSpPr>
              <p:spPr bwMode="auto">
                <a:xfrm>
                  <a:off x="4091" y="1680"/>
                  <a:ext cx="12" cy="14"/>
                </a:xfrm>
                <a:custGeom>
                  <a:avLst/>
                  <a:gdLst>
                    <a:gd name="T0" fmla="*/ 0 w 141"/>
                    <a:gd name="T1" fmla="*/ 0 h 115"/>
                    <a:gd name="T2" fmla="*/ 0 w 141"/>
                    <a:gd name="T3" fmla="*/ 0 h 115"/>
                    <a:gd name="T4" fmla="*/ 0 w 141"/>
                    <a:gd name="T5" fmla="*/ 0 h 115"/>
                    <a:gd name="T6" fmla="*/ 0 w 141"/>
                    <a:gd name="T7" fmla="*/ 0 h 115"/>
                    <a:gd name="T8" fmla="*/ 0 w 141"/>
                    <a:gd name="T9" fmla="*/ 0 h 115"/>
                    <a:gd name="T10" fmla="*/ 0 w 141"/>
                    <a:gd name="T11" fmla="*/ 0 h 115"/>
                    <a:gd name="T12" fmla="*/ 0 60000 65536"/>
                    <a:gd name="T13" fmla="*/ 0 60000 65536"/>
                    <a:gd name="T14" fmla="*/ 0 60000 65536"/>
                    <a:gd name="T15" fmla="*/ 0 60000 65536"/>
                    <a:gd name="T16" fmla="*/ 0 60000 65536"/>
                    <a:gd name="T17" fmla="*/ 0 60000 65536"/>
                    <a:gd name="T18" fmla="*/ 0 w 141"/>
                    <a:gd name="T19" fmla="*/ 0 h 115"/>
                    <a:gd name="T20" fmla="*/ 141 w 141"/>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1" h="115">
                      <a:moveTo>
                        <a:pt x="10" y="0"/>
                      </a:moveTo>
                      <a:lnTo>
                        <a:pt x="141" y="46"/>
                      </a:lnTo>
                      <a:lnTo>
                        <a:pt x="141" y="73"/>
                      </a:lnTo>
                      <a:lnTo>
                        <a:pt x="5" y="115"/>
                      </a:lnTo>
                      <a:lnTo>
                        <a:pt x="0" y="60"/>
                      </a:lnTo>
                      <a:lnTo>
                        <a:pt x="10" y="0"/>
                      </a:lnTo>
                      <a:close/>
                    </a:path>
                  </a:pathLst>
                </a:custGeom>
                <a:solidFill>
                  <a:srgbClr val="FF0000"/>
                </a:solidFill>
                <a:ln w="1588">
                  <a:solidFill>
                    <a:srgbClr val="000000"/>
                  </a:solidFill>
                  <a:round/>
                </a:ln>
              </p:spPr>
              <p:txBody>
                <a:bodyPr/>
                <a:lstStyle/>
                <a:p>
                  <a:endParaRPr lang="zh-CN" altLang="en-US"/>
                </a:p>
              </p:txBody>
            </p:sp>
            <p:sp>
              <p:nvSpPr>
                <p:cNvPr id="77938" name="Oval 105"/>
                <p:cNvSpPr>
                  <a:spLocks noChangeArrowheads="1"/>
                </p:cNvSpPr>
                <p:nvPr/>
              </p:nvSpPr>
              <p:spPr bwMode="auto">
                <a:xfrm>
                  <a:off x="4090" y="1656"/>
                  <a:ext cx="45" cy="62"/>
                </a:xfrm>
                <a:prstGeom prst="ellipse">
                  <a:avLst/>
                </a:prstGeom>
                <a:noFill/>
                <a:ln w="1588">
                  <a:solidFill>
                    <a:srgbClr val="FFFFFF"/>
                  </a:solidFill>
                  <a:round/>
                </a:ln>
              </p:spPr>
              <p:txBody>
                <a:bodyPr/>
                <a:lstStyle/>
                <a:p>
                  <a:endParaRPr lang="zh-CN" altLang="en-US"/>
                </a:p>
              </p:txBody>
            </p:sp>
            <p:grpSp>
              <p:nvGrpSpPr>
                <p:cNvPr id="78018" name="Group 106"/>
                <p:cNvGrpSpPr/>
                <p:nvPr/>
              </p:nvGrpSpPr>
              <p:grpSpPr bwMode="auto">
                <a:xfrm>
                  <a:off x="4103" y="1675"/>
                  <a:ext cx="18" cy="25"/>
                  <a:chOff x="4103" y="1675"/>
                  <a:chExt cx="18" cy="25"/>
                </a:xfrm>
              </p:grpSpPr>
              <p:sp>
                <p:nvSpPr>
                  <p:cNvPr id="77940" name="Oval 107"/>
                  <p:cNvSpPr>
                    <a:spLocks noChangeArrowheads="1"/>
                  </p:cNvSpPr>
                  <p:nvPr/>
                </p:nvSpPr>
                <p:spPr bwMode="auto">
                  <a:xfrm>
                    <a:off x="4103" y="1675"/>
                    <a:ext cx="18" cy="25"/>
                  </a:xfrm>
                  <a:prstGeom prst="ellipse">
                    <a:avLst/>
                  </a:prstGeom>
                  <a:solidFill>
                    <a:srgbClr val="000000"/>
                  </a:solidFill>
                  <a:ln w="1588">
                    <a:solidFill>
                      <a:srgbClr val="FFFFFF"/>
                    </a:solidFill>
                    <a:round/>
                  </a:ln>
                </p:spPr>
                <p:txBody>
                  <a:bodyPr/>
                  <a:lstStyle/>
                  <a:p>
                    <a:endParaRPr lang="zh-CN" altLang="en-US"/>
                  </a:p>
                </p:txBody>
              </p:sp>
              <p:sp>
                <p:nvSpPr>
                  <p:cNvPr id="77941" name="Oval 108"/>
                  <p:cNvSpPr>
                    <a:spLocks noChangeArrowheads="1"/>
                  </p:cNvSpPr>
                  <p:nvPr/>
                </p:nvSpPr>
                <p:spPr bwMode="auto">
                  <a:xfrm>
                    <a:off x="4107" y="1680"/>
                    <a:ext cx="10" cy="15"/>
                  </a:xfrm>
                  <a:prstGeom prst="ellipse">
                    <a:avLst/>
                  </a:prstGeom>
                  <a:solidFill>
                    <a:srgbClr val="000000"/>
                  </a:solidFill>
                  <a:ln w="1588">
                    <a:solidFill>
                      <a:srgbClr val="FFFFFF"/>
                    </a:solidFill>
                    <a:round/>
                  </a:ln>
                </p:spPr>
                <p:txBody>
                  <a:bodyPr/>
                  <a:lstStyle/>
                  <a:p>
                    <a:endParaRPr lang="zh-CN" altLang="en-US"/>
                  </a:p>
                </p:txBody>
              </p:sp>
            </p:grpSp>
          </p:grpSp>
          <p:grpSp>
            <p:nvGrpSpPr>
              <p:cNvPr id="78019" name="Group 109"/>
              <p:cNvGrpSpPr/>
              <p:nvPr/>
            </p:nvGrpSpPr>
            <p:grpSpPr bwMode="auto">
              <a:xfrm>
                <a:off x="3849" y="1646"/>
                <a:ext cx="61" cy="84"/>
                <a:chOff x="3849" y="1646"/>
                <a:chExt cx="61" cy="84"/>
              </a:xfrm>
            </p:grpSpPr>
            <p:sp>
              <p:nvSpPr>
                <p:cNvPr id="77924" name="Oval 110"/>
                <p:cNvSpPr>
                  <a:spLocks noChangeArrowheads="1"/>
                </p:cNvSpPr>
                <p:nvPr/>
              </p:nvSpPr>
              <p:spPr bwMode="auto">
                <a:xfrm>
                  <a:off x="3849" y="1646"/>
                  <a:ext cx="61" cy="84"/>
                </a:xfrm>
                <a:prstGeom prst="ellipse">
                  <a:avLst/>
                </a:prstGeom>
                <a:solidFill>
                  <a:srgbClr val="000000"/>
                </a:solidFill>
                <a:ln w="1588">
                  <a:solidFill>
                    <a:srgbClr val="000000"/>
                  </a:solidFill>
                  <a:round/>
                </a:ln>
              </p:spPr>
              <p:txBody>
                <a:bodyPr/>
                <a:lstStyle/>
                <a:p>
                  <a:endParaRPr lang="zh-CN" altLang="en-US"/>
                </a:p>
              </p:txBody>
            </p:sp>
            <p:sp>
              <p:nvSpPr>
                <p:cNvPr id="77925" name="Freeform 111"/>
                <p:cNvSpPr/>
                <p:nvPr/>
              </p:nvSpPr>
              <p:spPr bwMode="auto">
                <a:xfrm>
                  <a:off x="3875" y="1700"/>
                  <a:ext cx="10" cy="18"/>
                </a:xfrm>
                <a:custGeom>
                  <a:avLst/>
                  <a:gdLst>
                    <a:gd name="T0" fmla="*/ 0 w 115"/>
                    <a:gd name="T1" fmla="*/ 0 h 141"/>
                    <a:gd name="T2" fmla="*/ 0 w 115"/>
                    <a:gd name="T3" fmla="*/ 0 h 141"/>
                    <a:gd name="T4" fmla="*/ 0 w 115"/>
                    <a:gd name="T5" fmla="*/ 0 h 141"/>
                    <a:gd name="T6" fmla="*/ 0 w 115"/>
                    <a:gd name="T7" fmla="*/ 0 h 141"/>
                    <a:gd name="T8" fmla="*/ 0 w 115"/>
                    <a:gd name="T9" fmla="*/ 0 h 141"/>
                    <a:gd name="T10" fmla="*/ 0 w 115"/>
                    <a:gd name="T11" fmla="*/ 0 h 141"/>
                    <a:gd name="T12" fmla="*/ 0 60000 65536"/>
                    <a:gd name="T13" fmla="*/ 0 60000 65536"/>
                    <a:gd name="T14" fmla="*/ 0 60000 65536"/>
                    <a:gd name="T15" fmla="*/ 0 60000 65536"/>
                    <a:gd name="T16" fmla="*/ 0 60000 65536"/>
                    <a:gd name="T17" fmla="*/ 0 60000 65536"/>
                    <a:gd name="T18" fmla="*/ 0 w 115"/>
                    <a:gd name="T19" fmla="*/ 0 h 141"/>
                    <a:gd name="T20" fmla="*/ 115 w 115"/>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5" h="141">
                      <a:moveTo>
                        <a:pt x="0" y="131"/>
                      </a:moveTo>
                      <a:lnTo>
                        <a:pt x="44" y="0"/>
                      </a:lnTo>
                      <a:lnTo>
                        <a:pt x="72" y="0"/>
                      </a:lnTo>
                      <a:lnTo>
                        <a:pt x="115" y="136"/>
                      </a:lnTo>
                      <a:lnTo>
                        <a:pt x="60" y="141"/>
                      </a:lnTo>
                      <a:lnTo>
                        <a:pt x="0" y="131"/>
                      </a:lnTo>
                      <a:close/>
                    </a:path>
                  </a:pathLst>
                </a:custGeom>
                <a:solidFill>
                  <a:srgbClr val="FF0000"/>
                </a:solidFill>
                <a:ln w="1588">
                  <a:solidFill>
                    <a:srgbClr val="000000"/>
                  </a:solidFill>
                  <a:round/>
                </a:ln>
              </p:spPr>
              <p:txBody>
                <a:bodyPr/>
                <a:lstStyle/>
                <a:p>
                  <a:endParaRPr lang="zh-CN" altLang="en-US"/>
                </a:p>
              </p:txBody>
            </p:sp>
            <p:sp>
              <p:nvSpPr>
                <p:cNvPr id="77926" name="Freeform 112"/>
                <p:cNvSpPr/>
                <p:nvPr/>
              </p:nvSpPr>
              <p:spPr bwMode="auto">
                <a:xfrm>
                  <a:off x="3874" y="1658"/>
                  <a:ext cx="11" cy="17"/>
                </a:xfrm>
                <a:custGeom>
                  <a:avLst/>
                  <a:gdLst>
                    <a:gd name="T0" fmla="*/ 0 w 119"/>
                    <a:gd name="T1" fmla="*/ 0 h 141"/>
                    <a:gd name="T2" fmla="*/ 0 w 119"/>
                    <a:gd name="T3" fmla="*/ 0 h 141"/>
                    <a:gd name="T4" fmla="*/ 0 w 119"/>
                    <a:gd name="T5" fmla="*/ 0 h 141"/>
                    <a:gd name="T6" fmla="*/ 0 w 119"/>
                    <a:gd name="T7" fmla="*/ 0 h 141"/>
                    <a:gd name="T8" fmla="*/ 0 w 119"/>
                    <a:gd name="T9" fmla="*/ 0 h 141"/>
                    <a:gd name="T10" fmla="*/ 0 w 119"/>
                    <a:gd name="T11" fmla="*/ 0 h 141"/>
                    <a:gd name="T12" fmla="*/ 0 60000 65536"/>
                    <a:gd name="T13" fmla="*/ 0 60000 65536"/>
                    <a:gd name="T14" fmla="*/ 0 60000 65536"/>
                    <a:gd name="T15" fmla="*/ 0 60000 65536"/>
                    <a:gd name="T16" fmla="*/ 0 60000 65536"/>
                    <a:gd name="T17" fmla="*/ 0 60000 65536"/>
                    <a:gd name="T18" fmla="*/ 0 w 119"/>
                    <a:gd name="T19" fmla="*/ 0 h 141"/>
                    <a:gd name="T20" fmla="*/ 119 w 119"/>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9" h="141">
                      <a:moveTo>
                        <a:pt x="0" y="10"/>
                      </a:moveTo>
                      <a:lnTo>
                        <a:pt x="47" y="141"/>
                      </a:lnTo>
                      <a:lnTo>
                        <a:pt x="76" y="141"/>
                      </a:lnTo>
                      <a:lnTo>
                        <a:pt x="119" y="6"/>
                      </a:lnTo>
                      <a:lnTo>
                        <a:pt x="62" y="0"/>
                      </a:lnTo>
                      <a:lnTo>
                        <a:pt x="0" y="10"/>
                      </a:lnTo>
                      <a:close/>
                    </a:path>
                  </a:pathLst>
                </a:custGeom>
                <a:solidFill>
                  <a:srgbClr val="FF0000"/>
                </a:solidFill>
                <a:ln w="1588">
                  <a:solidFill>
                    <a:srgbClr val="000000"/>
                  </a:solidFill>
                  <a:round/>
                </a:ln>
              </p:spPr>
              <p:txBody>
                <a:bodyPr/>
                <a:lstStyle/>
                <a:p>
                  <a:endParaRPr lang="zh-CN" altLang="en-US"/>
                </a:p>
              </p:txBody>
            </p:sp>
            <p:sp>
              <p:nvSpPr>
                <p:cNvPr id="77927" name="Freeform 113"/>
                <p:cNvSpPr/>
                <p:nvPr/>
              </p:nvSpPr>
              <p:spPr bwMode="auto">
                <a:xfrm>
                  <a:off x="3889" y="1680"/>
                  <a:ext cx="12"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32" y="0"/>
                      </a:moveTo>
                      <a:lnTo>
                        <a:pt x="0" y="46"/>
                      </a:lnTo>
                      <a:lnTo>
                        <a:pt x="0" y="73"/>
                      </a:lnTo>
                      <a:lnTo>
                        <a:pt x="136" y="115"/>
                      </a:lnTo>
                      <a:lnTo>
                        <a:pt x="142" y="60"/>
                      </a:lnTo>
                      <a:lnTo>
                        <a:pt x="132" y="0"/>
                      </a:lnTo>
                      <a:close/>
                    </a:path>
                  </a:pathLst>
                </a:custGeom>
                <a:solidFill>
                  <a:srgbClr val="FF0000"/>
                </a:solidFill>
                <a:ln w="1588">
                  <a:solidFill>
                    <a:srgbClr val="000000"/>
                  </a:solidFill>
                  <a:round/>
                </a:ln>
              </p:spPr>
              <p:txBody>
                <a:bodyPr/>
                <a:lstStyle/>
                <a:p>
                  <a:endParaRPr lang="zh-CN" altLang="en-US"/>
                </a:p>
              </p:txBody>
            </p:sp>
            <p:sp>
              <p:nvSpPr>
                <p:cNvPr id="77928" name="Freeform 114"/>
                <p:cNvSpPr/>
                <p:nvPr/>
              </p:nvSpPr>
              <p:spPr bwMode="auto">
                <a:xfrm>
                  <a:off x="3858" y="1680"/>
                  <a:ext cx="13"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0" y="0"/>
                      </a:moveTo>
                      <a:lnTo>
                        <a:pt x="142" y="46"/>
                      </a:lnTo>
                      <a:lnTo>
                        <a:pt x="142" y="73"/>
                      </a:lnTo>
                      <a:lnTo>
                        <a:pt x="6" y="115"/>
                      </a:lnTo>
                      <a:lnTo>
                        <a:pt x="0" y="60"/>
                      </a:lnTo>
                      <a:lnTo>
                        <a:pt x="10" y="0"/>
                      </a:lnTo>
                      <a:close/>
                    </a:path>
                  </a:pathLst>
                </a:custGeom>
                <a:solidFill>
                  <a:srgbClr val="FF0000"/>
                </a:solidFill>
                <a:ln w="1588">
                  <a:solidFill>
                    <a:srgbClr val="000000"/>
                  </a:solidFill>
                  <a:round/>
                </a:ln>
              </p:spPr>
              <p:txBody>
                <a:bodyPr/>
                <a:lstStyle/>
                <a:p>
                  <a:endParaRPr lang="zh-CN" altLang="en-US"/>
                </a:p>
              </p:txBody>
            </p:sp>
            <p:sp>
              <p:nvSpPr>
                <p:cNvPr id="77929" name="Oval 115"/>
                <p:cNvSpPr>
                  <a:spLocks noChangeArrowheads="1"/>
                </p:cNvSpPr>
                <p:nvPr/>
              </p:nvSpPr>
              <p:spPr bwMode="auto">
                <a:xfrm>
                  <a:off x="3857" y="1656"/>
                  <a:ext cx="45" cy="62"/>
                </a:xfrm>
                <a:prstGeom prst="ellipse">
                  <a:avLst/>
                </a:prstGeom>
                <a:noFill/>
                <a:ln w="1588">
                  <a:solidFill>
                    <a:srgbClr val="FFFFFF"/>
                  </a:solidFill>
                  <a:round/>
                </a:ln>
              </p:spPr>
              <p:txBody>
                <a:bodyPr/>
                <a:lstStyle/>
                <a:p>
                  <a:endParaRPr lang="zh-CN" altLang="en-US"/>
                </a:p>
              </p:txBody>
            </p:sp>
            <p:grpSp>
              <p:nvGrpSpPr>
                <p:cNvPr id="78026" name="Group 116"/>
                <p:cNvGrpSpPr/>
                <p:nvPr/>
              </p:nvGrpSpPr>
              <p:grpSpPr bwMode="auto">
                <a:xfrm>
                  <a:off x="3870" y="1675"/>
                  <a:ext cx="18" cy="25"/>
                  <a:chOff x="3870" y="1675"/>
                  <a:chExt cx="18" cy="25"/>
                </a:xfrm>
              </p:grpSpPr>
              <p:sp>
                <p:nvSpPr>
                  <p:cNvPr id="77931" name="Oval 117"/>
                  <p:cNvSpPr>
                    <a:spLocks noChangeArrowheads="1"/>
                  </p:cNvSpPr>
                  <p:nvPr/>
                </p:nvSpPr>
                <p:spPr bwMode="auto">
                  <a:xfrm>
                    <a:off x="3870" y="1675"/>
                    <a:ext cx="18" cy="25"/>
                  </a:xfrm>
                  <a:prstGeom prst="ellipse">
                    <a:avLst/>
                  </a:prstGeom>
                  <a:solidFill>
                    <a:srgbClr val="000000"/>
                  </a:solidFill>
                  <a:ln w="1588">
                    <a:solidFill>
                      <a:srgbClr val="FFFFFF"/>
                    </a:solidFill>
                    <a:round/>
                  </a:ln>
                </p:spPr>
                <p:txBody>
                  <a:bodyPr/>
                  <a:lstStyle/>
                  <a:p>
                    <a:endParaRPr lang="zh-CN" altLang="en-US"/>
                  </a:p>
                </p:txBody>
              </p:sp>
              <p:sp>
                <p:nvSpPr>
                  <p:cNvPr id="77932" name="Oval 118"/>
                  <p:cNvSpPr>
                    <a:spLocks noChangeArrowheads="1"/>
                  </p:cNvSpPr>
                  <p:nvPr/>
                </p:nvSpPr>
                <p:spPr bwMode="auto">
                  <a:xfrm>
                    <a:off x="3874" y="1680"/>
                    <a:ext cx="11" cy="15"/>
                  </a:xfrm>
                  <a:prstGeom prst="ellipse">
                    <a:avLst/>
                  </a:prstGeom>
                  <a:solidFill>
                    <a:srgbClr val="000000"/>
                  </a:solidFill>
                  <a:ln w="1588">
                    <a:solidFill>
                      <a:srgbClr val="FFFFFF"/>
                    </a:solidFill>
                    <a:round/>
                  </a:ln>
                </p:spPr>
                <p:txBody>
                  <a:bodyPr/>
                  <a:lstStyle/>
                  <a:p>
                    <a:endParaRPr lang="zh-CN" altLang="en-US"/>
                  </a:p>
                </p:txBody>
              </p:sp>
            </p:grpSp>
          </p:grpSp>
        </p:grpSp>
      </p:grpSp>
      <p:grpSp>
        <p:nvGrpSpPr>
          <p:cNvPr id="78028" name="Group 119"/>
          <p:cNvGrpSpPr/>
          <p:nvPr/>
        </p:nvGrpSpPr>
        <p:grpSpPr bwMode="auto">
          <a:xfrm>
            <a:off x="5784851" y="3896917"/>
            <a:ext cx="511175" cy="105965"/>
            <a:chOff x="3816" y="2924"/>
            <a:chExt cx="382" cy="134"/>
          </a:xfrm>
        </p:grpSpPr>
        <p:grpSp>
          <p:nvGrpSpPr>
            <p:cNvPr id="78032" name="Group 120"/>
            <p:cNvGrpSpPr/>
            <p:nvPr/>
          </p:nvGrpSpPr>
          <p:grpSpPr bwMode="auto">
            <a:xfrm>
              <a:off x="3816" y="2924"/>
              <a:ext cx="382" cy="121"/>
              <a:chOff x="3816" y="2924"/>
              <a:chExt cx="382" cy="121"/>
            </a:xfrm>
          </p:grpSpPr>
          <p:grpSp>
            <p:nvGrpSpPr>
              <p:cNvPr id="78033" name="Group 121"/>
              <p:cNvGrpSpPr/>
              <p:nvPr/>
            </p:nvGrpSpPr>
            <p:grpSpPr bwMode="auto">
              <a:xfrm>
                <a:off x="3836" y="2924"/>
                <a:ext cx="262" cy="47"/>
                <a:chOff x="3836" y="2924"/>
                <a:chExt cx="262" cy="47"/>
              </a:xfrm>
            </p:grpSpPr>
            <p:grpSp>
              <p:nvGrpSpPr>
                <p:cNvPr id="78034" name="Group 122"/>
                <p:cNvGrpSpPr/>
                <p:nvPr/>
              </p:nvGrpSpPr>
              <p:grpSpPr bwMode="auto">
                <a:xfrm>
                  <a:off x="3928" y="2929"/>
                  <a:ext cx="140" cy="41"/>
                  <a:chOff x="3928" y="2929"/>
                  <a:chExt cx="140" cy="41"/>
                </a:xfrm>
              </p:grpSpPr>
              <p:grpSp>
                <p:nvGrpSpPr>
                  <p:cNvPr id="78035" name="Group 123"/>
                  <p:cNvGrpSpPr/>
                  <p:nvPr/>
                </p:nvGrpSpPr>
                <p:grpSpPr bwMode="auto">
                  <a:xfrm>
                    <a:off x="3959" y="2930"/>
                    <a:ext cx="90" cy="36"/>
                    <a:chOff x="3959" y="2930"/>
                    <a:chExt cx="90" cy="36"/>
                  </a:xfrm>
                </p:grpSpPr>
                <p:sp>
                  <p:nvSpPr>
                    <p:cNvPr id="77918" name="Freeform 124"/>
                    <p:cNvSpPr/>
                    <p:nvPr/>
                  </p:nvSpPr>
                  <p:spPr bwMode="auto">
                    <a:xfrm>
                      <a:off x="3959" y="2930"/>
                      <a:ext cx="16" cy="30"/>
                    </a:xfrm>
                    <a:custGeom>
                      <a:avLst/>
                      <a:gdLst>
                        <a:gd name="T0" fmla="*/ 0 w 168"/>
                        <a:gd name="T1" fmla="*/ 0 h 235"/>
                        <a:gd name="T2" fmla="*/ 0 w 168"/>
                        <a:gd name="T3" fmla="*/ 0 h 235"/>
                        <a:gd name="T4" fmla="*/ 0 w 168"/>
                        <a:gd name="T5" fmla="*/ 0 h 235"/>
                        <a:gd name="T6" fmla="*/ 0 w 168"/>
                        <a:gd name="T7" fmla="*/ 0 h 235"/>
                        <a:gd name="T8" fmla="*/ 0 w 168"/>
                        <a:gd name="T9" fmla="*/ 0 h 235"/>
                        <a:gd name="T10" fmla="*/ 0 w 168"/>
                        <a:gd name="T11" fmla="*/ 0 h 235"/>
                        <a:gd name="T12" fmla="*/ 0 60000 65536"/>
                        <a:gd name="T13" fmla="*/ 0 60000 65536"/>
                        <a:gd name="T14" fmla="*/ 0 60000 65536"/>
                        <a:gd name="T15" fmla="*/ 0 60000 65536"/>
                        <a:gd name="T16" fmla="*/ 0 60000 65536"/>
                        <a:gd name="T17" fmla="*/ 0 60000 65536"/>
                        <a:gd name="T18" fmla="*/ 0 w 168"/>
                        <a:gd name="T19" fmla="*/ 0 h 235"/>
                        <a:gd name="T20" fmla="*/ 168 w 168"/>
                        <a:gd name="T21" fmla="*/ 235 h 235"/>
                      </a:gdLst>
                      <a:ahLst/>
                      <a:cxnLst>
                        <a:cxn ang="T12">
                          <a:pos x="T0" y="T1"/>
                        </a:cxn>
                        <a:cxn ang="T13">
                          <a:pos x="T2" y="T3"/>
                        </a:cxn>
                        <a:cxn ang="T14">
                          <a:pos x="T4" y="T5"/>
                        </a:cxn>
                        <a:cxn ang="T15">
                          <a:pos x="T6" y="T7"/>
                        </a:cxn>
                        <a:cxn ang="T16">
                          <a:pos x="T8" y="T9"/>
                        </a:cxn>
                        <a:cxn ang="T17">
                          <a:pos x="T10" y="T11"/>
                        </a:cxn>
                      </a:cxnLst>
                      <a:rect l="T18" t="T19" r="T20" b="T21"/>
                      <a:pathLst>
                        <a:path w="168" h="235">
                          <a:moveTo>
                            <a:pt x="4" y="3"/>
                          </a:moveTo>
                          <a:lnTo>
                            <a:pt x="0" y="0"/>
                          </a:lnTo>
                          <a:lnTo>
                            <a:pt x="110" y="235"/>
                          </a:lnTo>
                          <a:lnTo>
                            <a:pt x="168" y="235"/>
                          </a:lnTo>
                          <a:lnTo>
                            <a:pt x="46" y="0"/>
                          </a:lnTo>
                          <a:lnTo>
                            <a:pt x="4" y="3"/>
                          </a:lnTo>
                          <a:close/>
                        </a:path>
                      </a:pathLst>
                    </a:custGeom>
                    <a:solidFill>
                      <a:srgbClr val="800000"/>
                    </a:solidFill>
                    <a:ln w="1588">
                      <a:solidFill>
                        <a:srgbClr val="000000"/>
                      </a:solidFill>
                      <a:round/>
                    </a:ln>
                  </p:spPr>
                  <p:txBody>
                    <a:bodyPr/>
                    <a:lstStyle/>
                    <a:p>
                      <a:endParaRPr lang="zh-CN" altLang="en-US"/>
                    </a:p>
                  </p:txBody>
                </p:sp>
                <p:sp>
                  <p:nvSpPr>
                    <p:cNvPr id="77919" name="Freeform 125"/>
                    <p:cNvSpPr/>
                    <p:nvPr/>
                  </p:nvSpPr>
                  <p:spPr bwMode="auto">
                    <a:xfrm>
                      <a:off x="4034" y="2947"/>
                      <a:ext cx="15" cy="19"/>
                    </a:xfrm>
                    <a:custGeom>
                      <a:avLst/>
                      <a:gdLst>
                        <a:gd name="T0" fmla="*/ 0 w 155"/>
                        <a:gd name="T1" fmla="*/ 0 h 157"/>
                        <a:gd name="T2" fmla="*/ 0 w 155"/>
                        <a:gd name="T3" fmla="*/ 0 h 157"/>
                        <a:gd name="T4" fmla="*/ 0 w 155"/>
                        <a:gd name="T5" fmla="*/ 0 h 157"/>
                        <a:gd name="T6" fmla="*/ 0 w 155"/>
                        <a:gd name="T7" fmla="*/ 0 h 157"/>
                        <a:gd name="T8" fmla="*/ 0 w 155"/>
                        <a:gd name="T9" fmla="*/ 0 h 157"/>
                        <a:gd name="T10" fmla="*/ 0 w 155"/>
                        <a:gd name="T11" fmla="*/ 0 h 157"/>
                        <a:gd name="T12" fmla="*/ 0 60000 65536"/>
                        <a:gd name="T13" fmla="*/ 0 60000 65536"/>
                        <a:gd name="T14" fmla="*/ 0 60000 65536"/>
                        <a:gd name="T15" fmla="*/ 0 60000 65536"/>
                        <a:gd name="T16" fmla="*/ 0 60000 65536"/>
                        <a:gd name="T17" fmla="*/ 0 60000 65536"/>
                        <a:gd name="T18" fmla="*/ 0 w 155"/>
                        <a:gd name="T19" fmla="*/ 0 h 157"/>
                        <a:gd name="T20" fmla="*/ 155 w 155"/>
                        <a:gd name="T21" fmla="*/ 157 h 157"/>
                      </a:gdLst>
                      <a:ahLst/>
                      <a:cxnLst>
                        <a:cxn ang="T12">
                          <a:pos x="T0" y="T1"/>
                        </a:cxn>
                        <a:cxn ang="T13">
                          <a:pos x="T2" y="T3"/>
                        </a:cxn>
                        <a:cxn ang="T14">
                          <a:pos x="T4" y="T5"/>
                        </a:cxn>
                        <a:cxn ang="T15">
                          <a:pos x="T6" y="T7"/>
                        </a:cxn>
                        <a:cxn ang="T16">
                          <a:pos x="T8" y="T9"/>
                        </a:cxn>
                        <a:cxn ang="T17">
                          <a:pos x="T10" y="T11"/>
                        </a:cxn>
                      </a:cxnLst>
                      <a:rect l="T18" t="T19" r="T20" b="T21"/>
                      <a:pathLst>
                        <a:path w="155" h="157">
                          <a:moveTo>
                            <a:pt x="41" y="19"/>
                          </a:moveTo>
                          <a:lnTo>
                            <a:pt x="45" y="16"/>
                          </a:lnTo>
                          <a:lnTo>
                            <a:pt x="155" y="157"/>
                          </a:lnTo>
                          <a:lnTo>
                            <a:pt x="102" y="149"/>
                          </a:lnTo>
                          <a:lnTo>
                            <a:pt x="0" y="0"/>
                          </a:lnTo>
                          <a:lnTo>
                            <a:pt x="41" y="19"/>
                          </a:lnTo>
                          <a:close/>
                        </a:path>
                      </a:pathLst>
                    </a:custGeom>
                    <a:solidFill>
                      <a:srgbClr val="800000"/>
                    </a:solidFill>
                    <a:ln w="1588">
                      <a:solidFill>
                        <a:srgbClr val="000000"/>
                      </a:solidFill>
                      <a:round/>
                    </a:ln>
                  </p:spPr>
                  <p:txBody>
                    <a:bodyPr/>
                    <a:lstStyle/>
                    <a:p>
                      <a:endParaRPr lang="zh-CN" altLang="en-US"/>
                    </a:p>
                  </p:txBody>
                </p:sp>
              </p:grpSp>
              <p:sp>
                <p:nvSpPr>
                  <p:cNvPr id="77917" name="Freeform 126"/>
                  <p:cNvSpPr/>
                  <p:nvPr/>
                </p:nvSpPr>
                <p:spPr bwMode="auto">
                  <a:xfrm>
                    <a:off x="3928" y="2929"/>
                    <a:ext cx="140" cy="41"/>
                  </a:xfrm>
                  <a:custGeom>
                    <a:avLst/>
                    <a:gdLst>
                      <a:gd name="T0" fmla="*/ 0 w 1539"/>
                      <a:gd name="T1" fmla="*/ 0 h 333"/>
                      <a:gd name="T2" fmla="*/ 0 w 1539"/>
                      <a:gd name="T3" fmla="*/ 0 h 333"/>
                      <a:gd name="T4" fmla="*/ 0 w 1539"/>
                      <a:gd name="T5" fmla="*/ 0 h 333"/>
                      <a:gd name="T6" fmla="*/ 0 w 1539"/>
                      <a:gd name="T7" fmla="*/ 0 h 333"/>
                      <a:gd name="T8" fmla="*/ 0 w 1539"/>
                      <a:gd name="T9" fmla="*/ 0 h 333"/>
                      <a:gd name="T10" fmla="*/ 0 w 1539"/>
                      <a:gd name="T11" fmla="*/ 0 h 333"/>
                      <a:gd name="T12" fmla="*/ 0 w 1539"/>
                      <a:gd name="T13" fmla="*/ 0 h 333"/>
                      <a:gd name="T14" fmla="*/ 0 w 1539"/>
                      <a:gd name="T15" fmla="*/ 0 h 333"/>
                      <a:gd name="T16" fmla="*/ 0 w 1539"/>
                      <a:gd name="T17" fmla="*/ 0 h 333"/>
                      <a:gd name="T18" fmla="*/ 0 w 1539"/>
                      <a:gd name="T19" fmla="*/ 0 h 333"/>
                      <a:gd name="T20" fmla="*/ 0 w 1539"/>
                      <a:gd name="T21" fmla="*/ 0 h 333"/>
                      <a:gd name="T22" fmla="*/ 0 w 1539"/>
                      <a:gd name="T23" fmla="*/ 0 h 333"/>
                      <a:gd name="T24" fmla="*/ 0 w 1539"/>
                      <a:gd name="T25" fmla="*/ 0 h 333"/>
                      <a:gd name="T26" fmla="*/ 0 w 1539"/>
                      <a:gd name="T27" fmla="*/ 0 h 333"/>
                      <a:gd name="T28" fmla="*/ 0 w 1539"/>
                      <a:gd name="T29" fmla="*/ 0 h 333"/>
                      <a:gd name="T30" fmla="*/ 0 w 1539"/>
                      <a:gd name="T31" fmla="*/ 0 h 333"/>
                      <a:gd name="T32" fmla="*/ 0 w 1539"/>
                      <a:gd name="T33" fmla="*/ 0 h 333"/>
                      <a:gd name="T34" fmla="*/ 0 w 1539"/>
                      <a:gd name="T35" fmla="*/ 0 h 333"/>
                      <a:gd name="T36" fmla="*/ 0 w 1539"/>
                      <a:gd name="T37" fmla="*/ 0 h 333"/>
                      <a:gd name="T38" fmla="*/ 0 w 1539"/>
                      <a:gd name="T39" fmla="*/ 0 h 333"/>
                      <a:gd name="T40" fmla="*/ 0 w 1539"/>
                      <a:gd name="T41" fmla="*/ 0 h 333"/>
                      <a:gd name="T42" fmla="*/ 0 w 1539"/>
                      <a:gd name="T43" fmla="*/ 0 h 333"/>
                      <a:gd name="T44" fmla="*/ 0 w 1539"/>
                      <a:gd name="T45" fmla="*/ 0 h 333"/>
                      <a:gd name="T46" fmla="*/ 0 w 1539"/>
                      <a:gd name="T47" fmla="*/ 0 h 333"/>
                      <a:gd name="T48" fmla="*/ 0 w 1539"/>
                      <a:gd name="T49" fmla="*/ 0 h 333"/>
                      <a:gd name="T50" fmla="*/ 0 w 1539"/>
                      <a:gd name="T51" fmla="*/ 0 h 333"/>
                      <a:gd name="T52" fmla="*/ 0 w 1539"/>
                      <a:gd name="T53" fmla="*/ 0 h 333"/>
                      <a:gd name="T54" fmla="*/ 0 w 1539"/>
                      <a:gd name="T55" fmla="*/ 0 h 333"/>
                      <a:gd name="T56" fmla="*/ 0 w 1539"/>
                      <a:gd name="T57" fmla="*/ 0 h 333"/>
                      <a:gd name="T58" fmla="*/ 0 w 1539"/>
                      <a:gd name="T59" fmla="*/ 0 h 33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39"/>
                      <a:gd name="T91" fmla="*/ 0 h 333"/>
                      <a:gd name="T92" fmla="*/ 1539 w 1539"/>
                      <a:gd name="T93" fmla="*/ 333 h 33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39" h="333">
                        <a:moveTo>
                          <a:pt x="12" y="44"/>
                        </a:moveTo>
                        <a:lnTo>
                          <a:pt x="156" y="38"/>
                        </a:lnTo>
                        <a:lnTo>
                          <a:pt x="267" y="38"/>
                        </a:lnTo>
                        <a:lnTo>
                          <a:pt x="415" y="30"/>
                        </a:lnTo>
                        <a:lnTo>
                          <a:pt x="553" y="30"/>
                        </a:lnTo>
                        <a:lnTo>
                          <a:pt x="707" y="30"/>
                        </a:lnTo>
                        <a:lnTo>
                          <a:pt x="846" y="34"/>
                        </a:lnTo>
                        <a:lnTo>
                          <a:pt x="911" y="43"/>
                        </a:lnTo>
                        <a:lnTo>
                          <a:pt x="968" y="55"/>
                        </a:lnTo>
                        <a:lnTo>
                          <a:pt x="1030" y="78"/>
                        </a:lnTo>
                        <a:lnTo>
                          <a:pt x="1090" y="102"/>
                        </a:lnTo>
                        <a:lnTo>
                          <a:pt x="1307" y="213"/>
                        </a:lnTo>
                        <a:lnTo>
                          <a:pt x="1422" y="265"/>
                        </a:lnTo>
                        <a:lnTo>
                          <a:pt x="1489" y="307"/>
                        </a:lnTo>
                        <a:lnTo>
                          <a:pt x="1429" y="306"/>
                        </a:lnTo>
                        <a:lnTo>
                          <a:pt x="0" y="198"/>
                        </a:lnTo>
                        <a:lnTo>
                          <a:pt x="3" y="232"/>
                        </a:lnTo>
                        <a:lnTo>
                          <a:pt x="1493" y="333"/>
                        </a:lnTo>
                        <a:lnTo>
                          <a:pt x="1539" y="325"/>
                        </a:lnTo>
                        <a:lnTo>
                          <a:pt x="1516" y="295"/>
                        </a:lnTo>
                        <a:lnTo>
                          <a:pt x="1475" y="265"/>
                        </a:lnTo>
                        <a:lnTo>
                          <a:pt x="1374" y="213"/>
                        </a:lnTo>
                        <a:lnTo>
                          <a:pt x="1296" y="172"/>
                        </a:lnTo>
                        <a:lnTo>
                          <a:pt x="1099" y="76"/>
                        </a:lnTo>
                        <a:lnTo>
                          <a:pt x="1010" y="41"/>
                        </a:lnTo>
                        <a:lnTo>
                          <a:pt x="921" y="19"/>
                        </a:lnTo>
                        <a:lnTo>
                          <a:pt x="724" y="0"/>
                        </a:lnTo>
                        <a:lnTo>
                          <a:pt x="453" y="0"/>
                        </a:lnTo>
                        <a:lnTo>
                          <a:pt x="12" y="23"/>
                        </a:lnTo>
                        <a:lnTo>
                          <a:pt x="12" y="44"/>
                        </a:lnTo>
                        <a:close/>
                      </a:path>
                    </a:pathLst>
                  </a:custGeom>
                  <a:solidFill>
                    <a:srgbClr val="800000"/>
                  </a:solidFill>
                  <a:ln w="1588">
                    <a:solidFill>
                      <a:srgbClr val="000000"/>
                    </a:solidFill>
                    <a:round/>
                  </a:ln>
                </p:spPr>
                <p:txBody>
                  <a:bodyPr/>
                  <a:lstStyle/>
                  <a:p>
                    <a:endParaRPr lang="zh-CN" altLang="en-US"/>
                  </a:p>
                </p:txBody>
              </p:sp>
            </p:grpSp>
            <p:sp>
              <p:nvSpPr>
                <p:cNvPr id="77915" name="Freeform 127"/>
                <p:cNvSpPr/>
                <p:nvPr/>
              </p:nvSpPr>
              <p:spPr bwMode="auto">
                <a:xfrm>
                  <a:off x="3836" y="2924"/>
                  <a:ext cx="262" cy="47"/>
                </a:xfrm>
                <a:custGeom>
                  <a:avLst/>
                  <a:gdLst>
                    <a:gd name="T0" fmla="*/ 0 w 2881"/>
                    <a:gd name="T1" fmla="*/ 0 h 378"/>
                    <a:gd name="T2" fmla="*/ 0 w 2881"/>
                    <a:gd name="T3" fmla="*/ 0 h 378"/>
                    <a:gd name="T4" fmla="*/ 0 w 2881"/>
                    <a:gd name="T5" fmla="*/ 0 h 378"/>
                    <a:gd name="T6" fmla="*/ 0 w 2881"/>
                    <a:gd name="T7" fmla="*/ 0 h 378"/>
                    <a:gd name="T8" fmla="*/ 0 w 2881"/>
                    <a:gd name="T9" fmla="*/ 0 h 378"/>
                    <a:gd name="T10" fmla="*/ 0 w 2881"/>
                    <a:gd name="T11" fmla="*/ 0 h 378"/>
                    <a:gd name="T12" fmla="*/ 0 w 2881"/>
                    <a:gd name="T13" fmla="*/ 0 h 378"/>
                    <a:gd name="T14" fmla="*/ 0 w 2881"/>
                    <a:gd name="T15" fmla="*/ 0 h 378"/>
                    <a:gd name="T16" fmla="*/ 0 w 2881"/>
                    <a:gd name="T17" fmla="*/ 0 h 378"/>
                    <a:gd name="T18" fmla="*/ 0 w 2881"/>
                    <a:gd name="T19" fmla="*/ 0 h 378"/>
                    <a:gd name="T20" fmla="*/ 0 w 2881"/>
                    <a:gd name="T21" fmla="*/ 0 h 378"/>
                    <a:gd name="T22" fmla="*/ 0 w 2881"/>
                    <a:gd name="T23" fmla="*/ 0 h 378"/>
                    <a:gd name="T24" fmla="*/ 0 w 2881"/>
                    <a:gd name="T25" fmla="*/ 0 h 378"/>
                    <a:gd name="T26" fmla="*/ 0 w 2881"/>
                    <a:gd name="T27" fmla="*/ 0 h 378"/>
                    <a:gd name="T28" fmla="*/ 0 w 2881"/>
                    <a:gd name="T29" fmla="*/ 0 h 378"/>
                    <a:gd name="T30" fmla="*/ 0 w 2881"/>
                    <a:gd name="T31" fmla="*/ 0 h 378"/>
                    <a:gd name="T32" fmla="*/ 0 w 2881"/>
                    <a:gd name="T33" fmla="*/ 0 h 378"/>
                    <a:gd name="T34" fmla="*/ 0 w 2881"/>
                    <a:gd name="T35" fmla="*/ 0 h 378"/>
                    <a:gd name="T36" fmla="*/ 0 w 2881"/>
                    <a:gd name="T37" fmla="*/ 0 h 378"/>
                    <a:gd name="T38" fmla="*/ 0 w 2881"/>
                    <a:gd name="T39" fmla="*/ 0 h 378"/>
                    <a:gd name="T40" fmla="*/ 0 w 2881"/>
                    <a:gd name="T41" fmla="*/ 0 h 378"/>
                    <a:gd name="T42" fmla="*/ 0 w 2881"/>
                    <a:gd name="T43" fmla="*/ 0 h 378"/>
                    <a:gd name="T44" fmla="*/ 0 w 2881"/>
                    <a:gd name="T45" fmla="*/ 0 h 378"/>
                    <a:gd name="T46" fmla="*/ 0 w 2881"/>
                    <a:gd name="T47" fmla="*/ 0 h 378"/>
                    <a:gd name="T48" fmla="*/ 0 w 2881"/>
                    <a:gd name="T49" fmla="*/ 0 h 378"/>
                    <a:gd name="T50" fmla="*/ 0 w 2881"/>
                    <a:gd name="T51" fmla="*/ 0 h 378"/>
                    <a:gd name="T52" fmla="*/ 0 w 2881"/>
                    <a:gd name="T53" fmla="*/ 0 h 378"/>
                    <a:gd name="T54" fmla="*/ 0 w 2881"/>
                    <a:gd name="T55" fmla="*/ 0 h 378"/>
                    <a:gd name="T56" fmla="*/ 0 w 2881"/>
                    <a:gd name="T57" fmla="*/ 0 h 378"/>
                    <a:gd name="T58" fmla="*/ 0 w 2881"/>
                    <a:gd name="T59" fmla="*/ 0 h 378"/>
                    <a:gd name="T60" fmla="*/ 0 w 2881"/>
                    <a:gd name="T61" fmla="*/ 0 h 378"/>
                    <a:gd name="T62" fmla="*/ 0 w 2881"/>
                    <a:gd name="T63" fmla="*/ 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881"/>
                    <a:gd name="T97" fmla="*/ 0 h 378"/>
                    <a:gd name="T98" fmla="*/ 2881 w 2881"/>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881" h="378">
                      <a:moveTo>
                        <a:pt x="0" y="252"/>
                      </a:moveTo>
                      <a:lnTo>
                        <a:pt x="111" y="237"/>
                      </a:lnTo>
                      <a:lnTo>
                        <a:pt x="196" y="218"/>
                      </a:lnTo>
                      <a:lnTo>
                        <a:pt x="253" y="202"/>
                      </a:lnTo>
                      <a:lnTo>
                        <a:pt x="300" y="189"/>
                      </a:lnTo>
                      <a:lnTo>
                        <a:pt x="362" y="173"/>
                      </a:lnTo>
                      <a:lnTo>
                        <a:pt x="414" y="158"/>
                      </a:lnTo>
                      <a:lnTo>
                        <a:pt x="474" y="143"/>
                      </a:lnTo>
                      <a:lnTo>
                        <a:pt x="527" y="132"/>
                      </a:lnTo>
                      <a:lnTo>
                        <a:pt x="587" y="123"/>
                      </a:lnTo>
                      <a:lnTo>
                        <a:pt x="637" y="115"/>
                      </a:lnTo>
                      <a:lnTo>
                        <a:pt x="679" y="108"/>
                      </a:lnTo>
                      <a:lnTo>
                        <a:pt x="741" y="97"/>
                      </a:lnTo>
                      <a:lnTo>
                        <a:pt x="794" y="89"/>
                      </a:lnTo>
                      <a:lnTo>
                        <a:pt x="844" y="81"/>
                      </a:lnTo>
                      <a:lnTo>
                        <a:pt x="897" y="67"/>
                      </a:lnTo>
                      <a:lnTo>
                        <a:pt x="940" y="46"/>
                      </a:lnTo>
                      <a:lnTo>
                        <a:pt x="970" y="22"/>
                      </a:lnTo>
                      <a:lnTo>
                        <a:pt x="1033" y="18"/>
                      </a:lnTo>
                      <a:lnTo>
                        <a:pt x="1123" y="16"/>
                      </a:lnTo>
                      <a:lnTo>
                        <a:pt x="1226" y="8"/>
                      </a:lnTo>
                      <a:lnTo>
                        <a:pt x="1305" y="4"/>
                      </a:lnTo>
                      <a:lnTo>
                        <a:pt x="1423" y="2"/>
                      </a:lnTo>
                      <a:lnTo>
                        <a:pt x="1537" y="1"/>
                      </a:lnTo>
                      <a:lnTo>
                        <a:pt x="1646" y="0"/>
                      </a:lnTo>
                      <a:lnTo>
                        <a:pt x="1729" y="0"/>
                      </a:lnTo>
                      <a:lnTo>
                        <a:pt x="1819" y="7"/>
                      </a:lnTo>
                      <a:lnTo>
                        <a:pt x="1911" y="22"/>
                      </a:lnTo>
                      <a:lnTo>
                        <a:pt x="1980" y="39"/>
                      </a:lnTo>
                      <a:lnTo>
                        <a:pt x="2041" y="55"/>
                      </a:lnTo>
                      <a:lnTo>
                        <a:pt x="2108" y="75"/>
                      </a:lnTo>
                      <a:lnTo>
                        <a:pt x="2180" y="97"/>
                      </a:lnTo>
                      <a:lnTo>
                        <a:pt x="2254" y="123"/>
                      </a:lnTo>
                      <a:lnTo>
                        <a:pt x="2333" y="149"/>
                      </a:lnTo>
                      <a:lnTo>
                        <a:pt x="2410" y="175"/>
                      </a:lnTo>
                      <a:lnTo>
                        <a:pt x="2491" y="201"/>
                      </a:lnTo>
                      <a:lnTo>
                        <a:pt x="2551" y="221"/>
                      </a:lnTo>
                      <a:lnTo>
                        <a:pt x="2608" y="236"/>
                      </a:lnTo>
                      <a:lnTo>
                        <a:pt x="2669" y="258"/>
                      </a:lnTo>
                      <a:lnTo>
                        <a:pt x="2733" y="278"/>
                      </a:lnTo>
                      <a:lnTo>
                        <a:pt x="2810" y="303"/>
                      </a:lnTo>
                      <a:lnTo>
                        <a:pt x="2881" y="329"/>
                      </a:lnTo>
                      <a:lnTo>
                        <a:pt x="2852" y="347"/>
                      </a:lnTo>
                      <a:lnTo>
                        <a:pt x="2810" y="359"/>
                      </a:lnTo>
                      <a:lnTo>
                        <a:pt x="2764" y="371"/>
                      </a:lnTo>
                      <a:lnTo>
                        <a:pt x="2707" y="377"/>
                      </a:lnTo>
                      <a:lnTo>
                        <a:pt x="2631" y="378"/>
                      </a:lnTo>
                      <a:lnTo>
                        <a:pt x="2555" y="376"/>
                      </a:lnTo>
                      <a:lnTo>
                        <a:pt x="2536" y="347"/>
                      </a:lnTo>
                      <a:lnTo>
                        <a:pt x="2517" y="329"/>
                      </a:lnTo>
                      <a:lnTo>
                        <a:pt x="2482" y="304"/>
                      </a:lnTo>
                      <a:lnTo>
                        <a:pt x="2404" y="262"/>
                      </a:lnTo>
                      <a:lnTo>
                        <a:pt x="2307" y="213"/>
                      </a:lnTo>
                      <a:lnTo>
                        <a:pt x="2221" y="170"/>
                      </a:lnTo>
                      <a:lnTo>
                        <a:pt x="2117" y="119"/>
                      </a:lnTo>
                      <a:lnTo>
                        <a:pt x="2030" y="85"/>
                      </a:lnTo>
                      <a:lnTo>
                        <a:pt x="1947" y="62"/>
                      </a:lnTo>
                      <a:lnTo>
                        <a:pt x="1879" y="53"/>
                      </a:lnTo>
                      <a:lnTo>
                        <a:pt x="1754" y="41"/>
                      </a:lnTo>
                      <a:lnTo>
                        <a:pt x="1591" y="40"/>
                      </a:lnTo>
                      <a:lnTo>
                        <a:pt x="1401" y="45"/>
                      </a:lnTo>
                      <a:lnTo>
                        <a:pt x="1255" y="50"/>
                      </a:lnTo>
                      <a:lnTo>
                        <a:pt x="1023" y="62"/>
                      </a:lnTo>
                      <a:lnTo>
                        <a:pt x="1009" y="287"/>
                      </a:lnTo>
                      <a:lnTo>
                        <a:pt x="0" y="252"/>
                      </a:lnTo>
                      <a:close/>
                    </a:path>
                  </a:pathLst>
                </a:custGeom>
                <a:solidFill>
                  <a:srgbClr val="FF0000"/>
                </a:solidFill>
                <a:ln w="1588">
                  <a:solidFill>
                    <a:srgbClr val="000000"/>
                  </a:solidFill>
                  <a:round/>
                </a:ln>
              </p:spPr>
              <p:txBody>
                <a:bodyPr/>
                <a:lstStyle/>
                <a:p>
                  <a:endParaRPr lang="zh-CN" altLang="en-US"/>
                </a:p>
              </p:txBody>
            </p:sp>
          </p:grpSp>
          <p:sp>
            <p:nvSpPr>
              <p:cNvPr id="77887" name="Freeform 128"/>
              <p:cNvSpPr/>
              <p:nvPr/>
            </p:nvSpPr>
            <p:spPr bwMode="auto">
              <a:xfrm>
                <a:off x="3844" y="2970"/>
                <a:ext cx="354" cy="75"/>
              </a:xfrm>
              <a:custGeom>
                <a:avLst/>
                <a:gdLst>
                  <a:gd name="T0" fmla="*/ 0 w 3896"/>
                  <a:gd name="T1" fmla="*/ 0 h 596"/>
                  <a:gd name="T2" fmla="*/ 0 w 3896"/>
                  <a:gd name="T3" fmla="*/ 0 h 596"/>
                  <a:gd name="T4" fmla="*/ 0 w 3896"/>
                  <a:gd name="T5" fmla="*/ 0 h 596"/>
                  <a:gd name="T6" fmla="*/ 0 w 3896"/>
                  <a:gd name="T7" fmla="*/ 0 h 596"/>
                  <a:gd name="T8" fmla="*/ 0 w 3896"/>
                  <a:gd name="T9" fmla="*/ 0 h 596"/>
                  <a:gd name="T10" fmla="*/ 0 w 3896"/>
                  <a:gd name="T11" fmla="*/ 0 h 596"/>
                  <a:gd name="T12" fmla="*/ 0 w 3896"/>
                  <a:gd name="T13" fmla="*/ 0 h 596"/>
                  <a:gd name="T14" fmla="*/ 0 w 3896"/>
                  <a:gd name="T15" fmla="*/ 0 h 596"/>
                  <a:gd name="T16" fmla="*/ 0 w 3896"/>
                  <a:gd name="T17" fmla="*/ 0 h 596"/>
                  <a:gd name="T18" fmla="*/ 0 w 3896"/>
                  <a:gd name="T19" fmla="*/ 0 h 596"/>
                  <a:gd name="T20" fmla="*/ 0 w 3896"/>
                  <a:gd name="T21" fmla="*/ 0 h 596"/>
                  <a:gd name="T22" fmla="*/ 0 w 3896"/>
                  <a:gd name="T23" fmla="*/ 0 h 596"/>
                  <a:gd name="T24" fmla="*/ 0 w 3896"/>
                  <a:gd name="T25" fmla="*/ 0 h 596"/>
                  <a:gd name="T26" fmla="*/ 0 w 3896"/>
                  <a:gd name="T27" fmla="*/ 0 h 596"/>
                  <a:gd name="T28" fmla="*/ 0 w 3896"/>
                  <a:gd name="T29" fmla="*/ 0 h 596"/>
                  <a:gd name="T30" fmla="*/ 0 w 3896"/>
                  <a:gd name="T31" fmla="*/ 0 h 596"/>
                  <a:gd name="T32" fmla="*/ 0 w 3896"/>
                  <a:gd name="T33" fmla="*/ 0 h 596"/>
                  <a:gd name="T34" fmla="*/ 0 w 3896"/>
                  <a:gd name="T35" fmla="*/ 0 h 596"/>
                  <a:gd name="T36" fmla="*/ 0 w 3896"/>
                  <a:gd name="T37" fmla="*/ 0 h 596"/>
                  <a:gd name="T38" fmla="*/ 0 w 3896"/>
                  <a:gd name="T39" fmla="*/ 0 h 596"/>
                  <a:gd name="T40" fmla="*/ 0 w 3896"/>
                  <a:gd name="T41" fmla="*/ 0 h 596"/>
                  <a:gd name="T42" fmla="*/ 0 w 3896"/>
                  <a:gd name="T43" fmla="*/ 0 h 596"/>
                  <a:gd name="T44" fmla="*/ 0 w 3896"/>
                  <a:gd name="T45" fmla="*/ 0 h 596"/>
                  <a:gd name="T46" fmla="*/ 0 w 3896"/>
                  <a:gd name="T47" fmla="*/ 0 h 596"/>
                  <a:gd name="T48" fmla="*/ 0 w 3896"/>
                  <a:gd name="T49" fmla="*/ 0 h 596"/>
                  <a:gd name="T50" fmla="*/ 0 w 3896"/>
                  <a:gd name="T51" fmla="*/ 0 h 5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896"/>
                  <a:gd name="T79" fmla="*/ 0 h 596"/>
                  <a:gd name="T80" fmla="*/ 3896 w 3896"/>
                  <a:gd name="T81" fmla="*/ 596 h 59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896" h="596">
                    <a:moveTo>
                      <a:pt x="3288" y="282"/>
                    </a:moveTo>
                    <a:lnTo>
                      <a:pt x="3318" y="372"/>
                    </a:lnTo>
                    <a:lnTo>
                      <a:pt x="3318" y="441"/>
                    </a:lnTo>
                    <a:lnTo>
                      <a:pt x="3896" y="441"/>
                    </a:lnTo>
                    <a:lnTo>
                      <a:pt x="3856" y="488"/>
                    </a:lnTo>
                    <a:lnTo>
                      <a:pt x="3883" y="540"/>
                    </a:lnTo>
                    <a:lnTo>
                      <a:pt x="3883" y="564"/>
                    </a:lnTo>
                    <a:lnTo>
                      <a:pt x="3866" y="582"/>
                    </a:lnTo>
                    <a:lnTo>
                      <a:pt x="3533" y="582"/>
                    </a:lnTo>
                    <a:lnTo>
                      <a:pt x="3506" y="596"/>
                    </a:lnTo>
                    <a:lnTo>
                      <a:pt x="3336" y="596"/>
                    </a:lnTo>
                    <a:lnTo>
                      <a:pt x="3313" y="580"/>
                    </a:lnTo>
                    <a:lnTo>
                      <a:pt x="231" y="580"/>
                    </a:lnTo>
                    <a:lnTo>
                      <a:pt x="109" y="470"/>
                    </a:lnTo>
                    <a:lnTo>
                      <a:pt x="13" y="507"/>
                    </a:lnTo>
                    <a:lnTo>
                      <a:pt x="0" y="217"/>
                    </a:lnTo>
                    <a:lnTo>
                      <a:pt x="235" y="0"/>
                    </a:lnTo>
                    <a:lnTo>
                      <a:pt x="602" y="8"/>
                    </a:lnTo>
                    <a:lnTo>
                      <a:pt x="2512" y="488"/>
                    </a:lnTo>
                    <a:lnTo>
                      <a:pt x="2567" y="430"/>
                    </a:lnTo>
                    <a:lnTo>
                      <a:pt x="2614" y="281"/>
                    </a:lnTo>
                    <a:lnTo>
                      <a:pt x="2681" y="159"/>
                    </a:lnTo>
                    <a:lnTo>
                      <a:pt x="2882" y="60"/>
                    </a:lnTo>
                    <a:lnTo>
                      <a:pt x="3069" y="65"/>
                    </a:lnTo>
                    <a:lnTo>
                      <a:pt x="3208" y="137"/>
                    </a:lnTo>
                    <a:lnTo>
                      <a:pt x="3288" y="282"/>
                    </a:lnTo>
                    <a:close/>
                  </a:path>
                </a:pathLst>
              </a:custGeom>
              <a:solidFill>
                <a:srgbClr val="000000"/>
              </a:solidFill>
              <a:ln w="1588">
                <a:solidFill>
                  <a:srgbClr val="000000"/>
                </a:solidFill>
                <a:round/>
              </a:ln>
            </p:spPr>
            <p:txBody>
              <a:bodyPr/>
              <a:lstStyle/>
              <a:p>
                <a:endParaRPr lang="zh-CN" altLang="en-US"/>
              </a:p>
            </p:txBody>
          </p:sp>
          <p:grpSp>
            <p:nvGrpSpPr>
              <p:cNvPr id="78036" name="Group 129"/>
              <p:cNvGrpSpPr/>
              <p:nvPr/>
            </p:nvGrpSpPr>
            <p:grpSpPr bwMode="auto">
              <a:xfrm>
                <a:off x="3816" y="2939"/>
                <a:ext cx="382" cy="95"/>
                <a:chOff x="3816" y="2939"/>
                <a:chExt cx="382" cy="95"/>
              </a:xfrm>
            </p:grpSpPr>
            <p:grpSp>
              <p:nvGrpSpPr>
                <p:cNvPr id="78037" name="Group 130"/>
                <p:cNvGrpSpPr/>
                <p:nvPr/>
              </p:nvGrpSpPr>
              <p:grpSpPr bwMode="auto">
                <a:xfrm>
                  <a:off x="3816" y="2969"/>
                  <a:ext cx="24" cy="56"/>
                  <a:chOff x="3816" y="2969"/>
                  <a:chExt cx="24" cy="56"/>
                </a:xfrm>
              </p:grpSpPr>
              <p:sp>
                <p:nvSpPr>
                  <p:cNvPr id="77901" name="Rectangle 131"/>
                  <p:cNvSpPr>
                    <a:spLocks noChangeArrowheads="1"/>
                  </p:cNvSpPr>
                  <p:nvPr/>
                </p:nvSpPr>
                <p:spPr bwMode="auto">
                  <a:xfrm>
                    <a:off x="3818" y="2981"/>
                    <a:ext cx="10" cy="3"/>
                  </a:xfrm>
                  <a:prstGeom prst="rect">
                    <a:avLst/>
                  </a:prstGeom>
                  <a:solidFill>
                    <a:srgbClr val="808080"/>
                  </a:solidFill>
                  <a:ln w="1588">
                    <a:solidFill>
                      <a:srgbClr val="C0C0C0"/>
                    </a:solidFill>
                    <a:miter lim="800000"/>
                  </a:ln>
                </p:spPr>
                <p:txBody>
                  <a:bodyPr/>
                  <a:lstStyle/>
                  <a:p>
                    <a:endParaRPr lang="zh-CN" altLang="en-US"/>
                  </a:p>
                </p:txBody>
              </p:sp>
              <p:sp>
                <p:nvSpPr>
                  <p:cNvPr id="77902" name="Rectangle 132"/>
                  <p:cNvSpPr>
                    <a:spLocks noChangeArrowheads="1"/>
                  </p:cNvSpPr>
                  <p:nvPr/>
                </p:nvSpPr>
                <p:spPr bwMode="auto">
                  <a:xfrm>
                    <a:off x="3818" y="2969"/>
                    <a:ext cx="10" cy="6"/>
                  </a:xfrm>
                  <a:prstGeom prst="rect">
                    <a:avLst/>
                  </a:prstGeom>
                  <a:solidFill>
                    <a:srgbClr val="808080"/>
                  </a:solidFill>
                  <a:ln w="1588">
                    <a:solidFill>
                      <a:srgbClr val="C0C0C0"/>
                    </a:solidFill>
                    <a:miter lim="800000"/>
                  </a:ln>
                </p:spPr>
                <p:txBody>
                  <a:bodyPr/>
                  <a:lstStyle/>
                  <a:p>
                    <a:endParaRPr lang="zh-CN" altLang="en-US"/>
                  </a:p>
                </p:txBody>
              </p:sp>
              <p:sp>
                <p:nvSpPr>
                  <p:cNvPr id="77903" name="Rectangle 133"/>
                  <p:cNvSpPr>
                    <a:spLocks noChangeArrowheads="1"/>
                  </p:cNvSpPr>
                  <p:nvPr/>
                </p:nvSpPr>
                <p:spPr bwMode="auto">
                  <a:xfrm>
                    <a:off x="3818" y="2976"/>
                    <a:ext cx="10" cy="3"/>
                  </a:xfrm>
                  <a:prstGeom prst="rect">
                    <a:avLst/>
                  </a:prstGeom>
                  <a:solidFill>
                    <a:srgbClr val="808080"/>
                  </a:solidFill>
                  <a:ln w="1588">
                    <a:solidFill>
                      <a:srgbClr val="C0C0C0"/>
                    </a:solidFill>
                    <a:miter lim="800000"/>
                  </a:ln>
                </p:spPr>
                <p:txBody>
                  <a:bodyPr/>
                  <a:lstStyle/>
                  <a:p>
                    <a:endParaRPr lang="zh-CN" altLang="en-US"/>
                  </a:p>
                </p:txBody>
              </p:sp>
              <p:sp>
                <p:nvSpPr>
                  <p:cNvPr id="77904" name="Freeform 134"/>
                  <p:cNvSpPr/>
                  <p:nvPr/>
                </p:nvSpPr>
                <p:spPr bwMode="auto">
                  <a:xfrm>
                    <a:off x="3818" y="2986"/>
                    <a:ext cx="9" cy="13"/>
                  </a:xfrm>
                  <a:custGeom>
                    <a:avLst/>
                    <a:gdLst>
                      <a:gd name="T0" fmla="*/ 0 w 97"/>
                      <a:gd name="T1" fmla="*/ 0 h 100"/>
                      <a:gd name="T2" fmla="*/ 0 w 97"/>
                      <a:gd name="T3" fmla="*/ 0 h 100"/>
                      <a:gd name="T4" fmla="*/ 0 w 97"/>
                      <a:gd name="T5" fmla="*/ 0 h 100"/>
                      <a:gd name="T6" fmla="*/ 0 w 97"/>
                      <a:gd name="T7" fmla="*/ 0 h 100"/>
                      <a:gd name="T8" fmla="*/ 0 w 97"/>
                      <a:gd name="T9" fmla="*/ 0 h 100"/>
                      <a:gd name="T10" fmla="*/ 0 60000 65536"/>
                      <a:gd name="T11" fmla="*/ 0 60000 65536"/>
                      <a:gd name="T12" fmla="*/ 0 60000 65536"/>
                      <a:gd name="T13" fmla="*/ 0 60000 65536"/>
                      <a:gd name="T14" fmla="*/ 0 60000 65536"/>
                      <a:gd name="T15" fmla="*/ 0 w 97"/>
                      <a:gd name="T16" fmla="*/ 0 h 100"/>
                      <a:gd name="T17" fmla="*/ 97 w 97"/>
                      <a:gd name="T18" fmla="*/ 100 h 100"/>
                    </a:gdLst>
                    <a:ahLst/>
                    <a:cxnLst>
                      <a:cxn ang="T10">
                        <a:pos x="T0" y="T1"/>
                      </a:cxn>
                      <a:cxn ang="T11">
                        <a:pos x="T2" y="T3"/>
                      </a:cxn>
                      <a:cxn ang="T12">
                        <a:pos x="T4" y="T5"/>
                      </a:cxn>
                      <a:cxn ang="T13">
                        <a:pos x="T6" y="T7"/>
                      </a:cxn>
                      <a:cxn ang="T14">
                        <a:pos x="T8" y="T9"/>
                      </a:cxn>
                    </a:cxnLst>
                    <a:rect l="T15" t="T16" r="T17" b="T18"/>
                    <a:pathLst>
                      <a:path w="97" h="100">
                        <a:moveTo>
                          <a:pt x="1" y="0"/>
                        </a:moveTo>
                        <a:cubicBezTo>
                          <a:pt x="1" y="0"/>
                          <a:pt x="1" y="0"/>
                          <a:pt x="1" y="0"/>
                        </a:cubicBezTo>
                        <a:cubicBezTo>
                          <a:pt x="0" y="55"/>
                          <a:pt x="42" y="100"/>
                          <a:pt x="94" y="100"/>
                        </a:cubicBezTo>
                        <a:lnTo>
                          <a:pt x="97" y="0"/>
                        </a:lnTo>
                        <a:lnTo>
                          <a:pt x="1" y="0"/>
                        </a:lnTo>
                        <a:close/>
                      </a:path>
                    </a:pathLst>
                  </a:custGeom>
                  <a:noFill/>
                  <a:ln w="1588">
                    <a:solidFill>
                      <a:srgbClr val="C0C0C0"/>
                    </a:solidFill>
                    <a:round/>
                  </a:ln>
                </p:spPr>
                <p:txBody>
                  <a:bodyPr/>
                  <a:lstStyle/>
                  <a:p>
                    <a:endParaRPr lang="zh-CN" altLang="en-US"/>
                  </a:p>
                </p:txBody>
              </p:sp>
              <p:grpSp>
                <p:nvGrpSpPr>
                  <p:cNvPr id="78038" name="Group 135"/>
                  <p:cNvGrpSpPr/>
                  <p:nvPr/>
                </p:nvGrpSpPr>
                <p:grpSpPr bwMode="auto">
                  <a:xfrm>
                    <a:off x="3816" y="3017"/>
                    <a:ext cx="24" cy="3"/>
                    <a:chOff x="3816" y="3017"/>
                    <a:chExt cx="24" cy="3"/>
                  </a:xfrm>
                </p:grpSpPr>
                <p:sp>
                  <p:nvSpPr>
                    <p:cNvPr id="77912" name="Rectangle 136"/>
                    <p:cNvSpPr>
                      <a:spLocks noChangeArrowheads="1"/>
                    </p:cNvSpPr>
                    <p:nvPr/>
                  </p:nvSpPr>
                  <p:spPr bwMode="auto">
                    <a:xfrm>
                      <a:off x="3817" y="3017"/>
                      <a:ext cx="23" cy="3"/>
                    </a:xfrm>
                    <a:prstGeom prst="rect">
                      <a:avLst/>
                    </a:prstGeom>
                    <a:solidFill>
                      <a:srgbClr val="808080"/>
                    </a:solidFill>
                    <a:ln w="1588">
                      <a:solidFill>
                        <a:srgbClr val="C0C0C0"/>
                      </a:solidFill>
                      <a:miter lim="800000"/>
                    </a:ln>
                  </p:spPr>
                  <p:txBody>
                    <a:bodyPr/>
                    <a:lstStyle/>
                    <a:p>
                      <a:endParaRPr lang="zh-CN" altLang="en-US"/>
                    </a:p>
                  </p:txBody>
                </p:sp>
                <p:sp>
                  <p:nvSpPr>
                    <p:cNvPr id="77913" name="Oval 137"/>
                    <p:cNvSpPr>
                      <a:spLocks noChangeArrowheads="1"/>
                    </p:cNvSpPr>
                    <p:nvPr/>
                  </p:nvSpPr>
                  <p:spPr bwMode="auto">
                    <a:xfrm>
                      <a:off x="3816" y="3017"/>
                      <a:ext cx="3" cy="3"/>
                    </a:xfrm>
                    <a:prstGeom prst="ellipse">
                      <a:avLst/>
                    </a:prstGeom>
                    <a:solidFill>
                      <a:srgbClr val="808080"/>
                    </a:solidFill>
                    <a:ln w="1588">
                      <a:solidFill>
                        <a:srgbClr val="C0C0C0"/>
                      </a:solidFill>
                      <a:round/>
                    </a:ln>
                  </p:spPr>
                  <p:txBody>
                    <a:bodyPr/>
                    <a:lstStyle/>
                    <a:p>
                      <a:endParaRPr lang="zh-CN" altLang="en-US"/>
                    </a:p>
                  </p:txBody>
                </p:sp>
              </p:grpSp>
              <p:grpSp>
                <p:nvGrpSpPr>
                  <p:cNvPr id="78039" name="Group 138"/>
                  <p:cNvGrpSpPr/>
                  <p:nvPr/>
                </p:nvGrpSpPr>
                <p:grpSpPr bwMode="auto">
                  <a:xfrm>
                    <a:off x="3816" y="3022"/>
                    <a:ext cx="24" cy="3"/>
                    <a:chOff x="3816" y="3022"/>
                    <a:chExt cx="24" cy="3"/>
                  </a:xfrm>
                </p:grpSpPr>
                <p:sp>
                  <p:nvSpPr>
                    <p:cNvPr id="77910" name="Rectangle 139"/>
                    <p:cNvSpPr>
                      <a:spLocks noChangeArrowheads="1"/>
                    </p:cNvSpPr>
                    <p:nvPr/>
                  </p:nvSpPr>
                  <p:spPr bwMode="auto">
                    <a:xfrm>
                      <a:off x="3817" y="3022"/>
                      <a:ext cx="23" cy="3"/>
                    </a:xfrm>
                    <a:prstGeom prst="rect">
                      <a:avLst/>
                    </a:prstGeom>
                    <a:solidFill>
                      <a:srgbClr val="808080"/>
                    </a:solidFill>
                    <a:ln w="1588">
                      <a:solidFill>
                        <a:srgbClr val="C0C0C0"/>
                      </a:solidFill>
                      <a:miter lim="800000"/>
                    </a:ln>
                  </p:spPr>
                  <p:txBody>
                    <a:bodyPr/>
                    <a:lstStyle/>
                    <a:p>
                      <a:endParaRPr lang="zh-CN" altLang="en-US"/>
                    </a:p>
                  </p:txBody>
                </p:sp>
                <p:sp>
                  <p:nvSpPr>
                    <p:cNvPr id="77911" name="Oval 140"/>
                    <p:cNvSpPr>
                      <a:spLocks noChangeArrowheads="1"/>
                    </p:cNvSpPr>
                    <p:nvPr/>
                  </p:nvSpPr>
                  <p:spPr bwMode="auto">
                    <a:xfrm>
                      <a:off x="3816" y="3022"/>
                      <a:ext cx="3" cy="3"/>
                    </a:xfrm>
                    <a:prstGeom prst="ellipse">
                      <a:avLst/>
                    </a:prstGeom>
                    <a:solidFill>
                      <a:srgbClr val="808080"/>
                    </a:solidFill>
                    <a:ln w="1588">
                      <a:solidFill>
                        <a:srgbClr val="C0C0C0"/>
                      </a:solidFill>
                      <a:round/>
                    </a:ln>
                  </p:spPr>
                  <p:txBody>
                    <a:bodyPr/>
                    <a:lstStyle/>
                    <a:p>
                      <a:endParaRPr lang="zh-CN" altLang="en-US"/>
                    </a:p>
                  </p:txBody>
                </p:sp>
              </p:grpSp>
              <p:grpSp>
                <p:nvGrpSpPr>
                  <p:cNvPr id="78040" name="Group 141"/>
                  <p:cNvGrpSpPr/>
                  <p:nvPr/>
                </p:nvGrpSpPr>
                <p:grpSpPr bwMode="auto">
                  <a:xfrm>
                    <a:off x="3816" y="3013"/>
                    <a:ext cx="24" cy="3"/>
                    <a:chOff x="3816" y="3013"/>
                    <a:chExt cx="24" cy="3"/>
                  </a:xfrm>
                </p:grpSpPr>
                <p:sp>
                  <p:nvSpPr>
                    <p:cNvPr id="77908" name="Rectangle 142"/>
                    <p:cNvSpPr>
                      <a:spLocks noChangeArrowheads="1"/>
                    </p:cNvSpPr>
                    <p:nvPr/>
                  </p:nvSpPr>
                  <p:spPr bwMode="auto">
                    <a:xfrm>
                      <a:off x="3817" y="3013"/>
                      <a:ext cx="23" cy="3"/>
                    </a:xfrm>
                    <a:prstGeom prst="rect">
                      <a:avLst/>
                    </a:prstGeom>
                    <a:solidFill>
                      <a:srgbClr val="808080"/>
                    </a:solidFill>
                    <a:ln w="1588">
                      <a:solidFill>
                        <a:srgbClr val="C0C0C0"/>
                      </a:solidFill>
                      <a:miter lim="800000"/>
                    </a:ln>
                  </p:spPr>
                  <p:txBody>
                    <a:bodyPr/>
                    <a:lstStyle/>
                    <a:p>
                      <a:endParaRPr lang="zh-CN" altLang="en-US"/>
                    </a:p>
                  </p:txBody>
                </p:sp>
                <p:sp>
                  <p:nvSpPr>
                    <p:cNvPr id="77909" name="Oval 143"/>
                    <p:cNvSpPr>
                      <a:spLocks noChangeArrowheads="1"/>
                    </p:cNvSpPr>
                    <p:nvPr/>
                  </p:nvSpPr>
                  <p:spPr bwMode="auto">
                    <a:xfrm>
                      <a:off x="3816" y="3013"/>
                      <a:ext cx="3" cy="3"/>
                    </a:xfrm>
                    <a:prstGeom prst="ellipse">
                      <a:avLst/>
                    </a:prstGeom>
                    <a:solidFill>
                      <a:srgbClr val="808080"/>
                    </a:solidFill>
                    <a:ln w="1588">
                      <a:solidFill>
                        <a:srgbClr val="C0C0C0"/>
                      </a:solidFill>
                      <a:round/>
                    </a:ln>
                  </p:spPr>
                  <p:txBody>
                    <a:bodyPr/>
                    <a:lstStyle/>
                    <a:p>
                      <a:endParaRPr lang="zh-CN" altLang="en-US"/>
                    </a:p>
                  </p:txBody>
                </p:sp>
              </p:grpSp>
            </p:grpSp>
            <p:sp>
              <p:nvSpPr>
                <p:cNvPr id="77890" name="Freeform 144"/>
                <p:cNvSpPr/>
                <p:nvPr/>
              </p:nvSpPr>
              <p:spPr bwMode="auto">
                <a:xfrm>
                  <a:off x="3818" y="2955"/>
                  <a:ext cx="380" cy="79"/>
                </a:xfrm>
                <a:custGeom>
                  <a:avLst/>
                  <a:gdLst>
                    <a:gd name="T0" fmla="*/ 0 w 4178"/>
                    <a:gd name="T1" fmla="*/ 0 h 629"/>
                    <a:gd name="T2" fmla="*/ 0 w 4178"/>
                    <a:gd name="T3" fmla="*/ 0 h 629"/>
                    <a:gd name="T4" fmla="*/ 0 w 4178"/>
                    <a:gd name="T5" fmla="*/ 0 h 629"/>
                    <a:gd name="T6" fmla="*/ 0 w 4178"/>
                    <a:gd name="T7" fmla="*/ 0 h 629"/>
                    <a:gd name="T8" fmla="*/ 0 w 4178"/>
                    <a:gd name="T9" fmla="*/ 0 h 629"/>
                    <a:gd name="T10" fmla="*/ 0 w 4178"/>
                    <a:gd name="T11" fmla="*/ 0 h 629"/>
                    <a:gd name="T12" fmla="*/ 0 w 4178"/>
                    <a:gd name="T13" fmla="*/ 0 h 629"/>
                    <a:gd name="T14" fmla="*/ 0 w 4178"/>
                    <a:gd name="T15" fmla="*/ 0 h 629"/>
                    <a:gd name="T16" fmla="*/ 0 w 4178"/>
                    <a:gd name="T17" fmla="*/ 0 h 629"/>
                    <a:gd name="T18" fmla="*/ 0 w 4178"/>
                    <a:gd name="T19" fmla="*/ 0 h 629"/>
                    <a:gd name="T20" fmla="*/ 0 w 4178"/>
                    <a:gd name="T21" fmla="*/ 0 h 629"/>
                    <a:gd name="T22" fmla="*/ 0 w 4178"/>
                    <a:gd name="T23" fmla="*/ 0 h 629"/>
                    <a:gd name="T24" fmla="*/ 0 w 4178"/>
                    <a:gd name="T25" fmla="*/ 0 h 629"/>
                    <a:gd name="T26" fmla="*/ 0 w 4178"/>
                    <a:gd name="T27" fmla="*/ 0 h 629"/>
                    <a:gd name="T28" fmla="*/ 0 w 4178"/>
                    <a:gd name="T29" fmla="*/ 0 h 629"/>
                    <a:gd name="T30" fmla="*/ 0 w 4178"/>
                    <a:gd name="T31" fmla="*/ 0 h 629"/>
                    <a:gd name="T32" fmla="*/ 0 w 4178"/>
                    <a:gd name="T33" fmla="*/ 0 h 629"/>
                    <a:gd name="T34" fmla="*/ 0 w 4178"/>
                    <a:gd name="T35" fmla="*/ 0 h 629"/>
                    <a:gd name="T36" fmla="*/ 0 w 4178"/>
                    <a:gd name="T37" fmla="*/ 0 h 629"/>
                    <a:gd name="T38" fmla="*/ 0 w 4178"/>
                    <a:gd name="T39" fmla="*/ 0 h 629"/>
                    <a:gd name="T40" fmla="*/ 0 w 4178"/>
                    <a:gd name="T41" fmla="*/ 0 h 629"/>
                    <a:gd name="T42" fmla="*/ 0 w 4178"/>
                    <a:gd name="T43" fmla="*/ 0 h 629"/>
                    <a:gd name="T44" fmla="*/ 0 w 4178"/>
                    <a:gd name="T45" fmla="*/ 0 h 629"/>
                    <a:gd name="T46" fmla="*/ 0 w 4178"/>
                    <a:gd name="T47" fmla="*/ 0 h 629"/>
                    <a:gd name="T48" fmla="*/ 0 w 4178"/>
                    <a:gd name="T49" fmla="*/ 0 h 629"/>
                    <a:gd name="T50" fmla="*/ 0 w 4178"/>
                    <a:gd name="T51" fmla="*/ 0 h 629"/>
                    <a:gd name="T52" fmla="*/ 0 w 4178"/>
                    <a:gd name="T53" fmla="*/ 0 h 629"/>
                    <a:gd name="T54" fmla="*/ 0 w 4178"/>
                    <a:gd name="T55" fmla="*/ 0 h 629"/>
                    <a:gd name="T56" fmla="*/ 0 w 4178"/>
                    <a:gd name="T57" fmla="*/ 0 h 629"/>
                    <a:gd name="T58" fmla="*/ 0 w 4178"/>
                    <a:gd name="T59" fmla="*/ 0 h 629"/>
                    <a:gd name="T60" fmla="*/ 0 w 4178"/>
                    <a:gd name="T61" fmla="*/ 0 h 629"/>
                    <a:gd name="T62" fmla="*/ 0 w 4178"/>
                    <a:gd name="T63" fmla="*/ 0 h 629"/>
                    <a:gd name="T64" fmla="*/ 0 w 4178"/>
                    <a:gd name="T65" fmla="*/ 0 h 629"/>
                    <a:gd name="T66" fmla="*/ 0 w 4178"/>
                    <a:gd name="T67" fmla="*/ 0 h 629"/>
                    <a:gd name="T68" fmla="*/ 0 w 4178"/>
                    <a:gd name="T69" fmla="*/ 0 h 629"/>
                    <a:gd name="T70" fmla="*/ 0 w 4178"/>
                    <a:gd name="T71" fmla="*/ 0 h 629"/>
                    <a:gd name="T72" fmla="*/ 0 w 4178"/>
                    <a:gd name="T73" fmla="*/ 0 h 629"/>
                    <a:gd name="T74" fmla="*/ 0 w 4178"/>
                    <a:gd name="T75" fmla="*/ 0 h 629"/>
                    <a:gd name="T76" fmla="*/ 0 w 4178"/>
                    <a:gd name="T77" fmla="*/ 0 h 629"/>
                    <a:gd name="T78" fmla="*/ 0 w 4178"/>
                    <a:gd name="T79" fmla="*/ 0 h 629"/>
                    <a:gd name="T80" fmla="*/ 0 w 4178"/>
                    <a:gd name="T81" fmla="*/ 0 h 629"/>
                    <a:gd name="T82" fmla="*/ 0 w 4178"/>
                    <a:gd name="T83" fmla="*/ 0 h 629"/>
                    <a:gd name="T84" fmla="*/ 0 w 4178"/>
                    <a:gd name="T85" fmla="*/ 0 h 629"/>
                    <a:gd name="T86" fmla="*/ 0 w 4178"/>
                    <a:gd name="T87" fmla="*/ 0 h 629"/>
                    <a:gd name="T88" fmla="*/ 0 w 4178"/>
                    <a:gd name="T89" fmla="*/ 0 h 629"/>
                    <a:gd name="T90" fmla="*/ 0 w 4178"/>
                    <a:gd name="T91" fmla="*/ 0 h 629"/>
                    <a:gd name="T92" fmla="*/ 0 w 4178"/>
                    <a:gd name="T93" fmla="*/ 0 h 629"/>
                    <a:gd name="T94" fmla="*/ 0 w 4178"/>
                    <a:gd name="T95" fmla="*/ 0 h 629"/>
                    <a:gd name="T96" fmla="*/ 0 w 4178"/>
                    <a:gd name="T97" fmla="*/ 0 h 629"/>
                    <a:gd name="T98" fmla="*/ 0 w 4178"/>
                    <a:gd name="T99" fmla="*/ 0 h 629"/>
                    <a:gd name="T100" fmla="*/ 0 w 4178"/>
                    <a:gd name="T101" fmla="*/ 0 h 629"/>
                    <a:gd name="T102" fmla="*/ 0 w 4178"/>
                    <a:gd name="T103" fmla="*/ 0 h 629"/>
                    <a:gd name="T104" fmla="*/ 0 w 4178"/>
                    <a:gd name="T105" fmla="*/ 0 h 629"/>
                    <a:gd name="T106" fmla="*/ 0 w 4178"/>
                    <a:gd name="T107" fmla="*/ 0 h 629"/>
                    <a:gd name="T108" fmla="*/ 0 w 4178"/>
                    <a:gd name="T109" fmla="*/ 0 h 629"/>
                    <a:gd name="T110" fmla="*/ 0 w 4178"/>
                    <a:gd name="T111" fmla="*/ 0 h 629"/>
                    <a:gd name="T112" fmla="*/ 0 w 4178"/>
                    <a:gd name="T113" fmla="*/ 0 h 629"/>
                    <a:gd name="T114" fmla="*/ 0 w 4178"/>
                    <a:gd name="T115" fmla="*/ 0 h 629"/>
                    <a:gd name="T116" fmla="*/ 0 w 4178"/>
                    <a:gd name="T117" fmla="*/ 0 h 629"/>
                    <a:gd name="T118" fmla="*/ 0 w 4178"/>
                    <a:gd name="T119" fmla="*/ 0 h 629"/>
                    <a:gd name="T120" fmla="*/ 0 w 4178"/>
                    <a:gd name="T121" fmla="*/ 0 h 629"/>
                    <a:gd name="T122" fmla="*/ 0 w 4178"/>
                    <a:gd name="T123" fmla="*/ 0 h 629"/>
                    <a:gd name="T124" fmla="*/ 0 w 4178"/>
                    <a:gd name="T125" fmla="*/ 0 h 62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178"/>
                    <a:gd name="T190" fmla="*/ 0 h 629"/>
                    <a:gd name="T191" fmla="*/ 4178 w 4178"/>
                    <a:gd name="T192" fmla="*/ 629 h 62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178" h="629">
                      <a:moveTo>
                        <a:pt x="209" y="0"/>
                      </a:moveTo>
                      <a:lnTo>
                        <a:pt x="24" y="0"/>
                      </a:lnTo>
                      <a:lnTo>
                        <a:pt x="0" y="97"/>
                      </a:lnTo>
                      <a:lnTo>
                        <a:pt x="81" y="97"/>
                      </a:lnTo>
                      <a:lnTo>
                        <a:pt x="81" y="449"/>
                      </a:lnTo>
                      <a:lnTo>
                        <a:pt x="242" y="608"/>
                      </a:lnTo>
                      <a:lnTo>
                        <a:pt x="278" y="624"/>
                      </a:lnTo>
                      <a:lnTo>
                        <a:pt x="309" y="629"/>
                      </a:lnTo>
                      <a:lnTo>
                        <a:pt x="304" y="549"/>
                      </a:lnTo>
                      <a:lnTo>
                        <a:pt x="300" y="454"/>
                      </a:lnTo>
                      <a:lnTo>
                        <a:pt x="321" y="373"/>
                      </a:lnTo>
                      <a:lnTo>
                        <a:pt x="351" y="313"/>
                      </a:lnTo>
                      <a:lnTo>
                        <a:pt x="390" y="260"/>
                      </a:lnTo>
                      <a:lnTo>
                        <a:pt x="446" y="209"/>
                      </a:lnTo>
                      <a:lnTo>
                        <a:pt x="512" y="170"/>
                      </a:lnTo>
                      <a:lnTo>
                        <a:pt x="604" y="146"/>
                      </a:lnTo>
                      <a:lnTo>
                        <a:pt x="725" y="137"/>
                      </a:lnTo>
                      <a:lnTo>
                        <a:pt x="809" y="158"/>
                      </a:lnTo>
                      <a:lnTo>
                        <a:pt x="870" y="192"/>
                      </a:lnTo>
                      <a:lnTo>
                        <a:pt x="922" y="230"/>
                      </a:lnTo>
                      <a:lnTo>
                        <a:pt x="983" y="290"/>
                      </a:lnTo>
                      <a:lnTo>
                        <a:pt x="1022" y="356"/>
                      </a:lnTo>
                      <a:lnTo>
                        <a:pt x="1048" y="414"/>
                      </a:lnTo>
                      <a:lnTo>
                        <a:pt x="1056" y="471"/>
                      </a:lnTo>
                      <a:lnTo>
                        <a:pt x="1056" y="594"/>
                      </a:lnTo>
                      <a:lnTo>
                        <a:pt x="2881" y="629"/>
                      </a:lnTo>
                      <a:lnTo>
                        <a:pt x="2881" y="509"/>
                      </a:lnTo>
                      <a:lnTo>
                        <a:pt x="2907" y="427"/>
                      </a:lnTo>
                      <a:lnTo>
                        <a:pt x="2937" y="364"/>
                      </a:lnTo>
                      <a:lnTo>
                        <a:pt x="2982" y="304"/>
                      </a:lnTo>
                      <a:lnTo>
                        <a:pt x="3046" y="251"/>
                      </a:lnTo>
                      <a:lnTo>
                        <a:pt x="3112" y="217"/>
                      </a:lnTo>
                      <a:lnTo>
                        <a:pt x="3176" y="197"/>
                      </a:lnTo>
                      <a:lnTo>
                        <a:pt x="3290" y="197"/>
                      </a:lnTo>
                      <a:lnTo>
                        <a:pt x="3351" y="209"/>
                      </a:lnTo>
                      <a:lnTo>
                        <a:pt x="3412" y="235"/>
                      </a:lnTo>
                      <a:lnTo>
                        <a:pt x="3467" y="282"/>
                      </a:lnTo>
                      <a:lnTo>
                        <a:pt x="3521" y="342"/>
                      </a:lnTo>
                      <a:lnTo>
                        <a:pt x="3556" y="414"/>
                      </a:lnTo>
                      <a:lnTo>
                        <a:pt x="3577" y="492"/>
                      </a:lnTo>
                      <a:lnTo>
                        <a:pt x="3577" y="573"/>
                      </a:lnTo>
                      <a:lnTo>
                        <a:pt x="4178" y="571"/>
                      </a:lnTo>
                      <a:lnTo>
                        <a:pt x="4178" y="545"/>
                      </a:lnTo>
                      <a:lnTo>
                        <a:pt x="4159" y="545"/>
                      </a:lnTo>
                      <a:lnTo>
                        <a:pt x="4159" y="506"/>
                      </a:lnTo>
                      <a:lnTo>
                        <a:pt x="4177" y="504"/>
                      </a:lnTo>
                      <a:lnTo>
                        <a:pt x="4177" y="388"/>
                      </a:lnTo>
                      <a:lnTo>
                        <a:pt x="4161" y="364"/>
                      </a:lnTo>
                      <a:lnTo>
                        <a:pt x="4022" y="295"/>
                      </a:lnTo>
                      <a:lnTo>
                        <a:pt x="3868" y="235"/>
                      </a:lnTo>
                      <a:lnTo>
                        <a:pt x="3683" y="179"/>
                      </a:lnTo>
                      <a:lnTo>
                        <a:pt x="3482" y="132"/>
                      </a:lnTo>
                      <a:lnTo>
                        <a:pt x="3297" y="93"/>
                      </a:lnTo>
                      <a:lnTo>
                        <a:pt x="3121" y="63"/>
                      </a:lnTo>
                      <a:lnTo>
                        <a:pt x="3061" y="63"/>
                      </a:lnTo>
                      <a:lnTo>
                        <a:pt x="3021" y="80"/>
                      </a:lnTo>
                      <a:lnTo>
                        <a:pt x="2833" y="107"/>
                      </a:lnTo>
                      <a:lnTo>
                        <a:pt x="2685" y="120"/>
                      </a:lnTo>
                      <a:lnTo>
                        <a:pt x="1905" y="71"/>
                      </a:lnTo>
                      <a:lnTo>
                        <a:pt x="1531" y="42"/>
                      </a:lnTo>
                      <a:lnTo>
                        <a:pt x="1179" y="15"/>
                      </a:lnTo>
                      <a:lnTo>
                        <a:pt x="1000" y="3"/>
                      </a:lnTo>
                      <a:lnTo>
                        <a:pt x="209" y="0"/>
                      </a:lnTo>
                      <a:close/>
                    </a:path>
                  </a:pathLst>
                </a:custGeom>
                <a:solidFill>
                  <a:srgbClr val="FF0000"/>
                </a:solidFill>
                <a:ln w="1588">
                  <a:solidFill>
                    <a:srgbClr val="000000"/>
                  </a:solidFill>
                  <a:round/>
                </a:ln>
              </p:spPr>
              <p:txBody>
                <a:bodyPr/>
                <a:lstStyle/>
                <a:p>
                  <a:endParaRPr lang="zh-CN" altLang="en-US"/>
                </a:p>
              </p:txBody>
            </p:sp>
            <p:sp>
              <p:nvSpPr>
                <p:cNvPr id="77891" name="Freeform 145"/>
                <p:cNvSpPr/>
                <p:nvPr/>
              </p:nvSpPr>
              <p:spPr bwMode="auto">
                <a:xfrm>
                  <a:off x="3971" y="2962"/>
                  <a:ext cx="77" cy="70"/>
                </a:xfrm>
                <a:custGeom>
                  <a:avLst/>
                  <a:gdLst>
                    <a:gd name="T0" fmla="*/ 0 w 843"/>
                    <a:gd name="T1" fmla="*/ 0 h 566"/>
                    <a:gd name="T2" fmla="*/ 0 w 843"/>
                    <a:gd name="T3" fmla="*/ 0 h 566"/>
                    <a:gd name="T4" fmla="*/ 0 w 843"/>
                    <a:gd name="T5" fmla="*/ 0 h 566"/>
                    <a:gd name="T6" fmla="*/ 0 w 843"/>
                    <a:gd name="T7" fmla="*/ 0 h 566"/>
                    <a:gd name="T8" fmla="*/ 0 w 843"/>
                    <a:gd name="T9" fmla="*/ 0 h 566"/>
                    <a:gd name="T10" fmla="*/ 0 w 843"/>
                    <a:gd name="T11" fmla="*/ 0 h 566"/>
                    <a:gd name="T12" fmla="*/ 0 w 843"/>
                    <a:gd name="T13" fmla="*/ 0 h 566"/>
                    <a:gd name="T14" fmla="*/ 0 w 843"/>
                    <a:gd name="T15" fmla="*/ 0 h 566"/>
                    <a:gd name="T16" fmla="*/ 0 w 843"/>
                    <a:gd name="T17" fmla="*/ 0 h 566"/>
                    <a:gd name="T18" fmla="*/ 0 w 843"/>
                    <a:gd name="T19" fmla="*/ 0 h 566"/>
                    <a:gd name="T20" fmla="*/ 0 w 843"/>
                    <a:gd name="T21" fmla="*/ 0 h 5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3"/>
                    <a:gd name="T34" fmla="*/ 0 h 566"/>
                    <a:gd name="T35" fmla="*/ 843 w 843"/>
                    <a:gd name="T36" fmla="*/ 566 h 5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3" h="566">
                      <a:moveTo>
                        <a:pt x="0" y="0"/>
                      </a:moveTo>
                      <a:lnTo>
                        <a:pt x="0" y="552"/>
                      </a:lnTo>
                      <a:lnTo>
                        <a:pt x="843" y="566"/>
                      </a:lnTo>
                      <a:lnTo>
                        <a:pt x="843" y="60"/>
                      </a:lnTo>
                      <a:lnTo>
                        <a:pt x="731" y="48"/>
                      </a:lnTo>
                      <a:lnTo>
                        <a:pt x="578" y="38"/>
                      </a:lnTo>
                      <a:lnTo>
                        <a:pt x="423" y="31"/>
                      </a:lnTo>
                      <a:lnTo>
                        <a:pt x="322" y="22"/>
                      </a:lnTo>
                      <a:lnTo>
                        <a:pt x="224" y="16"/>
                      </a:lnTo>
                      <a:lnTo>
                        <a:pt x="91" y="5"/>
                      </a:lnTo>
                      <a:lnTo>
                        <a:pt x="0" y="0"/>
                      </a:lnTo>
                      <a:close/>
                    </a:path>
                  </a:pathLst>
                </a:custGeom>
                <a:solidFill>
                  <a:srgbClr val="FF0000"/>
                </a:solidFill>
                <a:ln w="1588">
                  <a:solidFill>
                    <a:srgbClr val="000000"/>
                  </a:solidFill>
                  <a:round/>
                </a:ln>
              </p:spPr>
              <p:txBody>
                <a:bodyPr/>
                <a:lstStyle/>
                <a:p>
                  <a:endParaRPr lang="zh-CN" altLang="en-US"/>
                </a:p>
              </p:txBody>
            </p:sp>
            <p:grpSp>
              <p:nvGrpSpPr>
                <p:cNvPr id="78041" name="Group 146"/>
                <p:cNvGrpSpPr/>
                <p:nvPr/>
              </p:nvGrpSpPr>
              <p:grpSpPr bwMode="auto">
                <a:xfrm>
                  <a:off x="3909" y="2939"/>
                  <a:ext cx="129" cy="80"/>
                  <a:chOff x="3909" y="2939"/>
                  <a:chExt cx="129" cy="80"/>
                </a:xfrm>
              </p:grpSpPr>
              <p:sp>
                <p:nvSpPr>
                  <p:cNvPr id="77893" name="Oval 147"/>
                  <p:cNvSpPr>
                    <a:spLocks noChangeArrowheads="1"/>
                  </p:cNvSpPr>
                  <p:nvPr/>
                </p:nvSpPr>
                <p:spPr bwMode="auto">
                  <a:xfrm>
                    <a:off x="3909" y="2939"/>
                    <a:ext cx="15" cy="12"/>
                  </a:xfrm>
                  <a:prstGeom prst="ellipse">
                    <a:avLst/>
                  </a:prstGeom>
                  <a:solidFill>
                    <a:srgbClr val="800000"/>
                  </a:solidFill>
                  <a:ln w="1588">
                    <a:solidFill>
                      <a:srgbClr val="800000"/>
                    </a:solidFill>
                    <a:round/>
                  </a:ln>
                </p:spPr>
                <p:txBody>
                  <a:bodyPr/>
                  <a:lstStyle/>
                  <a:p>
                    <a:endParaRPr lang="zh-CN" altLang="en-US"/>
                  </a:p>
                </p:txBody>
              </p:sp>
              <p:sp>
                <p:nvSpPr>
                  <p:cNvPr id="77894" name="Oval 148"/>
                  <p:cNvSpPr>
                    <a:spLocks noChangeArrowheads="1"/>
                  </p:cNvSpPr>
                  <p:nvPr/>
                </p:nvSpPr>
                <p:spPr bwMode="auto">
                  <a:xfrm>
                    <a:off x="3912" y="2942"/>
                    <a:ext cx="3" cy="4"/>
                  </a:xfrm>
                  <a:prstGeom prst="ellipse">
                    <a:avLst/>
                  </a:prstGeom>
                  <a:solidFill>
                    <a:srgbClr val="000000"/>
                  </a:solidFill>
                  <a:ln w="1588">
                    <a:solidFill>
                      <a:srgbClr val="000000"/>
                    </a:solidFill>
                    <a:round/>
                  </a:ln>
                </p:spPr>
                <p:txBody>
                  <a:bodyPr/>
                  <a:lstStyle/>
                  <a:p>
                    <a:endParaRPr lang="zh-CN" altLang="en-US"/>
                  </a:p>
                </p:txBody>
              </p:sp>
              <p:grpSp>
                <p:nvGrpSpPr>
                  <p:cNvPr id="78042" name="Group 149"/>
                  <p:cNvGrpSpPr/>
                  <p:nvPr/>
                </p:nvGrpSpPr>
                <p:grpSpPr bwMode="auto">
                  <a:xfrm>
                    <a:off x="3957" y="2971"/>
                    <a:ext cx="81" cy="48"/>
                    <a:chOff x="3957" y="2971"/>
                    <a:chExt cx="81" cy="48"/>
                  </a:xfrm>
                </p:grpSpPr>
                <p:sp>
                  <p:nvSpPr>
                    <p:cNvPr id="77896" name="Freeform 150"/>
                    <p:cNvSpPr/>
                    <p:nvPr/>
                  </p:nvSpPr>
                  <p:spPr bwMode="auto">
                    <a:xfrm>
                      <a:off x="3957" y="3004"/>
                      <a:ext cx="81" cy="15"/>
                    </a:xfrm>
                    <a:custGeom>
                      <a:avLst/>
                      <a:gdLst>
                        <a:gd name="T0" fmla="*/ 0 w 892"/>
                        <a:gd name="T1" fmla="*/ 0 h 123"/>
                        <a:gd name="T2" fmla="*/ 0 w 892"/>
                        <a:gd name="T3" fmla="*/ 0 h 123"/>
                        <a:gd name="T4" fmla="*/ 0 w 892"/>
                        <a:gd name="T5" fmla="*/ 0 h 123"/>
                        <a:gd name="T6" fmla="*/ 0 w 892"/>
                        <a:gd name="T7" fmla="*/ 0 h 123"/>
                        <a:gd name="T8" fmla="*/ 0 60000 65536"/>
                        <a:gd name="T9" fmla="*/ 0 60000 65536"/>
                        <a:gd name="T10" fmla="*/ 0 60000 65536"/>
                        <a:gd name="T11" fmla="*/ 0 60000 65536"/>
                        <a:gd name="T12" fmla="*/ 0 w 892"/>
                        <a:gd name="T13" fmla="*/ 0 h 123"/>
                        <a:gd name="T14" fmla="*/ 892 w 892"/>
                        <a:gd name="T15" fmla="*/ 123 h 123"/>
                      </a:gdLst>
                      <a:ahLst/>
                      <a:cxnLst>
                        <a:cxn ang="T8">
                          <a:pos x="T0" y="T1"/>
                        </a:cxn>
                        <a:cxn ang="T9">
                          <a:pos x="T2" y="T3"/>
                        </a:cxn>
                        <a:cxn ang="T10">
                          <a:pos x="T4" y="T5"/>
                        </a:cxn>
                        <a:cxn ang="T11">
                          <a:pos x="T6" y="T7"/>
                        </a:cxn>
                      </a:cxnLst>
                      <a:rect l="T12" t="T13" r="T14" b="T15"/>
                      <a:pathLst>
                        <a:path w="892" h="123">
                          <a:moveTo>
                            <a:pt x="0" y="69"/>
                          </a:moveTo>
                          <a:lnTo>
                            <a:pt x="0" y="123"/>
                          </a:lnTo>
                          <a:lnTo>
                            <a:pt x="892" y="0"/>
                          </a:lnTo>
                          <a:lnTo>
                            <a:pt x="0" y="69"/>
                          </a:lnTo>
                          <a:close/>
                        </a:path>
                      </a:pathLst>
                    </a:custGeom>
                    <a:solidFill>
                      <a:srgbClr val="800000"/>
                    </a:solidFill>
                    <a:ln w="1588">
                      <a:solidFill>
                        <a:srgbClr val="800000"/>
                      </a:solidFill>
                      <a:round/>
                    </a:ln>
                  </p:spPr>
                  <p:txBody>
                    <a:bodyPr/>
                    <a:lstStyle/>
                    <a:p>
                      <a:endParaRPr lang="zh-CN" altLang="en-US"/>
                    </a:p>
                  </p:txBody>
                </p:sp>
                <p:sp>
                  <p:nvSpPr>
                    <p:cNvPr id="77897" name="Freeform 151"/>
                    <p:cNvSpPr/>
                    <p:nvPr/>
                  </p:nvSpPr>
                  <p:spPr bwMode="auto">
                    <a:xfrm>
                      <a:off x="3957" y="2971"/>
                      <a:ext cx="80" cy="18"/>
                    </a:xfrm>
                    <a:custGeom>
                      <a:avLst/>
                      <a:gdLst>
                        <a:gd name="T0" fmla="*/ 0 w 883"/>
                        <a:gd name="T1" fmla="*/ 0 h 146"/>
                        <a:gd name="T2" fmla="*/ 0 w 883"/>
                        <a:gd name="T3" fmla="*/ 0 h 146"/>
                        <a:gd name="T4" fmla="*/ 0 w 883"/>
                        <a:gd name="T5" fmla="*/ 0 h 146"/>
                        <a:gd name="T6" fmla="*/ 0 w 883"/>
                        <a:gd name="T7" fmla="*/ 0 h 146"/>
                        <a:gd name="T8" fmla="*/ 0 60000 65536"/>
                        <a:gd name="T9" fmla="*/ 0 60000 65536"/>
                        <a:gd name="T10" fmla="*/ 0 60000 65536"/>
                        <a:gd name="T11" fmla="*/ 0 60000 65536"/>
                        <a:gd name="T12" fmla="*/ 0 w 883"/>
                        <a:gd name="T13" fmla="*/ 0 h 146"/>
                        <a:gd name="T14" fmla="*/ 883 w 883"/>
                        <a:gd name="T15" fmla="*/ 146 h 146"/>
                      </a:gdLst>
                      <a:ahLst/>
                      <a:cxnLst>
                        <a:cxn ang="T8">
                          <a:pos x="T0" y="T1"/>
                        </a:cxn>
                        <a:cxn ang="T9">
                          <a:pos x="T2" y="T3"/>
                        </a:cxn>
                        <a:cxn ang="T10">
                          <a:pos x="T4" y="T5"/>
                        </a:cxn>
                        <a:cxn ang="T11">
                          <a:pos x="T6" y="T7"/>
                        </a:cxn>
                      </a:cxnLst>
                      <a:rect l="T12" t="T13" r="T14" b="T15"/>
                      <a:pathLst>
                        <a:path w="883" h="146">
                          <a:moveTo>
                            <a:pt x="0" y="0"/>
                          </a:moveTo>
                          <a:lnTo>
                            <a:pt x="0" y="56"/>
                          </a:lnTo>
                          <a:lnTo>
                            <a:pt x="883" y="146"/>
                          </a:lnTo>
                          <a:lnTo>
                            <a:pt x="0" y="0"/>
                          </a:lnTo>
                          <a:close/>
                        </a:path>
                      </a:pathLst>
                    </a:custGeom>
                    <a:solidFill>
                      <a:srgbClr val="800000"/>
                    </a:solidFill>
                    <a:ln w="1588">
                      <a:solidFill>
                        <a:srgbClr val="800000"/>
                      </a:solidFill>
                      <a:round/>
                    </a:ln>
                  </p:spPr>
                  <p:txBody>
                    <a:bodyPr/>
                    <a:lstStyle/>
                    <a:p>
                      <a:endParaRPr lang="zh-CN" altLang="en-US"/>
                    </a:p>
                  </p:txBody>
                </p:sp>
                <p:sp>
                  <p:nvSpPr>
                    <p:cNvPr id="77898" name="Freeform 152"/>
                    <p:cNvSpPr/>
                    <p:nvPr/>
                  </p:nvSpPr>
                  <p:spPr bwMode="auto">
                    <a:xfrm>
                      <a:off x="3957" y="2982"/>
                      <a:ext cx="80" cy="11"/>
                    </a:xfrm>
                    <a:custGeom>
                      <a:avLst/>
                      <a:gdLst>
                        <a:gd name="T0" fmla="*/ 0 w 883"/>
                        <a:gd name="T1" fmla="*/ 0 h 90"/>
                        <a:gd name="T2" fmla="*/ 0 w 883"/>
                        <a:gd name="T3" fmla="*/ 0 h 90"/>
                        <a:gd name="T4" fmla="*/ 0 w 883"/>
                        <a:gd name="T5" fmla="*/ 0 h 90"/>
                        <a:gd name="T6" fmla="*/ 0 w 883"/>
                        <a:gd name="T7" fmla="*/ 0 h 90"/>
                        <a:gd name="T8" fmla="*/ 0 60000 65536"/>
                        <a:gd name="T9" fmla="*/ 0 60000 65536"/>
                        <a:gd name="T10" fmla="*/ 0 60000 65536"/>
                        <a:gd name="T11" fmla="*/ 0 60000 65536"/>
                        <a:gd name="T12" fmla="*/ 0 w 883"/>
                        <a:gd name="T13" fmla="*/ 0 h 90"/>
                        <a:gd name="T14" fmla="*/ 883 w 883"/>
                        <a:gd name="T15" fmla="*/ 90 h 90"/>
                      </a:gdLst>
                      <a:ahLst/>
                      <a:cxnLst>
                        <a:cxn ang="T8">
                          <a:pos x="T0" y="T1"/>
                        </a:cxn>
                        <a:cxn ang="T9">
                          <a:pos x="T2" y="T3"/>
                        </a:cxn>
                        <a:cxn ang="T10">
                          <a:pos x="T4" y="T5"/>
                        </a:cxn>
                        <a:cxn ang="T11">
                          <a:pos x="T6" y="T7"/>
                        </a:cxn>
                      </a:cxnLst>
                      <a:rect l="T12" t="T13" r="T14" b="T15"/>
                      <a:pathLst>
                        <a:path w="883" h="90">
                          <a:moveTo>
                            <a:pt x="0" y="0"/>
                          </a:moveTo>
                          <a:lnTo>
                            <a:pt x="0" y="55"/>
                          </a:lnTo>
                          <a:lnTo>
                            <a:pt x="883" y="90"/>
                          </a:lnTo>
                          <a:lnTo>
                            <a:pt x="0" y="0"/>
                          </a:lnTo>
                          <a:close/>
                        </a:path>
                      </a:pathLst>
                    </a:custGeom>
                    <a:solidFill>
                      <a:srgbClr val="800000"/>
                    </a:solidFill>
                    <a:ln w="1588">
                      <a:solidFill>
                        <a:srgbClr val="800000"/>
                      </a:solidFill>
                      <a:round/>
                    </a:ln>
                  </p:spPr>
                  <p:txBody>
                    <a:bodyPr/>
                    <a:lstStyle/>
                    <a:p>
                      <a:endParaRPr lang="zh-CN" altLang="en-US"/>
                    </a:p>
                  </p:txBody>
                </p:sp>
                <p:sp>
                  <p:nvSpPr>
                    <p:cNvPr id="77899" name="Freeform 153"/>
                    <p:cNvSpPr/>
                    <p:nvPr/>
                  </p:nvSpPr>
                  <p:spPr bwMode="auto">
                    <a:xfrm>
                      <a:off x="3957" y="2992"/>
                      <a:ext cx="81" cy="7"/>
                    </a:xfrm>
                    <a:custGeom>
                      <a:avLst/>
                      <a:gdLst>
                        <a:gd name="T0" fmla="*/ 0 w 892"/>
                        <a:gd name="T1" fmla="*/ 0 h 55"/>
                        <a:gd name="T2" fmla="*/ 0 w 892"/>
                        <a:gd name="T3" fmla="*/ 0 h 55"/>
                        <a:gd name="T4" fmla="*/ 0 w 892"/>
                        <a:gd name="T5" fmla="*/ 0 h 55"/>
                        <a:gd name="T6" fmla="*/ 0 w 892"/>
                        <a:gd name="T7" fmla="*/ 0 h 55"/>
                        <a:gd name="T8" fmla="*/ 0 60000 65536"/>
                        <a:gd name="T9" fmla="*/ 0 60000 65536"/>
                        <a:gd name="T10" fmla="*/ 0 60000 65536"/>
                        <a:gd name="T11" fmla="*/ 0 60000 65536"/>
                        <a:gd name="T12" fmla="*/ 0 w 892"/>
                        <a:gd name="T13" fmla="*/ 0 h 55"/>
                        <a:gd name="T14" fmla="*/ 892 w 892"/>
                        <a:gd name="T15" fmla="*/ 55 h 55"/>
                      </a:gdLst>
                      <a:ahLst/>
                      <a:cxnLst>
                        <a:cxn ang="T8">
                          <a:pos x="T0" y="T1"/>
                        </a:cxn>
                        <a:cxn ang="T9">
                          <a:pos x="T2" y="T3"/>
                        </a:cxn>
                        <a:cxn ang="T10">
                          <a:pos x="T4" y="T5"/>
                        </a:cxn>
                        <a:cxn ang="T11">
                          <a:pos x="T6" y="T7"/>
                        </a:cxn>
                      </a:cxnLst>
                      <a:rect l="T12" t="T13" r="T14" b="T15"/>
                      <a:pathLst>
                        <a:path w="892" h="55">
                          <a:moveTo>
                            <a:pt x="0" y="0"/>
                          </a:moveTo>
                          <a:lnTo>
                            <a:pt x="0" y="55"/>
                          </a:lnTo>
                          <a:lnTo>
                            <a:pt x="892" y="33"/>
                          </a:lnTo>
                          <a:lnTo>
                            <a:pt x="0" y="0"/>
                          </a:lnTo>
                          <a:close/>
                        </a:path>
                      </a:pathLst>
                    </a:custGeom>
                    <a:solidFill>
                      <a:srgbClr val="800000"/>
                    </a:solidFill>
                    <a:ln w="1588">
                      <a:solidFill>
                        <a:srgbClr val="800000"/>
                      </a:solidFill>
                      <a:round/>
                    </a:ln>
                  </p:spPr>
                  <p:txBody>
                    <a:bodyPr/>
                    <a:lstStyle/>
                    <a:p>
                      <a:endParaRPr lang="zh-CN" altLang="en-US"/>
                    </a:p>
                  </p:txBody>
                </p:sp>
                <p:sp>
                  <p:nvSpPr>
                    <p:cNvPr id="77900" name="Freeform 154"/>
                    <p:cNvSpPr/>
                    <p:nvPr/>
                  </p:nvSpPr>
                  <p:spPr bwMode="auto">
                    <a:xfrm>
                      <a:off x="3957" y="3000"/>
                      <a:ext cx="81" cy="9"/>
                    </a:xfrm>
                    <a:custGeom>
                      <a:avLst/>
                      <a:gdLst>
                        <a:gd name="T0" fmla="*/ 0 w 892"/>
                        <a:gd name="T1" fmla="*/ 0 h 72"/>
                        <a:gd name="T2" fmla="*/ 0 w 892"/>
                        <a:gd name="T3" fmla="*/ 0 h 72"/>
                        <a:gd name="T4" fmla="*/ 0 w 892"/>
                        <a:gd name="T5" fmla="*/ 0 h 72"/>
                        <a:gd name="T6" fmla="*/ 0 w 892"/>
                        <a:gd name="T7" fmla="*/ 0 h 72"/>
                        <a:gd name="T8" fmla="*/ 0 60000 65536"/>
                        <a:gd name="T9" fmla="*/ 0 60000 65536"/>
                        <a:gd name="T10" fmla="*/ 0 60000 65536"/>
                        <a:gd name="T11" fmla="*/ 0 60000 65536"/>
                        <a:gd name="T12" fmla="*/ 0 w 892"/>
                        <a:gd name="T13" fmla="*/ 0 h 72"/>
                        <a:gd name="T14" fmla="*/ 892 w 892"/>
                        <a:gd name="T15" fmla="*/ 72 h 72"/>
                      </a:gdLst>
                      <a:ahLst/>
                      <a:cxnLst>
                        <a:cxn ang="T8">
                          <a:pos x="T0" y="T1"/>
                        </a:cxn>
                        <a:cxn ang="T9">
                          <a:pos x="T2" y="T3"/>
                        </a:cxn>
                        <a:cxn ang="T10">
                          <a:pos x="T4" y="T5"/>
                        </a:cxn>
                        <a:cxn ang="T11">
                          <a:pos x="T6" y="T7"/>
                        </a:cxn>
                      </a:cxnLst>
                      <a:rect l="T12" t="T13" r="T14" b="T15"/>
                      <a:pathLst>
                        <a:path w="892" h="72">
                          <a:moveTo>
                            <a:pt x="0" y="17"/>
                          </a:moveTo>
                          <a:lnTo>
                            <a:pt x="0" y="72"/>
                          </a:lnTo>
                          <a:lnTo>
                            <a:pt x="892" y="0"/>
                          </a:lnTo>
                          <a:lnTo>
                            <a:pt x="0" y="17"/>
                          </a:lnTo>
                          <a:close/>
                        </a:path>
                      </a:pathLst>
                    </a:custGeom>
                    <a:solidFill>
                      <a:srgbClr val="800000"/>
                    </a:solidFill>
                    <a:ln w="1588">
                      <a:solidFill>
                        <a:srgbClr val="800000"/>
                      </a:solidFill>
                      <a:round/>
                    </a:ln>
                  </p:spPr>
                  <p:txBody>
                    <a:bodyPr/>
                    <a:lstStyle/>
                    <a:p>
                      <a:endParaRPr lang="zh-CN" altLang="en-US"/>
                    </a:p>
                  </p:txBody>
                </p:sp>
              </p:grpSp>
            </p:grpSp>
          </p:grpSp>
        </p:grpSp>
        <p:grpSp>
          <p:nvGrpSpPr>
            <p:cNvPr id="78043" name="Group 155"/>
            <p:cNvGrpSpPr/>
            <p:nvPr/>
          </p:nvGrpSpPr>
          <p:grpSpPr bwMode="auto">
            <a:xfrm>
              <a:off x="3849" y="2975"/>
              <a:ext cx="294" cy="83"/>
              <a:chOff x="3849" y="2975"/>
              <a:chExt cx="294" cy="83"/>
            </a:xfrm>
          </p:grpSpPr>
          <p:grpSp>
            <p:nvGrpSpPr>
              <p:cNvPr id="78044" name="Group 156"/>
              <p:cNvGrpSpPr/>
              <p:nvPr/>
            </p:nvGrpSpPr>
            <p:grpSpPr bwMode="auto">
              <a:xfrm>
                <a:off x="4082" y="2975"/>
                <a:ext cx="61" cy="83"/>
                <a:chOff x="4082" y="2975"/>
                <a:chExt cx="61" cy="83"/>
              </a:xfrm>
            </p:grpSpPr>
            <p:sp>
              <p:nvSpPr>
                <p:cNvPr id="77877" name="Oval 157"/>
                <p:cNvSpPr>
                  <a:spLocks noChangeArrowheads="1"/>
                </p:cNvSpPr>
                <p:nvPr/>
              </p:nvSpPr>
              <p:spPr bwMode="auto">
                <a:xfrm>
                  <a:off x="4082" y="2975"/>
                  <a:ext cx="61" cy="83"/>
                </a:xfrm>
                <a:prstGeom prst="ellipse">
                  <a:avLst/>
                </a:prstGeom>
                <a:solidFill>
                  <a:srgbClr val="000000"/>
                </a:solidFill>
                <a:ln w="1588">
                  <a:solidFill>
                    <a:srgbClr val="000000"/>
                  </a:solidFill>
                  <a:round/>
                </a:ln>
              </p:spPr>
              <p:txBody>
                <a:bodyPr/>
                <a:lstStyle/>
                <a:p>
                  <a:endParaRPr lang="zh-CN" altLang="en-US"/>
                </a:p>
              </p:txBody>
            </p:sp>
            <p:sp>
              <p:nvSpPr>
                <p:cNvPr id="77878" name="Freeform 158"/>
                <p:cNvSpPr/>
                <p:nvPr/>
              </p:nvSpPr>
              <p:spPr bwMode="auto">
                <a:xfrm>
                  <a:off x="4108" y="3029"/>
                  <a:ext cx="10" cy="17"/>
                </a:xfrm>
                <a:custGeom>
                  <a:avLst/>
                  <a:gdLst>
                    <a:gd name="T0" fmla="*/ 0 w 115"/>
                    <a:gd name="T1" fmla="*/ 0 h 141"/>
                    <a:gd name="T2" fmla="*/ 0 w 115"/>
                    <a:gd name="T3" fmla="*/ 0 h 141"/>
                    <a:gd name="T4" fmla="*/ 0 w 115"/>
                    <a:gd name="T5" fmla="*/ 0 h 141"/>
                    <a:gd name="T6" fmla="*/ 0 w 115"/>
                    <a:gd name="T7" fmla="*/ 0 h 141"/>
                    <a:gd name="T8" fmla="*/ 0 w 115"/>
                    <a:gd name="T9" fmla="*/ 0 h 141"/>
                    <a:gd name="T10" fmla="*/ 0 w 115"/>
                    <a:gd name="T11" fmla="*/ 0 h 141"/>
                    <a:gd name="T12" fmla="*/ 0 60000 65536"/>
                    <a:gd name="T13" fmla="*/ 0 60000 65536"/>
                    <a:gd name="T14" fmla="*/ 0 60000 65536"/>
                    <a:gd name="T15" fmla="*/ 0 60000 65536"/>
                    <a:gd name="T16" fmla="*/ 0 60000 65536"/>
                    <a:gd name="T17" fmla="*/ 0 60000 65536"/>
                    <a:gd name="T18" fmla="*/ 0 w 115"/>
                    <a:gd name="T19" fmla="*/ 0 h 141"/>
                    <a:gd name="T20" fmla="*/ 115 w 115"/>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5" h="141">
                      <a:moveTo>
                        <a:pt x="0" y="131"/>
                      </a:moveTo>
                      <a:lnTo>
                        <a:pt x="45" y="0"/>
                      </a:lnTo>
                      <a:lnTo>
                        <a:pt x="72" y="0"/>
                      </a:lnTo>
                      <a:lnTo>
                        <a:pt x="115" y="136"/>
                      </a:lnTo>
                      <a:lnTo>
                        <a:pt x="59" y="141"/>
                      </a:lnTo>
                      <a:lnTo>
                        <a:pt x="0" y="131"/>
                      </a:lnTo>
                      <a:close/>
                    </a:path>
                  </a:pathLst>
                </a:custGeom>
                <a:solidFill>
                  <a:srgbClr val="FF0000"/>
                </a:solidFill>
                <a:ln w="1588">
                  <a:solidFill>
                    <a:srgbClr val="000000"/>
                  </a:solidFill>
                  <a:round/>
                </a:ln>
              </p:spPr>
              <p:txBody>
                <a:bodyPr/>
                <a:lstStyle/>
                <a:p>
                  <a:endParaRPr lang="zh-CN" altLang="en-US"/>
                </a:p>
              </p:txBody>
            </p:sp>
            <p:sp>
              <p:nvSpPr>
                <p:cNvPr id="77879" name="Freeform 159"/>
                <p:cNvSpPr/>
                <p:nvPr/>
              </p:nvSpPr>
              <p:spPr bwMode="auto">
                <a:xfrm>
                  <a:off x="4107" y="2986"/>
                  <a:ext cx="11" cy="18"/>
                </a:xfrm>
                <a:custGeom>
                  <a:avLst/>
                  <a:gdLst>
                    <a:gd name="T0" fmla="*/ 0 w 118"/>
                    <a:gd name="T1" fmla="*/ 0 h 141"/>
                    <a:gd name="T2" fmla="*/ 0 w 118"/>
                    <a:gd name="T3" fmla="*/ 0 h 141"/>
                    <a:gd name="T4" fmla="*/ 0 w 118"/>
                    <a:gd name="T5" fmla="*/ 0 h 141"/>
                    <a:gd name="T6" fmla="*/ 0 w 118"/>
                    <a:gd name="T7" fmla="*/ 0 h 141"/>
                    <a:gd name="T8" fmla="*/ 0 w 118"/>
                    <a:gd name="T9" fmla="*/ 0 h 141"/>
                    <a:gd name="T10" fmla="*/ 0 w 118"/>
                    <a:gd name="T11" fmla="*/ 0 h 141"/>
                    <a:gd name="T12" fmla="*/ 0 60000 65536"/>
                    <a:gd name="T13" fmla="*/ 0 60000 65536"/>
                    <a:gd name="T14" fmla="*/ 0 60000 65536"/>
                    <a:gd name="T15" fmla="*/ 0 60000 65536"/>
                    <a:gd name="T16" fmla="*/ 0 60000 65536"/>
                    <a:gd name="T17" fmla="*/ 0 60000 65536"/>
                    <a:gd name="T18" fmla="*/ 0 w 118"/>
                    <a:gd name="T19" fmla="*/ 0 h 141"/>
                    <a:gd name="T20" fmla="*/ 118 w 118"/>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8" h="141">
                      <a:moveTo>
                        <a:pt x="0" y="10"/>
                      </a:moveTo>
                      <a:lnTo>
                        <a:pt x="48" y="141"/>
                      </a:lnTo>
                      <a:lnTo>
                        <a:pt x="74" y="141"/>
                      </a:lnTo>
                      <a:lnTo>
                        <a:pt x="118" y="6"/>
                      </a:lnTo>
                      <a:lnTo>
                        <a:pt x="61" y="0"/>
                      </a:lnTo>
                      <a:lnTo>
                        <a:pt x="0" y="10"/>
                      </a:lnTo>
                      <a:close/>
                    </a:path>
                  </a:pathLst>
                </a:custGeom>
                <a:solidFill>
                  <a:srgbClr val="FF0000"/>
                </a:solidFill>
                <a:ln w="1588">
                  <a:solidFill>
                    <a:srgbClr val="000000"/>
                  </a:solidFill>
                  <a:round/>
                </a:ln>
              </p:spPr>
              <p:txBody>
                <a:bodyPr/>
                <a:lstStyle/>
                <a:p>
                  <a:endParaRPr lang="zh-CN" altLang="en-US"/>
                </a:p>
              </p:txBody>
            </p:sp>
            <p:sp>
              <p:nvSpPr>
                <p:cNvPr id="77880" name="Freeform 160"/>
                <p:cNvSpPr/>
                <p:nvPr/>
              </p:nvSpPr>
              <p:spPr bwMode="auto">
                <a:xfrm>
                  <a:off x="4121" y="3009"/>
                  <a:ext cx="13"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31" y="0"/>
                      </a:moveTo>
                      <a:lnTo>
                        <a:pt x="0" y="46"/>
                      </a:lnTo>
                      <a:lnTo>
                        <a:pt x="0" y="73"/>
                      </a:lnTo>
                      <a:lnTo>
                        <a:pt x="135" y="115"/>
                      </a:lnTo>
                      <a:lnTo>
                        <a:pt x="142" y="60"/>
                      </a:lnTo>
                      <a:lnTo>
                        <a:pt x="131" y="0"/>
                      </a:lnTo>
                      <a:close/>
                    </a:path>
                  </a:pathLst>
                </a:custGeom>
                <a:solidFill>
                  <a:srgbClr val="FF0000"/>
                </a:solidFill>
                <a:ln w="1588">
                  <a:solidFill>
                    <a:srgbClr val="000000"/>
                  </a:solidFill>
                  <a:round/>
                </a:ln>
              </p:spPr>
              <p:txBody>
                <a:bodyPr/>
                <a:lstStyle/>
                <a:p>
                  <a:endParaRPr lang="zh-CN" altLang="en-US"/>
                </a:p>
              </p:txBody>
            </p:sp>
            <p:sp>
              <p:nvSpPr>
                <p:cNvPr id="77881" name="Freeform 161"/>
                <p:cNvSpPr/>
                <p:nvPr/>
              </p:nvSpPr>
              <p:spPr bwMode="auto">
                <a:xfrm>
                  <a:off x="4091" y="3009"/>
                  <a:ext cx="12" cy="14"/>
                </a:xfrm>
                <a:custGeom>
                  <a:avLst/>
                  <a:gdLst>
                    <a:gd name="T0" fmla="*/ 0 w 141"/>
                    <a:gd name="T1" fmla="*/ 0 h 115"/>
                    <a:gd name="T2" fmla="*/ 0 w 141"/>
                    <a:gd name="T3" fmla="*/ 0 h 115"/>
                    <a:gd name="T4" fmla="*/ 0 w 141"/>
                    <a:gd name="T5" fmla="*/ 0 h 115"/>
                    <a:gd name="T6" fmla="*/ 0 w 141"/>
                    <a:gd name="T7" fmla="*/ 0 h 115"/>
                    <a:gd name="T8" fmla="*/ 0 w 141"/>
                    <a:gd name="T9" fmla="*/ 0 h 115"/>
                    <a:gd name="T10" fmla="*/ 0 w 141"/>
                    <a:gd name="T11" fmla="*/ 0 h 115"/>
                    <a:gd name="T12" fmla="*/ 0 60000 65536"/>
                    <a:gd name="T13" fmla="*/ 0 60000 65536"/>
                    <a:gd name="T14" fmla="*/ 0 60000 65536"/>
                    <a:gd name="T15" fmla="*/ 0 60000 65536"/>
                    <a:gd name="T16" fmla="*/ 0 60000 65536"/>
                    <a:gd name="T17" fmla="*/ 0 60000 65536"/>
                    <a:gd name="T18" fmla="*/ 0 w 141"/>
                    <a:gd name="T19" fmla="*/ 0 h 115"/>
                    <a:gd name="T20" fmla="*/ 141 w 141"/>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1" h="115">
                      <a:moveTo>
                        <a:pt x="10" y="0"/>
                      </a:moveTo>
                      <a:lnTo>
                        <a:pt x="141" y="46"/>
                      </a:lnTo>
                      <a:lnTo>
                        <a:pt x="141" y="73"/>
                      </a:lnTo>
                      <a:lnTo>
                        <a:pt x="5" y="115"/>
                      </a:lnTo>
                      <a:lnTo>
                        <a:pt x="0" y="60"/>
                      </a:lnTo>
                      <a:lnTo>
                        <a:pt x="10" y="0"/>
                      </a:lnTo>
                      <a:close/>
                    </a:path>
                  </a:pathLst>
                </a:custGeom>
                <a:solidFill>
                  <a:srgbClr val="FF0000"/>
                </a:solidFill>
                <a:ln w="1588">
                  <a:solidFill>
                    <a:srgbClr val="000000"/>
                  </a:solidFill>
                  <a:round/>
                </a:ln>
              </p:spPr>
              <p:txBody>
                <a:bodyPr/>
                <a:lstStyle/>
                <a:p>
                  <a:endParaRPr lang="zh-CN" altLang="en-US"/>
                </a:p>
              </p:txBody>
            </p:sp>
            <p:sp>
              <p:nvSpPr>
                <p:cNvPr id="77882" name="Oval 162"/>
                <p:cNvSpPr>
                  <a:spLocks noChangeArrowheads="1"/>
                </p:cNvSpPr>
                <p:nvPr/>
              </p:nvSpPr>
              <p:spPr bwMode="auto">
                <a:xfrm>
                  <a:off x="4090" y="2985"/>
                  <a:ext cx="45" cy="62"/>
                </a:xfrm>
                <a:prstGeom prst="ellipse">
                  <a:avLst/>
                </a:prstGeom>
                <a:noFill/>
                <a:ln w="1588">
                  <a:solidFill>
                    <a:srgbClr val="FFFFFF"/>
                  </a:solidFill>
                  <a:round/>
                </a:ln>
              </p:spPr>
              <p:txBody>
                <a:bodyPr/>
                <a:lstStyle/>
                <a:p>
                  <a:endParaRPr lang="zh-CN" altLang="en-US"/>
                </a:p>
              </p:txBody>
            </p:sp>
            <p:grpSp>
              <p:nvGrpSpPr>
                <p:cNvPr id="78045" name="Group 163"/>
                <p:cNvGrpSpPr/>
                <p:nvPr/>
              </p:nvGrpSpPr>
              <p:grpSpPr bwMode="auto">
                <a:xfrm>
                  <a:off x="4103" y="3004"/>
                  <a:ext cx="18" cy="24"/>
                  <a:chOff x="4103" y="3004"/>
                  <a:chExt cx="18" cy="24"/>
                </a:xfrm>
              </p:grpSpPr>
              <p:sp>
                <p:nvSpPr>
                  <p:cNvPr id="77884" name="Oval 164"/>
                  <p:cNvSpPr>
                    <a:spLocks noChangeArrowheads="1"/>
                  </p:cNvSpPr>
                  <p:nvPr/>
                </p:nvSpPr>
                <p:spPr bwMode="auto">
                  <a:xfrm>
                    <a:off x="4103" y="3004"/>
                    <a:ext cx="18" cy="24"/>
                  </a:xfrm>
                  <a:prstGeom prst="ellipse">
                    <a:avLst/>
                  </a:prstGeom>
                  <a:solidFill>
                    <a:srgbClr val="000000"/>
                  </a:solidFill>
                  <a:ln w="1588">
                    <a:solidFill>
                      <a:srgbClr val="FFFFFF"/>
                    </a:solidFill>
                    <a:round/>
                  </a:ln>
                </p:spPr>
                <p:txBody>
                  <a:bodyPr/>
                  <a:lstStyle/>
                  <a:p>
                    <a:endParaRPr lang="zh-CN" altLang="en-US"/>
                  </a:p>
                </p:txBody>
              </p:sp>
              <p:sp>
                <p:nvSpPr>
                  <p:cNvPr id="77885" name="Oval 165"/>
                  <p:cNvSpPr>
                    <a:spLocks noChangeArrowheads="1"/>
                  </p:cNvSpPr>
                  <p:nvPr/>
                </p:nvSpPr>
                <p:spPr bwMode="auto">
                  <a:xfrm>
                    <a:off x="4107" y="3008"/>
                    <a:ext cx="10" cy="16"/>
                  </a:xfrm>
                  <a:prstGeom prst="ellipse">
                    <a:avLst/>
                  </a:prstGeom>
                  <a:solidFill>
                    <a:srgbClr val="000000"/>
                  </a:solidFill>
                  <a:ln w="1588">
                    <a:solidFill>
                      <a:srgbClr val="FFFFFF"/>
                    </a:solidFill>
                    <a:round/>
                  </a:ln>
                </p:spPr>
                <p:txBody>
                  <a:bodyPr/>
                  <a:lstStyle/>
                  <a:p>
                    <a:endParaRPr lang="zh-CN" altLang="en-US"/>
                  </a:p>
                </p:txBody>
              </p:sp>
            </p:grpSp>
          </p:grpSp>
          <p:grpSp>
            <p:nvGrpSpPr>
              <p:cNvPr id="78046" name="Group 166"/>
              <p:cNvGrpSpPr/>
              <p:nvPr/>
            </p:nvGrpSpPr>
            <p:grpSpPr bwMode="auto">
              <a:xfrm>
                <a:off x="3849" y="2975"/>
                <a:ext cx="61" cy="83"/>
                <a:chOff x="3849" y="2975"/>
                <a:chExt cx="61" cy="83"/>
              </a:xfrm>
            </p:grpSpPr>
            <p:sp>
              <p:nvSpPr>
                <p:cNvPr id="77868" name="Oval 167"/>
                <p:cNvSpPr>
                  <a:spLocks noChangeArrowheads="1"/>
                </p:cNvSpPr>
                <p:nvPr/>
              </p:nvSpPr>
              <p:spPr bwMode="auto">
                <a:xfrm>
                  <a:off x="3849" y="2975"/>
                  <a:ext cx="61" cy="83"/>
                </a:xfrm>
                <a:prstGeom prst="ellipse">
                  <a:avLst/>
                </a:prstGeom>
                <a:solidFill>
                  <a:srgbClr val="000000"/>
                </a:solidFill>
                <a:ln w="1588">
                  <a:solidFill>
                    <a:srgbClr val="000000"/>
                  </a:solidFill>
                  <a:round/>
                </a:ln>
              </p:spPr>
              <p:txBody>
                <a:bodyPr/>
                <a:lstStyle/>
                <a:p>
                  <a:endParaRPr lang="zh-CN" altLang="en-US"/>
                </a:p>
              </p:txBody>
            </p:sp>
            <p:sp>
              <p:nvSpPr>
                <p:cNvPr id="77869" name="Freeform 168"/>
                <p:cNvSpPr/>
                <p:nvPr/>
              </p:nvSpPr>
              <p:spPr bwMode="auto">
                <a:xfrm>
                  <a:off x="3875" y="3029"/>
                  <a:ext cx="10" cy="17"/>
                </a:xfrm>
                <a:custGeom>
                  <a:avLst/>
                  <a:gdLst>
                    <a:gd name="T0" fmla="*/ 0 w 115"/>
                    <a:gd name="T1" fmla="*/ 0 h 141"/>
                    <a:gd name="T2" fmla="*/ 0 w 115"/>
                    <a:gd name="T3" fmla="*/ 0 h 141"/>
                    <a:gd name="T4" fmla="*/ 0 w 115"/>
                    <a:gd name="T5" fmla="*/ 0 h 141"/>
                    <a:gd name="T6" fmla="*/ 0 w 115"/>
                    <a:gd name="T7" fmla="*/ 0 h 141"/>
                    <a:gd name="T8" fmla="*/ 0 w 115"/>
                    <a:gd name="T9" fmla="*/ 0 h 141"/>
                    <a:gd name="T10" fmla="*/ 0 w 115"/>
                    <a:gd name="T11" fmla="*/ 0 h 141"/>
                    <a:gd name="T12" fmla="*/ 0 60000 65536"/>
                    <a:gd name="T13" fmla="*/ 0 60000 65536"/>
                    <a:gd name="T14" fmla="*/ 0 60000 65536"/>
                    <a:gd name="T15" fmla="*/ 0 60000 65536"/>
                    <a:gd name="T16" fmla="*/ 0 60000 65536"/>
                    <a:gd name="T17" fmla="*/ 0 60000 65536"/>
                    <a:gd name="T18" fmla="*/ 0 w 115"/>
                    <a:gd name="T19" fmla="*/ 0 h 141"/>
                    <a:gd name="T20" fmla="*/ 115 w 115"/>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5" h="141">
                      <a:moveTo>
                        <a:pt x="0" y="131"/>
                      </a:moveTo>
                      <a:lnTo>
                        <a:pt x="44" y="0"/>
                      </a:lnTo>
                      <a:lnTo>
                        <a:pt x="72" y="0"/>
                      </a:lnTo>
                      <a:lnTo>
                        <a:pt x="115" y="136"/>
                      </a:lnTo>
                      <a:lnTo>
                        <a:pt x="60" y="141"/>
                      </a:lnTo>
                      <a:lnTo>
                        <a:pt x="0" y="131"/>
                      </a:lnTo>
                      <a:close/>
                    </a:path>
                  </a:pathLst>
                </a:custGeom>
                <a:solidFill>
                  <a:srgbClr val="FF0000"/>
                </a:solidFill>
                <a:ln w="1588">
                  <a:solidFill>
                    <a:srgbClr val="000000"/>
                  </a:solidFill>
                  <a:round/>
                </a:ln>
              </p:spPr>
              <p:txBody>
                <a:bodyPr/>
                <a:lstStyle/>
                <a:p>
                  <a:endParaRPr lang="zh-CN" altLang="en-US"/>
                </a:p>
              </p:txBody>
            </p:sp>
            <p:sp>
              <p:nvSpPr>
                <p:cNvPr id="77870" name="Freeform 169"/>
                <p:cNvSpPr/>
                <p:nvPr/>
              </p:nvSpPr>
              <p:spPr bwMode="auto">
                <a:xfrm>
                  <a:off x="3874" y="2986"/>
                  <a:ext cx="11" cy="18"/>
                </a:xfrm>
                <a:custGeom>
                  <a:avLst/>
                  <a:gdLst>
                    <a:gd name="T0" fmla="*/ 0 w 119"/>
                    <a:gd name="T1" fmla="*/ 0 h 141"/>
                    <a:gd name="T2" fmla="*/ 0 w 119"/>
                    <a:gd name="T3" fmla="*/ 0 h 141"/>
                    <a:gd name="T4" fmla="*/ 0 w 119"/>
                    <a:gd name="T5" fmla="*/ 0 h 141"/>
                    <a:gd name="T6" fmla="*/ 0 w 119"/>
                    <a:gd name="T7" fmla="*/ 0 h 141"/>
                    <a:gd name="T8" fmla="*/ 0 w 119"/>
                    <a:gd name="T9" fmla="*/ 0 h 141"/>
                    <a:gd name="T10" fmla="*/ 0 w 119"/>
                    <a:gd name="T11" fmla="*/ 0 h 141"/>
                    <a:gd name="T12" fmla="*/ 0 60000 65536"/>
                    <a:gd name="T13" fmla="*/ 0 60000 65536"/>
                    <a:gd name="T14" fmla="*/ 0 60000 65536"/>
                    <a:gd name="T15" fmla="*/ 0 60000 65536"/>
                    <a:gd name="T16" fmla="*/ 0 60000 65536"/>
                    <a:gd name="T17" fmla="*/ 0 60000 65536"/>
                    <a:gd name="T18" fmla="*/ 0 w 119"/>
                    <a:gd name="T19" fmla="*/ 0 h 141"/>
                    <a:gd name="T20" fmla="*/ 119 w 119"/>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19" h="141">
                      <a:moveTo>
                        <a:pt x="0" y="10"/>
                      </a:moveTo>
                      <a:lnTo>
                        <a:pt x="47" y="141"/>
                      </a:lnTo>
                      <a:lnTo>
                        <a:pt x="76" y="141"/>
                      </a:lnTo>
                      <a:lnTo>
                        <a:pt x="119" y="6"/>
                      </a:lnTo>
                      <a:lnTo>
                        <a:pt x="62" y="0"/>
                      </a:lnTo>
                      <a:lnTo>
                        <a:pt x="0" y="10"/>
                      </a:lnTo>
                      <a:close/>
                    </a:path>
                  </a:pathLst>
                </a:custGeom>
                <a:solidFill>
                  <a:srgbClr val="FF0000"/>
                </a:solidFill>
                <a:ln w="1588">
                  <a:solidFill>
                    <a:srgbClr val="000000"/>
                  </a:solidFill>
                  <a:round/>
                </a:ln>
              </p:spPr>
              <p:txBody>
                <a:bodyPr/>
                <a:lstStyle/>
                <a:p>
                  <a:endParaRPr lang="zh-CN" altLang="en-US"/>
                </a:p>
              </p:txBody>
            </p:sp>
            <p:sp>
              <p:nvSpPr>
                <p:cNvPr id="77871" name="Freeform 170"/>
                <p:cNvSpPr/>
                <p:nvPr/>
              </p:nvSpPr>
              <p:spPr bwMode="auto">
                <a:xfrm>
                  <a:off x="3889" y="3009"/>
                  <a:ext cx="12"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32" y="0"/>
                      </a:moveTo>
                      <a:lnTo>
                        <a:pt x="0" y="46"/>
                      </a:lnTo>
                      <a:lnTo>
                        <a:pt x="0" y="73"/>
                      </a:lnTo>
                      <a:lnTo>
                        <a:pt x="136" y="115"/>
                      </a:lnTo>
                      <a:lnTo>
                        <a:pt x="142" y="60"/>
                      </a:lnTo>
                      <a:lnTo>
                        <a:pt x="132" y="0"/>
                      </a:lnTo>
                      <a:close/>
                    </a:path>
                  </a:pathLst>
                </a:custGeom>
                <a:solidFill>
                  <a:srgbClr val="FF0000"/>
                </a:solidFill>
                <a:ln w="1588">
                  <a:solidFill>
                    <a:srgbClr val="000000"/>
                  </a:solidFill>
                  <a:round/>
                </a:ln>
              </p:spPr>
              <p:txBody>
                <a:bodyPr/>
                <a:lstStyle/>
                <a:p>
                  <a:endParaRPr lang="zh-CN" altLang="en-US"/>
                </a:p>
              </p:txBody>
            </p:sp>
            <p:sp>
              <p:nvSpPr>
                <p:cNvPr id="77872" name="Freeform 171"/>
                <p:cNvSpPr/>
                <p:nvPr/>
              </p:nvSpPr>
              <p:spPr bwMode="auto">
                <a:xfrm>
                  <a:off x="3858" y="3009"/>
                  <a:ext cx="13" cy="14"/>
                </a:xfrm>
                <a:custGeom>
                  <a:avLst/>
                  <a:gdLst>
                    <a:gd name="T0" fmla="*/ 0 w 142"/>
                    <a:gd name="T1" fmla="*/ 0 h 115"/>
                    <a:gd name="T2" fmla="*/ 0 w 142"/>
                    <a:gd name="T3" fmla="*/ 0 h 115"/>
                    <a:gd name="T4" fmla="*/ 0 w 142"/>
                    <a:gd name="T5" fmla="*/ 0 h 115"/>
                    <a:gd name="T6" fmla="*/ 0 w 142"/>
                    <a:gd name="T7" fmla="*/ 0 h 115"/>
                    <a:gd name="T8" fmla="*/ 0 w 142"/>
                    <a:gd name="T9" fmla="*/ 0 h 115"/>
                    <a:gd name="T10" fmla="*/ 0 w 142"/>
                    <a:gd name="T11" fmla="*/ 0 h 115"/>
                    <a:gd name="T12" fmla="*/ 0 60000 65536"/>
                    <a:gd name="T13" fmla="*/ 0 60000 65536"/>
                    <a:gd name="T14" fmla="*/ 0 60000 65536"/>
                    <a:gd name="T15" fmla="*/ 0 60000 65536"/>
                    <a:gd name="T16" fmla="*/ 0 60000 65536"/>
                    <a:gd name="T17" fmla="*/ 0 60000 65536"/>
                    <a:gd name="T18" fmla="*/ 0 w 142"/>
                    <a:gd name="T19" fmla="*/ 0 h 115"/>
                    <a:gd name="T20" fmla="*/ 142 w 142"/>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142" h="115">
                      <a:moveTo>
                        <a:pt x="10" y="0"/>
                      </a:moveTo>
                      <a:lnTo>
                        <a:pt x="142" y="46"/>
                      </a:lnTo>
                      <a:lnTo>
                        <a:pt x="142" y="73"/>
                      </a:lnTo>
                      <a:lnTo>
                        <a:pt x="6" y="115"/>
                      </a:lnTo>
                      <a:lnTo>
                        <a:pt x="0" y="60"/>
                      </a:lnTo>
                      <a:lnTo>
                        <a:pt x="10" y="0"/>
                      </a:lnTo>
                      <a:close/>
                    </a:path>
                  </a:pathLst>
                </a:custGeom>
                <a:solidFill>
                  <a:srgbClr val="FF0000"/>
                </a:solidFill>
                <a:ln w="1588">
                  <a:solidFill>
                    <a:srgbClr val="000000"/>
                  </a:solidFill>
                  <a:round/>
                </a:ln>
              </p:spPr>
              <p:txBody>
                <a:bodyPr/>
                <a:lstStyle/>
                <a:p>
                  <a:endParaRPr lang="zh-CN" altLang="en-US"/>
                </a:p>
              </p:txBody>
            </p:sp>
            <p:sp>
              <p:nvSpPr>
                <p:cNvPr id="77873" name="Oval 172"/>
                <p:cNvSpPr>
                  <a:spLocks noChangeArrowheads="1"/>
                </p:cNvSpPr>
                <p:nvPr/>
              </p:nvSpPr>
              <p:spPr bwMode="auto">
                <a:xfrm>
                  <a:off x="3857" y="2985"/>
                  <a:ext cx="45" cy="62"/>
                </a:xfrm>
                <a:prstGeom prst="ellipse">
                  <a:avLst/>
                </a:prstGeom>
                <a:noFill/>
                <a:ln w="1588">
                  <a:solidFill>
                    <a:srgbClr val="FFFFFF"/>
                  </a:solidFill>
                  <a:round/>
                </a:ln>
              </p:spPr>
              <p:txBody>
                <a:bodyPr/>
                <a:lstStyle/>
                <a:p>
                  <a:endParaRPr lang="zh-CN" altLang="en-US"/>
                </a:p>
              </p:txBody>
            </p:sp>
            <p:grpSp>
              <p:nvGrpSpPr>
                <p:cNvPr id="78047" name="Group 173"/>
                <p:cNvGrpSpPr/>
                <p:nvPr/>
              </p:nvGrpSpPr>
              <p:grpSpPr bwMode="auto">
                <a:xfrm>
                  <a:off x="3870" y="3004"/>
                  <a:ext cx="18" cy="24"/>
                  <a:chOff x="3870" y="3004"/>
                  <a:chExt cx="18" cy="24"/>
                </a:xfrm>
              </p:grpSpPr>
              <p:sp>
                <p:nvSpPr>
                  <p:cNvPr id="77875" name="Oval 174"/>
                  <p:cNvSpPr>
                    <a:spLocks noChangeArrowheads="1"/>
                  </p:cNvSpPr>
                  <p:nvPr/>
                </p:nvSpPr>
                <p:spPr bwMode="auto">
                  <a:xfrm>
                    <a:off x="3870" y="3004"/>
                    <a:ext cx="18" cy="24"/>
                  </a:xfrm>
                  <a:prstGeom prst="ellipse">
                    <a:avLst/>
                  </a:prstGeom>
                  <a:solidFill>
                    <a:srgbClr val="000000"/>
                  </a:solidFill>
                  <a:ln w="1588">
                    <a:solidFill>
                      <a:srgbClr val="FFFFFF"/>
                    </a:solidFill>
                    <a:round/>
                  </a:ln>
                </p:spPr>
                <p:txBody>
                  <a:bodyPr/>
                  <a:lstStyle/>
                  <a:p>
                    <a:endParaRPr lang="zh-CN" altLang="en-US"/>
                  </a:p>
                </p:txBody>
              </p:sp>
              <p:sp>
                <p:nvSpPr>
                  <p:cNvPr id="77876" name="Oval 175"/>
                  <p:cNvSpPr>
                    <a:spLocks noChangeArrowheads="1"/>
                  </p:cNvSpPr>
                  <p:nvPr/>
                </p:nvSpPr>
                <p:spPr bwMode="auto">
                  <a:xfrm>
                    <a:off x="3874" y="3008"/>
                    <a:ext cx="11" cy="16"/>
                  </a:xfrm>
                  <a:prstGeom prst="ellipse">
                    <a:avLst/>
                  </a:prstGeom>
                  <a:solidFill>
                    <a:srgbClr val="000000"/>
                  </a:solidFill>
                  <a:ln w="1588">
                    <a:solidFill>
                      <a:srgbClr val="FFFFFF"/>
                    </a:solidFill>
                    <a:round/>
                  </a:ln>
                </p:spPr>
                <p:txBody>
                  <a:bodyPr/>
                  <a:lstStyle/>
                  <a:p>
                    <a:endParaRPr lang="zh-CN" altLang="en-US"/>
                  </a:p>
                </p:txBody>
              </p:sp>
            </p:grpSp>
          </p:grpSp>
        </p:grpSp>
      </p:grpSp>
      <p:sp>
        <p:nvSpPr>
          <p:cNvPr id="77833" name="Line 176"/>
          <p:cNvSpPr>
            <a:spLocks noChangeShapeType="1"/>
          </p:cNvSpPr>
          <p:nvPr/>
        </p:nvSpPr>
        <p:spPr bwMode="auto">
          <a:xfrm>
            <a:off x="4408489" y="4036219"/>
            <a:ext cx="192087" cy="1191"/>
          </a:xfrm>
          <a:prstGeom prst="line">
            <a:avLst/>
          </a:prstGeom>
          <a:noFill/>
          <a:ln w="9525">
            <a:solidFill>
              <a:srgbClr val="000000"/>
            </a:solidFill>
            <a:round/>
          </a:ln>
        </p:spPr>
        <p:txBody>
          <a:bodyPr/>
          <a:lstStyle/>
          <a:p>
            <a:endParaRPr lang="zh-CN" altLang="en-US"/>
          </a:p>
        </p:txBody>
      </p:sp>
      <p:sp>
        <p:nvSpPr>
          <p:cNvPr id="77834" name="Line 177"/>
          <p:cNvSpPr>
            <a:spLocks noChangeShapeType="1"/>
          </p:cNvSpPr>
          <p:nvPr/>
        </p:nvSpPr>
        <p:spPr bwMode="auto">
          <a:xfrm>
            <a:off x="4440239" y="3808810"/>
            <a:ext cx="128587" cy="0"/>
          </a:xfrm>
          <a:prstGeom prst="line">
            <a:avLst/>
          </a:prstGeom>
          <a:noFill/>
          <a:ln w="9525">
            <a:solidFill>
              <a:srgbClr val="000000"/>
            </a:solidFill>
            <a:round/>
          </a:ln>
        </p:spPr>
        <p:txBody>
          <a:bodyPr/>
          <a:lstStyle/>
          <a:p>
            <a:endParaRPr lang="zh-CN" altLang="en-US"/>
          </a:p>
        </p:txBody>
      </p:sp>
      <p:sp>
        <p:nvSpPr>
          <p:cNvPr id="77835" name="Line 178"/>
          <p:cNvSpPr>
            <a:spLocks noChangeShapeType="1"/>
          </p:cNvSpPr>
          <p:nvPr/>
        </p:nvSpPr>
        <p:spPr bwMode="auto">
          <a:xfrm flipH="1" flipV="1">
            <a:off x="4471989" y="3580210"/>
            <a:ext cx="96837" cy="228600"/>
          </a:xfrm>
          <a:prstGeom prst="line">
            <a:avLst/>
          </a:prstGeom>
          <a:noFill/>
          <a:ln w="9525">
            <a:solidFill>
              <a:srgbClr val="000000"/>
            </a:solidFill>
            <a:round/>
          </a:ln>
        </p:spPr>
        <p:txBody>
          <a:bodyPr/>
          <a:lstStyle/>
          <a:p>
            <a:endParaRPr lang="zh-CN" altLang="en-US"/>
          </a:p>
        </p:txBody>
      </p:sp>
      <p:sp>
        <p:nvSpPr>
          <p:cNvPr id="77836" name="Line 179"/>
          <p:cNvSpPr>
            <a:spLocks noChangeShapeType="1"/>
          </p:cNvSpPr>
          <p:nvPr/>
        </p:nvSpPr>
        <p:spPr bwMode="auto">
          <a:xfrm flipH="1">
            <a:off x="4460876" y="3355181"/>
            <a:ext cx="68263" cy="223838"/>
          </a:xfrm>
          <a:prstGeom prst="line">
            <a:avLst/>
          </a:prstGeom>
          <a:noFill/>
          <a:ln w="9525">
            <a:solidFill>
              <a:srgbClr val="000000"/>
            </a:solidFill>
            <a:round/>
          </a:ln>
        </p:spPr>
        <p:txBody>
          <a:bodyPr/>
          <a:lstStyle/>
          <a:p>
            <a:endParaRPr lang="zh-CN" altLang="en-US"/>
          </a:p>
        </p:txBody>
      </p:sp>
      <p:sp>
        <p:nvSpPr>
          <p:cNvPr id="97460" name="Freeform 180"/>
          <p:cNvSpPr/>
          <p:nvPr/>
        </p:nvSpPr>
        <p:spPr bwMode="auto">
          <a:xfrm>
            <a:off x="4687889" y="2847975"/>
            <a:ext cx="981075" cy="415529"/>
          </a:xfrm>
          <a:custGeom>
            <a:avLst/>
            <a:gdLst>
              <a:gd name="T0" fmla="*/ 0 w 735"/>
              <a:gd name="T1" fmla="*/ 2147483647 h 528"/>
              <a:gd name="T2" fmla="*/ 2147483647 w 735"/>
              <a:gd name="T3" fmla="*/ 2147483647 h 528"/>
              <a:gd name="T4" fmla="*/ 2147483647 w 735"/>
              <a:gd name="T5" fmla="*/ 2147483647 h 528"/>
              <a:gd name="T6" fmla="*/ 2147483647 w 735"/>
              <a:gd name="T7" fmla="*/ 2147483647 h 528"/>
              <a:gd name="T8" fmla="*/ 2147483647 w 735"/>
              <a:gd name="T9" fmla="*/ 2147483647 h 528"/>
              <a:gd name="T10" fmla="*/ 2147483647 w 735"/>
              <a:gd name="T11" fmla="*/ 2147483647 h 528"/>
              <a:gd name="T12" fmla="*/ 2147483647 w 735"/>
              <a:gd name="T13" fmla="*/ 2147483647 h 528"/>
              <a:gd name="T14" fmla="*/ 2147483647 w 735"/>
              <a:gd name="T15" fmla="*/ 2147483647 h 528"/>
              <a:gd name="T16" fmla="*/ 2147483647 w 735"/>
              <a:gd name="T17" fmla="*/ 2147483647 h 528"/>
              <a:gd name="T18" fmla="*/ 2147483647 w 735"/>
              <a:gd name="T19" fmla="*/ 2147483647 h 528"/>
              <a:gd name="T20" fmla="*/ 2147483647 w 735"/>
              <a:gd name="T21" fmla="*/ 2147483647 h 528"/>
              <a:gd name="T22" fmla="*/ 2147483647 w 735"/>
              <a:gd name="T23" fmla="*/ 2147483647 h 528"/>
              <a:gd name="T24" fmla="*/ 2147483647 w 735"/>
              <a:gd name="T25" fmla="*/ 2147483647 h 528"/>
              <a:gd name="T26" fmla="*/ 2147483647 w 735"/>
              <a:gd name="T27" fmla="*/ 2147483647 h 528"/>
              <a:gd name="T28" fmla="*/ 2147483647 w 735"/>
              <a:gd name="T29" fmla="*/ 2147483647 h 528"/>
              <a:gd name="T30" fmla="*/ 2147483647 w 735"/>
              <a:gd name="T31" fmla="*/ 2147483647 h 528"/>
              <a:gd name="T32" fmla="*/ 2147483647 w 735"/>
              <a:gd name="T33" fmla="*/ 2147483647 h 528"/>
              <a:gd name="T34" fmla="*/ 2147483647 w 735"/>
              <a:gd name="T35" fmla="*/ 2147483647 h 528"/>
              <a:gd name="T36" fmla="*/ 2147483647 w 735"/>
              <a:gd name="T37" fmla="*/ 2147483647 h 528"/>
              <a:gd name="T38" fmla="*/ 2147483647 w 735"/>
              <a:gd name="T39" fmla="*/ 2147483647 h 528"/>
              <a:gd name="T40" fmla="*/ 2147483647 w 735"/>
              <a:gd name="T41" fmla="*/ 2147483647 h 528"/>
              <a:gd name="T42" fmla="*/ 2147483647 w 735"/>
              <a:gd name="T43" fmla="*/ 0 h 528"/>
              <a:gd name="T44" fmla="*/ 2147483647 w 735"/>
              <a:gd name="T45" fmla="*/ 0 h 528"/>
              <a:gd name="T46" fmla="*/ 2147483647 w 735"/>
              <a:gd name="T47" fmla="*/ 2147483647 h 528"/>
              <a:gd name="T48" fmla="*/ 2147483647 w 735"/>
              <a:gd name="T49" fmla="*/ 2147483647 h 528"/>
              <a:gd name="T50" fmla="*/ 2147483647 w 735"/>
              <a:gd name="T51" fmla="*/ 2147483647 h 528"/>
              <a:gd name="T52" fmla="*/ 2147483647 w 735"/>
              <a:gd name="T53" fmla="*/ 2147483647 h 528"/>
              <a:gd name="T54" fmla="*/ 2147483647 w 735"/>
              <a:gd name="T55" fmla="*/ 2147483647 h 528"/>
              <a:gd name="T56" fmla="*/ 2147483647 w 735"/>
              <a:gd name="T57" fmla="*/ 2147483647 h 528"/>
              <a:gd name="T58" fmla="*/ 2147483647 w 735"/>
              <a:gd name="T59" fmla="*/ 2147483647 h 528"/>
              <a:gd name="T60" fmla="*/ 2147483647 w 735"/>
              <a:gd name="T61" fmla="*/ 2147483647 h 528"/>
              <a:gd name="T62" fmla="*/ 2147483647 w 735"/>
              <a:gd name="T63" fmla="*/ 2147483647 h 528"/>
              <a:gd name="T64" fmla="*/ 2147483647 w 735"/>
              <a:gd name="T65" fmla="*/ 2147483647 h 528"/>
              <a:gd name="T66" fmla="*/ 2147483647 w 735"/>
              <a:gd name="T67" fmla="*/ 2147483647 h 528"/>
              <a:gd name="T68" fmla="*/ 2147483647 w 735"/>
              <a:gd name="T69" fmla="*/ 2147483647 h 528"/>
              <a:gd name="T70" fmla="*/ 2147483647 w 735"/>
              <a:gd name="T71" fmla="*/ 2147483647 h 528"/>
              <a:gd name="T72" fmla="*/ 2147483647 w 735"/>
              <a:gd name="T73" fmla="*/ 2147483647 h 528"/>
              <a:gd name="T74" fmla="*/ 2147483647 w 735"/>
              <a:gd name="T75" fmla="*/ 2147483647 h 528"/>
              <a:gd name="T76" fmla="*/ 2147483647 w 735"/>
              <a:gd name="T77" fmla="*/ 2147483647 h 528"/>
              <a:gd name="T78" fmla="*/ 2147483647 w 735"/>
              <a:gd name="T79" fmla="*/ 2147483647 h 528"/>
              <a:gd name="T80" fmla="*/ 2147483647 w 735"/>
              <a:gd name="T81" fmla="*/ 2147483647 h 528"/>
              <a:gd name="T82" fmla="*/ 2147483647 w 735"/>
              <a:gd name="T83" fmla="*/ 2147483647 h 528"/>
              <a:gd name="T84" fmla="*/ 2147483647 w 735"/>
              <a:gd name="T85" fmla="*/ 2147483647 h 528"/>
              <a:gd name="T86" fmla="*/ 2147483647 w 735"/>
              <a:gd name="T87" fmla="*/ 2147483647 h 528"/>
              <a:gd name="T88" fmla="*/ 2147483647 w 735"/>
              <a:gd name="T89" fmla="*/ 2147483647 h 528"/>
              <a:gd name="T90" fmla="*/ 2147483647 w 735"/>
              <a:gd name="T91" fmla="*/ 2147483647 h 528"/>
              <a:gd name="T92" fmla="*/ 2147483647 w 735"/>
              <a:gd name="T93" fmla="*/ 2147483647 h 528"/>
              <a:gd name="T94" fmla="*/ 2147483647 w 735"/>
              <a:gd name="T95" fmla="*/ 2147483647 h 528"/>
              <a:gd name="T96" fmla="*/ 2147483647 w 735"/>
              <a:gd name="T97" fmla="*/ 2147483647 h 528"/>
              <a:gd name="T98" fmla="*/ 2147483647 w 735"/>
              <a:gd name="T99" fmla="*/ 2147483647 h 528"/>
              <a:gd name="T100" fmla="*/ 2147483647 w 735"/>
              <a:gd name="T101" fmla="*/ 2147483647 h 528"/>
              <a:gd name="T102" fmla="*/ 2147483647 w 735"/>
              <a:gd name="T103" fmla="*/ 2147483647 h 528"/>
              <a:gd name="T104" fmla="*/ 2147483647 w 735"/>
              <a:gd name="T105" fmla="*/ 2147483647 h 528"/>
              <a:gd name="T106" fmla="*/ 2147483647 w 735"/>
              <a:gd name="T107" fmla="*/ 2147483647 h 528"/>
              <a:gd name="T108" fmla="*/ 2147483647 w 735"/>
              <a:gd name="T109" fmla="*/ 2147483647 h 528"/>
              <a:gd name="T110" fmla="*/ 2147483647 w 735"/>
              <a:gd name="T111" fmla="*/ 2147483647 h 528"/>
              <a:gd name="T112" fmla="*/ 2147483647 w 735"/>
              <a:gd name="T113" fmla="*/ 2147483647 h 528"/>
              <a:gd name="T114" fmla="*/ 2147483647 w 735"/>
              <a:gd name="T115" fmla="*/ 2147483647 h 528"/>
              <a:gd name="T116" fmla="*/ 2147483647 w 735"/>
              <a:gd name="T117" fmla="*/ 2147483647 h 52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35"/>
              <a:gd name="T178" fmla="*/ 0 h 528"/>
              <a:gd name="T179" fmla="*/ 735 w 735"/>
              <a:gd name="T180" fmla="*/ 528 h 52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35" h="528">
                <a:moveTo>
                  <a:pt x="0" y="496"/>
                </a:moveTo>
                <a:lnTo>
                  <a:pt x="57" y="434"/>
                </a:lnTo>
                <a:lnTo>
                  <a:pt x="114" y="374"/>
                </a:lnTo>
                <a:lnTo>
                  <a:pt x="170" y="316"/>
                </a:lnTo>
                <a:lnTo>
                  <a:pt x="224" y="260"/>
                </a:lnTo>
                <a:lnTo>
                  <a:pt x="276" y="208"/>
                </a:lnTo>
                <a:lnTo>
                  <a:pt x="302" y="184"/>
                </a:lnTo>
                <a:lnTo>
                  <a:pt x="327" y="162"/>
                </a:lnTo>
                <a:lnTo>
                  <a:pt x="351" y="141"/>
                </a:lnTo>
                <a:lnTo>
                  <a:pt x="374" y="121"/>
                </a:lnTo>
                <a:lnTo>
                  <a:pt x="396" y="103"/>
                </a:lnTo>
                <a:lnTo>
                  <a:pt x="418" y="86"/>
                </a:lnTo>
                <a:lnTo>
                  <a:pt x="439" y="72"/>
                </a:lnTo>
                <a:lnTo>
                  <a:pt x="460" y="58"/>
                </a:lnTo>
                <a:lnTo>
                  <a:pt x="480" y="48"/>
                </a:lnTo>
                <a:lnTo>
                  <a:pt x="499" y="37"/>
                </a:lnTo>
                <a:lnTo>
                  <a:pt x="518" y="28"/>
                </a:lnTo>
                <a:lnTo>
                  <a:pt x="537" y="21"/>
                </a:lnTo>
                <a:lnTo>
                  <a:pt x="554" y="15"/>
                </a:lnTo>
                <a:lnTo>
                  <a:pt x="571" y="10"/>
                </a:lnTo>
                <a:lnTo>
                  <a:pt x="603" y="3"/>
                </a:lnTo>
                <a:lnTo>
                  <a:pt x="631" y="0"/>
                </a:lnTo>
                <a:lnTo>
                  <a:pt x="644" y="0"/>
                </a:lnTo>
                <a:lnTo>
                  <a:pt x="656" y="2"/>
                </a:lnTo>
                <a:lnTo>
                  <a:pt x="666" y="3"/>
                </a:lnTo>
                <a:lnTo>
                  <a:pt x="676" y="5"/>
                </a:lnTo>
                <a:lnTo>
                  <a:pt x="685" y="9"/>
                </a:lnTo>
                <a:lnTo>
                  <a:pt x="694" y="14"/>
                </a:lnTo>
                <a:lnTo>
                  <a:pt x="702" y="20"/>
                </a:lnTo>
                <a:lnTo>
                  <a:pt x="709" y="28"/>
                </a:lnTo>
                <a:lnTo>
                  <a:pt x="722" y="46"/>
                </a:lnTo>
                <a:lnTo>
                  <a:pt x="727" y="57"/>
                </a:lnTo>
                <a:lnTo>
                  <a:pt x="730" y="69"/>
                </a:lnTo>
                <a:lnTo>
                  <a:pt x="733" y="80"/>
                </a:lnTo>
                <a:lnTo>
                  <a:pt x="735" y="93"/>
                </a:lnTo>
                <a:lnTo>
                  <a:pt x="735" y="106"/>
                </a:lnTo>
                <a:lnTo>
                  <a:pt x="734" y="119"/>
                </a:lnTo>
                <a:lnTo>
                  <a:pt x="731" y="132"/>
                </a:lnTo>
                <a:lnTo>
                  <a:pt x="726" y="144"/>
                </a:lnTo>
                <a:lnTo>
                  <a:pt x="720" y="156"/>
                </a:lnTo>
                <a:lnTo>
                  <a:pt x="712" y="168"/>
                </a:lnTo>
                <a:lnTo>
                  <a:pt x="702" y="180"/>
                </a:lnTo>
                <a:lnTo>
                  <a:pt x="689" y="192"/>
                </a:lnTo>
                <a:lnTo>
                  <a:pt x="674" y="205"/>
                </a:lnTo>
                <a:lnTo>
                  <a:pt x="658" y="218"/>
                </a:lnTo>
                <a:lnTo>
                  <a:pt x="639" y="231"/>
                </a:lnTo>
                <a:lnTo>
                  <a:pt x="619" y="244"/>
                </a:lnTo>
                <a:lnTo>
                  <a:pt x="598" y="259"/>
                </a:lnTo>
                <a:lnTo>
                  <a:pt x="576" y="272"/>
                </a:lnTo>
                <a:lnTo>
                  <a:pt x="529" y="299"/>
                </a:lnTo>
                <a:lnTo>
                  <a:pt x="481" y="325"/>
                </a:lnTo>
                <a:lnTo>
                  <a:pt x="434" y="351"/>
                </a:lnTo>
                <a:lnTo>
                  <a:pt x="388" y="374"/>
                </a:lnTo>
                <a:lnTo>
                  <a:pt x="343" y="395"/>
                </a:lnTo>
                <a:lnTo>
                  <a:pt x="298" y="417"/>
                </a:lnTo>
                <a:lnTo>
                  <a:pt x="251" y="436"/>
                </a:lnTo>
                <a:lnTo>
                  <a:pt x="203" y="456"/>
                </a:lnTo>
                <a:lnTo>
                  <a:pt x="106" y="493"/>
                </a:lnTo>
                <a:lnTo>
                  <a:pt x="7" y="528"/>
                </a:lnTo>
              </a:path>
            </a:pathLst>
          </a:custGeom>
          <a:noFill/>
          <a:ln w="9525">
            <a:solidFill>
              <a:srgbClr val="000000"/>
            </a:solidFill>
            <a:round/>
          </a:ln>
        </p:spPr>
        <p:txBody>
          <a:bodyPr/>
          <a:lstStyle/>
          <a:p>
            <a:endParaRPr lang="zh-CN" altLang="en-US"/>
          </a:p>
        </p:txBody>
      </p:sp>
      <p:sp>
        <p:nvSpPr>
          <p:cNvPr id="97461" name="Freeform 181"/>
          <p:cNvSpPr/>
          <p:nvPr/>
        </p:nvSpPr>
        <p:spPr bwMode="auto">
          <a:xfrm>
            <a:off x="4714876" y="3436143"/>
            <a:ext cx="963613" cy="444104"/>
          </a:xfrm>
          <a:custGeom>
            <a:avLst/>
            <a:gdLst>
              <a:gd name="T0" fmla="*/ 2147483647 w 722"/>
              <a:gd name="T1" fmla="*/ 0 h 565"/>
              <a:gd name="T2" fmla="*/ 2147483647 w 722"/>
              <a:gd name="T3" fmla="*/ 2147483647 h 565"/>
              <a:gd name="T4" fmla="*/ 2147483647 w 722"/>
              <a:gd name="T5" fmla="*/ 2147483647 h 565"/>
              <a:gd name="T6" fmla="*/ 2147483647 w 722"/>
              <a:gd name="T7" fmla="*/ 2147483647 h 565"/>
              <a:gd name="T8" fmla="*/ 2147483647 w 722"/>
              <a:gd name="T9" fmla="*/ 2147483647 h 565"/>
              <a:gd name="T10" fmla="*/ 2147483647 w 722"/>
              <a:gd name="T11" fmla="*/ 2147483647 h 565"/>
              <a:gd name="T12" fmla="*/ 2147483647 w 722"/>
              <a:gd name="T13" fmla="*/ 2147483647 h 565"/>
              <a:gd name="T14" fmla="*/ 2147483647 w 722"/>
              <a:gd name="T15" fmla="*/ 2147483647 h 565"/>
              <a:gd name="T16" fmla="*/ 2147483647 w 722"/>
              <a:gd name="T17" fmla="*/ 2147483647 h 565"/>
              <a:gd name="T18" fmla="*/ 2147483647 w 722"/>
              <a:gd name="T19" fmla="*/ 2147483647 h 565"/>
              <a:gd name="T20" fmla="*/ 2147483647 w 722"/>
              <a:gd name="T21" fmla="*/ 2147483647 h 565"/>
              <a:gd name="T22" fmla="*/ 2147483647 w 722"/>
              <a:gd name="T23" fmla="*/ 2147483647 h 565"/>
              <a:gd name="T24" fmla="*/ 2147483647 w 722"/>
              <a:gd name="T25" fmla="*/ 2147483647 h 565"/>
              <a:gd name="T26" fmla="*/ 2147483647 w 722"/>
              <a:gd name="T27" fmla="*/ 2147483647 h 565"/>
              <a:gd name="T28" fmla="*/ 2147483647 w 722"/>
              <a:gd name="T29" fmla="*/ 2147483647 h 565"/>
              <a:gd name="T30" fmla="*/ 2147483647 w 722"/>
              <a:gd name="T31" fmla="*/ 2147483647 h 565"/>
              <a:gd name="T32" fmla="*/ 2147483647 w 722"/>
              <a:gd name="T33" fmla="*/ 2147483647 h 565"/>
              <a:gd name="T34" fmla="*/ 2147483647 w 722"/>
              <a:gd name="T35" fmla="*/ 2147483647 h 565"/>
              <a:gd name="T36" fmla="*/ 2147483647 w 722"/>
              <a:gd name="T37" fmla="*/ 2147483647 h 565"/>
              <a:gd name="T38" fmla="*/ 2147483647 w 722"/>
              <a:gd name="T39" fmla="*/ 2147483647 h 565"/>
              <a:gd name="T40" fmla="*/ 2147483647 w 722"/>
              <a:gd name="T41" fmla="*/ 2147483647 h 565"/>
              <a:gd name="T42" fmla="*/ 2147483647 w 722"/>
              <a:gd name="T43" fmla="*/ 2147483647 h 565"/>
              <a:gd name="T44" fmla="*/ 2147483647 w 722"/>
              <a:gd name="T45" fmla="*/ 2147483647 h 565"/>
              <a:gd name="T46" fmla="*/ 2147483647 w 722"/>
              <a:gd name="T47" fmla="*/ 2147483647 h 565"/>
              <a:gd name="T48" fmla="*/ 2147483647 w 722"/>
              <a:gd name="T49" fmla="*/ 2147483647 h 565"/>
              <a:gd name="T50" fmla="*/ 2147483647 w 722"/>
              <a:gd name="T51" fmla="*/ 2147483647 h 565"/>
              <a:gd name="T52" fmla="*/ 2147483647 w 722"/>
              <a:gd name="T53" fmla="*/ 2147483647 h 565"/>
              <a:gd name="T54" fmla="*/ 2147483647 w 722"/>
              <a:gd name="T55" fmla="*/ 2147483647 h 565"/>
              <a:gd name="T56" fmla="*/ 2147483647 w 722"/>
              <a:gd name="T57" fmla="*/ 2147483647 h 565"/>
              <a:gd name="T58" fmla="*/ 2147483647 w 722"/>
              <a:gd name="T59" fmla="*/ 2147483647 h 565"/>
              <a:gd name="T60" fmla="*/ 2147483647 w 722"/>
              <a:gd name="T61" fmla="*/ 2147483647 h 565"/>
              <a:gd name="T62" fmla="*/ 2147483647 w 722"/>
              <a:gd name="T63" fmla="*/ 2147483647 h 565"/>
              <a:gd name="T64" fmla="*/ 2147483647 w 722"/>
              <a:gd name="T65" fmla="*/ 2147483647 h 565"/>
              <a:gd name="T66" fmla="*/ 2147483647 w 722"/>
              <a:gd name="T67" fmla="*/ 2147483647 h 565"/>
              <a:gd name="T68" fmla="*/ 2147483647 w 722"/>
              <a:gd name="T69" fmla="*/ 2147483647 h 565"/>
              <a:gd name="T70" fmla="*/ 2147483647 w 722"/>
              <a:gd name="T71" fmla="*/ 2147483647 h 565"/>
              <a:gd name="T72" fmla="*/ 2147483647 w 722"/>
              <a:gd name="T73" fmla="*/ 2147483647 h 565"/>
              <a:gd name="T74" fmla="*/ 2147483647 w 722"/>
              <a:gd name="T75" fmla="*/ 2147483647 h 565"/>
              <a:gd name="T76" fmla="*/ 2147483647 w 722"/>
              <a:gd name="T77" fmla="*/ 2147483647 h 565"/>
              <a:gd name="T78" fmla="*/ 2147483647 w 722"/>
              <a:gd name="T79" fmla="*/ 2147483647 h 565"/>
              <a:gd name="T80" fmla="*/ 2147483647 w 722"/>
              <a:gd name="T81" fmla="*/ 2147483647 h 565"/>
              <a:gd name="T82" fmla="*/ 2147483647 w 722"/>
              <a:gd name="T83" fmla="*/ 2147483647 h 565"/>
              <a:gd name="T84" fmla="*/ 2147483647 w 722"/>
              <a:gd name="T85" fmla="*/ 2147483647 h 565"/>
              <a:gd name="T86" fmla="*/ 2147483647 w 722"/>
              <a:gd name="T87" fmla="*/ 2147483647 h 565"/>
              <a:gd name="T88" fmla="*/ 2147483647 w 722"/>
              <a:gd name="T89" fmla="*/ 2147483647 h 565"/>
              <a:gd name="T90" fmla="*/ 2147483647 w 722"/>
              <a:gd name="T91" fmla="*/ 2147483647 h 565"/>
              <a:gd name="T92" fmla="*/ 2147483647 w 722"/>
              <a:gd name="T93" fmla="*/ 2147483647 h 565"/>
              <a:gd name="T94" fmla="*/ 2147483647 w 722"/>
              <a:gd name="T95" fmla="*/ 2147483647 h 565"/>
              <a:gd name="T96" fmla="*/ 2147483647 w 722"/>
              <a:gd name="T97" fmla="*/ 2147483647 h 565"/>
              <a:gd name="T98" fmla="*/ 2147483647 w 722"/>
              <a:gd name="T99" fmla="*/ 2147483647 h 565"/>
              <a:gd name="T100" fmla="*/ 2147483647 w 722"/>
              <a:gd name="T101" fmla="*/ 2147483647 h 565"/>
              <a:gd name="T102" fmla="*/ 2147483647 w 722"/>
              <a:gd name="T103" fmla="*/ 2147483647 h 565"/>
              <a:gd name="T104" fmla="*/ 2147483647 w 722"/>
              <a:gd name="T105" fmla="*/ 2147483647 h 565"/>
              <a:gd name="T106" fmla="*/ 2147483647 w 722"/>
              <a:gd name="T107" fmla="*/ 2147483647 h 565"/>
              <a:gd name="T108" fmla="*/ 2147483647 w 722"/>
              <a:gd name="T109" fmla="*/ 2147483647 h 565"/>
              <a:gd name="T110" fmla="*/ 2147483647 w 722"/>
              <a:gd name="T111" fmla="*/ 2147483647 h 565"/>
              <a:gd name="T112" fmla="*/ 2147483647 w 722"/>
              <a:gd name="T113" fmla="*/ 2147483647 h 565"/>
              <a:gd name="T114" fmla="*/ 2147483647 w 722"/>
              <a:gd name="T115" fmla="*/ 2147483647 h 565"/>
              <a:gd name="T116" fmla="*/ 2147483647 w 722"/>
              <a:gd name="T117" fmla="*/ 2147483647 h 565"/>
              <a:gd name="T118" fmla="*/ 2147483647 w 722"/>
              <a:gd name="T119" fmla="*/ 2147483647 h 565"/>
              <a:gd name="T120" fmla="*/ 2147483647 w 722"/>
              <a:gd name="T121" fmla="*/ 2147483647 h 565"/>
              <a:gd name="T122" fmla="*/ 2147483647 w 722"/>
              <a:gd name="T123" fmla="*/ 2147483647 h 565"/>
              <a:gd name="T124" fmla="*/ 0 w 722"/>
              <a:gd name="T125" fmla="*/ 2147483647 h 56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22"/>
              <a:gd name="T190" fmla="*/ 0 h 565"/>
              <a:gd name="T191" fmla="*/ 722 w 722"/>
              <a:gd name="T192" fmla="*/ 565 h 56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22" h="565">
                <a:moveTo>
                  <a:pt x="20" y="0"/>
                </a:moveTo>
                <a:lnTo>
                  <a:pt x="93" y="26"/>
                </a:lnTo>
                <a:lnTo>
                  <a:pt x="165" y="54"/>
                </a:lnTo>
                <a:lnTo>
                  <a:pt x="235" y="81"/>
                </a:lnTo>
                <a:lnTo>
                  <a:pt x="303" y="109"/>
                </a:lnTo>
                <a:lnTo>
                  <a:pt x="335" y="122"/>
                </a:lnTo>
                <a:lnTo>
                  <a:pt x="367" y="135"/>
                </a:lnTo>
                <a:lnTo>
                  <a:pt x="397" y="148"/>
                </a:lnTo>
                <a:lnTo>
                  <a:pt x="426" y="163"/>
                </a:lnTo>
                <a:lnTo>
                  <a:pt x="454" y="176"/>
                </a:lnTo>
                <a:lnTo>
                  <a:pt x="480" y="189"/>
                </a:lnTo>
                <a:lnTo>
                  <a:pt x="504" y="204"/>
                </a:lnTo>
                <a:lnTo>
                  <a:pt x="527" y="217"/>
                </a:lnTo>
                <a:lnTo>
                  <a:pt x="548" y="232"/>
                </a:lnTo>
                <a:lnTo>
                  <a:pt x="568" y="246"/>
                </a:lnTo>
                <a:lnTo>
                  <a:pt x="586" y="261"/>
                </a:lnTo>
                <a:lnTo>
                  <a:pt x="604" y="275"/>
                </a:lnTo>
                <a:lnTo>
                  <a:pt x="620" y="291"/>
                </a:lnTo>
                <a:lnTo>
                  <a:pt x="635" y="305"/>
                </a:lnTo>
                <a:lnTo>
                  <a:pt x="648" y="320"/>
                </a:lnTo>
                <a:lnTo>
                  <a:pt x="661" y="336"/>
                </a:lnTo>
                <a:lnTo>
                  <a:pt x="672" y="350"/>
                </a:lnTo>
                <a:lnTo>
                  <a:pt x="682" y="365"/>
                </a:lnTo>
                <a:lnTo>
                  <a:pt x="691" y="379"/>
                </a:lnTo>
                <a:lnTo>
                  <a:pt x="699" y="392"/>
                </a:lnTo>
                <a:lnTo>
                  <a:pt x="705" y="406"/>
                </a:lnTo>
                <a:lnTo>
                  <a:pt x="711" y="418"/>
                </a:lnTo>
                <a:lnTo>
                  <a:pt x="716" y="430"/>
                </a:lnTo>
                <a:lnTo>
                  <a:pt x="719" y="441"/>
                </a:lnTo>
                <a:lnTo>
                  <a:pt x="721" y="451"/>
                </a:lnTo>
                <a:lnTo>
                  <a:pt x="722" y="464"/>
                </a:lnTo>
                <a:lnTo>
                  <a:pt x="722" y="474"/>
                </a:lnTo>
                <a:lnTo>
                  <a:pt x="720" y="487"/>
                </a:lnTo>
                <a:lnTo>
                  <a:pt x="718" y="499"/>
                </a:lnTo>
                <a:lnTo>
                  <a:pt x="714" y="509"/>
                </a:lnTo>
                <a:lnTo>
                  <a:pt x="709" y="520"/>
                </a:lnTo>
                <a:lnTo>
                  <a:pt x="702" y="530"/>
                </a:lnTo>
                <a:lnTo>
                  <a:pt x="695" y="538"/>
                </a:lnTo>
                <a:lnTo>
                  <a:pt x="687" y="547"/>
                </a:lnTo>
                <a:lnTo>
                  <a:pt x="678" y="553"/>
                </a:lnTo>
                <a:lnTo>
                  <a:pt x="669" y="559"/>
                </a:lnTo>
                <a:lnTo>
                  <a:pt x="658" y="563"/>
                </a:lnTo>
                <a:lnTo>
                  <a:pt x="647" y="565"/>
                </a:lnTo>
                <a:lnTo>
                  <a:pt x="635" y="565"/>
                </a:lnTo>
                <a:lnTo>
                  <a:pt x="622" y="563"/>
                </a:lnTo>
                <a:lnTo>
                  <a:pt x="608" y="558"/>
                </a:lnTo>
                <a:lnTo>
                  <a:pt x="593" y="552"/>
                </a:lnTo>
                <a:lnTo>
                  <a:pt x="577" y="543"/>
                </a:lnTo>
                <a:lnTo>
                  <a:pt x="559" y="532"/>
                </a:lnTo>
                <a:lnTo>
                  <a:pt x="540" y="520"/>
                </a:lnTo>
                <a:lnTo>
                  <a:pt x="520" y="507"/>
                </a:lnTo>
                <a:lnTo>
                  <a:pt x="500" y="493"/>
                </a:lnTo>
                <a:lnTo>
                  <a:pt x="479" y="477"/>
                </a:lnTo>
                <a:lnTo>
                  <a:pt x="435" y="443"/>
                </a:lnTo>
                <a:lnTo>
                  <a:pt x="391" y="407"/>
                </a:lnTo>
                <a:lnTo>
                  <a:pt x="349" y="371"/>
                </a:lnTo>
                <a:lnTo>
                  <a:pt x="308" y="336"/>
                </a:lnTo>
                <a:lnTo>
                  <a:pt x="269" y="301"/>
                </a:lnTo>
                <a:lnTo>
                  <a:pt x="230" y="264"/>
                </a:lnTo>
                <a:lnTo>
                  <a:pt x="192" y="227"/>
                </a:lnTo>
                <a:lnTo>
                  <a:pt x="153" y="188"/>
                </a:lnTo>
                <a:lnTo>
                  <a:pt x="77" y="107"/>
                </a:lnTo>
                <a:lnTo>
                  <a:pt x="0" y="24"/>
                </a:lnTo>
              </a:path>
            </a:pathLst>
          </a:custGeom>
          <a:noFill/>
          <a:ln w="9525">
            <a:solidFill>
              <a:srgbClr val="000000"/>
            </a:solidFill>
            <a:round/>
          </a:ln>
        </p:spPr>
        <p:txBody>
          <a:bodyPr/>
          <a:lstStyle/>
          <a:p>
            <a:endParaRPr lang="zh-CN" altLang="en-US"/>
          </a:p>
        </p:txBody>
      </p:sp>
      <p:sp>
        <p:nvSpPr>
          <p:cNvPr id="97462" name="Freeform 182"/>
          <p:cNvSpPr/>
          <p:nvPr/>
        </p:nvSpPr>
        <p:spPr bwMode="auto">
          <a:xfrm>
            <a:off x="3275014" y="3442098"/>
            <a:ext cx="981075" cy="415528"/>
          </a:xfrm>
          <a:custGeom>
            <a:avLst/>
            <a:gdLst>
              <a:gd name="T0" fmla="*/ 2147483647 w 735"/>
              <a:gd name="T1" fmla="*/ 2147483647 h 528"/>
              <a:gd name="T2" fmla="*/ 2147483647 w 735"/>
              <a:gd name="T3" fmla="*/ 2147483647 h 528"/>
              <a:gd name="T4" fmla="*/ 2147483647 w 735"/>
              <a:gd name="T5" fmla="*/ 2147483647 h 528"/>
              <a:gd name="T6" fmla="*/ 2147483647 w 735"/>
              <a:gd name="T7" fmla="*/ 2147483647 h 528"/>
              <a:gd name="T8" fmla="*/ 2147483647 w 735"/>
              <a:gd name="T9" fmla="*/ 2147483647 h 528"/>
              <a:gd name="T10" fmla="*/ 2147483647 w 735"/>
              <a:gd name="T11" fmla="*/ 2147483647 h 528"/>
              <a:gd name="T12" fmla="*/ 2147483647 w 735"/>
              <a:gd name="T13" fmla="*/ 2147483647 h 528"/>
              <a:gd name="T14" fmla="*/ 2147483647 w 735"/>
              <a:gd name="T15" fmla="*/ 2147483647 h 528"/>
              <a:gd name="T16" fmla="*/ 2147483647 w 735"/>
              <a:gd name="T17" fmla="*/ 2147483647 h 528"/>
              <a:gd name="T18" fmla="*/ 2147483647 w 735"/>
              <a:gd name="T19" fmla="*/ 2147483647 h 528"/>
              <a:gd name="T20" fmla="*/ 2147483647 w 735"/>
              <a:gd name="T21" fmla="*/ 2147483647 h 528"/>
              <a:gd name="T22" fmla="*/ 2147483647 w 735"/>
              <a:gd name="T23" fmla="*/ 2147483647 h 528"/>
              <a:gd name="T24" fmla="*/ 2147483647 w 735"/>
              <a:gd name="T25" fmla="*/ 2147483647 h 528"/>
              <a:gd name="T26" fmla="*/ 2147483647 w 735"/>
              <a:gd name="T27" fmla="*/ 2147483647 h 528"/>
              <a:gd name="T28" fmla="*/ 2147483647 w 735"/>
              <a:gd name="T29" fmla="*/ 2147483647 h 528"/>
              <a:gd name="T30" fmla="*/ 2147483647 w 735"/>
              <a:gd name="T31" fmla="*/ 2147483647 h 528"/>
              <a:gd name="T32" fmla="*/ 2147483647 w 735"/>
              <a:gd name="T33" fmla="*/ 2147483647 h 528"/>
              <a:gd name="T34" fmla="*/ 2147483647 w 735"/>
              <a:gd name="T35" fmla="*/ 2147483647 h 528"/>
              <a:gd name="T36" fmla="*/ 2147483647 w 735"/>
              <a:gd name="T37" fmla="*/ 2147483647 h 528"/>
              <a:gd name="T38" fmla="*/ 2147483647 w 735"/>
              <a:gd name="T39" fmla="*/ 2147483647 h 528"/>
              <a:gd name="T40" fmla="*/ 2147483647 w 735"/>
              <a:gd name="T41" fmla="*/ 2147483647 h 528"/>
              <a:gd name="T42" fmla="*/ 2147483647 w 735"/>
              <a:gd name="T43" fmla="*/ 2147483647 h 528"/>
              <a:gd name="T44" fmla="*/ 2147483647 w 735"/>
              <a:gd name="T45" fmla="*/ 2147483647 h 528"/>
              <a:gd name="T46" fmla="*/ 2147483647 w 735"/>
              <a:gd name="T47" fmla="*/ 2147483647 h 528"/>
              <a:gd name="T48" fmla="*/ 2147483647 w 735"/>
              <a:gd name="T49" fmla="*/ 2147483647 h 528"/>
              <a:gd name="T50" fmla="*/ 2147483647 w 735"/>
              <a:gd name="T51" fmla="*/ 2147483647 h 528"/>
              <a:gd name="T52" fmla="*/ 2147483647 w 735"/>
              <a:gd name="T53" fmla="*/ 2147483647 h 528"/>
              <a:gd name="T54" fmla="*/ 2147483647 w 735"/>
              <a:gd name="T55" fmla="*/ 2147483647 h 528"/>
              <a:gd name="T56" fmla="*/ 2147483647 w 735"/>
              <a:gd name="T57" fmla="*/ 2147483647 h 528"/>
              <a:gd name="T58" fmla="*/ 2147483647 w 735"/>
              <a:gd name="T59" fmla="*/ 2147483647 h 528"/>
              <a:gd name="T60" fmla="*/ 2147483647 w 735"/>
              <a:gd name="T61" fmla="*/ 2147483647 h 528"/>
              <a:gd name="T62" fmla="*/ 2147483647 w 735"/>
              <a:gd name="T63" fmla="*/ 2147483647 h 528"/>
              <a:gd name="T64" fmla="*/ 2147483647 w 735"/>
              <a:gd name="T65" fmla="*/ 2147483647 h 528"/>
              <a:gd name="T66" fmla="*/ 2147483647 w 735"/>
              <a:gd name="T67" fmla="*/ 2147483647 h 528"/>
              <a:gd name="T68" fmla="*/ 0 w 735"/>
              <a:gd name="T69" fmla="*/ 2147483647 h 528"/>
              <a:gd name="T70" fmla="*/ 0 w 735"/>
              <a:gd name="T71" fmla="*/ 2147483647 h 528"/>
              <a:gd name="T72" fmla="*/ 2147483647 w 735"/>
              <a:gd name="T73" fmla="*/ 2147483647 h 528"/>
              <a:gd name="T74" fmla="*/ 2147483647 w 735"/>
              <a:gd name="T75" fmla="*/ 2147483647 h 528"/>
              <a:gd name="T76" fmla="*/ 2147483647 w 735"/>
              <a:gd name="T77" fmla="*/ 2147483647 h 528"/>
              <a:gd name="T78" fmla="*/ 2147483647 w 735"/>
              <a:gd name="T79" fmla="*/ 2147483647 h 528"/>
              <a:gd name="T80" fmla="*/ 2147483647 w 735"/>
              <a:gd name="T81" fmla="*/ 2147483647 h 528"/>
              <a:gd name="T82" fmla="*/ 2147483647 w 735"/>
              <a:gd name="T83" fmla="*/ 2147483647 h 528"/>
              <a:gd name="T84" fmla="*/ 2147483647 w 735"/>
              <a:gd name="T85" fmla="*/ 2147483647 h 528"/>
              <a:gd name="T86" fmla="*/ 2147483647 w 735"/>
              <a:gd name="T87" fmla="*/ 2147483647 h 528"/>
              <a:gd name="T88" fmla="*/ 2147483647 w 735"/>
              <a:gd name="T89" fmla="*/ 2147483647 h 528"/>
              <a:gd name="T90" fmla="*/ 2147483647 w 735"/>
              <a:gd name="T91" fmla="*/ 2147483647 h 528"/>
              <a:gd name="T92" fmla="*/ 2147483647 w 735"/>
              <a:gd name="T93" fmla="*/ 2147483647 h 528"/>
              <a:gd name="T94" fmla="*/ 2147483647 w 735"/>
              <a:gd name="T95" fmla="*/ 2147483647 h 528"/>
              <a:gd name="T96" fmla="*/ 2147483647 w 735"/>
              <a:gd name="T97" fmla="*/ 2147483647 h 528"/>
              <a:gd name="T98" fmla="*/ 2147483647 w 735"/>
              <a:gd name="T99" fmla="*/ 2147483647 h 528"/>
              <a:gd name="T100" fmla="*/ 2147483647 w 735"/>
              <a:gd name="T101" fmla="*/ 2147483647 h 528"/>
              <a:gd name="T102" fmla="*/ 2147483647 w 735"/>
              <a:gd name="T103" fmla="*/ 2147483647 h 528"/>
              <a:gd name="T104" fmla="*/ 2147483647 w 735"/>
              <a:gd name="T105" fmla="*/ 2147483647 h 528"/>
              <a:gd name="T106" fmla="*/ 2147483647 w 735"/>
              <a:gd name="T107" fmla="*/ 2147483647 h 528"/>
              <a:gd name="T108" fmla="*/ 2147483647 w 735"/>
              <a:gd name="T109" fmla="*/ 2147483647 h 528"/>
              <a:gd name="T110" fmla="*/ 2147483647 w 735"/>
              <a:gd name="T111" fmla="*/ 2147483647 h 528"/>
              <a:gd name="T112" fmla="*/ 2147483647 w 735"/>
              <a:gd name="T113" fmla="*/ 2147483647 h 528"/>
              <a:gd name="T114" fmla="*/ 2147483647 w 735"/>
              <a:gd name="T115" fmla="*/ 2147483647 h 528"/>
              <a:gd name="T116" fmla="*/ 2147483647 w 735"/>
              <a:gd name="T117" fmla="*/ 0 h 52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35"/>
              <a:gd name="T178" fmla="*/ 0 h 528"/>
              <a:gd name="T179" fmla="*/ 735 w 735"/>
              <a:gd name="T180" fmla="*/ 528 h 52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35" h="528">
                <a:moveTo>
                  <a:pt x="735" y="33"/>
                </a:moveTo>
                <a:lnTo>
                  <a:pt x="678" y="94"/>
                </a:lnTo>
                <a:lnTo>
                  <a:pt x="621" y="155"/>
                </a:lnTo>
                <a:lnTo>
                  <a:pt x="565" y="213"/>
                </a:lnTo>
                <a:lnTo>
                  <a:pt x="511" y="268"/>
                </a:lnTo>
                <a:lnTo>
                  <a:pt x="459" y="320"/>
                </a:lnTo>
                <a:lnTo>
                  <a:pt x="433" y="344"/>
                </a:lnTo>
                <a:lnTo>
                  <a:pt x="409" y="367"/>
                </a:lnTo>
                <a:lnTo>
                  <a:pt x="384" y="388"/>
                </a:lnTo>
                <a:lnTo>
                  <a:pt x="361" y="408"/>
                </a:lnTo>
                <a:lnTo>
                  <a:pt x="339" y="426"/>
                </a:lnTo>
                <a:lnTo>
                  <a:pt x="317" y="442"/>
                </a:lnTo>
                <a:lnTo>
                  <a:pt x="296" y="457"/>
                </a:lnTo>
                <a:lnTo>
                  <a:pt x="275" y="470"/>
                </a:lnTo>
                <a:lnTo>
                  <a:pt x="255" y="481"/>
                </a:lnTo>
                <a:lnTo>
                  <a:pt x="236" y="492"/>
                </a:lnTo>
                <a:lnTo>
                  <a:pt x="217" y="500"/>
                </a:lnTo>
                <a:lnTo>
                  <a:pt x="198" y="507"/>
                </a:lnTo>
                <a:lnTo>
                  <a:pt x="181" y="513"/>
                </a:lnTo>
                <a:lnTo>
                  <a:pt x="164" y="518"/>
                </a:lnTo>
                <a:lnTo>
                  <a:pt x="132" y="525"/>
                </a:lnTo>
                <a:lnTo>
                  <a:pt x="104" y="528"/>
                </a:lnTo>
                <a:lnTo>
                  <a:pt x="91" y="528"/>
                </a:lnTo>
                <a:lnTo>
                  <a:pt x="79" y="527"/>
                </a:lnTo>
                <a:lnTo>
                  <a:pt x="69" y="525"/>
                </a:lnTo>
                <a:lnTo>
                  <a:pt x="59" y="523"/>
                </a:lnTo>
                <a:lnTo>
                  <a:pt x="50" y="519"/>
                </a:lnTo>
                <a:lnTo>
                  <a:pt x="41" y="515"/>
                </a:lnTo>
                <a:lnTo>
                  <a:pt x="33" y="508"/>
                </a:lnTo>
                <a:lnTo>
                  <a:pt x="26" y="500"/>
                </a:lnTo>
                <a:lnTo>
                  <a:pt x="13" y="482"/>
                </a:lnTo>
                <a:lnTo>
                  <a:pt x="9" y="471"/>
                </a:lnTo>
                <a:lnTo>
                  <a:pt x="5" y="460"/>
                </a:lnTo>
                <a:lnTo>
                  <a:pt x="2" y="448"/>
                </a:lnTo>
                <a:lnTo>
                  <a:pt x="0" y="435"/>
                </a:lnTo>
                <a:lnTo>
                  <a:pt x="0" y="423"/>
                </a:lnTo>
                <a:lnTo>
                  <a:pt x="2" y="409"/>
                </a:lnTo>
                <a:lnTo>
                  <a:pt x="4" y="396"/>
                </a:lnTo>
                <a:lnTo>
                  <a:pt x="9" y="384"/>
                </a:lnTo>
                <a:lnTo>
                  <a:pt x="15" y="372"/>
                </a:lnTo>
                <a:lnTo>
                  <a:pt x="23" y="360"/>
                </a:lnTo>
                <a:lnTo>
                  <a:pt x="33" y="348"/>
                </a:lnTo>
                <a:lnTo>
                  <a:pt x="46" y="336"/>
                </a:lnTo>
                <a:lnTo>
                  <a:pt x="61" y="324"/>
                </a:lnTo>
                <a:lnTo>
                  <a:pt x="77" y="310"/>
                </a:lnTo>
                <a:lnTo>
                  <a:pt x="96" y="297"/>
                </a:lnTo>
                <a:lnTo>
                  <a:pt x="116" y="284"/>
                </a:lnTo>
                <a:lnTo>
                  <a:pt x="137" y="271"/>
                </a:lnTo>
                <a:lnTo>
                  <a:pt x="159" y="256"/>
                </a:lnTo>
                <a:lnTo>
                  <a:pt x="206" y="230"/>
                </a:lnTo>
                <a:lnTo>
                  <a:pt x="254" y="203"/>
                </a:lnTo>
                <a:lnTo>
                  <a:pt x="301" y="178"/>
                </a:lnTo>
                <a:lnTo>
                  <a:pt x="347" y="155"/>
                </a:lnTo>
                <a:lnTo>
                  <a:pt x="392" y="133"/>
                </a:lnTo>
                <a:lnTo>
                  <a:pt x="437" y="111"/>
                </a:lnTo>
                <a:lnTo>
                  <a:pt x="484" y="92"/>
                </a:lnTo>
                <a:lnTo>
                  <a:pt x="532" y="73"/>
                </a:lnTo>
                <a:lnTo>
                  <a:pt x="629" y="35"/>
                </a:lnTo>
                <a:lnTo>
                  <a:pt x="728" y="0"/>
                </a:lnTo>
              </a:path>
            </a:pathLst>
          </a:custGeom>
          <a:noFill/>
          <a:ln w="9525">
            <a:solidFill>
              <a:srgbClr val="000000"/>
            </a:solidFill>
            <a:round/>
          </a:ln>
        </p:spPr>
        <p:txBody>
          <a:bodyPr/>
          <a:lstStyle/>
          <a:p>
            <a:endParaRPr lang="zh-CN" altLang="en-US"/>
          </a:p>
        </p:txBody>
      </p:sp>
      <p:grpSp>
        <p:nvGrpSpPr>
          <p:cNvPr id="192" name="Group 183"/>
          <p:cNvGrpSpPr/>
          <p:nvPr/>
        </p:nvGrpSpPr>
        <p:grpSpPr bwMode="auto">
          <a:xfrm>
            <a:off x="4376739" y="3176587"/>
            <a:ext cx="255587" cy="1139429"/>
            <a:chOff x="2760" y="1852"/>
            <a:chExt cx="192" cy="1449"/>
          </a:xfrm>
        </p:grpSpPr>
        <p:sp>
          <p:nvSpPr>
            <p:cNvPr id="77842" name="Freeform 184"/>
            <p:cNvSpPr/>
            <p:nvPr/>
          </p:nvSpPr>
          <p:spPr bwMode="auto">
            <a:xfrm>
              <a:off x="2760" y="1968"/>
              <a:ext cx="192" cy="1333"/>
            </a:xfrm>
            <a:custGeom>
              <a:avLst/>
              <a:gdLst>
                <a:gd name="T0" fmla="*/ 96 w 192"/>
                <a:gd name="T1" fmla="*/ 0 h 1333"/>
                <a:gd name="T2" fmla="*/ 192 w 192"/>
                <a:gd name="T3" fmla="*/ 1333 h 1333"/>
                <a:gd name="T4" fmla="*/ 0 w 192"/>
                <a:gd name="T5" fmla="*/ 1333 h 1333"/>
                <a:gd name="T6" fmla="*/ 96 w 192"/>
                <a:gd name="T7" fmla="*/ 0 h 1333"/>
                <a:gd name="T8" fmla="*/ 0 60000 65536"/>
                <a:gd name="T9" fmla="*/ 0 60000 65536"/>
                <a:gd name="T10" fmla="*/ 0 60000 65536"/>
                <a:gd name="T11" fmla="*/ 0 60000 65536"/>
                <a:gd name="T12" fmla="*/ 0 w 192"/>
                <a:gd name="T13" fmla="*/ 0 h 1333"/>
                <a:gd name="T14" fmla="*/ 192 w 192"/>
                <a:gd name="T15" fmla="*/ 1333 h 1333"/>
              </a:gdLst>
              <a:ahLst/>
              <a:cxnLst>
                <a:cxn ang="T8">
                  <a:pos x="T0" y="T1"/>
                </a:cxn>
                <a:cxn ang="T9">
                  <a:pos x="T2" y="T3"/>
                </a:cxn>
                <a:cxn ang="T10">
                  <a:pos x="T4" y="T5"/>
                </a:cxn>
                <a:cxn ang="T11">
                  <a:pos x="T6" y="T7"/>
                </a:cxn>
              </a:cxnLst>
              <a:rect l="T12" t="T13" r="T14" b="T15"/>
              <a:pathLst>
                <a:path w="192" h="1333">
                  <a:moveTo>
                    <a:pt x="96" y="0"/>
                  </a:moveTo>
                  <a:lnTo>
                    <a:pt x="192" y="1333"/>
                  </a:lnTo>
                  <a:lnTo>
                    <a:pt x="0" y="1333"/>
                  </a:lnTo>
                  <a:lnTo>
                    <a:pt x="96" y="0"/>
                  </a:lnTo>
                  <a:close/>
                </a:path>
              </a:pathLst>
            </a:custGeom>
            <a:solidFill>
              <a:srgbClr val="5F5F5F"/>
            </a:solidFill>
            <a:ln w="9525">
              <a:solidFill>
                <a:srgbClr val="000000"/>
              </a:solidFill>
              <a:round/>
            </a:ln>
          </p:spPr>
          <p:txBody>
            <a:bodyPr/>
            <a:lstStyle/>
            <a:p>
              <a:endParaRPr lang="zh-CN" altLang="en-US"/>
            </a:p>
          </p:txBody>
        </p:sp>
        <p:sp>
          <p:nvSpPr>
            <p:cNvPr id="77843" name="Line 185"/>
            <p:cNvSpPr>
              <a:spLocks noChangeShapeType="1"/>
            </p:cNvSpPr>
            <p:nvPr/>
          </p:nvSpPr>
          <p:spPr bwMode="auto">
            <a:xfrm flipH="1">
              <a:off x="2760" y="2953"/>
              <a:ext cx="168" cy="348"/>
            </a:xfrm>
            <a:prstGeom prst="line">
              <a:avLst/>
            </a:prstGeom>
            <a:noFill/>
            <a:ln w="9525">
              <a:solidFill>
                <a:srgbClr val="000000"/>
              </a:solidFill>
              <a:round/>
            </a:ln>
          </p:spPr>
          <p:txBody>
            <a:bodyPr/>
            <a:lstStyle/>
            <a:p>
              <a:endParaRPr lang="zh-CN" altLang="en-US"/>
            </a:p>
          </p:txBody>
        </p:sp>
        <p:sp>
          <p:nvSpPr>
            <p:cNvPr id="77844" name="Line 186"/>
            <p:cNvSpPr>
              <a:spLocks noChangeShapeType="1"/>
            </p:cNvSpPr>
            <p:nvPr/>
          </p:nvSpPr>
          <p:spPr bwMode="auto">
            <a:xfrm>
              <a:off x="2784" y="2953"/>
              <a:ext cx="168" cy="348"/>
            </a:xfrm>
            <a:prstGeom prst="line">
              <a:avLst/>
            </a:prstGeom>
            <a:noFill/>
            <a:ln w="9525">
              <a:solidFill>
                <a:srgbClr val="000000"/>
              </a:solidFill>
              <a:round/>
            </a:ln>
          </p:spPr>
          <p:txBody>
            <a:bodyPr/>
            <a:lstStyle/>
            <a:p>
              <a:endParaRPr lang="zh-CN" altLang="en-US"/>
            </a:p>
          </p:txBody>
        </p:sp>
        <p:sp>
          <p:nvSpPr>
            <p:cNvPr id="77845" name="Line 187"/>
            <p:cNvSpPr>
              <a:spLocks noChangeShapeType="1"/>
            </p:cNvSpPr>
            <p:nvPr/>
          </p:nvSpPr>
          <p:spPr bwMode="auto">
            <a:xfrm flipV="1">
              <a:off x="2784" y="2663"/>
              <a:ext cx="120" cy="290"/>
            </a:xfrm>
            <a:prstGeom prst="line">
              <a:avLst/>
            </a:prstGeom>
            <a:noFill/>
            <a:ln w="9525">
              <a:solidFill>
                <a:srgbClr val="000000"/>
              </a:solidFill>
              <a:round/>
            </a:ln>
          </p:spPr>
          <p:txBody>
            <a:bodyPr/>
            <a:lstStyle/>
            <a:p>
              <a:endParaRPr lang="zh-CN" altLang="en-US"/>
            </a:p>
          </p:txBody>
        </p:sp>
        <p:sp>
          <p:nvSpPr>
            <p:cNvPr id="77846" name="Line 188"/>
            <p:cNvSpPr>
              <a:spLocks noChangeShapeType="1"/>
            </p:cNvSpPr>
            <p:nvPr/>
          </p:nvSpPr>
          <p:spPr bwMode="auto">
            <a:xfrm flipH="1" flipV="1">
              <a:off x="2808" y="2663"/>
              <a:ext cx="120" cy="290"/>
            </a:xfrm>
            <a:prstGeom prst="line">
              <a:avLst/>
            </a:prstGeom>
            <a:noFill/>
            <a:ln w="9525">
              <a:solidFill>
                <a:srgbClr val="000000"/>
              </a:solidFill>
              <a:round/>
            </a:ln>
          </p:spPr>
          <p:txBody>
            <a:bodyPr/>
            <a:lstStyle/>
            <a:p>
              <a:endParaRPr lang="zh-CN" altLang="en-US"/>
            </a:p>
          </p:txBody>
        </p:sp>
        <p:sp>
          <p:nvSpPr>
            <p:cNvPr id="77847" name="Line 189"/>
            <p:cNvSpPr>
              <a:spLocks noChangeShapeType="1"/>
            </p:cNvSpPr>
            <p:nvPr/>
          </p:nvSpPr>
          <p:spPr bwMode="auto">
            <a:xfrm flipH="1">
              <a:off x="2789" y="2332"/>
              <a:ext cx="110" cy="372"/>
            </a:xfrm>
            <a:prstGeom prst="line">
              <a:avLst/>
            </a:prstGeom>
            <a:noFill/>
            <a:ln w="9525">
              <a:solidFill>
                <a:srgbClr val="000000"/>
              </a:solidFill>
              <a:round/>
            </a:ln>
          </p:spPr>
          <p:txBody>
            <a:bodyPr/>
            <a:lstStyle/>
            <a:p>
              <a:endParaRPr lang="zh-CN" altLang="en-US"/>
            </a:p>
          </p:txBody>
        </p:sp>
        <p:sp>
          <p:nvSpPr>
            <p:cNvPr id="77848" name="Line 190"/>
            <p:cNvSpPr>
              <a:spLocks noChangeShapeType="1"/>
            </p:cNvSpPr>
            <p:nvPr/>
          </p:nvSpPr>
          <p:spPr bwMode="auto">
            <a:xfrm flipH="1">
              <a:off x="2832" y="2373"/>
              <a:ext cx="48" cy="1"/>
            </a:xfrm>
            <a:prstGeom prst="line">
              <a:avLst/>
            </a:prstGeom>
            <a:noFill/>
            <a:ln w="9525">
              <a:solidFill>
                <a:srgbClr val="000000"/>
              </a:solidFill>
              <a:round/>
            </a:ln>
          </p:spPr>
          <p:txBody>
            <a:bodyPr/>
            <a:lstStyle/>
            <a:p>
              <a:endParaRPr lang="zh-CN" altLang="en-US"/>
            </a:p>
          </p:txBody>
        </p:sp>
        <p:sp>
          <p:nvSpPr>
            <p:cNvPr id="77849" name="Line 191"/>
            <p:cNvSpPr>
              <a:spLocks noChangeShapeType="1"/>
            </p:cNvSpPr>
            <p:nvPr/>
          </p:nvSpPr>
          <p:spPr bwMode="auto">
            <a:xfrm>
              <a:off x="2836" y="2086"/>
              <a:ext cx="52" cy="285"/>
            </a:xfrm>
            <a:prstGeom prst="line">
              <a:avLst/>
            </a:prstGeom>
            <a:noFill/>
            <a:ln w="9525">
              <a:solidFill>
                <a:srgbClr val="000000"/>
              </a:solidFill>
              <a:round/>
            </a:ln>
          </p:spPr>
          <p:txBody>
            <a:bodyPr/>
            <a:lstStyle/>
            <a:p>
              <a:endParaRPr lang="zh-CN" altLang="en-US"/>
            </a:p>
          </p:txBody>
        </p:sp>
        <p:grpSp>
          <p:nvGrpSpPr>
            <p:cNvPr id="193" name="Group 192"/>
            <p:cNvGrpSpPr/>
            <p:nvPr/>
          </p:nvGrpSpPr>
          <p:grpSpPr bwMode="auto">
            <a:xfrm>
              <a:off x="2880" y="2142"/>
              <a:ext cx="48" cy="116"/>
              <a:chOff x="2880" y="2290"/>
              <a:chExt cx="48" cy="116"/>
            </a:xfrm>
          </p:grpSpPr>
          <p:sp>
            <p:nvSpPr>
              <p:cNvPr id="77860" name="Line 193"/>
              <p:cNvSpPr>
                <a:spLocks noChangeShapeType="1"/>
              </p:cNvSpPr>
              <p:nvPr/>
            </p:nvSpPr>
            <p:spPr bwMode="auto">
              <a:xfrm>
                <a:off x="2880" y="2348"/>
                <a:ext cx="47" cy="1"/>
              </a:xfrm>
              <a:prstGeom prst="line">
                <a:avLst/>
              </a:prstGeom>
              <a:noFill/>
              <a:ln w="9525">
                <a:solidFill>
                  <a:srgbClr val="000000"/>
                </a:solidFill>
                <a:round/>
              </a:ln>
            </p:spPr>
            <p:txBody>
              <a:bodyPr/>
              <a:lstStyle/>
              <a:p>
                <a:endParaRPr lang="zh-CN" altLang="en-US"/>
              </a:p>
            </p:txBody>
          </p:sp>
          <p:sp>
            <p:nvSpPr>
              <p:cNvPr id="77861" name="Line 194"/>
              <p:cNvSpPr>
                <a:spLocks noChangeShapeType="1"/>
              </p:cNvSpPr>
              <p:nvPr/>
            </p:nvSpPr>
            <p:spPr bwMode="auto">
              <a:xfrm>
                <a:off x="2880" y="2290"/>
                <a:ext cx="47" cy="58"/>
              </a:xfrm>
              <a:prstGeom prst="line">
                <a:avLst/>
              </a:prstGeom>
              <a:noFill/>
              <a:ln w="9525">
                <a:solidFill>
                  <a:srgbClr val="000000"/>
                </a:solidFill>
                <a:round/>
              </a:ln>
            </p:spPr>
            <p:txBody>
              <a:bodyPr/>
              <a:lstStyle/>
              <a:p>
                <a:endParaRPr lang="zh-CN" altLang="en-US"/>
              </a:p>
            </p:txBody>
          </p:sp>
          <p:sp>
            <p:nvSpPr>
              <p:cNvPr id="77862" name="Line 195"/>
              <p:cNvSpPr>
                <a:spLocks noChangeShapeType="1"/>
              </p:cNvSpPr>
              <p:nvPr/>
            </p:nvSpPr>
            <p:spPr bwMode="auto">
              <a:xfrm flipH="1">
                <a:off x="2880" y="2348"/>
                <a:ext cx="47" cy="58"/>
              </a:xfrm>
              <a:prstGeom prst="line">
                <a:avLst/>
              </a:prstGeom>
              <a:noFill/>
              <a:ln w="9525">
                <a:solidFill>
                  <a:srgbClr val="000000"/>
                </a:solidFill>
                <a:round/>
              </a:ln>
            </p:spPr>
            <p:txBody>
              <a:bodyPr/>
              <a:lstStyle/>
              <a:p>
                <a:endParaRPr lang="zh-CN" altLang="en-US"/>
              </a:p>
            </p:txBody>
          </p:sp>
          <p:sp>
            <p:nvSpPr>
              <p:cNvPr id="77863" name="Line 196"/>
              <p:cNvSpPr>
                <a:spLocks noChangeShapeType="1"/>
              </p:cNvSpPr>
              <p:nvPr/>
            </p:nvSpPr>
            <p:spPr bwMode="auto">
              <a:xfrm>
                <a:off x="2927" y="2290"/>
                <a:ext cx="1" cy="116"/>
              </a:xfrm>
              <a:prstGeom prst="line">
                <a:avLst/>
              </a:prstGeom>
              <a:noFill/>
              <a:ln w="9525">
                <a:solidFill>
                  <a:srgbClr val="000000"/>
                </a:solidFill>
                <a:round/>
              </a:ln>
            </p:spPr>
            <p:txBody>
              <a:bodyPr/>
              <a:lstStyle/>
              <a:p>
                <a:endParaRPr lang="zh-CN" altLang="en-US"/>
              </a:p>
            </p:txBody>
          </p:sp>
        </p:grpSp>
        <p:grpSp>
          <p:nvGrpSpPr>
            <p:cNvPr id="194" name="Group 197"/>
            <p:cNvGrpSpPr/>
            <p:nvPr/>
          </p:nvGrpSpPr>
          <p:grpSpPr bwMode="auto">
            <a:xfrm>
              <a:off x="2856" y="1852"/>
              <a:ext cx="49" cy="174"/>
              <a:chOff x="2856" y="2000"/>
              <a:chExt cx="49" cy="174"/>
            </a:xfrm>
          </p:grpSpPr>
          <p:sp>
            <p:nvSpPr>
              <p:cNvPr id="77857" name="Line 198"/>
              <p:cNvSpPr>
                <a:spLocks noChangeShapeType="1"/>
              </p:cNvSpPr>
              <p:nvPr/>
            </p:nvSpPr>
            <p:spPr bwMode="auto">
              <a:xfrm flipV="1">
                <a:off x="2856" y="2058"/>
                <a:ext cx="48" cy="116"/>
              </a:xfrm>
              <a:prstGeom prst="line">
                <a:avLst/>
              </a:prstGeom>
              <a:noFill/>
              <a:ln w="9525">
                <a:solidFill>
                  <a:srgbClr val="000000"/>
                </a:solidFill>
                <a:round/>
              </a:ln>
            </p:spPr>
            <p:txBody>
              <a:bodyPr/>
              <a:lstStyle/>
              <a:p>
                <a:endParaRPr lang="zh-CN" altLang="en-US"/>
              </a:p>
            </p:txBody>
          </p:sp>
          <p:sp>
            <p:nvSpPr>
              <p:cNvPr id="77858" name="Line 199"/>
              <p:cNvSpPr>
                <a:spLocks noChangeShapeType="1"/>
              </p:cNvSpPr>
              <p:nvPr/>
            </p:nvSpPr>
            <p:spPr bwMode="auto">
              <a:xfrm flipV="1">
                <a:off x="2856" y="2058"/>
                <a:ext cx="48" cy="58"/>
              </a:xfrm>
              <a:prstGeom prst="line">
                <a:avLst/>
              </a:prstGeom>
              <a:noFill/>
              <a:ln w="9525">
                <a:solidFill>
                  <a:srgbClr val="000000"/>
                </a:solidFill>
                <a:round/>
              </a:ln>
            </p:spPr>
            <p:txBody>
              <a:bodyPr/>
              <a:lstStyle/>
              <a:p>
                <a:endParaRPr lang="zh-CN" altLang="en-US"/>
              </a:p>
            </p:txBody>
          </p:sp>
          <p:sp>
            <p:nvSpPr>
              <p:cNvPr id="77859" name="Line 200"/>
              <p:cNvSpPr>
                <a:spLocks noChangeShapeType="1"/>
              </p:cNvSpPr>
              <p:nvPr/>
            </p:nvSpPr>
            <p:spPr bwMode="auto">
              <a:xfrm>
                <a:off x="2904" y="2000"/>
                <a:ext cx="1" cy="116"/>
              </a:xfrm>
              <a:prstGeom prst="line">
                <a:avLst/>
              </a:prstGeom>
              <a:noFill/>
              <a:ln w="9525">
                <a:solidFill>
                  <a:srgbClr val="000000"/>
                </a:solidFill>
                <a:round/>
              </a:ln>
            </p:spPr>
            <p:txBody>
              <a:bodyPr/>
              <a:lstStyle/>
              <a:p>
                <a:endParaRPr lang="zh-CN" altLang="en-US"/>
              </a:p>
            </p:txBody>
          </p:sp>
        </p:grpSp>
        <p:grpSp>
          <p:nvGrpSpPr>
            <p:cNvPr id="195" name="Group 201"/>
            <p:cNvGrpSpPr/>
            <p:nvPr/>
          </p:nvGrpSpPr>
          <p:grpSpPr bwMode="auto">
            <a:xfrm>
              <a:off x="2785" y="2142"/>
              <a:ext cx="47" cy="116"/>
              <a:chOff x="2785" y="2290"/>
              <a:chExt cx="47" cy="116"/>
            </a:xfrm>
          </p:grpSpPr>
          <p:sp>
            <p:nvSpPr>
              <p:cNvPr id="77853" name="Line 202"/>
              <p:cNvSpPr>
                <a:spLocks noChangeShapeType="1"/>
              </p:cNvSpPr>
              <p:nvPr/>
            </p:nvSpPr>
            <p:spPr bwMode="auto">
              <a:xfrm flipH="1">
                <a:off x="2785" y="2348"/>
                <a:ext cx="47" cy="1"/>
              </a:xfrm>
              <a:prstGeom prst="line">
                <a:avLst/>
              </a:prstGeom>
              <a:noFill/>
              <a:ln w="9525">
                <a:solidFill>
                  <a:srgbClr val="000000"/>
                </a:solidFill>
                <a:round/>
              </a:ln>
            </p:spPr>
            <p:txBody>
              <a:bodyPr/>
              <a:lstStyle/>
              <a:p>
                <a:endParaRPr lang="zh-CN" altLang="en-US"/>
              </a:p>
            </p:txBody>
          </p:sp>
          <p:sp>
            <p:nvSpPr>
              <p:cNvPr id="77854" name="Line 203"/>
              <p:cNvSpPr>
                <a:spLocks noChangeShapeType="1"/>
              </p:cNvSpPr>
              <p:nvPr/>
            </p:nvSpPr>
            <p:spPr bwMode="auto">
              <a:xfrm flipH="1">
                <a:off x="2785" y="2290"/>
                <a:ext cx="47" cy="58"/>
              </a:xfrm>
              <a:prstGeom prst="line">
                <a:avLst/>
              </a:prstGeom>
              <a:noFill/>
              <a:ln w="9525">
                <a:solidFill>
                  <a:srgbClr val="000000"/>
                </a:solidFill>
                <a:round/>
              </a:ln>
            </p:spPr>
            <p:txBody>
              <a:bodyPr/>
              <a:lstStyle/>
              <a:p>
                <a:endParaRPr lang="zh-CN" altLang="en-US"/>
              </a:p>
            </p:txBody>
          </p:sp>
          <p:sp>
            <p:nvSpPr>
              <p:cNvPr id="77855" name="Line 204"/>
              <p:cNvSpPr>
                <a:spLocks noChangeShapeType="1"/>
              </p:cNvSpPr>
              <p:nvPr/>
            </p:nvSpPr>
            <p:spPr bwMode="auto">
              <a:xfrm>
                <a:off x="2785" y="2348"/>
                <a:ext cx="47" cy="58"/>
              </a:xfrm>
              <a:prstGeom prst="line">
                <a:avLst/>
              </a:prstGeom>
              <a:noFill/>
              <a:ln w="9525">
                <a:solidFill>
                  <a:srgbClr val="000000"/>
                </a:solidFill>
                <a:round/>
              </a:ln>
            </p:spPr>
            <p:txBody>
              <a:bodyPr/>
              <a:lstStyle/>
              <a:p>
                <a:endParaRPr lang="zh-CN" altLang="en-US"/>
              </a:p>
            </p:txBody>
          </p:sp>
          <p:sp>
            <p:nvSpPr>
              <p:cNvPr id="77856" name="Line 205"/>
              <p:cNvSpPr>
                <a:spLocks noChangeShapeType="1"/>
              </p:cNvSpPr>
              <p:nvPr/>
            </p:nvSpPr>
            <p:spPr bwMode="auto">
              <a:xfrm>
                <a:off x="2785" y="2290"/>
                <a:ext cx="1" cy="116"/>
              </a:xfrm>
              <a:prstGeom prst="line">
                <a:avLst/>
              </a:prstGeom>
              <a:noFill/>
              <a:ln w="9525">
                <a:solidFill>
                  <a:srgbClr val="000000"/>
                </a:solidFill>
                <a:round/>
              </a:ln>
            </p:spPr>
            <p:txBody>
              <a:bodyPr/>
              <a:lstStyle/>
              <a:p>
                <a:endParaRPr lang="zh-CN" altLang="en-US"/>
              </a:p>
            </p:txBody>
          </p:sp>
        </p:grpSp>
      </p:grpSp>
      <p:sp>
        <p:nvSpPr>
          <p:cNvPr id="77841" name="Rectangle 206"/>
          <p:cNvSpPr>
            <a:spLocks noChangeArrowheads="1"/>
          </p:cNvSpPr>
          <p:nvPr/>
        </p:nvSpPr>
        <p:spPr bwMode="auto">
          <a:xfrm>
            <a:off x="3276601" y="4422875"/>
            <a:ext cx="2643672" cy="307777"/>
          </a:xfrm>
          <a:prstGeom prst="rect">
            <a:avLst/>
          </a:prstGeom>
          <a:noFill/>
          <a:ln w="9525" algn="ctr">
            <a:noFill/>
            <a:miter lim="800000"/>
          </a:ln>
        </p:spPr>
        <p:txBody>
          <a:bodyPr wrap="none" anchor="ctr">
            <a:spAutoFit/>
          </a:bodyPr>
          <a:lstStyle/>
          <a:p>
            <a:r>
              <a:rPr lang="zh-CN" altLang="en-US" sz="1400" b="1">
                <a:latin typeface="Times New Roman" panose="02020603050405020304" pitchFamily="18" charset="0"/>
              </a:rPr>
              <a:t>图</a:t>
            </a:r>
            <a:r>
              <a:rPr lang="en-US" altLang="zh-CN" sz="1400" b="1">
                <a:latin typeface="Times New Roman" panose="02020603050405020304" pitchFamily="18" charset="0"/>
              </a:rPr>
              <a:t>5</a:t>
            </a:r>
            <a:r>
              <a:rPr lang="zh-CN" altLang="en-US" sz="1400" b="1">
                <a:latin typeface="Times New Roman" panose="02020603050405020304" pitchFamily="18" charset="0"/>
              </a:rPr>
              <a:t>－</a:t>
            </a:r>
            <a:r>
              <a:rPr lang="en-US" altLang="zh-CN" sz="1400" b="1">
                <a:latin typeface="Times New Roman" panose="02020603050405020304" pitchFamily="18" charset="0"/>
              </a:rPr>
              <a:t>10 SCDM</a:t>
            </a:r>
            <a:r>
              <a:rPr lang="zh-CN" altLang="en-US" sz="1400" b="1">
                <a:latin typeface="Times New Roman" panose="02020603050405020304" pitchFamily="18" charset="0"/>
              </a:rPr>
              <a:t>系统工作示意图</a:t>
            </a:r>
            <a:endParaRPr lang="zh-CN" altLang="en-US" sz="1400" b="1">
              <a:latin typeface="Times New Roman" panose="02020603050405020304" pitchFamily="18" charset="0"/>
            </a:endParaRPr>
          </a:p>
        </p:txBody>
      </p:sp>
      <p:pic>
        <p:nvPicPr>
          <p:cNvPr id="208" name="图片 207"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209"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210" name="图片 209"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211" name="TextBox 210"/>
          <p:cNvSpPr txBox="1"/>
          <p:nvPr/>
        </p:nvSpPr>
        <p:spPr>
          <a:xfrm>
            <a:off x="4932040" y="123478"/>
            <a:ext cx="3888432" cy="429895"/>
          </a:xfrm>
          <a:prstGeom prst="rect">
            <a:avLst/>
          </a:prstGeom>
          <a:noFill/>
        </p:spPr>
        <p:txBody>
          <a:bodyPr wrap="square" rtlCol="0">
            <a:spAutoFit/>
          </a:bodyPr>
          <a:lstStyle/>
          <a:p>
            <a:r>
              <a:rPr lang="en-US" altLang="zh-CN" sz="2200" b="1" dirty="0" smtClean="0">
                <a:solidFill>
                  <a:srgbClr val="FFFF00"/>
                </a:solidFill>
              </a:rPr>
              <a:t>4. </a:t>
            </a:r>
            <a:r>
              <a:rPr lang="zh-CN" altLang="en-US" sz="2200" b="1" dirty="0" smtClean="0">
                <a:solidFill>
                  <a:srgbClr val="FFFF00"/>
                </a:solidFill>
              </a:rPr>
              <a:t>空分（</a:t>
            </a:r>
            <a:r>
              <a:rPr lang="en-US" altLang="zh-CN" sz="2200" b="1" dirty="0" smtClean="0">
                <a:solidFill>
                  <a:srgbClr val="FFFF00"/>
                </a:solidFill>
              </a:rPr>
              <a:t>SDMA</a:t>
            </a:r>
            <a:r>
              <a:rPr lang="zh-CN" altLang="en-US" sz="2200" b="1" dirty="0" smtClean="0">
                <a:solidFill>
                  <a:srgbClr val="FFFF00"/>
                </a:solidFill>
              </a:rPr>
              <a:t>）多址方式 </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grpId="0" nodeType="afterEffect">
                                  <p:stCondLst>
                                    <p:cond delay="0"/>
                                  </p:stCondLst>
                                  <p:childTnLst>
                                    <p:set>
                                      <p:cBhvr>
                                        <p:cTn id="6" dur="1" fill="hold">
                                          <p:stCondLst>
                                            <p:cond delay="0"/>
                                          </p:stCondLst>
                                        </p:cTn>
                                        <p:tgtEl>
                                          <p:spTgt spid="97460"/>
                                        </p:tgtEl>
                                        <p:attrNameLst>
                                          <p:attrName>style.visibility</p:attrName>
                                        </p:attrNameLst>
                                      </p:cBhvr>
                                      <p:to>
                                        <p:strVal val="visible"/>
                                      </p:to>
                                    </p:set>
                                    <p:animEffect transition="in" filter="wipe(left)">
                                      <p:cBhvr>
                                        <p:cTn id="7" dur="1000"/>
                                        <p:tgtEl>
                                          <p:spTgt spid="97460"/>
                                        </p:tgtEl>
                                      </p:cBhvr>
                                    </p:animEffect>
                                  </p:childTnLst>
                                </p:cTn>
                              </p:par>
                              <p:par>
                                <p:cTn id="8" presetID="22" presetClass="entr" presetSubtype="8" repeatCount="indefinite" fill="hold" grpId="0" nodeType="withEffect">
                                  <p:stCondLst>
                                    <p:cond delay="0"/>
                                  </p:stCondLst>
                                  <p:childTnLst>
                                    <p:set>
                                      <p:cBhvr>
                                        <p:cTn id="9" dur="1" fill="hold">
                                          <p:stCondLst>
                                            <p:cond delay="0"/>
                                          </p:stCondLst>
                                        </p:cTn>
                                        <p:tgtEl>
                                          <p:spTgt spid="97461"/>
                                        </p:tgtEl>
                                        <p:attrNameLst>
                                          <p:attrName>style.visibility</p:attrName>
                                        </p:attrNameLst>
                                      </p:cBhvr>
                                      <p:to>
                                        <p:strVal val="visible"/>
                                      </p:to>
                                    </p:set>
                                    <p:animEffect transition="in" filter="wipe(left)">
                                      <p:cBhvr>
                                        <p:cTn id="10" dur="1000"/>
                                        <p:tgtEl>
                                          <p:spTgt spid="97461"/>
                                        </p:tgtEl>
                                      </p:cBhvr>
                                    </p:animEffect>
                                  </p:childTnLst>
                                </p:cTn>
                              </p:par>
                              <p:par>
                                <p:cTn id="11" presetID="22" presetClass="entr" presetSubtype="2" repeatCount="indefinite" fill="hold" grpId="0" nodeType="withEffect">
                                  <p:stCondLst>
                                    <p:cond delay="0"/>
                                  </p:stCondLst>
                                  <p:childTnLst>
                                    <p:set>
                                      <p:cBhvr>
                                        <p:cTn id="12" dur="1" fill="hold">
                                          <p:stCondLst>
                                            <p:cond delay="0"/>
                                          </p:stCondLst>
                                        </p:cTn>
                                        <p:tgtEl>
                                          <p:spTgt spid="97462"/>
                                        </p:tgtEl>
                                        <p:attrNameLst>
                                          <p:attrName>style.visibility</p:attrName>
                                        </p:attrNameLst>
                                      </p:cBhvr>
                                      <p:to>
                                        <p:strVal val="visible"/>
                                      </p:to>
                                    </p:set>
                                    <p:animEffect transition="in" filter="wipe(right)">
                                      <p:cBhvr>
                                        <p:cTn id="13" dur="1000"/>
                                        <p:tgtEl>
                                          <p:spTgt spid="97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460" grpId="0" animBg="1"/>
      <p:bldP spid="97461" grpId="0" animBg="1"/>
      <p:bldP spid="9746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8851" name="Rectangle 2"/>
          <p:cNvSpPr>
            <a:spLocks noGrp="1" noChangeArrowheads="1"/>
          </p:cNvSpPr>
          <p:nvPr>
            <p:ph type="title"/>
          </p:nvPr>
        </p:nvSpPr>
        <p:spPr>
          <a:xfrm>
            <a:off x="179388" y="666576"/>
            <a:ext cx="8748712" cy="537022"/>
          </a:xfrm>
        </p:spPr>
        <p:txBody>
          <a:bodyPr/>
          <a:lstStyle/>
          <a:p>
            <a:pPr eaLnBrk="1" hangingPunct="1"/>
            <a:r>
              <a:rPr lang="zh-CN" altLang="en-US" sz="2200" dirty="0" smtClean="0">
                <a:solidFill>
                  <a:srgbClr val="0000FE"/>
                </a:solidFill>
              </a:rPr>
              <a:t>蜂窝系统中反向链路的困难</a:t>
            </a:r>
            <a:endParaRPr lang="zh-CN" altLang="en-US" sz="2200" dirty="0" smtClean="0">
              <a:solidFill>
                <a:srgbClr val="0000FE"/>
              </a:solidFill>
            </a:endParaRPr>
          </a:p>
        </p:txBody>
      </p:sp>
      <p:graphicFrame>
        <p:nvGraphicFramePr>
          <p:cNvPr id="98307" name="Group 3"/>
          <p:cNvGraphicFramePr>
            <a:graphicFrameLocks noGrp="1"/>
          </p:cNvGraphicFramePr>
          <p:nvPr>
            <p:ph idx="1"/>
          </p:nvPr>
        </p:nvGraphicFramePr>
        <p:xfrm>
          <a:off x="323850" y="1275160"/>
          <a:ext cx="8496300" cy="3024782"/>
        </p:xfrm>
        <a:graphic>
          <a:graphicData uri="http://schemas.openxmlformats.org/drawingml/2006/table">
            <a:tbl>
              <a:tblPr/>
              <a:tblGrid>
                <a:gridCol w="3095625"/>
                <a:gridCol w="3095625"/>
                <a:gridCol w="2305050"/>
              </a:tblGrid>
              <a:tr h="799213">
                <a:tc>
                  <a:txBody>
                    <a:bodyPr/>
                    <a:lstStyle/>
                    <a:p>
                      <a:pPr marL="0" marR="0" lvl="0"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反向链路的困难</a:t>
                      </a:r>
                      <a:endParaRPr kumimoji="0" lang="zh-CN" altLang="en-US" sz="22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solidFill>
                      <a:srgbClr val="FFBD5D"/>
                    </a:solidFill>
                  </a:tcPr>
                </a:tc>
                <a:tc>
                  <a:txBody>
                    <a:bodyPr/>
                    <a:lstStyle/>
                    <a:p>
                      <a:pPr marL="0" marR="0" lvl="0" indent="0" algn="ctr"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原因</a:t>
                      </a:r>
                      <a:endParaRPr kumimoji="0" lang="zh-CN" altLang="en-US" sz="22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a:noFill/>
                    </a:lnB>
                    <a:lnTlToBr>
                      <a:noFill/>
                    </a:lnTlToBr>
                    <a:lnBlToTr>
                      <a:noFill/>
                    </a:lnBlToTr>
                    <a:solidFill>
                      <a:srgbClr val="FFBD5D"/>
                    </a:solidFill>
                  </a:tcPr>
                </a:tc>
                <a:tc>
                  <a:txBody>
                    <a:bodyPr/>
                    <a:lstStyle/>
                    <a:p>
                      <a:pPr marL="0" marR="0" lvl="0" indent="0" algn="ctr"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解决方法</a:t>
                      </a:r>
                      <a:endParaRPr kumimoji="0" lang="zh-CN" altLang="en-US" sz="22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solidFill>
                      <a:srgbClr val="FFBD5D"/>
                    </a:solidFill>
                  </a:tcPr>
                </a:tc>
              </a:tr>
              <a:tr h="1036703">
                <a:tc>
                  <a:txBody>
                    <a:bodyPr/>
                    <a:lstStyle/>
                    <a:p>
                      <a:pPr marL="0" marR="0" lvl="0"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用户端的发射功率必须</a:t>
                      </a:r>
                      <a:r>
                        <a:rPr kumimoji="0" lang="zh-CN" altLang="en-US" sz="2200" b="0" i="0" u="none" strike="noStrike" cap="none" normalizeH="0" baseline="0" smtClean="0">
                          <a:ln>
                            <a:noFill/>
                          </a:ln>
                          <a:solidFill>
                            <a:srgbClr val="003300"/>
                          </a:solidFill>
                          <a:effectLst/>
                          <a:latin typeface="华文楷体" pitchFamily="2" charset="-122"/>
                          <a:ea typeface="华文楷体" pitchFamily="2" charset="-122"/>
                        </a:rPr>
                        <a:t>动态控制</a:t>
                      </a:r>
                      <a:endParaRPr kumimoji="0" lang="zh-CN" altLang="en-US" sz="2200" b="0" i="0" u="none" strike="noStrike" cap="none" normalizeH="0" baseline="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A3FFFF"/>
                    </a:solidFill>
                  </a:tcPr>
                </a:tc>
                <a:tc>
                  <a:txBody>
                    <a:bodyPr/>
                    <a:lstStyle/>
                    <a:p>
                      <a:pPr marL="0" marR="0" lvl="0"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各用户和基站间无线</a:t>
                      </a:r>
                      <a:r>
                        <a:rPr kumimoji="0" lang="zh-CN" altLang="en-US" sz="2200" b="0" i="0" u="none" strike="noStrike" cap="none" normalizeH="0" baseline="0" smtClean="0">
                          <a:ln>
                            <a:noFill/>
                          </a:ln>
                          <a:solidFill>
                            <a:srgbClr val="003300"/>
                          </a:solidFill>
                          <a:effectLst/>
                          <a:latin typeface="华文楷体" pitchFamily="2" charset="-122"/>
                          <a:ea typeface="华文楷体" pitchFamily="2" charset="-122"/>
                        </a:rPr>
                        <a:t>传播路径</a:t>
                      </a: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的不同</a:t>
                      </a:r>
                      <a:endParaRPr kumimoji="0" lang="zh-CN" altLang="en-US" sz="22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A3FFFF"/>
                    </a:solidFill>
                  </a:tcPr>
                </a:tc>
                <a:tc rowSpan="2">
                  <a:txBody>
                    <a:bodyPr/>
                    <a:lstStyle/>
                    <a:p>
                      <a:pPr marL="0" marR="0" lvl="0"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采用</a:t>
                      </a:r>
                      <a:r>
                        <a:rPr kumimoji="0" lang="zh-CN" altLang="en-US" sz="2200" b="0" i="0" u="none" strike="noStrike" cap="none" normalizeH="0" baseline="0" smtClean="0">
                          <a:ln>
                            <a:noFill/>
                          </a:ln>
                          <a:solidFill>
                            <a:srgbClr val="003300"/>
                          </a:solidFill>
                          <a:effectLst/>
                          <a:latin typeface="华文楷体" pitchFamily="2" charset="-122"/>
                          <a:ea typeface="华文楷体" pitchFamily="2" charset="-122"/>
                        </a:rPr>
                        <a:t>空分多址方式</a:t>
                      </a: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反向控制用户的空间辐射能量</a:t>
                      </a:r>
                      <a:endParaRPr kumimoji="0" lang="zh-CN" altLang="en-US" sz="2200" b="0" i="0" u="none" strike="noStrike" cap="none" normalizeH="0" baseline="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solidFill>
                      <a:srgbClr val="FFFF00"/>
                    </a:solidFill>
                  </a:tcPr>
                </a:tc>
              </a:tr>
              <a:tr h="1188866">
                <a:tc>
                  <a:txBody>
                    <a:bodyPr/>
                    <a:lstStyle/>
                    <a:p>
                      <a:pPr marL="0" marR="0" lvl="0"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smtClean="0">
                          <a:ln>
                            <a:noFill/>
                          </a:ln>
                          <a:solidFill>
                            <a:schemeClr val="tx2"/>
                          </a:solidFill>
                          <a:effectLst/>
                          <a:latin typeface="华文楷体" pitchFamily="2" charset="-122"/>
                          <a:ea typeface="华文楷体" pitchFamily="2" charset="-122"/>
                        </a:rPr>
                        <a:t>对用户端发射功率的</a:t>
                      </a:r>
                      <a:r>
                        <a:rPr kumimoji="0" lang="zh-CN" altLang="en-US" sz="2200" b="0" i="0" u="none" strike="noStrike" cap="none" normalizeH="0" baseline="0" smtClean="0">
                          <a:ln>
                            <a:noFill/>
                          </a:ln>
                          <a:solidFill>
                            <a:srgbClr val="003300"/>
                          </a:solidFill>
                          <a:effectLst/>
                          <a:latin typeface="华文楷体" pitchFamily="2" charset="-122"/>
                          <a:ea typeface="华文楷体" pitchFamily="2" charset="-122"/>
                        </a:rPr>
                        <a:t>控制程度受限</a:t>
                      </a:r>
                      <a:endParaRPr kumimoji="0" lang="zh-CN" altLang="en-US" sz="2200" b="0" i="0" u="none" strike="noStrike" cap="none" normalizeH="0" baseline="0" smtClean="0">
                        <a:ln>
                          <a:noFill/>
                        </a:ln>
                        <a:solidFill>
                          <a:srgbClr val="003300"/>
                        </a:solidFill>
                        <a:effectLst/>
                        <a:latin typeface="华文楷体" pitchFamily="2" charset="-122"/>
                        <a:ea typeface="华文楷体" pitchFamily="2" charset="-122"/>
                      </a:endParaRPr>
                    </a:p>
                  </a:txBody>
                  <a:tcPr marT="34290" marB="34290"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E67DFF"/>
                    </a:solidFill>
                  </a:tcPr>
                </a:tc>
                <a:tc>
                  <a:txBody>
                    <a:bodyPr/>
                    <a:lstStyle/>
                    <a:p>
                      <a:pPr marL="0" marR="0" lvl="0" indent="0" algn="l" defTabSz="914400" rtl="0" eaLnBrk="1" fontAlgn="base" latinLnBrk="0" hangingPunct="1">
                        <a:lnSpc>
                          <a:spcPct val="120000"/>
                        </a:lnSpc>
                        <a:spcBef>
                          <a:spcPct val="20000"/>
                        </a:spcBef>
                        <a:spcAft>
                          <a:spcPct val="0"/>
                        </a:spcAft>
                        <a:buClr>
                          <a:schemeClr val="hlink"/>
                        </a:buClr>
                        <a:buSzTx/>
                        <a:buFont typeface="Wingdings" panose="05000000000000000000" pitchFamily="2" charset="2"/>
                        <a:buNone/>
                      </a:pPr>
                      <a:r>
                        <a:rPr kumimoji="0" lang="zh-CN" altLang="en-US" sz="2200" b="0" i="0" u="none" strike="noStrike" cap="none" normalizeH="0" baseline="0" dirty="0" smtClean="0">
                          <a:ln>
                            <a:noFill/>
                          </a:ln>
                          <a:solidFill>
                            <a:schemeClr val="tx2"/>
                          </a:solidFill>
                          <a:effectLst/>
                          <a:latin typeface="华文楷体" pitchFamily="2" charset="-122"/>
                          <a:ea typeface="华文楷体" pitchFamily="2" charset="-122"/>
                        </a:rPr>
                        <a:t>发射受到用户单元</a:t>
                      </a:r>
                      <a:r>
                        <a:rPr kumimoji="0" lang="zh-CN" altLang="en-US" sz="2200" b="0" i="0" u="none" strike="noStrike" cap="none" normalizeH="0" baseline="0" dirty="0" smtClean="0">
                          <a:ln>
                            <a:noFill/>
                          </a:ln>
                          <a:solidFill>
                            <a:srgbClr val="003300"/>
                          </a:solidFill>
                          <a:effectLst/>
                          <a:latin typeface="华文楷体" pitchFamily="2" charset="-122"/>
                          <a:ea typeface="华文楷体" pitchFamily="2" charset="-122"/>
                        </a:rPr>
                        <a:t>电池能量</a:t>
                      </a:r>
                      <a:r>
                        <a:rPr kumimoji="0" lang="zh-CN" altLang="en-US" sz="2200" b="0" i="0" u="none" strike="noStrike" cap="none" normalizeH="0" baseline="0" dirty="0" smtClean="0">
                          <a:ln>
                            <a:noFill/>
                          </a:ln>
                          <a:solidFill>
                            <a:schemeClr val="tx2"/>
                          </a:solidFill>
                          <a:effectLst/>
                          <a:latin typeface="华文楷体" pitchFamily="2" charset="-122"/>
                          <a:ea typeface="华文楷体" pitchFamily="2" charset="-122"/>
                        </a:rPr>
                        <a:t>的限制 </a:t>
                      </a:r>
                      <a:endParaRPr kumimoji="0" lang="zh-CN" altLang="en-US" sz="2200" b="0" i="0" u="none" strike="noStrike" cap="none" normalizeH="0" baseline="0" dirty="0" smtClean="0">
                        <a:ln>
                          <a:noFill/>
                        </a:ln>
                        <a:solidFill>
                          <a:schemeClr val="tx2"/>
                        </a:solidFill>
                        <a:effectLst/>
                        <a:latin typeface="华文楷体" pitchFamily="2" charset="-122"/>
                        <a:ea typeface="华文楷体"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cap="flat">
                      <a:noFill/>
                    </a:lnB>
                    <a:lnTlToBr>
                      <a:noFill/>
                    </a:lnTlToBr>
                    <a:lnBlToTr>
                      <a:noFill/>
                    </a:lnBlToTr>
                    <a:solidFill>
                      <a:srgbClr val="E67DFF"/>
                    </a:solidFill>
                  </a:tcPr>
                </a:tc>
                <a:tc vMerge="1">
                  <a:tcPr/>
                </a:tc>
              </a:tr>
            </a:tbl>
          </a:graphicData>
        </a:graphic>
      </p:graphicFrame>
      <p:pic>
        <p:nvPicPr>
          <p:cNvPr id="5" name="图片 4"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6"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8" name="TextBox 7"/>
          <p:cNvSpPr txBox="1"/>
          <p:nvPr/>
        </p:nvSpPr>
        <p:spPr>
          <a:xfrm>
            <a:off x="4932040" y="123478"/>
            <a:ext cx="3888432" cy="429895"/>
          </a:xfrm>
          <a:prstGeom prst="rect">
            <a:avLst/>
          </a:prstGeom>
          <a:noFill/>
        </p:spPr>
        <p:txBody>
          <a:bodyPr wrap="square" rtlCol="0">
            <a:spAutoFit/>
          </a:bodyPr>
          <a:lstStyle/>
          <a:p>
            <a:r>
              <a:rPr lang="en-US" altLang="zh-CN" sz="2200" b="1" dirty="0" smtClean="0">
                <a:solidFill>
                  <a:srgbClr val="FFFF00"/>
                </a:solidFill>
              </a:rPr>
              <a:t>4. </a:t>
            </a:r>
            <a:r>
              <a:rPr lang="zh-CN" altLang="en-US" sz="2200" b="1" dirty="0" smtClean="0">
                <a:solidFill>
                  <a:srgbClr val="FFFF00"/>
                </a:solidFill>
              </a:rPr>
              <a:t>空分（</a:t>
            </a:r>
            <a:r>
              <a:rPr lang="en-US" altLang="zh-CN" sz="2200" b="1" dirty="0" smtClean="0">
                <a:solidFill>
                  <a:srgbClr val="FFFF00"/>
                </a:solidFill>
              </a:rPr>
              <a:t>SDMA</a:t>
            </a:r>
            <a:r>
              <a:rPr lang="zh-CN" altLang="en-US" sz="2200" b="1" dirty="0" smtClean="0">
                <a:solidFill>
                  <a:srgbClr val="FFFF00"/>
                </a:solidFill>
              </a:rPr>
              <a:t>）多址方式 </a:t>
            </a:r>
            <a:endParaRPr lang="zh-CN" altLang="en-US" sz="2200" b="1" dirty="0">
              <a:solidFill>
                <a:srgbClr val="FFFF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98307"/>
                                        </p:tgtEl>
                                        <p:attrNameLst>
                                          <p:attrName>style.visibility</p:attrName>
                                        </p:attrNameLst>
                                      </p:cBhvr>
                                      <p:to>
                                        <p:strVal val="visible"/>
                                      </p:to>
                                    </p:set>
                                    <p:anim calcmode="lin" valueType="num">
                                      <p:cBhvr>
                                        <p:cTn id="7" dur="1000" fill="hold"/>
                                        <p:tgtEl>
                                          <p:spTgt spid="98307"/>
                                        </p:tgtEl>
                                        <p:attrNameLst>
                                          <p:attrName>ppt_w</p:attrName>
                                        </p:attrNameLst>
                                      </p:cBhvr>
                                      <p:tavLst>
                                        <p:tav tm="0">
                                          <p:val>
                                            <p:strVal val="#ppt_w+.3"/>
                                          </p:val>
                                        </p:tav>
                                        <p:tav tm="100000">
                                          <p:val>
                                            <p:strVal val="#ppt_w"/>
                                          </p:val>
                                        </p:tav>
                                      </p:tavLst>
                                    </p:anim>
                                    <p:anim calcmode="lin" valueType="num">
                                      <p:cBhvr>
                                        <p:cTn id="8" dur="1000" fill="hold"/>
                                        <p:tgtEl>
                                          <p:spTgt spid="98307"/>
                                        </p:tgtEl>
                                        <p:attrNameLst>
                                          <p:attrName>ppt_h</p:attrName>
                                        </p:attrNameLst>
                                      </p:cBhvr>
                                      <p:tavLst>
                                        <p:tav tm="0">
                                          <p:val>
                                            <p:strVal val="#ppt_h"/>
                                          </p:val>
                                        </p:tav>
                                        <p:tav tm="100000">
                                          <p:val>
                                            <p:strVal val="#ppt_h"/>
                                          </p:val>
                                        </p:tav>
                                      </p:tavLst>
                                    </p:anim>
                                    <p:animEffect transition="in" filter="fade">
                                      <p:cBhvr>
                                        <p:cTn id="9" dur="1000"/>
                                        <p:tgtEl>
                                          <p:spTgt spid="98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79875" name="Rectangle 2"/>
          <p:cNvSpPr>
            <a:spLocks noGrp="1" noChangeArrowheads="1"/>
          </p:cNvSpPr>
          <p:nvPr>
            <p:ph type="title"/>
          </p:nvPr>
        </p:nvSpPr>
        <p:spPr>
          <a:xfrm>
            <a:off x="250825" y="611808"/>
            <a:ext cx="7100888" cy="519782"/>
          </a:xfrm>
        </p:spPr>
        <p:txBody>
          <a:bodyPr/>
          <a:lstStyle/>
          <a:p>
            <a:pPr eaLnBrk="1" hangingPunct="1"/>
            <a:r>
              <a:rPr lang="zh-CN" altLang="en-US" sz="2200" dirty="0" smtClean="0">
                <a:solidFill>
                  <a:srgbClr val="0000FE"/>
                </a:solidFill>
              </a:rPr>
              <a:t>自适应式阵列天线</a:t>
            </a:r>
            <a:endParaRPr lang="zh-CN" altLang="en-US" sz="2200" dirty="0" smtClean="0">
              <a:solidFill>
                <a:srgbClr val="0000FE"/>
              </a:solidFill>
            </a:endParaRPr>
          </a:p>
        </p:txBody>
      </p:sp>
      <p:sp>
        <p:nvSpPr>
          <p:cNvPr id="79876" name="Rectangle 3"/>
          <p:cNvSpPr>
            <a:spLocks noGrp="1" noChangeArrowheads="1"/>
          </p:cNvSpPr>
          <p:nvPr>
            <p:ph type="body" idx="1"/>
          </p:nvPr>
        </p:nvSpPr>
        <p:spPr>
          <a:xfrm>
            <a:off x="467544" y="1141834"/>
            <a:ext cx="8206556" cy="3086100"/>
          </a:xfrm>
        </p:spPr>
        <p:txBody>
          <a:bodyPr/>
          <a:lstStyle/>
          <a:p>
            <a:pPr eaLnBrk="1" hangingPunct="1">
              <a:lnSpc>
                <a:spcPct val="150000"/>
              </a:lnSpc>
              <a:buFont typeface="Wingdings" panose="05000000000000000000" pitchFamily="2" charset="2"/>
              <a:buNone/>
            </a:pPr>
            <a:r>
              <a:rPr lang="zh-CN" altLang="en-US" sz="2200" b="0" dirty="0" smtClean="0">
                <a:latin typeface="华文楷体" pitchFamily="2" charset="-122"/>
                <a:ea typeface="华文楷体" pitchFamily="2" charset="-122"/>
              </a:rPr>
              <a:t>自适应式天线提供了</a:t>
            </a:r>
            <a:r>
              <a:rPr lang="zh-CN" altLang="en-US" sz="2200" b="0" dirty="0" smtClean="0">
                <a:solidFill>
                  <a:srgbClr val="004600"/>
                </a:solidFill>
                <a:latin typeface="华文楷体" pitchFamily="2" charset="-122"/>
                <a:ea typeface="华文楷体" pitchFamily="2" charset="-122"/>
              </a:rPr>
              <a:t>最理想</a:t>
            </a:r>
            <a:r>
              <a:rPr lang="zh-CN" altLang="en-US" sz="2200" b="0" dirty="0" smtClean="0">
                <a:latin typeface="华文楷体" pitchFamily="2" charset="-122"/>
                <a:ea typeface="华文楷体" pitchFamily="2" charset="-122"/>
              </a:rPr>
              <a:t>的</a:t>
            </a:r>
            <a:r>
              <a:rPr lang="en-US" altLang="zh-CN" sz="2200" b="0" dirty="0" smtClean="0">
                <a:latin typeface="华文楷体" pitchFamily="2" charset="-122"/>
                <a:ea typeface="华文楷体" pitchFamily="2" charset="-122"/>
              </a:rPr>
              <a:t>SDMA </a:t>
            </a:r>
            <a:endParaRPr lang="en-US" altLang="zh-CN" sz="2200" b="0" dirty="0" smtClean="0">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latin typeface="华文楷体" pitchFamily="2" charset="-122"/>
                <a:ea typeface="华文楷体" pitchFamily="2" charset="-122"/>
              </a:rPr>
              <a:t>无穷小波束宽度</a:t>
            </a:r>
            <a:endParaRPr lang="zh-CN" altLang="en-US" sz="2200" b="0" dirty="0" smtClean="0">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latin typeface="华文楷体" pitchFamily="2" charset="-122"/>
                <a:ea typeface="华文楷体" pitchFamily="2" charset="-122"/>
              </a:rPr>
              <a:t>无穷大快速搜索能力</a:t>
            </a:r>
            <a:endParaRPr lang="zh-CN" altLang="en-US" sz="2200" b="0" dirty="0" smtClean="0">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latin typeface="华文楷体" pitchFamily="2" charset="-122"/>
                <a:ea typeface="华文楷体" pitchFamily="2" charset="-122"/>
              </a:rPr>
              <a:t>提供在本小区内不受其他用户干扰的唯一信道</a:t>
            </a:r>
            <a:endParaRPr lang="zh-CN" altLang="en-US" sz="2200" b="0" dirty="0" smtClean="0">
              <a:latin typeface="华文楷体" pitchFamily="2" charset="-122"/>
              <a:ea typeface="华文楷体" pitchFamily="2" charset="-122"/>
            </a:endParaRPr>
          </a:p>
          <a:p>
            <a:pPr eaLnBrk="1" hangingPunct="1">
              <a:lnSpc>
                <a:spcPct val="150000"/>
              </a:lnSpc>
              <a:buFont typeface="Wingdings" panose="05000000000000000000" pitchFamily="2" charset="2"/>
              <a:buBlip>
                <a:blip r:embed="rId1"/>
              </a:buBlip>
            </a:pPr>
            <a:r>
              <a:rPr lang="zh-CN" altLang="en-US" sz="2200" b="0" dirty="0" smtClean="0">
                <a:latin typeface="华文楷体" pitchFamily="2" charset="-122"/>
                <a:ea typeface="华文楷体" pitchFamily="2" charset="-122"/>
              </a:rPr>
              <a:t>克服多径干扰和同信道干扰</a:t>
            </a:r>
            <a:endParaRPr lang="zh-CN" altLang="en-US" sz="2200" b="0" dirty="0" smtClean="0">
              <a:latin typeface="华文楷体" pitchFamily="2" charset="-122"/>
              <a:ea typeface="华文楷体" pitchFamily="2" charset="-122"/>
            </a:endParaRPr>
          </a:p>
        </p:txBody>
      </p:sp>
      <p:pic>
        <p:nvPicPr>
          <p:cNvPr id="5" name="图片 4" descr="5bc6fc52-b49d-4298-b410-192e1f0ef3a5.gif"/>
          <p:cNvPicPr>
            <a:picLocks noChangeAspect="1"/>
          </p:cNvPicPr>
          <p:nvPr/>
        </p:nvPicPr>
        <p:blipFill>
          <a:blip r:embed="rId2" cstate="print"/>
          <a:srcRect l="36267" t="33821" r="11138" b="38327"/>
          <a:stretch>
            <a:fillRect/>
          </a:stretch>
        </p:blipFill>
        <p:spPr>
          <a:xfrm>
            <a:off x="7308304" y="4495428"/>
            <a:ext cx="1835696" cy="648072"/>
          </a:xfrm>
          <a:prstGeom prst="rect">
            <a:avLst/>
          </a:prstGeom>
        </p:spPr>
      </p:pic>
      <p:sp>
        <p:nvSpPr>
          <p:cNvPr id="6" name="Rectangle 2"/>
          <p:cNvSpPr txBox="1"/>
          <p:nvPr/>
        </p:nvSpPr>
        <p:spPr>
          <a:xfrm>
            <a:off x="900311" y="141710"/>
            <a:ext cx="3743697"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5.3  </a:t>
            </a:r>
            <a:r>
              <a:rPr lang="zh-CN" altLang="en-US" sz="3200" dirty="0" smtClean="0">
                <a:solidFill>
                  <a:schemeClr val="bg1"/>
                </a:solidFill>
              </a:rPr>
              <a:t>多址接入技术</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2" cstate="print"/>
          <a:srcRect l="14589" t="33821" r="63763" b="38327"/>
          <a:stretch>
            <a:fillRect/>
          </a:stretch>
        </p:blipFill>
        <p:spPr>
          <a:xfrm>
            <a:off x="0" y="0"/>
            <a:ext cx="755576" cy="648072"/>
          </a:xfrm>
          <a:prstGeom prst="rect">
            <a:avLst/>
          </a:prstGeom>
        </p:spPr>
      </p:pic>
      <p:sp>
        <p:nvSpPr>
          <p:cNvPr id="8" name="TextBox 7"/>
          <p:cNvSpPr txBox="1"/>
          <p:nvPr/>
        </p:nvSpPr>
        <p:spPr>
          <a:xfrm>
            <a:off x="4932040" y="123478"/>
            <a:ext cx="3888432" cy="429895"/>
          </a:xfrm>
          <a:prstGeom prst="rect">
            <a:avLst/>
          </a:prstGeom>
          <a:noFill/>
        </p:spPr>
        <p:txBody>
          <a:bodyPr wrap="square" rtlCol="0">
            <a:spAutoFit/>
          </a:bodyPr>
          <a:lstStyle/>
          <a:p>
            <a:r>
              <a:rPr lang="en-US" altLang="zh-CN" sz="2200" b="1" dirty="0" smtClean="0">
                <a:solidFill>
                  <a:srgbClr val="FFFF00"/>
                </a:solidFill>
              </a:rPr>
              <a:t>4. </a:t>
            </a:r>
            <a:r>
              <a:rPr lang="zh-CN" altLang="en-US" sz="2200" b="1" dirty="0" smtClean="0">
                <a:solidFill>
                  <a:srgbClr val="FFFF00"/>
                </a:solidFill>
              </a:rPr>
              <a:t>空分（</a:t>
            </a:r>
            <a:r>
              <a:rPr lang="en-US" altLang="zh-CN" sz="2200" b="1" dirty="0" smtClean="0">
                <a:solidFill>
                  <a:srgbClr val="FFFF00"/>
                </a:solidFill>
              </a:rPr>
              <a:t>SDMA</a:t>
            </a:r>
            <a:r>
              <a:rPr lang="zh-CN" altLang="en-US" sz="2200" b="1" dirty="0" smtClean="0">
                <a:solidFill>
                  <a:srgbClr val="FFFF00"/>
                </a:solidFill>
              </a:rPr>
              <a:t>）多址方式 </a:t>
            </a:r>
            <a:endParaRPr lang="zh-CN" altLang="en-US" sz="2200" b="1" dirty="0">
              <a:solidFill>
                <a:srgbClr val="FFFF00"/>
              </a:solidFill>
            </a:endParaRPr>
          </a:p>
        </p:txBody>
      </p:sp>
      <p:pic>
        <p:nvPicPr>
          <p:cNvPr id="454657" name="Picture 1"/>
          <p:cNvPicPr>
            <a:picLocks noChangeAspect="1" noChangeArrowheads="1"/>
          </p:cNvPicPr>
          <p:nvPr/>
        </p:nvPicPr>
        <p:blipFill>
          <a:blip r:embed="rId3" cstate="print"/>
          <a:srcRect/>
          <a:stretch>
            <a:fillRect/>
          </a:stretch>
        </p:blipFill>
        <p:spPr bwMode="auto">
          <a:xfrm>
            <a:off x="5264596" y="699542"/>
            <a:ext cx="3771900" cy="2200275"/>
          </a:xfrm>
          <a:prstGeom prst="rect">
            <a:avLst/>
          </a:prstGeom>
          <a:noFill/>
          <a:ln w="9525">
            <a:noFill/>
            <a:miter lim="800000"/>
            <a:headEnd/>
            <a:tailEnd/>
          </a:ln>
        </p:spPr>
      </p:pic>
    </p:spTree>
  </p:cSld>
  <p:clrMapOvr>
    <a:masterClrMapping/>
  </p:clrMapOvr>
  <p:transition>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28"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30"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31" name="图片 30"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33" name="图片 32"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34" name="TextBox 33"/>
          <p:cNvSpPr txBox="1"/>
          <p:nvPr/>
        </p:nvSpPr>
        <p:spPr>
          <a:xfrm>
            <a:off x="5364088" y="123478"/>
            <a:ext cx="3456384" cy="429895"/>
          </a:xfrm>
          <a:prstGeom prst="rect">
            <a:avLst/>
          </a:prstGeom>
          <a:noFill/>
        </p:spPr>
        <p:txBody>
          <a:bodyPr wrap="square" rtlCol="0">
            <a:spAutoFit/>
          </a:bodyPr>
          <a:lstStyle/>
          <a:p>
            <a:r>
              <a:rPr lang="en-US" altLang="zh-CN" sz="2200" b="1" dirty="0" smtClean="0">
                <a:solidFill>
                  <a:srgbClr val="FFFF00"/>
                </a:solidFill>
              </a:rPr>
              <a:t>5.4.1 </a:t>
            </a:r>
            <a:r>
              <a:rPr lang="zh-CN" altLang="en-US" sz="2200" b="1" dirty="0" smtClean="0">
                <a:solidFill>
                  <a:srgbClr val="FFFF00"/>
                </a:solidFill>
              </a:rPr>
              <a:t>切换技术</a:t>
            </a:r>
            <a:endParaRPr lang="zh-CN" altLang="en-US" sz="2200" b="1" dirty="0">
              <a:solidFill>
                <a:srgbClr val="FFFF00"/>
              </a:solidFill>
            </a:endParaRPr>
          </a:p>
        </p:txBody>
      </p:sp>
      <p:sp>
        <p:nvSpPr>
          <p:cNvPr id="35" name="TextBox 34"/>
          <p:cNvSpPr txBox="1"/>
          <p:nvPr/>
        </p:nvSpPr>
        <p:spPr>
          <a:xfrm>
            <a:off x="251520" y="699542"/>
            <a:ext cx="8784976" cy="430887"/>
          </a:xfrm>
          <a:prstGeom prst="rect">
            <a:avLst/>
          </a:prstGeom>
          <a:noFill/>
        </p:spPr>
        <p:txBody>
          <a:bodyPr wrap="square" rtlCol="0">
            <a:spAutoFit/>
          </a:bodyPr>
          <a:lstStyle/>
          <a:p>
            <a:r>
              <a:rPr lang="en-US" altLang="zh-CN" sz="2200" b="1" dirty="0" smtClean="0">
                <a:solidFill>
                  <a:srgbClr val="0000FE"/>
                </a:solidFill>
              </a:rPr>
              <a:t>1.  </a:t>
            </a:r>
            <a:r>
              <a:rPr lang="zh-CN" altLang="en-US" sz="2200" b="1" dirty="0" smtClean="0">
                <a:solidFill>
                  <a:srgbClr val="0000FE"/>
                </a:solidFill>
              </a:rPr>
              <a:t>信道切换原理</a:t>
            </a:r>
            <a:endParaRPr lang="zh-CN" altLang="en-US" sz="2200" b="1" dirty="0">
              <a:solidFill>
                <a:srgbClr val="C00000"/>
              </a:solidFill>
            </a:endParaRPr>
          </a:p>
        </p:txBody>
      </p:sp>
      <p:sp>
        <p:nvSpPr>
          <p:cNvPr id="36" name="TextBox 35"/>
          <p:cNvSpPr txBox="1"/>
          <p:nvPr/>
        </p:nvSpPr>
        <p:spPr>
          <a:xfrm>
            <a:off x="251520" y="1059582"/>
            <a:ext cx="8568952" cy="3613297"/>
          </a:xfrm>
          <a:prstGeom prst="rect">
            <a:avLst/>
          </a:prstGeom>
          <a:noFill/>
        </p:spPr>
        <p:txBody>
          <a:bodyPr wrap="square" rtlCol="0">
            <a:spAutoFit/>
          </a:bodyPr>
          <a:lstStyle/>
          <a:p>
            <a:pPr>
              <a:lnSpc>
                <a:spcPct val="130000"/>
              </a:lnSpc>
            </a:pPr>
            <a:r>
              <a:rPr lang="zh-CN" altLang="en-US" sz="2200" dirty="0" smtClean="0">
                <a:solidFill>
                  <a:srgbClr val="FF0000"/>
                </a:solidFill>
              </a:rPr>
              <a:t>定义：</a:t>
            </a:r>
            <a:r>
              <a:rPr lang="zh-CN" altLang="en-US" sz="2200" dirty="0" smtClean="0"/>
              <a:t>这种将正在处于通话状态的</a:t>
            </a:r>
            <a:r>
              <a:rPr lang="en-US" altLang="zh-CN" sz="2200" dirty="0" smtClean="0"/>
              <a:t>MS</a:t>
            </a:r>
            <a:r>
              <a:rPr lang="zh-CN" altLang="en-US" sz="2200" dirty="0" smtClean="0"/>
              <a:t>转移到新业务信道上（新的小区）的过程称为“切换”（</a:t>
            </a:r>
            <a:r>
              <a:rPr lang="en-US" altLang="zh-CN" sz="2200" dirty="0" smtClean="0"/>
              <a:t>Handover</a:t>
            </a:r>
            <a:r>
              <a:rPr lang="zh-CN" altLang="en-US" sz="2200" dirty="0" smtClean="0"/>
              <a:t>）。</a:t>
            </a:r>
            <a:endParaRPr lang="en-US" altLang="zh-CN" sz="2200" dirty="0" smtClean="0"/>
          </a:p>
          <a:p>
            <a:pPr>
              <a:lnSpc>
                <a:spcPct val="130000"/>
              </a:lnSpc>
            </a:pPr>
            <a:r>
              <a:rPr lang="zh-CN" altLang="en-US" sz="2200" dirty="0" smtClean="0">
                <a:solidFill>
                  <a:srgbClr val="FF0000"/>
                </a:solidFill>
              </a:rPr>
              <a:t>引起切换的原因：</a:t>
            </a:r>
            <a:endParaRPr lang="en-US" altLang="zh-CN" sz="2200" dirty="0" smtClean="0">
              <a:solidFill>
                <a:srgbClr val="FF0000"/>
              </a:solidFill>
            </a:endParaRPr>
          </a:p>
          <a:p>
            <a:pPr>
              <a:lnSpc>
                <a:spcPct val="130000"/>
              </a:lnSpc>
            </a:pPr>
            <a:r>
              <a:rPr lang="zh-CN" altLang="en-US" sz="2200" dirty="0" smtClean="0"/>
              <a:t>（</a:t>
            </a:r>
            <a:r>
              <a:rPr lang="en-US" altLang="zh-CN" sz="2200" dirty="0" smtClean="0"/>
              <a:t>1</a:t>
            </a:r>
            <a:r>
              <a:rPr lang="zh-CN" altLang="en-US" sz="2200" dirty="0" smtClean="0"/>
              <a:t>）信号的强度或质量下降到由系统规定的一定参数以下，此时移动台被切换到信号强度较强的相邻小区；</a:t>
            </a:r>
            <a:endParaRPr lang="en-US" altLang="zh-CN" sz="2200" dirty="0" smtClean="0"/>
          </a:p>
          <a:p>
            <a:pPr>
              <a:lnSpc>
                <a:spcPct val="130000"/>
              </a:lnSpc>
            </a:pPr>
            <a:r>
              <a:rPr lang="zh-CN" altLang="en-US" sz="2200" dirty="0" smtClean="0"/>
              <a:t>（</a:t>
            </a:r>
            <a:r>
              <a:rPr lang="en-US" altLang="zh-CN" sz="2200" dirty="0" smtClean="0"/>
              <a:t>2</a:t>
            </a:r>
            <a:r>
              <a:rPr lang="zh-CN" altLang="en-US" sz="2200" dirty="0" smtClean="0"/>
              <a:t>）由于某小区业务信道容量全被占用或几乎全被占用，这时移动台被切换到业务信道容量较空闲的相邻小区。</a:t>
            </a:r>
            <a:endParaRPr lang="en-US" altLang="zh-CN" sz="2200" dirty="0" smtClean="0"/>
          </a:p>
          <a:p>
            <a:pPr>
              <a:lnSpc>
                <a:spcPct val="130000"/>
              </a:lnSpc>
            </a:pPr>
            <a:r>
              <a:rPr lang="zh-CN" altLang="en-US" sz="2200" dirty="0" smtClean="0"/>
              <a:t>第一种切换一般由移动台发起，第二种切换一般由上级实体发起。</a:t>
            </a:r>
            <a:endParaRPr lang="zh-CN" altLang="en-US" sz="2200" dirty="0"/>
          </a:p>
        </p:txBody>
      </p:sp>
    </p:spTree>
  </p:cSld>
  <p:clrMapOvr>
    <a:masterClrMapping/>
  </p:clrMapOvr>
  <p:transition>
    <p:cu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28"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30"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31" name="图片 30"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33" name="图片 32"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34" name="TextBox 33"/>
          <p:cNvSpPr txBox="1"/>
          <p:nvPr/>
        </p:nvSpPr>
        <p:spPr>
          <a:xfrm>
            <a:off x="5364088" y="123478"/>
            <a:ext cx="3456384" cy="429895"/>
          </a:xfrm>
          <a:prstGeom prst="rect">
            <a:avLst/>
          </a:prstGeom>
          <a:noFill/>
        </p:spPr>
        <p:txBody>
          <a:bodyPr wrap="square" rtlCol="0">
            <a:spAutoFit/>
          </a:bodyPr>
          <a:lstStyle/>
          <a:p>
            <a:r>
              <a:rPr lang="en-US" altLang="zh-CN" sz="2200" b="1" dirty="0" smtClean="0">
                <a:solidFill>
                  <a:srgbClr val="FFFF00"/>
                </a:solidFill>
              </a:rPr>
              <a:t>5.4.1 </a:t>
            </a:r>
            <a:r>
              <a:rPr lang="zh-CN" altLang="en-US" sz="2200" b="1" dirty="0" smtClean="0">
                <a:solidFill>
                  <a:srgbClr val="FFFF00"/>
                </a:solidFill>
              </a:rPr>
              <a:t>切换技术</a:t>
            </a:r>
            <a:endParaRPr lang="zh-CN" altLang="en-US" sz="2200" b="1" dirty="0">
              <a:solidFill>
                <a:srgbClr val="FFFF00"/>
              </a:solidFill>
            </a:endParaRPr>
          </a:p>
        </p:txBody>
      </p:sp>
      <p:sp>
        <p:nvSpPr>
          <p:cNvPr id="35" name="TextBox 34"/>
          <p:cNvSpPr txBox="1"/>
          <p:nvPr/>
        </p:nvSpPr>
        <p:spPr>
          <a:xfrm>
            <a:off x="251520" y="699542"/>
            <a:ext cx="8784976" cy="430887"/>
          </a:xfrm>
          <a:prstGeom prst="rect">
            <a:avLst/>
          </a:prstGeom>
          <a:noFill/>
        </p:spPr>
        <p:txBody>
          <a:bodyPr wrap="square" rtlCol="0">
            <a:spAutoFit/>
          </a:bodyPr>
          <a:lstStyle/>
          <a:p>
            <a:r>
              <a:rPr lang="en-US" altLang="zh-CN" sz="2200" b="1" dirty="0" smtClean="0">
                <a:solidFill>
                  <a:srgbClr val="0000FE"/>
                </a:solidFill>
              </a:rPr>
              <a:t>1.  </a:t>
            </a:r>
            <a:r>
              <a:rPr lang="zh-CN" altLang="en-US" sz="2200" b="1" dirty="0" smtClean="0">
                <a:solidFill>
                  <a:srgbClr val="0000FE"/>
                </a:solidFill>
              </a:rPr>
              <a:t>信道切换原理</a:t>
            </a:r>
            <a:endParaRPr lang="zh-CN" altLang="en-US" sz="2200" b="1" dirty="0">
              <a:solidFill>
                <a:srgbClr val="C00000"/>
              </a:solidFill>
            </a:endParaRPr>
          </a:p>
        </p:txBody>
      </p:sp>
      <p:sp>
        <p:nvSpPr>
          <p:cNvPr id="36" name="TextBox 35"/>
          <p:cNvSpPr txBox="1"/>
          <p:nvPr/>
        </p:nvSpPr>
        <p:spPr>
          <a:xfrm>
            <a:off x="251520" y="1059582"/>
            <a:ext cx="8568952" cy="4050030"/>
          </a:xfrm>
          <a:prstGeom prst="rect">
            <a:avLst/>
          </a:prstGeom>
          <a:noFill/>
        </p:spPr>
        <p:txBody>
          <a:bodyPr wrap="square" rtlCol="0">
            <a:spAutoFit/>
          </a:bodyPr>
          <a:lstStyle/>
          <a:p>
            <a:pPr>
              <a:lnSpc>
                <a:spcPct val="130000"/>
              </a:lnSpc>
            </a:pPr>
            <a:r>
              <a:rPr lang="zh-CN" altLang="en-US" sz="2200" dirty="0"/>
              <a:t>切换必须顺利完成，并且尽可能少地出现，同是要使用户觉察不到；所以系统必须设定最恰当的信号强度门限。</a:t>
            </a:r>
            <a:endParaRPr lang="zh-CN" altLang="en-US" sz="2200" dirty="0"/>
          </a:p>
          <a:p>
            <a:pPr>
              <a:lnSpc>
                <a:spcPct val="130000"/>
              </a:lnSpc>
            </a:pPr>
            <a:r>
              <a:rPr lang="zh-CN" altLang="en-US" sz="2200" dirty="0"/>
              <a:t>同时，还要确保所检测到的信号电平下降不是因为瞬时间的衰减，而是由于移动台正在离开当前服务的基站。</a:t>
            </a:r>
            <a:endParaRPr lang="zh-CN" altLang="en-US" sz="2200" dirty="0"/>
          </a:p>
          <a:p>
            <a:pPr>
              <a:lnSpc>
                <a:spcPct val="130000"/>
              </a:lnSpc>
            </a:pPr>
            <a:r>
              <a:rPr lang="zh-CN" altLang="en-US" sz="2200" dirty="0"/>
              <a:t>对于目标小区处理切换请求，可以与处理正常初始呼叫一样的流程，那意味着切换失败的概率会和初始呼叫阻塞的一样。然而，从用户的角度来看，正在进行通话中断比偶尔呼叫阻塞更令人讨厌。解决的办法就是使切换具有优先权，如信道监视方法，即预留一部分信道专门用于切换到该小区的切换请求。</a:t>
            </a:r>
            <a:endParaRPr lang="zh-CN" altLang="en-US" sz="2200" dirty="0"/>
          </a:p>
        </p:txBody>
      </p:sp>
    </p:spTree>
  </p:cSld>
  <p:clrMapOvr>
    <a:masterClrMapping/>
  </p:clrMapOvr>
  <p:transition>
    <p:cu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02405" name="Rectangle 3"/>
          <p:cNvSpPr>
            <a:spLocks noGrp="1" noChangeArrowheads="1"/>
          </p:cNvSpPr>
          <p:nvPr>
            <p:ph type="body" idx="4294967295"/>
          </p:nvPr>
        </p:nvSpPr>
        <p:spPr>
          <a:xfrm>
            <a:off x="395536" y="1141834"/>
            <a:ext cx="8496944" cy="3662164"/>
          </a:xfrm>
        </p:spPr>
        <p:txBody>
          <a:bodyPr/>
          <a:lstStyle/>
          <a:p>
            <a:pPr marL="0" eaLnBrk="1" hangingPunct="1">
              <a:lnSpc>
                <a:spcPct val="130000"/>
              </a:lnSpc>
              <a:spcBef>
                <a:spcPts val="0"/>
              </a:spcBef>
              <a:buNone/>
            </a:pPr>
            <a:r>
              <a:rPr lang="zh-CN" altLang="en-US" sz="2200" b="0" dirty="0" smtClean="0">
                <a:solidFill>
                  <a:srgbClr val="0000FE"/>
                </a:solidFill>
                <a:latin typeface="华文楷体" pitchFamily="2" charset="-122"/>
                <a:ea typeface="华文楷体" pitchFamily="2" charset="-122"/>
                <a:sym typeface="Wingdings" panose="05000000000000000000"/>
              </a:rPr>
              <a:t></a:t>
            </a:r>
            <a:r>
              <a:rPr lang="zh-CN" altLang="en-US" sz="2200" b="0" dirty="0" smtClean="0">
                <a:solidFill>
                  <a:srgbClr val="0000FE"/>
                </a:solidFill>
                <a:latin typeface="华文楷体" pitchFamily="2" charset="-122"/>
                <a:ea typeface="华文楷体" pitchFamily="2" charset="-122"/>
              </a:rPr>
              <a:t>特点</a:t>
            </a:r>
            <a:endParaRPr lang="zh-CN" altLang="en-US" sz="2200" b="0" dirty="0" smtClean="0">
              <a:solidFill>
                <a:srgbClr val="0000FE"/>
              </a:solidFill>
              <a:latin typeface="华文楷体" pitchFamily="2" charset="-122"/>
              <a:ea typeface="华文楷体" pitchFamily="2" charset="-122"/>
            </a:endParaRPr>
          </a:p>
          <a:p>
            <a:pPr marL="0" lvl="1" eaLnBrk="1" hangingPunct="1">
              <a:lnSpc>
                <a:spcPct val="130000"/>
              </a:lnSpc>
              <a:spcBef>
                <a:spcPts val="0"/>
              </a:spcBef>
              <a:buFont typeface="Wingdings" panose="05000000000000000000" pitchFamily="2" charset="2"/>
              <a:buNone/>
            </a:pPr>
            <a:r>
              <a:rPr lang="zh-CN" altLang="en-US" sz="2200" dirty="0" smtClean="0">
                <a:solidFill>
                  <a:srgbClr val="C00000"/>
                </a:solidFill>
                <a:latin typeface="华文楷体" pitchFamily="2" charset="-122"/>
                <a:ea typeface="华文楷体" pitchFamily="2" charset="-122"/>
              </a:rPr>
              <a:t>  先断后通：</a:t>
            </a:r>
            <a:r>
              <a:rPr lang="zh-CN" altLang="en-US" sz="2200" dirty="0" smtClean="0">
                <a:latin typeface="华文楷体" pitchFamily="2" charset="-122"/>
                <a:ea typeface="华文楷体" pitchFamily="2" charset="-122"/>
              </a:rPr>
              <a:t>在新的通信链路建立之前，先中断旧的通信链路。</a:t>
            </a:r>
            <a:endParaRPr lang="zh-CN" altLang="en-US" sz="2200" dirty="0" smtClean="0">
              <a:latin typeface="华文楷体" pitchFamily="2" charset="-122"/>
              <a:ea typeface="华文楷体" pitchFamily="2" charset="-122"/>
            </a:endParaRPr>
          </a:p>
          <a:p>
            <a:pPr marL="0" eaLnBrk="1" hangingPunct="1">
              <a:lnSpc>
                <a:spcPct val="130000"/>
              </a:lnSpc>
              <a:spcBef>
                <a:spcPts val="0"/>
              </a:spcBef>
              <a:buNone/>
            </a:pPr>
            <a:r>
              <a:rPr lang="zh-CN" altLang="en-US" sz="2200" b="0" dirty="0" smtClean="0">
                <a:solidFill>
                  <a:srgbClr val="0000FE"/>
                </a:solidFill>
                <a:latin typeface="华文楷体" pitchFamily="2" charset="-122"/>
                <a:ea typeface="华文楷体" pitchFamily="2" charset="-122"/>
                <a:sym typeface="Wingdings" panose="05000000000000000000"/>
              </a:rPr>
              <a:t></a:t>
            </a:r>
            <a:r>
              <a:rPr lang="zh-CN" altLang="en-US" sz="2200" b="0" dirty="0" smtClean="0">
                <a:solidFill>
                  <a:srgbClr val="0000FE"/>
                </a:solidFill>
                <a:latin typeface="华文楷体" pitchFamily="2" charset="-122"/>
                <a:ea typeface="华文楷体" pitchFamily="2" charset="-122"/>
              </a:rPr>
              <a:t>系统</a:t>
            </a:r>
            <a:endParaRPr lang="zh-CN" altLang="en-US" sz="2200" b="0" dirty="0" smtClean="0">
              <a:solidFill>
                <a:srgbClr val="0000FE"/>
              </a:solidFill>
              <a:latin typeface="华文楷体" pitchFamily="2" charset="-122"/>
              <a:ea typeface="华文楷体" pitchFamily="2" charset="-122"/>
            </a:endParaRPr>
          </a:p>
          <a:p>
            <a:pPr marL="0" eaLnBrk="1" hangingPunct="1">
              <a:lnSpc>
                <a:spcPct val="130000"/>
              </a:lnSpc>
              <a:spcBef>
                <a:spcPts val="0"/>
              </a:spcBef>
              <a:buFont typeface="Wingdings" panose="05000000000000000000" pitchFamily="2" charset="2"/>
              <a:buNone/>
            </a:pPr>
            <a:r>
              <a:rPr lang="zh-CN" altLang="en-US" sz="2200" b="0" dirty="0" smtClean="0">
                <a:latin typeface="华文楷体" pitchFamily="2" charset="-122"/>
                <a:ea typeface="华文楷体" pitchFamily="2" charset="-122"/>
              </a:rPr>
              <a:t>  采用不同频率的小区之间只能采用硬切换，如</a:t>
            </a:r>
            <a:r>
              <a:rPr lang="zh-CN" altLang="en-US" sz="2200" b="0" dirty="0" smtClean="0">
                <a:solidFill>
                  <a:schemeClr val="tx1"/>
                </a:solidFill>
                <a:latin typeface="华文楷体" pitchFamily="2" charset="-122"/>
                <a:ea typeface="华文楷体" pitchFamily="2" charset="-122"/>
              </a:rPr>
              <a:t>模拟系统和</a:t>
            </a:r>
            <a:r>
              <a:rPr lang="en-US" altLang="zh-CN" sz="2200" b="0" dirty="0" smtClean="0">
                <a:solidFill>
                  <a:schemeClr val="tx1"/>
                </a:solidFill>
                <a:latin typeface="华文楷体" pitchFamily="2" charset="-122"/>
                <a:ea typeface="华文楷体" pitchFamily="2" charset="-122"/>
              </a:rPr>
              <a:t>TDMA</a:t>
            </a:r>
            <a:r>
              <a:rPr lang="zh-CN" altLang="en-US" sz="2200" b="0" dirty="0" smtClean="0">
                <a:solidFill>
                  <a:schemeClr val="tx1"/>
                </a:solidFill>
                <a:latin typeface="华文楷体" pitchFamily="2" charset="-122"/>
                <a:ea typeface="华文楷体" pitchFamily="2" charset="-122"/>
              </a:rPr>
              <a:t>系统（如</a:t>
            </a:r>
            <a:r>
              <a:rPr lang="en-US" altLang="zh-CN" sz="2200" b="0" dirty="0" smtClean="0">
                <a:solidFill>
                  <a:schemeClr val="tx1"/>
                </a:solidFill>
                <a:latin typeface="华文楷体" pitchFamily="2" charset="-122"/>
                <a:ea typeface="华文楷体" pitchFamily="2" charset="-122"/>
              </a:rPr>
              <a:t>GSM</a:t>
            </a:r>
            <a:r>
              <a:rPr lang="zh-CN" altLang="en-US" sz="2200" b="0" dirty="0" smtClean="0">
                <a:solidFill>
                  <a:schemeClr val="tx1"/>
                </a:solidFill>
                <a:latin typeface="华文楷体" pitchFamily="2" charset="-122"/>
                <a:ea typeface="华文楷体" pitchFamily="2" charset="-122"/>
              </a:rPr>
              <a:t>系统）</a:t>
            </a:r>
            <a:endParaRPr lang="zh-CN" altLang="en-US" sz="2200" b="0" dirty="0" smtClean="0">
              <a:solidFill>
                <a:schemeClr val="tx1"/>
              </a:solidFill>
              <a:latin typeface="华文楷体" pitchFamily="2" charset="-122"/>
              <a:ea typeface="华文楷体" pitchFamily="2" charset="-122"/>
            </a:endParaRPr>
          </a:p>
          <a:p>
            <a:pPr marL="0" eaLnBrk="1" hangingPunct="1">
              <a:lnSpc>
                <a:spcPct val="130000"/>
              </a:lnSpc>
              <a:spcBef>
                <a:spcPts val="0"/>
              </a:spcBef>
              <a:buNone/>
            </a:pPr>
            <a:r>
              <a:rPr lang="zh-CN" altLang="en-US" sz="2200" b="0" dirty="0" smtClean="0">
                <a:solidFill>
                  <a:srgbClr val="0000FE"/>
                </a:solidFill>
                <a:latin typeface="华文楷体" pitchFamily="2" charset="-122"/>
                <a:ea typeface="华文楷体" pitchFamily="2" charset="-122"/>
                <a:sym typeface="Wingdings" panose="05000000000000000000"/>
              </a:rPr>
              <a:t></a:t>
            </a:r>
            <a:r>
              <a:rPr lang="zh-CN" altLang="en-US" sz="2200" b="0" dirty="0" smtClean="0">
                <a:solidFill>
                  <a:srgbClr val="0000FE"/>
                </a:solidFill>
                <a:latin typeface="华文楷体" pitchFamily="2" charset="-122"/>
                <a:ea typeface="华文楷体" pitchFamily="2" charset="-122"/>
              </a:rPr>
              <a:t>缺点</a:t>
            </a:r>
            <a:endParaRPr lang="zh-CN" altLang="en-US" sz="2200" b="0" dirty="0" smtClean="0">
              <a:solidFill>
                <a:srgbClr val="0000FE"/>
              </a:solidFill>
              <a:latin typeface="华文楷体" pitchFamily="2" charset="-122"/>
              <a:ea typeface="华文楷体" pitchFamily="2" charset="-122"/>
            </a:endParaRPr>
          </a:p>
          <a:p>
            <a:pPr marL="0" lvl="1" eaLnBrk="1" hangingPunct="1">
              <a:lnSpc>
                <a:spcPct val="130000"/>
              </a:lnSpc>
              <a:spcBef>
                <a:spcPts val="0"/>
              </a:spcBef>
              <a:buFont typeface="Wingdings" panose="05000000000000000000" pitchFamily="2" charset="2"/>
              <a:buNone/>
            </a:pPr>
            <a:r>
              <a:rPr lang="zh-CN" altLang="en-US" sz="2200" dirty="0" smtClean="0">
                <a:latin typeface="华文楷体" pitchFamily="2" charset="-122"/>
                <a:ea typeface="华文楷体" pitchFamily="2" charset="-122"/>
              </a:rPr>
              <a:t>  失败率较高；“乒乓效应”；</a:t>
            </a:r>
            <a:r>
              <a:rPr lang="zh-CN" altLang="en-US" sz="2200" b="0" dirty="0" smtClean="0">
                <a:solidFill>
                  <a:srgbClr val="003300"/>
                </a:solidFill>
                <a:latin typeface="华文楷体" pitchFamily="2" charset="-122"/>
                <a:ea typeface="华文楷体" pitchFamily="2" charset="-122"/>
              </a:rPr>
              <a:t>统计结果显示，</a:t>
            </a:r>
            <a:r>
              <a:rPr lang="zh-CN" altLang="en-US" sz="2200" b="0" dirty="0" smtClean="0">
                <a:solidFill>
                  <a:schemeClr val="tx1"/>
                </a:solidFill>
                <a:latin typeface="华文楷体" pitchFamily="2" charset="-122"/>
                <a:ea typeface="华文楷体" pitchFamily="2" charset="-122"/>
              </a:rPr>
              <a:t>无线信道上</a:t>
            </a:r>
            <a:r>
              <a:rPr lang="en-US" altLang="zh-CN" sz="2200" b="0" dirty="0" smtClean="0">
                <a:solidFill>
                  <a:schemeClr val="tx1"/>
                </a:solidFill>
                <a:latin typeface="华文楷体" pitchFamily="2" charset="-122"/>
                <a:ea typeface="华文楷体" pitchFamily="2" charset="-122"/>
              </a:rPr>
              <a:t>90%</a:t>
            </a:r>
            <a:r>
              <a:rPr lang="zh-CN" altLang="en-US" sz="2200" b="0" dirty="0" smtClean="0">
                <a:solidFill>
                  <a:schemeClr val="tx1"/>
                </a:solidFill>
                <a:latin typeface="华文楷体" pitchFamily="2" charset="-122"/>
                <a:ea typeface="华文楷体" pitchFamily="2" charset="-122"/>
              </a:rPr>
              <a:t>的掉话是在切换过程中发生的。 </a:t>
            </a:r>
            <a:endParaRPr lang="zh-CN" altLang="en-US" sz="2200" b="0" dirty="0" smtClean="0">
              <a:solidFill>
                <a:schemeClr val="tx1"/>
              </a:solidFill>
              <a:latin typeface="华文楷体" pitchFamily="2" charset="-122"/>
              <a:ea typeface="华文楷体" pitchFamily="2" charset="-122"/>
            </a:endParaRPr>
          </a:p>
        </p:txBody>
      </p:sp>
      <p:sp>
        <p:nvSpPr>
          <p:cNvPr id="6"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8" name="图片 7"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9" name="TextBox 8"/>
          <p:cNvSpPr txBox="1"/>
          <p:nvPr/>
        </p:nvSpPr>
        <p:spPr>
          <a:xfrm>
            <a:off x="5364088" y="123478"/>
            <a:ext cx="3456384" cy="429895"/>
          </a:xfrm>
          <a:prstGeom prst="rect">
            <a:avLst/>
          </a:prstGeom>
          <a:noFill/>
        </p:spPr>
        <p:txBody>
          <a:bodyPr wrap="square" rtlCol="0">
            <a:spAutoFit/>
          </a:bodyPr>
          <a:lstStyle/>
          <a:p>
            <a:r>
              <a:rPr lang="en-US" altLang="zh-CN" sz="2200" b="1" dirty="0" smtClean="0">
                <a:solidFill>
                  <a:srgbClr val="FFFF00"/>
                </a:solidFill>
              </a:rPr>
              <a:t>5.4.1 </a:t>
            </a:r>
            <a:r>
              <a:rPr lang="zh-CN" altLang="en-US" sz="2200" b="1" dirty="0" smtClean="0">
                <a:solidFill>
                  <a:srgbClr val="FFFF00"/>
                </a:solidFill>
              </a:rPr>
              <a:t>切换技术</a:t>
            </a:r>
            <a:endParaRPr lang="zh-CN" altLang="en-US" sz="2200" b="1" dirty="0">
              <a:solidFill>
                <a:srgbClr val="FFFF00"/>
              </a:solidFill>
            </a:endParaRPr>
          </a:p>
        </p:txBody>
      </p:sp>
      <p:sp>
        <p:nvSpPr>
          <p:cNvPr id="10" name="TextBox 9"/>
          <p:cNvSpPr txBox="1"/>
          <p:nvPr/>
        </p:nvSpPr>
        <p:spPr>
          <a:xfrm>
            <a:off x="251520" y="699542"/>
            <a:ext cx="8784976" cy="430887"/>
          </a:xfrm>
          <a:prstGeom prst="rect">
            <a:avLst/>
          </a:prstGeom>
          <a:noFill/>
        </p:spPr>
        <p:txBody>
          <a:bodyPr wrap="square" rtlCol="0">
            <a:spAutoFit/>
          </a:bodyPr>
          <a:lstStyle/>
          <a:p>
            <a:r>
              <a:rPr lang="en-US" altLang="zh-CN" sz="2200" b="1" dirty="0" smtClean="0">
                <a:solidFill>
                  <a:srgbClr val="0000FE"/>
                </a:solidFill>
              </a:rPr>
              <a:t>2.  </a:t>
            </a:r>
            <a:r>
              <a:rPr lang="zh-CN" altLang="en-US" sz="2200" b="1" dirty="0" smtClean="0">
                <a:solidFill>
                  <a:srgbClr val="0000FE"/>
                </a:solidFill>
              </a:rPr>
              <a:t>切换分类；</a:t>
            </a:r>
            <a:r>
              <a:rPr lang="zh-CN" altLang="en-US" sz="2200" b="1" dirty="0" smtClean="0">
                <a:solidFill>
                  <a:srgbClr val="FF0000"/>
                </a:solidFill>
              </a:rPr>
              <a:t>（</a:t>
            </a:r>
            <a:r>
              <a:rPr lang="en-US" altLang="zh-CN" sz="2200" b="1" dirty="0" smtClean="0">
                <a:solidFill>
                  <a:srgbClr val="FF0000"/>
                </a:solidFill>
              </a:rPr>
              <a:t>1</a:t>
            </a:r>
            <a:r>
              <a:rPr lang="zh-CN" altLang="en-US" sz="2200" b="1" dirty="0" smtClean="0">
                <a:solidFill>
                  <a:srgbClr val="FF0000"/>
                </a:solidFill>
              </a:rPr>
              <a:t>）硬切换</a:t>
            </a:r>
            <a:endParaRPr lang="zh-CN" altLang="en-US" sz="2200" b="1" dirty="0">
              <a:solidFill>
                <a:srgbClr val="FF0000"/>
              </a:solidFill>
            </a:endParaRPr>
          </a:p>
        </p:txBody>
      </p:sp>
    </p:spTree>
  </p:cSld>
  <p:clrMapOvr>
    <a:masterClrMapping/>
  </p:clrMapOvr>
  <p:transition>
    <p:cu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30"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32"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33" name="图片 32"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34" name="图片 33"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35" name="TextBox 34"/>
          <p:cNvSpPr txBox="1"/>
          <p:nvPr/>
        </p:nvSpPr>
        <p:spPr>
          <a:xfrm>
            <a:off x="5364088" y="123478"/>
            <a:ext cx="3456384" cy="429895"/>
          </a:xfrm>
          <a:prstGeom prst="rect">
            <a:avLst/>
          </a:prstGeom>
          <a:noFill/>
        </p:spPr>
        <p:txBody>
          <a:bodyPr wrap="square" rtlCol="0">
            <a:spAutoFit/>
          </a:bodyPr>
          <a:lstStyle/>
          <a:p>
            <a:r>
              <a:rPr lang="en-US" altLang="zh-CN" sz="2200" b="1" dirty="0" smtClean="0">
                <a:solidFill>
                  <a:srgbClr val="FFFF00"/>
                </a:solidFill>
              </a:rPr>
              <a:t>5.4.1 </a:t>
            </a:r>
            <a:r>
              <a:rPr lang="zh-CN" altLang="en-US" sz="2200" b="1" dirty="0" smtClean="0">
                <a:solidFill>
                  <a:srgbClr val="FFFF00"/>
                </a:solidFill>
              </a:rPr>
              <a:t>切换技术</a:t>
            </a:r>
            <a:endParaRPr lang="zh-CN" altLang="en-US" sz="2200" b="1" dirty="0">
              <a:solidFill>
                <a:srgbClr val="FFFF00"/>
              </a:solidFill>
            </a:endParaRPr>
          </a:p>
        </p:txBody>
      </p:sp>
      <p:sp>
        <p:nvSpPr>
          <p:cNvPr id="36" name="TextBox 35"/>
          <p:cNvSpPr txBox="1"/>
          <p:nvPr/>
        </p:nvSpPr>
        <p:spPr>
          <a:xfrm>
            <a:off x="251520" y="699542"/>
            <a:ext cx="8784976" cy="430887"/>
          </a:xfrm>
          <a:prstGeom prst="rect">
            <a:avLst/>
          </a:prstGeom>
          <a:noFill/>
        </p:spPr>
        <p:txBody>
          <a:bodyPr wrap="square" rtlCol="0">
            <a:spAutoFit/>
          </a:bodyPr>
          <a:lstStyle/>
          <a:p>
            <a:r>
              <a:rPr lang="en-US" altLang="zh-CN" sz="2200" b="1" dirty="0" smtClean="0">
                <a:solidFill>
                  <a:srgbClr val="0000FE"/>
                </a:solidFill>
              </a:rPr>
              <a:t>2.  </a:t>
            </a:r>
            <a:r>
              <a:rPr lang="zh-CN" altLang="en-US" sz="2200" b="1" dirty="0" smtClean="0">
                <a:solidFill>
                  <a:srgbClr val="0000FE"/>
                </a:solidFill>
              </a:rPr>
              <a:t>切换分类；</a:t>
            </a:r>
            <a:r>
              <a:rPr lang="zh-CN" altLang="en-US" sz="2200" b="1" dirty="0" smtClean="0">
                <a:solidFill>
                  <a:srgbClr val="FF0000"/>
                </a:solidFill>
              </a:rPr>
              <a:t>（</a:t>
            </a:r>
            <a:r>
              <a:rPr lang="en-US" altLang="zh-CN" sz="2200" b="1" dirty="0" smtClean="0">
                <a:solidFill>
                  <a:srgbClr val="FF0000"/>
                </a:solidFill>
              </a:rPr>
              <a:t>2</a:t>
            </a:r>
            <a:r>
              <a:rPr lang="zh-CN" altLang="en-US" sz="2200" b="1" dirty="0" smtClean="0">
                <a:solidFill>
                  <a:srgbClr val="FF0000"/>
                </a:solidFill>
              </a:rPr>
              <a:t>）软切换</a:t>
            </a:r>
            <a:endParaRPr lang="zh-CN" altLang="en-US" sz="2200" b="1" dirty="0">
              <a:solidFill>
                <a:srgbClr val="FF0000"/>
              </a:solidFill>
            </a:endParaRPr>
          </a:p>
        </p:txBody>
      </p:sp>
      <p:sp>
        <p:nvSpPr>
          <p:cNvPr id="37" name="Rectangle 3"/>
          <p:cNvSpPr txBox="1">
            <a:spLocks noChangeArrowheads="1"/>
          </p:cNvSpPr>
          <p:nvPr/>
        </p:nvSpPr>
        <p:spPr>
          <a:xfrm>
            <a:off x="251520" y="1141834"/>
            <a:ext cx="4176464" cy="3662164"/>
          </a:xfrm>
          <a:prstGeom prst="rect">
            <a:avLst/>
          </a:prstGeom>
          <a:noFill/>
          <a:ln w="9525">
            <a:noFill/>
          </a:ln>
        </p:spPr>
        <p:txBody>
          <a:bodyPr/>
          <a:lstStyle/>
          <a:p>
            <a:pPr marL="0" marR="0" lvl="0" indent="-257175" algn="l" defTabSz="914400" rtl="0" eaLnBrk="1" fontAlgn="base" latinLnBrk="0" hangingPunct="1">
              <a:lnSpc>
                <a:spcPct val="130000"/>
              </a:lnSpc>
              <a:spcBef>
                <a:spcPts val="0"/>
              </a:spcBef>
              <a:spcAft>
                <a:spcPct val="0"/>
              </a:spcAft>
              <a:buClr>
                <a:schemeClr val="hlink"/>
              </a:buClr>
              <a:buSzTx/>
              <a:buFont typeface="Wingdings" panose="05000000000000000000" pitchFamily="2" charset="2"/>
              <a:buNone/>
              <a:defRPr/>
            </a:pP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sym typeface="Wingdings" panose="05000000000000000000"/>
              </a:rPr>
              <a:t></a:t>
            </a: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rPr>
              <a:t>特点</a:t>
            </a:r>
            <a:endPar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endParaRPr>
          </a:p>
          <a:p>
            <a:pPr marL="0" marR="0" lvl="1" indent="-214630" algn="l" defTabSz="914400" rtl="0" eaLnBrk="1" fontAlgn="base" latinLnBrk="0" hangingPunct="1">
              <a:lnSpc>
                <a:spcPct val="130000"/>
              </a:lnSpc>
              <a:spcBef>
                <a:spcPts val="0"/>
              </a:spcBef>
              <a:spcAft>
                <a:spcPct val="0"/>
              </a:spcAft>
              <a:buClr>
                <a:schemeClr val="accent1"/>
              </a:buClr>
              <a:buSzTx/>
              <a:buFont typeface="Wingdings" panose="05000000000000000000" pitchFamily="2" charset="2"/>
              <a:buNone/>
              <a:defRPr/>
            </a:pPr>
            <a:r>
              <a:rPr kumimoji="0" lang="zh-CN" altLang="en-US" sz="2200" b="0" i="0" u="none" strike="noStrike" kern="0" cap="none" spc="0" normalizeH="0" baseline="0" noProof="0" dirty="0" smtClean="0">
                <a:ln>
                  <a:noFill/>
                </a:ln>
                <a:solidFill>
                  <a:srgbClr val="C00000"/>
                </a:solidFill>
                <a:effectLst/>
                <a:uLnTx/>
                <a:uFillTx/>
                <a:latin typeface="华文楷体" pitchFamily="2" charset="-122"/>
                <a:ea typeface="华文楷体" pitchFamily="2" charset="-122"/>
              </a:rPr>
              <a:t>  先通后断：</a:t>
            </a:r>
            <a:r>
              <a:rPr kumimoji="0" lang="zh-CN" altLang="en-US" sz="2200" b="0" i="0" u="none" strike="noStrike" kern="0" cap="none" spc="0" normalizeH="0" baseline="0" noProof="0" dirty="0" smtClean="0">
                <a:ln>
                  <a:noFill/>
                </a:ln>
                <a:solidFill>
                  <a:srgbClr val="002A7E"/>
                </a:solidFill>
                <a:effectLst/>
                <a:uLnTx/>
                <a:uFillTx/>
                <a:latin typeface="华文楷体" pitchFamily="2" charset="-122"/>
                <a:ea typeface="华文楷体" pitchFamily="2" charset="-122"/>
              </a:rPr>
              <a:t>需要切换时，移动台先与目标基站建立通信链路，再切断与原基站之间的通信链路</a:t>
            </a:r>
            <a:r>
              <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a:t>
            </a:r>
            <a:endPar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endParaRPr>
          </a:p>
          <a:p>
            <a:pPr marL="0" marR="0" lvl="0" indent="-257175" algn="l" defTabSz="914400" rtl="0" eaLnBrk="1" fontAlgn="base" latinLnBrk="0" hangingPunct="1">
              <a:lnSpc>
                <a:spcPct val="130000"/>
              </a:lnSpc>
              <a:spcBef>
                <a:spcPts val="0"/>
              </a:spcBef>
              <a:spcAft>
                <a:spcPct val="0"/>
              </a:spcAft>
              <a:buClr>
                <a:schemeClr val="hlink"/>
              </a:buClr>
              <a:buSzTx/>
              <a:buFont typeface="Wingdings" panose="05000000000000000000" pitchFamily="2" charset="2"/>
              <a:buNone/>
              <a:defRPr/>
            </a:pP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sym typeface="Wingdings" panose="05000000000000000000"/>
              </a:rPr>
              <a:t></a:t>
            </a: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rPr>
              <a:t>系统</a:t>
            </a:r>
            <a:endPar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endParaRPr>
          </a:p>
          <a:p>
            <a:pPr marL="0" marR="0" lvl="0" indent="-257175" algn="l" defTabSz="914400" rtl="0" eaLnBrk="1" fontAlgn="base" latinLnBrk="0" hangingPunct="1">
              <a:lnSpc>
                <a:spcPct val="130000"/>
              </a:lnSpc>
              <a:spcBef>
                <a:spcPts val="0"/>
              </a:spcBef>
              <a:spcAft>
                <a:spcPct val="0"/>
              </a:spcAft>
              <a:buClr>
                <a:schemeClr val="hlink"/>
              </a:buClr>
              <a:buSzTx/>
              <a:buFont typeface="Wingdings" panose="05000000000000000000" pitchFamily="2" charset="2"/>
              <a:buNone/>
              <a:defRPr/>
            </a:pPr>
            <a:r>
              <a:rPr kumimoji="0" lang="zh-CN" altLang="en-US" sz="2200" b="0" i="0" u="none" strike="noStrike" kern="0" cap="none" spc="0" normalizeH="0" baseline="0" noProof="0" dirty="0" smtClean="0">
                <a:ln>
                  <a:noFill/>
                </a:ln>
                <a:solidFill>
                  <a:schemeClr val="tx2"/>
                </a:solidFill>
                <a:effectLst/>
                <a:uLnTx/>
                <a:uFillTx/>
                <a:latin typeface="华文楷体" pitchFamily="2" charset="-122"/>
                <a:ea typeface="华文楷体" pitchFamily="2" charset="-122"/>
                <a:cs typeface="+mn-cs"/>
              </a:rPr>
              <a:t>  在使用相同频率的小区之间进行，是</a:t>
            </a:r>
            <a:r>
              <a:rPr kumimoji="0" lang="en-US" altLang="zh-CN" sz="2200" b="0" i="0" u="none" strike="noStrike" kern="0" cap="none" spc="0" normalizeH="0" baseline="0" noProof="0" dirty="0" smtClean="0">
                <a:ln>
                  <a:noFill/>
                </a:ln>
                <a:solidFill>
                  <a:schemeClr val="tx2"/>
                </a:solidFill>
                <a:effectLst/>
                <a:uLnTx/>
                <a:uFillTx/>
                <a:latin typeface="华文楷体" pitchFamily="2" charset="-122"/>
                <a:ea typeface="华文楷体" pitchFamily="2" charset="-122"/>
                <a:cs typeface="+mn-cs"/>
              </a:rPr>
              <a:t>CDMA</a:t>
            </a:r>
            <a:r>
              <a:rPr kumimoji="0" lang="zh-CN" altLang="en-US" sz="2200" b="0" i="0" u="none" strike="noStrike" kern="0" cap="none" spc="0" normalizeH="0" baseline="0" noProof="0" dirty="0" smtClean="0">
                <a:ln>
                  <a:noFill/>
                </a:ln>
                <a:solidFill>
                  <a:schemeClr val="tx2"/>
                </a:solidFill>
                <a:effectLst/>
                <a:uLnTx/>
                <a:uFillTx/>
                <a:latin typeface="华文楷体" pitchFamily="2" charset="-122"/>
                <a:ea typeface="华文楷体" pitchFamily="2" charset="-122"/>
                <a:cs typeface="+mn-cs"/>
              </a:rPr>
              <a:t>移动通信系统所独有的切换方式。</a:t>
            </a:r>
            <a:endPar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cs typeface="+mn-cs"/>
            </a:endParaRPr>
          </a:p>
        </p:txBody>
      </p:sp>
      <p:pic>
        <p:nvPicPr>
          <p:cNvPr id="38" name="Picture 5" descr="MCj03514150000[1]"/>
          <p:cNvPicPr>
            <a:picLocks noChangeAspect="1" noChangeArrowheads="1"/>
          </p:cNvPicPr>
          <p:nvPr/>
        </p:nvPicPr>
        <p:blipFill>
          <a:blip r:embed="rId2" cstate="print"/>
          <a:srcRect/>
          <a:stretch>
            <a:fillRect/>
          </a:stretch>
        </p:blipFill>
        <p:spPr bwMode="auto">
          <a:xfrm>
            <a:off x="6876356" y="1383507"/>
            <a:ext cx="360362" cy="864394"/>
          </a:xfrm>
          <a:prstGeom prst="rect">
            <a:avLst/>
          </a:prstGeom>
          <a:noFill/>
          <a:ln w="9525">
            <a:noFill/>
            <a:miter lim="800000"/>
            <a:headEnd/>
            <a:tailEnd/>
          </a:ln>
        </p:spPr>
      </p:pic>
      <p:sp>
        <p:nvSpPr>
          <p:cNvPr id="39" name="Oval 6"/>
          <p:cNvSpPr>
            <a:spLocks noChangeArrowheads="1"/>
          </p:cNvSpPr>
          <p:nvPr/>
        </p:nvSpPr>
        <p:spPr bwMode="auto">
          <a:xfrm>
            <a:off x="4499992" y="2194322"/>
            <a:ext cx="2592264" cy="1241822"/>
          </a:xfrm>
          <a:prstGeom prst="ellipse">
            <a:avLst/>
          </a:prstGeom>
          <a:solidFill>
            <a:srgbClr val="969696">
              <a:alpha val="65097"/>
            </a:srgbClr>
          </a:solidFill>
          <a:ln w="9525" algn="ctr">
            <a:solidFill>
              <a:schemeClr val="tx1"/>
            </a:solidFill>
            <a:prstDash val="dash"/>
            <a:round/>
          </a:ln>
        </p:spPr>
        <p:txBody>
          <a:bodyPr wrap="none" anchor="ctr"/>
          <a:lstStyle/>
          <a:p>
            <a:pPr algn="ctr" eaLnBrk="0" hangingPunct="0"/>
            <a:endParaRPr lang="zh-CN" altLang="zh-CN" sz="2800">
              <a:solidFill>
                <a:srgbClr val="DC5C7A"/>
              </a:solidFill>
            </a:endParaRPr>
          </a:p>
        </p:txBody>
      </p:sp>
      <p:grpSp>
        <p:nvGrpSpPr>
          <p:cNvPr id="40" name="Group 7"/>
          <p:cNvGrpSpPr/>
          <p:nvPr/>
        </p:nvGrpSpPr>
        <p:grpSpPr bwMode="auto">
          <a:xfrm>
            <a:off x="7668518" y="2247900"/>
            <a:ext cx="215900" cy="540544"/>
            <a:chOff x="3424" y="2789"/>
            <a:chExt cx="272" cy="635"/>
          </a:xfrm>
        </p:grpSpPr>
        <p:sp>
          <p:nvSpPr>
            <p:cNvPr id="41" name="AutoShape 8"/>
            <p:cNvSpPr>
              <a:spLocks noChangeArrowheads="1"/>
            </p:cNvSpPr>
            <p:nvPr/>
          </p:nvSpPr>
          <p:spPr bwMode="auto">
            <a:xfrm rot="10800000">
              <a:off x="3424" y="2795"/>
              <a:ext cx="272" cy="318"/>
            </a:xfrm>
            <a:prstGeom prst="triangle">
              <a:avLst>
                <a:gd name="adj" fmla="val 50000"/>
              </a:avLst>
            </a:prstGeom>
            <a:noFill/>
            <a:ln w="19050" algn="ctr">
              <a:solidFill>
                <a:schemeClr val="tx1"/>
              </a:solidFill>
              <a:miter lim="800000"/>
            </a:ln>
          </p:spPr>
          <p:txBody>
            <a:bodyPr wrap="none" anchor="ctr"/>
            <a:lstStyle/>
            <a:p>
              <a:pPr algn="ctr" eaLnBrk="0" hangingPunct="0"/>
              <a:endParaRPr lang="zh-CN" altLang="zh-CN" sz="2800">
                <a:solidFill>
                  <a:srgbClr val="DC5C7A"/>
                </a:solidFill>
              </a:endParaRPr>
            </a:p>
          </p:txBody>
        </p:sp>
        <p:cxnSp>
          <p:nvCxnSpPr>
            <p:cNvPr id="42" name="AutoShape 9"/>
            <p:cNvCxnSpPr>
              <a:cxnSpLocks noChangeShapeType="1"/>
              <a:stCxn id="41" idx="3"/>
            </p:cNvCxnSpPr>
            <p:nvPr/>
          </p:nvCxnSpPr>
          <p:spPr bwMode="auto">
            <a:xfrm>
              <a:off x="3560" y="2789"/>
              <a:ext cx="0" cy="635"/>
            </a:xfrm>
            <a:prstGeom prst="straightConnector1">
              <a:avLst/>
            </a:prstGeom>
            <a:noFill/>
            <a:ln w="19050">
              <a:solidFill>
                <a:schemeClr val="tx1"/>
              </a:solidFill>
              <a:round/>
            </a:ln>
          </p:spPr>
        </p:cxnSp>
      </p:grpSp>
      <p:sp>
        <p:nvSpPr>
          <p:cNvPr id="43" name="Oval 10"/>
          <p:cNvSpPr>
            <a:spLocks noChangeArrowheads="1"/>
          </p:cNvSpPr>
          <p:nvPr/>
        </p:nvSpPr>
        <p:spPr bwMode="auto">
          <a:xfrm>
            <a:off x="6300093" y="2464594"/>
            <a:ext cx="2808288" cy="1188244"/>
          </a:xfrm>
          <a:prstGeom prst="ellipse">
            <a:avLst/>
          </a:prstGeom>
          <a:solidFill>
            <a:srgbClr val="8C8C8C">
              <a:alpha val="54117"/>
            </a:srgbClr>
          </a:solidFill>
          <a:ln w="9525" algn="ctr">
            <a:solidFill>
              <a:schemeClr val="tx1"/>
            </a:solidFill>
            <a:prstDash val="dash"/>
            <a:round/>
          </a:ln>
        </p:spPr>
        <p:txBody>
          <a:bodyPr wrap="none" anchor="ctr"/>
          <a:lstStyle/>
          <a:p>
            <a:pPr algn="ctr" eaLnBrk="0" hangingPunct="0"/>
            <a:endParaRPr lang="zh-CN" altLang="zh-CN" sz="2800">
              <a:solidFill>
                <a:srgbClr val="DC5C7A"/>
              </a:solidFill>
            </a:endParaRPr>
          </a:p>
        </p:txBody>
      </p:sp>
      <p:grpSp>
        <p:nvGrpSpPr>
          <p:cNvPr id="44" name="Group 11"/>
          <p:cNvGrpSpPr/>
          <p:nvPr/>
        </p:nvGrpSpPr>
        <p:grpSpPr bwMode="auto">
          <a:xfrm>
            <a:off x="5650806" y="1977629"/>
            <a:ext cx="215900" cy="540544"/>
            <a:chOff x="3424" y="2789"/>
            <a:chExt cx="272" cy="635"/>
          </a:xfrm>
        </p:grpSpPr>
        <p:sp>
          <p:nvSpPr>
            <p:cNvPr id="45" name="AutoShape 12"/>
            <p:cNvSpPr>
              <a:spLocks noChangeArrowheads="1"/>
            </p:cNvSpPr>
            <p:nvPr/>
          </p:nvSpPr>
          <p:spPr bwMode="auto">
            <a:xfrm rot="10800000">
              <a:off x="3424" y="2795"/>
              <a:ext cx="272" cy="318"/>
            </a:xfrm>
            <a:prstGeom prst="triangle">
              <a:avLst>
                <a:gd name="adj" fmla="val 50000"/>
              </a:avLst>
            </a:prstGeom>
            <a:noFill/>
            <a:ln w="19050" algn="ctr">
              <a:solidFill>
                <a:schemeClr val="tx1"/>
              </a:solidFill>
              <a:miter lim="800000"/>
            </a:ln>
          </p:spPr>
          <p:txBody>
            <a:bodyPr wrap="none" anchor="ctr"/>
            <a:lstStyle/>
            <a:p>
              <a:pPr algn="ctr" eaLnBrk="0" hangingPunct="0"/>
              <a:endParaRPr lang="zh-CN" altLang="zh-CN" sz="2800">
                <a:solidFill>
                  <a:srgbClr val="DC5C7A"/>
                </a:solidFill>
              </a:endParaRPr>
            </a:p>
          </p:txBody>
        </p:sp>
        <p:cxnSp>
          <p:nvCxnSpPr>
            <p:cNvPr id="46" name="AutoShape 13"/>
            <p:cNvCxnSpPr>
              <a:cxnSpLocks noChangeShapeType="1"/>
              <a:stCxn id="45" idx="3"/>
            </p:cNvCxnSpPr>
            <p:nvPr/>
          </p:nvCxnSpPr>
          <p:spPr bwMode="auto">
            <a:xfrm>
              <a:off x="3560" y="2789"/>
              <a:ext cx="0" cy="635"/>
            </a:xfrm>
            <a:prstGeom prst="straightConnector1">
              <a:avLst/>
            </a:prstGeom>
            <a:noFill/>
            <a:ln w="19050">
              <a:solidFill>
                <a:schemeClr val="tx1"/>
              </a:solidFill>
              <a:round/>
            </a:ln>
          </p:spPr>
        </p:cxnSp>
      </p:grpSp>
      <p:sp>
        <p:nvSpPr>
          <p:cNvPr id="47" name="Line 14"/>
          <p:cNvSpPr>
            <a:spLocks noChangeShapeType="1"/>
          </p:cNvSpPr>
          <p:nvPr/>
        </p:nvSpPr>
        <p:spPr bwMode="auto">
          <a:xfrm flipH="1">
            <a:off x="5723832" y="1491854"/>
            <a:ext cx="1152525" cy="485775"/>
          </a:xfrm>
          <a:prstGeom prst="line">
            <a:avLst/>
          </a:prstGeom>
          <a:noFill/>
          <a:ln w="9525">
            <a:solidFill>
              <a:schemeClr val="tx1"/>
            </a:solidFill>
            <a:round/>
          </a:ln>
        </p:spPr>
        <p:txBody>
          <a:bodyPr wrap="none" anchor="ctr"/>
          <a:lstStyle/>
          <a:p>
            <a:endParaRPr lang="zh-CN" altLang="en-US"/>
          </a:p>
        </p:txBody>
      </p:sp>
      <p:sp>
        <p:nvSpPr>
          <p:cNvPr id="48" name="Line 15"/>
          <p:cNvSpPr>
            <a:spLocks noChangeShapeType="1"/>
          </p:cNvSpPr>
          <p:nvPr/>
        </p:nvSpPr>
        <p:spPr bwMode="auto">
          <a:xfrm flipH="1">
            <a:off x="5434907" y="1977629"/>
            <a:ext cx="288925" cy="810815"/>
          </a:xfrm>
          <a:prstGeom prst="line">
            <a:avLst/>
          </a:prstGeom>
          <a:noFill/>
          <a:ln w="9525">
            <a:solidFill>
              <a:schemeClr val="tx1"/>
            </a:solidFill>
            <a:round/>
          </a:ln>
        </p:spPr>
        <p:txBody>
          <a:bodyPr wrap="none" anchor="ctr"/>
          <a:lstStyle/>
          <a:p>
            <a:endParaRPr lang="zh-CN" altLang="en-US"/>
          </a:p>
        </p:txBody>
      </p:sp>
      <p:sp>
        <p:nvSpPr>
          <p:cNvPr id="49" name="Line 16"/>
          <p:cNvSpPr>
            <a:spLocks noChangeShapeType="1"/>
          </p:cNvSpPr>
          <p:nvPr/>
        </p:nvSpPr>
        <p:spPr bwMode="auto">
          <a:xfrm>
            <a:off x="5723831" y="1978819"/>
            <a:ext cx="0" cy="809625"/>
          </a:xfrm>
          <a:prstGeom prst="line">
            <a:avLst/>
          </a:prstGeom>
          <a:noFill/>
          <a:ln w="9525">
            <a:solidFill>
              <a:schemeClr val="tx1"/>
            </a:solidFill>
            <a:round/>
          </a:ln>
        </p:spPr>
        <p:txBody>
          <a:bodyPr wrap="none" anchor="ctr"/>
          <a:lstStyle/>
          <a:p>
            <a:endParaRPr lang="zh-CN" altLang="en-US"/>
          </a:p>
        </p:txBody>
      </p:sp>
      <p:sp>
        <p:nvSpPr>
          <p:cNvPr id="50" name="Line 17"/>
          <p:cNvSpPr>
            <a:spLocks noChangeShapeType="1"/>
          </p:cNvSpPr>
          <p:nvPr/>
        </p:nvSpPr>
        <p:spPr bwMode="auto">
          <a:xfrm>
            <a:off x="5723831" y="1977628"/>
            <a:ext cx="792162" cy="919163"/>
          </a:xfrm>
          <a:prstGeom prst="line">
            <a:avLst/>
          </a:prstGeom>
          <a:noFill/>
          <a:ln w="9525">
            <a:solidFill>
              <a:schemeClr val="tx1"/>
            </a:solidFill>
            <a:round/>
          </a:ln>
        </p:spPr>
        <p:txBody>
          <a:bodyPr wrap="none" anchor="ctr"/>
          <a:lstStyle/>
          <a:p>
            <a:endParaRPr lang="zh-CN" altLang="en-US"/>
          </a:p>
        </p:txBody>
      </p:sp>
      <p:sp>
        <p:nvSpPr>
          <p:cNvPr id="51" name="Line 18"/>
          <p:cNvSpPr>
            <a:spLocks noChangeShapeType="1"/>
          </p:cNvSpPr>
          <p:nvPr/>
        </p:nvSpPr>
        <p:spPr bwMode="auto">
          <a:xfrm>
            <a:off x="7308157" y="1546623"/>
            <a:ext cx="503237" cy="701278"/>
          </a:xfrm>
          <a:prstGeom prst="line">
            <a:avLst/>
          </a:prstGeom>
          <a:noFill/>
          <a:ln w="9525">
            <a:solidFill>
              <a:schemeClr val="tx1"/>
            </a:solidFill>
            <a:round/>
          </a:ln>
        </p:spPr>
        <p:txBody>
          <a:bodyPr wrap="none" anchor="ctr"/>
          <a:lstStyle/>
          <a:p>
            <a:endParaRPr lang="zh-CN" altLang="en-US"/>
          </a:p>
        </p:txBody>
      </p:sp>
      <p:sp>
        <p:nvSpPr>
          <p:cNvPr id="52" name="Line 19"/>
          <p:cNvSpPr>
            <a:spLocks noChangeShapeType="1"/>
          </p:cNvSpPr>
          <p:nvPr/>
        </p:nvSpPr>
        <p:spPr bwMode="auto">
          <a:xfrm flipH="1">
            <a:off x="6803331" y="2247900"/>
            <a:ext cx="1008062" cy="648891"/>
          </a:xfrm>
          <a:prstGeom prst="line">
            <a:avLst/>
          </a:prstGeom>
          <a:noFill/>
          <a:ln w="9525">
            <a:solidFill>
              <a:schemeClr val="tx1"/>
            </a:solidFill>
            <a:round/>
          </a:ln>
        </p:spPr>
        <p:txBody>
          <a:bodyPr wrap="none" anchor="ctr"/>
          <a:lstStyle/>
          <a:p>
            <a:endParaRPr lang="zh-CN" altLang="en-US"/>
          </a:p>
        </p:txBody>
      </p:sp>
      <p:pic>
        <p:nvPicPr>
          <p:cNvPr id="53" name="Picture 20" descr="MCj02907610000[1]"/>
          <p:cNvPicPr>
            <a:picLocks noChangeAspect="1" noChangeArrowheads="1"/>
          </p:cNvPicPr>
          <p:nvPr/>
        </p:nvPicPr>
        <p:blipFill>
          <a:blip r:embed="rId3" cstate="print"/>
          <a:srcRect/>
          <a:stretch>
            <a:fillRect/>
          </a:stretch>
        </p:blipFill>
        <p:spPr bwMode="auto">
          <a:xfrm>
            <a:off x="4858643" y="2788444"/>
            <a:ext cx="647700" cy="283369"/>
          </a:xfrm>
          <a:prstGeom prst="rect">
            <a:avLst/>
          </a:prstGeom>
          <a:noFill/>
          <a:ln w="9525">
            <a:noFill/>
            <a:miter lim="800000"/>
            <a:headEnd/>
            <a:tailEnd/>
          </a:ln>
        </p:spPr>
      </p:pic>
      <p:sp>
        <p:nvSpPr>
          <p:cNvPr id="54" name="Line 21"/>
          <p:cNvSpPr>
            <a:spLocks noChangeShapeType="1"/>
          </p:cNvSpPr>
          <p:nvPr/>
        </p:nvSpPr>
        <p:spPr bwMode="auto">
          <a:xfrm flipH="1">
            <a:off x="7668519" y="2247900"/>
            <a:ext cx="142875" cy="702469"/>
          </a:xfrm>
          <a:prstGeom prst="line">
            <a:avLst/>
          </a:prstGeom>
          <a:noFill/>
          <a:ln w="9525">
            <a:solidFill>
              <a:schemeClr val="tx1"/>
            </a:solidFill>
            <a:round/>
          </a:ln>
        </p:spPr>
        <p:txBody>
          <a:bodyPr wrap="none" anchor="ctr"/>
          <a:lstStyle/>
          <a:p>
            <a:endParaRPr lang="zh-CN" altLang="en-US"/>
          </a:p>
        </p:txBody>
      </p:sp>
      <p:sp>
        <p:nvSpPr>
          <p:cNvPr id="55" name="Line 22"/>
          <p:cNvSpPr>
            <a:spLocks noChangeShapeType="1"/>
          </p:cNvSpPr>
          <p:nvPr/>
        </p:nvSpPr>
        <p:spPr bwMode="auto">
          <a:xfrm>
            <a:off x="7811394" y="2247900"/>
            <a:ext cx="360363" cy="702469"/>
          </a:xfrm>
          <a:prstGeom prst="line">
            <a:avLst/>
          </a:prstGeom>
          <a:noFill/>
          <a:ln w="9525">
            <a:solidFill>
              <a:schemeClr val="tx1"/>
            </a:solidFill>
            <a:round/>
          </a:ln>
        </p:spPr>
        <p:txBody>
          <a:bodyPr wrap="none" anchor="ctr"/>
          <a:lstStyle/>
          <a:p>
            <a:endParaRPr lang="zh-CN" altLang="en-US"/>
          </a:p>
        </p:txBody>
      </p:sp>
      <p:sp>
        <p:nvSpPr>
          <p:cNvPr id="56" name="Line 24"/>
          <p:cNvSpPr>
            <a:spLocks noChangeShapeType="1"/>
          </p:cNvSpPr>
          <p:nvPr/>
        </p:nvSpPr>
        <p:spPr bwMode="auto">
          <a:xfrm flipH="1">
            <a:off x="5723832" y="1491854"/>
            <a:ext cx="1152525" cy="485775"/>
          </a:xfrm>
          <a:prstGeom prst="line">
            <a:avLst/>
          </a:prstGeom>
          <a:noFill/>
          <a:ln w="9525">
            <a:solidFill>
              <a:schemeClr val="tx1"/>
            </a:solidFill>
            <a:round/>
          </a:ln>
        </p:spPr>
        <p:txBody>
          <a:bodyPr wrap="none" anchor="ctr"/>
          <a:lstStyle/>
          <a:p>
            <a:endParaRPr lang="zh-CN" altLang="en-US"/>
          </a:p>
        </p:txBody>
      </p:sp>
      <p:sp>
        <p:nvSpPr>
          <p:cNvPr id="57" name="Line 25"/>
          <p:cNvSpPr>
            <a:spLocks noChangeShapeType="1"/>
          </p:cNvSpPr>
          <p:nvPr/>
        </p:nvSpPr>
        <p:spPr bwMode="auto">
          <a:xfrm flipH="1">
            <a:off x="5434907" y="1977629"/>
            <a:ext cx="288925" cy="810815"/>
          </a:xfrm>
          <a:prstGeom prst="line">
            <a:avLst/>
          </a:prstGeom>
          <a:noFill/>
          <a:ln w="9525">
            <a:solidFill>
              <a:schemeClr val="tx1"/>
            </a:solidFill>
            <a:round/>
          </a:ln>
        </p:spPr>
        <p:txBody>
          <a:bodyPr wrap="none" anchor="ctr"/>
          <a:lstStyle/>
          <a:p>
            <a:endParaRPr lang="zh-CN" altLang="en-US"/>
          </a:p>
        </p:txBody>
      </p:sp>
      <p:sp>
        <p:nvSpPr>
          <p:cNvPr id="58" name="Line 26"/>
          <p:cNvSpPr>
            <a:spLocks noChangeShapeType="1"/>
          </p:cNvSpPr>
          <p:nvPr/>
        </p:nvSpPr>
        <p:spPr bwMode="auto">
          <a:xfrm>
            <a:off x="5723831" y="1978819"/>
            <a:ext cx="0" cy="809625"/>
          </a:xfrm>
          <a:prstGeom prst="line">
            <a:avLst/>
          </a:prstGeom>
          <a:noFill/>
          <a:ln w="9525">
            <a:solidFill>
              <a:schemeClr val="tx1"/>
            </a:solidFill>
            <a:round/>
          </a:ln>
        </p:spPr>
        <p:txBody>
          <a:bodyPr wrap="none" anchor="ctr"/>
          <a:lstStyle/>
          <a:p>
            <a:endParaRPr lang="zh-CN" altLang="en-US"/>
          </a:p>
        </p:txBody>
      </p:sp>
      <p:sp>
        <p:nvSpPr>
          <p:cNvPr id="59" name="Line 27"/>
          <p:cNvSpPr>
            <a:spLocks noChangeShapeType="1"/>
          </p:cNvSpPr>
          <p:nvPr/>
        </p:nvSpPr>
        <p:spPr bwMode="auto">
          <a:xfrm>
            <a:off x="5723831" y="1977628"/>
            <a:ext cx="792162" cy="919163"/>
          </a:xfrm>
          <a:prstGeom prst="line">
            <a:avLst/>
          </a:prstGeom>
          <a:noFill/>
          <a:ln w="9525">
            <a:solidFill>
              <a:schemeClr val="tx1"/>
            </a:solidFill>
            <a:round/>
          </a:ln>
        </p:spPr>
        <p:txBody>
          <a:bodyPr wrap="none" anchor="ctr"/>
          <a:lstStyle/>
          <a:p>
            <a:endParaRPr lang="zh-CN" altLang="en-US"/>
          </a:p>
        </p:txBody>
      </p:sp>
      <p:sp>
        <p:nvSpPr>
          <p:cNvPr id="60" name="Line 28"/>
          <p:cNvSpPr>
            <a:spLocks noChangeShapeType="1"/>
          </p:cNvSpPr>
          <p:nvPr/>
        </p:nvSpPr>
        <p:spPr bwMode="auto">
          <a:xfrm>
            <a:off x="7308157" y="1546623"/>
            <a:ext cx="503237" cy="701278"/>
          </a:xfrm>
          <a:prstGeom prst="line">
            <a:avLst/>
          </a:prstGeom>
          <a:noFill/>
          <a:ln w="9525">
            <a:solidFill>
              <a:schemeClr val="tx1"/>
            </a:solidFill>
            <a:round/>
          </a:ln>
        </p:spPr>
        <p:txBody>
          <a:bodyPr wrap="none" anchor="ctr"/>
          <a:lstStyle/>
          <a:p>
            <a:endParaRPr lang="zh-CN" altLang="en-US"/>
          </a:p>
        </p:txBody>
      </p:sp>
      <p:sp>
        <p:nvSpPr>
          <p:cNvPr id="61" name="Line 29"/>
          <p:cNvSpPr>
            <a:spLocks noChangeShapeType="1"/>
          </p:cNvSpPr>
          <p:nvPr/>
        </p:nvSpPr>
        <p:spPr bwMode="auto">
          <a:xfrm flipH="1">
            <a:off x="6803331" y="2247900"/>
            <a:ext cx="1008062" cy="648891"/>
          </a:xfrm>
          <a:prstGeom prst="line">
            <a:avLst/>
          </a:prstGeom>
          <a:noFill/>
          <a:ln w="9525">
            <a:solidFill>
              <a:schemeClr val="tx1"/>
            </a:solidFill>
            <a:round/>
          </a:ln>
        </p:spPr>
        <p:txBody>
          <a:bodyPr wrap="none" anchor="ctr"/>
          <a:lstStyle/>
          <a:p>
            <a:endParaRPr lang="zh-CN" altLang="en-US"/>
          </a:p>
        </p:txBody>
      </p:sp>
      <p:sp>
        <p:nvSpPr>
          <p:cNvPr id="62" name="Line 30"/>
          <p:cNvSpPr>
            <a:spLocks noChangeShapeType="1"/>
          </p:cNvSpPr>
          <p:nvPr/>
        </p:nvSpPr>
        <p:spPr bwMode="auto">
          <a:xfrm flipH="1">
            <a:off x="7668519" y="2247900"/>
            <a:ext cx="142875" cy="702469"/>
          </a:xfrm>
          <a:prstGeom prst="line">
            <a:avLst/>
          </a:prstGeom>
          <a:noFill/>
          <a:ln w="9525">
            <a:solidFill>
              <a:schemeClr val="tx1"/>
            </a:solidFill>
            <a:round/>
          </a:ln>
        </p:spPr>
        <p:txBody>
          <a:bodyPr wrap="none" anchor="ctr"/>
          <a:lstStyle/>
          <a:p>
            <a:endParaRPr lang="zh-CN" altLang="en-US"/>
          </a:p>
        </p:txBody>
      </p:sp>
      <p:sp>
        <p:nvSpPr>
          <p:cNvPr id="63" name="Line 31"/>
          <p:cNvSpPr>
            <a:spLocks noChangeShapeType="1"/>
          </p:cNvSpPr>
          <p:nvPr/>
        </p:nvSpPr>
        <p:spPr bwMode="auto">
          <a:xfrm>
            <a:off x="7811394" y="2247900"/>
            <a:ext cx="360363" cy="702469"/>
          </a:xfrm>
          <a:prstGeom prst="line">
            <a:avLst/>
          </a:prstGeom>
          <a:noFill/>
          <a:ln w="9525">
            <a:solidFill>
              <a:schemeClr val="tx1"/>
            </a:solidFill>
            <a:round/>
          </a:ln>
        </p:spPr>
        <p:txBody>
          <a:bodyPr wrap="none" anchor="ctr"/>
          <a:lstStyle/>
          <a:p>
            <a:endParaRPr lang="zh-CN" altLang="en-US"/>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repeatCount="2000" accel="50000" decel="50000" fill="hold" nodeType="clickEffect">
                                  <p:stCondLst>
                                    <p:cond delay="0"/>
                                  </p:stCondLst>
                                  <p:childTnLst>
                                    <p:animMotion origin="layout" path="M 1.66667E-6 1.50289E-6 L 0.35052 0.03537 " pathEditMode="relative" rAng="0" ptsTypes="AA">
                                      <p:cBhvr>
                                        <p:cTn id="6" dur="6700" fill="hold"/>
                                        <p:tgtEl>
                                          <p:spTgt spid="53"/>
                                        </p:tgtEl>
                                        <p:attrNameLst>
                                          <p:attrName>ppt_x</p:attrName>
                                          <p:attrName>ppt_y</p:attrName>
                                        </p:attrNameLst>
                                      </p:cBhvr>
                                      <p:rCtr x="175" y="18"/>
                                    </p:animMotion>
                                  </p:childTnLst>
                                </p:cTn>
                              </p:par>
                              <p:par>
                                <p:cTn id="7" presetID="22" presetClass="entr" presetSubtype="1"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wipe(up)">
                                      <p:cBhvr>
                                        <p:cTn id="9" dur="500"/>
                                        <p:tgtEl>
                                          <p:spTgt spid="47"/>
                                        </p:tgtEl>
                                      </p:cBhvr>
                                    </p:animEffect>
                                  </p:childTnLst>
                                </p:cTn>
                              </p:par>
                              <p:par>
                                <p:cTn id="10" presetID="22" presetClass="entr" presetSubtype="1" fill="remove" grpId="0" nodeType="withEffect">
                                  <p:stCondLst>
                                    <p:cond delay="500"/>
                                  </p:stCondLst>
                                  <p:childTnLst>
                                    <p:set>
                                      <p:cBhvr>
                                        <p:cTn id="11" dur="1" fill="hold">
                                          <p:stCondLst>
                                            <p:cond delay="0"/>
                                          </p:stCondLst>
                                        </p:cTn>
                                        <p:tgtEl>
                                          <p:spTgt spid="48"/>
                                        </p:tgtEl>
                                        <p:attrNameLst>
                                          <p:attrName>style.visibility</p:attrName>
                                        </p:attrNameLst>
                                      </p:cBhvr>
                                      <p:to>
                                        <p:strVal val="visible"/>
                                      </p:to>
                                    </p:set>
                                    <p:animEffect transition="in" filter="wipe(up)">
                                      <p:cBhvr>
                                        <p:cTn id="12" dur="600"/>
                                        <p:tgtEl>
                                          <p:spTgt spid="48"/>
                                        </p:tgtEl>
                                      </p:cBhvr>
                                    </p:animEffect>
                                  </p:childTnLst>
                                </p:cTn>
                              </p:par>
                              <p:par>
                                <p:cTn id="13" presetID="22" presetClass="entr" presetSubtype="1" fill="remove" grpId="0" nodeType="withEffect">
                                  <p:stCondLst>
                                    <p:cond delay="1300"/>
                                  </p:stCondLst>
                                  <p:childTnLst>
                                    <p:set>
                                      <p:cBhvr>
                                        <p:cTn id="14" dur="1" fill="hold">
                                          <p:stCondLst>
                                            <p:cond delay="0"/>
                                          </p:stCondLst>
                                        </p:cTn>
                                        <p:tgtEl>
                                          <p:spTgt spid="49"/>
                                        </p:tgtEl>
                                        <p:attrNameLst>
                                          <p:attrName>style.visibility</p:attrName>
                                        </p:attrNameLst>
                                      </p:cBhvr>
                                      <p:to>
                                        <p:strVal val="visible"/>
                                      </p:to>
                                    </p:set>
                                    <p:animEffect transition="in" filter="wipe(up)">
                                      <p:cBhvr>
                                        <p:cTn id="15" dur="600"/>
                                        <p:tgtEl>
                                          <p:spTgt spid="49"/>
                                        </p:tgtEl>
                                      </p:cBhvr>
                                    </p:animEffect>
                                  </p:childTnLst>
                                </p:cTn>
                              </p:par>
                              <p:par>
                                <p:cTn id="16" presetID="22" presetClass="entr" presetSubtype="1" fill="hold" grpId="0" nodeType="withEffect">
                                  <p:stCondLst>
                                    <p:cond delay="2000"/>
                                  </p:stCondLst>
                                  <p:childTnLst>
                                    <p:set>
                                      <p:cBhvr>
                                        <p:cTn id="17" dur="1" fill="hold">
                                          <p:stCondLst>
                                            <p:cond delay="0"/>
                                          </p:stCondLst>
                                        </p:cTn>
                                        <p:tgtEl>
                                          <p:spTgt spid="50"/>
                                        </p:tgtEl>
                                        <p:attrNameLst>
                                          <p:attrName>style.visibility</p:attrName>
                                        </p:attrNameLst>
                                      </p:cBhvr>
                                      <p:to>
                                        <p:strVal val="visible"/>
                                      </p:to>
                                    </p:set>
                                    <p:animEffect transition="in" filter="wipe(up)">
                                      <p:cBhvr>
                                        <p:cTn id="18" dur="700"/>
                                        <p:tgtEl>
                                          <p:spTgt spid="50"/>
                                        </p:tgtEl>
                                      </p:cBhvr>
                                    </p:animEffect>
                                  </p:childTnLst>
                                </p:cTn>
                              </p:par>
                              <p:par>
                                <p:cTn id="19" presetID="1" presetClass="exit" presetSubtype="0" fill="hold" grpId="1" nodeType="withEffect">
                                  <p:stCondLst>
                                    <p:cond delay="3700"/>
                                  </p:stCondLst>
                                  <p:childTnLst>
                                    <p:set>
                                      <p:cBhvr>
                                        <p:cTn id="20" dur="1" fill="hold">
                                          <p:stCondLst>
                                            <p:cond delay="0"/>
                                          </p:stCondLst>
                                        </p:cTn>
                                        <p:tgtEl>
                                          <p:spTgt spid="47"/>
                                        </p:tgtEl>
                                        <p:attrNameLst>
                                          <p:attrName>style.visibility</p:attrName>
                                        </p:attrNameLst>
                                      </p:cBhvr>
                                      <p:to>
                                        <p:strVal val="hidden"/>
                                      </p:to>
                                    </p:set>
                                  </p:childTnLst>
                                </p:cTn>
                              </p:par>
                              <p:par>
                                <p:cTn id="21" presetID="1" presetClass="exit" presetSubtype="0" fill="hold" grpId="1" nodeType="withEffect">
                                  <p:stCondLst>
                                    <p:cond delay="3700"/>
                                  </p:stCondLst>
                                  <p:childTnLst>
                                    <p:set>
                                      <p:cBhvr>
                                        <p:cTn id="22" dur="1" fill="hold">
                                          <p:stCondLst>
                                            <p:cond delay="0"/>
                                          </p:stCondLst>
                                        </p:cTn>
                                        <p:tgtEl>
                                          <p:spTgt spid="50"/>
                                        </p:tgtEl>
                                        <p:attrNameLst>
                                          <p:attrName>style.visibility</p:attrName>
                                        </p:attrNameLst>
                                      </p:cBhvr>
                                      <p:to>
                                        <p:strVal val="hidden"/>
                                      </p:to>
                                    </p:set>
                                  </p:childTnLst>
                                </p:cTn>
                              </p:par>
                              <p:par>
                                <p:cTn id="23" presetID="22" presetClass="entr" presetSubtype="1" fill="hold" grpId="0" nodeType="withEffect">
                                  <p:stCondLst>
                                    <p:cond delay="2200"/>
                                  </p:stCondLst>
                                  <p:childTnLst>
                                    <p:set>
                                      <p:cBhvr>
                                        <p:cTn id="24" dur="1" fill="hold">
                                          <p:stCondLst>
                                            <p:cond delay="0"/>
                                          </p:stCondLst>
                                        </p:cTn>
                                        <p:tgtEl>
                                          <p:spTgt spid="51"/>
                                        </p:tgtEl>
                                        <p:attrNameLst>
                                          <p:attrName>style.visibility</p:attrName>
                                        </p:attrNameLst>
                                      </p:cBhvr>
                                      <p:to>
                                        <p:strVal val="visible"/>
                                      </p:to>
                                    </p:set>
                                    <p:animEffect transition="in" filter="wipe(up)">
                                      <p:cBhvr>
                                        <p:cTn id="25" dur="500"/>
                                        <p:tgtEl>
                                          <p:spTgt spid="51"/>
                                        </p:tgtEl>
                                      </p:cBhvr>
                                    </p:animEffect>
                                  </p:childTnLst>
                                </p:cTn>
                              </p:par>
                              <p:par>
                                <p:cTn id="26" presetID="1" presetClass="exit" presetSubtype="0" fill="hold" grpId="1" nodeType="withEffect">
                                  <p:stCondLst>
                                    <p:cond delay="6700"/>
                                  </p:stCondLst>
                                  <p:childTnLst>
                                    <p:set>
                                      <p:cBhvr>
                                        <p:cTn id="27" dur="1" fill="hold">
                                          <p:stCondLst>
                                            <p:cond delay="0"/>
                                          </p:stCondLst>
                                        </p:cTn>
                                        <p:tgtEl>
                                          <p:spTgt spid="51"/>
                                        </p:tgtEl>
                                        <p:attrNameLst>
                                          <p:attrName>style.visibility</p:attrName>
                                        </p:attrNameLst>
                                      </p:cBhvr>
                                      <p:to>
                                        <p:strVal val="hidden"/>
                                      </p:to>
                                    </p:set>
                                  </p:childTnLst>
                                </p:cTn>
                              </p:par>
                              <p:par>
                                <p:cTn id="28" presetID="22" presetClass="entr" presetSubtype="1" fill="hold" grpId="0" nodeType="withEffect">
                                  <p:stCondLst>
                                    <p:cond delay="2700"/>
                                  </p:stCondLst>
                                  <p:childTnLst>
                                    <p:set>
                                      <p:cBhvr>
                                        <p:cTn id="29" dur="1" fill="hold">
                                          <p:stCondLst>
                                            <p:cond delay="0"/>
                                          </p:stCondLst>
                                        </p:cTn>
                                        <p:tgtEl>
                                          <p:spTgt spid="52"/>
                                        </p:tgtEl>
                                        <p:attrNameLst>
                                          <p:attrName>style.visibility</p:attrName>
                                        </p:attrNameLst>
                                      </p:cBhvr>
                                      <p:to>
                                        <p:strVal val="visible"/>
                                      </p:to>
                                    </p:set>
                                    <p:animEffect transition="in" filter="wipe(up)">
                                      <p:cBhvr>
                                        <p:cTn id="30" dur="500"/>
                                        <p:tgtEl>
                                          <p:spTgt spid="52"/>
                                        </p:tgtEl>
                                      </p:cBhvr>
                                    </p:animEffect>
                                  </p:childTnLst>
                                </p:cTn>
                              </p:par>
                              <p:par>
                                <p:cTn id="31" presetID="1" presetClass="exit" presetSubtype="0" fill="hold" grpId="1" nodeType="withEffect">
                                  <p:stCondLst>
                                    <p:cond delay="3700"/>
                                  </p:stCondLst>
                                  <p:childTnLst>
                                    <p:set>
                                      <p:cBhvr>
                                        <p:cTn id="32" dur="1" fill="hold">
                                          <p:stCondLst>
                                            <p:cond delay="0"/>
                                          </p:stCondLst>
                                        </p:cTn>
                                        <p:tgtEl>
                                          <p:spTgt spid="52"/>
                                        </p:tgtEl>
                                        <p:attrNameLst>
                                          <p:attrName>style.visibility</p:attrName>
                                        </p:attrNameLst>
                                      </p:cBhvr>
                                      <p:to>
                                        <p:strVal val="hidden"/>
                                      </p:to>
                                    </p:set>
                                  </p:childTnLst>
                                </p:cTn>
                              </p:par>
                              <p:par>
                                <p:cTn id="33" presetID="22" presetClass="entr" presetSubtype="1" fill="remove" grpId="0" nodeType="withEffect">
                                  <p:stCondLst>
                                    <p:cond delay="3900"/>
                                  </p:stCondLst>
                                  <p:childTnLst>
                                    <p:set>
                                      <p:cBhvr>
                                        <p:cTn id="34" dur="1" fill="hold">
                                          <p:stCondLst>
                                            <p:cond delay="0"/>
                                          </p:stCondLst>
                                        </p:cTn>
                                        <p:tgtEl>
                                          <p:spTgt spid="54"/>
                                        </p:tgtEl>
                                        <p:attrNameLst>
                                          <p:attrName>style.visibility</p:attrName>
                                        </p:attrNameLst>
                                      </p:cBhvr>
                                      <p:to>
                                        <p:strVal val="visible"/>
                                      </p:to>
                                    </p:set>
                                    <p:animEffect transition="in" filter="wipe(up)">
                                      <p:cBhvr>
                                        <p:cTn id="35" dur="600"/>
                                        <p:tgtEl>
                                          <p:spTgt spid="54"/>
                                        </p:tgtEl>
                                      </p:cBhvr>
                                    </p:animEffect>
                                  </p:childTnLst>
                                </p:cTn>
                              </p:par>
                              <p:par>
                                <p:cTn id="36" presetID="22" presetClass="entr" presetSubtype="1" fill="hold" grpId="0" nodeType="withEffect">
                                  <p:stCondLst>
                                    <p:cond delay="4500"/>
                                  </p:stCondLst>
                                  <p:childTnLst>
                                    <p:set>
                                      <p:cBhvr>
                                        <p:cTn id="37" dur="1" fill="hold">
                                          <p:stCondLst>
                                            <p:cond delay="0"/>
                                          </p:stCondLst>
                                        </p:cTn>
                                        <p:tgtEl>
                                          <p:spTgt spid="55"/>
                                        </p:tgtEl>
                                        <p:attrNameLst>
                                          <p:attrName>style.visibility</p:attrName>
                                        </p:attrNameLst>
                                      </p:cBhvr>
                                      <p:to>
                                        <p:strVal val="visible"/>
                                      </p:to>
                                    </p:set>
                                    <p:animEffect transition="in" filter="wipe(up)">
                                      <p:cBhvr>
                                        <p:cTn id="38" dur="600"/>
                                        <p:tgtEl>
                                          <p:spTgt spid="55"/>
                                        </p:tgtEl>
                                      </p:cBhvr>
                                    </p:animEffect>
                                  </p:childTnLst>
                                </p:cTn>
                              </p:par>
                              <p:par>
                                <p:cTn id="39" presetID="1" presetClass="exit" presetSubtype="0" fill="hold" grpId="1" nodeType="withEffect">
                                  <p:stCondLst>
                                    <p:cond delay="6700"/>
                                  </p:stCondLst>
                                  <p:childTnLst>
                                    <p:set>
                                      <p:cBhvr>
                                        <p:cTn id="40" dur="1" fill="hold">
                                          <p:stCondLst>
                                            <p:cond delay="0"/>
                                          </p:stCondLst>
                                        </p:cTn>
                                        <p:tgtEl>
                                          <p:spTgt spid="55"/>
                                        </p:tgtEl>
                                        <p:attrNameLst>
                                          <p:attrName>style.visibility</p:attrName>
                                        </p:attrNameLst>
                                      </p:cBhvr>
                                      <p:to>
                                        <p:strVal val="hidden"/>
                                      </p:to>
                                    </p:set>
                                  </p:childTnLst>
                                </p:cTn>
                              </p:par>
                              <p:par>
                                <p:cTn id="41" presetID="22" presetClass="entr" presetSubtype="1" fill="hold" grpId="0" nodeType="withEffect">
                                  <p:stCondLst>
                                    <p:cond delay="6700"/>
                                  </p:stCondLst>
                                  <p:childTnLst>
                                    <p:set>
                                      <p:cBhvr>
                                        <p:cTn id="42" dur="1" fill="hold">
                                          <p:stCondLst>
                                            <p:cond delay="0"/>
                                          </p:stCondLst>
                                        </p:cTn>
                                        <p:tgtEl>
                                          <p:spTgt spid="56"/>
                                        </p:tgtEl>
                                        <p:attrNameLst>
                                          <p:attrName>style.visibility</p:attrName>
                                        </p:attrNameLst>
                                      </p:cBhvr>
                                      <p:to>
                                        <p:strVal val="visible"/>
                                      </p:to>
                                    </p:set>
                                    <p:animEffect transition="in" filter="wipe(up)">
                                      <p:cBhvr>
                                        <p:cTn id="43" dur="500"/>
                                        <p:tgtEl>
                                          <p:spTgt spid="56"/>
                                        </p:tgtEl>
                                      </p:cBhvr>
                                    </p:animEffect>
                                  </p:childTnLst>
                                </p:cTn>
                              </p:par>
                              <p:par>
                                <p:cTn id="44" presetID="22" presetClass="entr" presetSubtype="1" fill="remove" grpId="0" nodeType="withEffect">
                                  <p:stCondLst>
                                    <p:cond delay="7200"/>
                                  </p:stCondLst>
                                  <p:childTnLst>
                                    <p:set>
                                      <p:cBhvr>
                                        <p:cTn id="45" dur="1" fill="hold">
                                          <p:stCondLst>
                                            <p:cond delay="0"/>
                                          </p:stCondLst>
                                        </p:cTn>
                                        <p:tgtEl>
                                          <p:spTgt spid="57"/>
                                        </p:tgtEl>
                                        <p:attrNameLst>
                                          <p:attrName>style.visibility</p:attrName>
                                        </p:attrNameLst>
                                      </p:cBhvr>
                                      <p:to>
                                        <p:strVal val="visible"/>
                                      </p:to>
                                    </p:set>
                                    <p:animEffect transition="in" filter="wipe(up)">
                                      <p:cBhvr>
                                        <p:cTn id="46" dur="600"/>
                                        <p:tgtEl>
                                          <p:spTgt spid="57"/>
                                        </p:tgtEl>
                                      </p:cBhvr>
                                    </p:animEffect>
                                  </p:childTnLst>
                                </p:cTn>
                              </p:par>
                              <p:par>
                                <p:cTn id="47" presetID="22" presetClass="entr" presetSubtype="1" fill="remove" grpId="0" nodeType="withEffect">
                                  <p:stCondLst>
                                    <p:cond delay="8000"/>
                                  </p:stCondLst>
                                  <p:childTnLst>
                                    <p:set>
                                      <p:cBhvr>
                                        <p:cTn id="48" dur="1" fill="hold">
                                          <p:stCondLst>
                                            <p:cond delay="0"/>
                                          </p:stCondLst>
                                        </p:cTn>
                                        <p:tgtEl>
                                          <p:spTgt spid="58"/>
                                        </p:tgtEl>
                                        <p:attrNameLst>
                                          <p:attrName>style.visibility</p:attrName>
                                        </p:attrNameLst>
                                      </p:cBhvr>
                                      <p:to>
                                        <p:strVal val="visible"/>
                                      </p:to>
                                    </p:set>
                                    <p:animEffect transition="in" filter="wipe(up)">
                                      <p:cBhvr>
                                        <p:cTn id="49" dur="600"/>
                                        <p:tgtEl>
                                          <p:spTgt spid="58"/>
                                        </p:tgtEl>
                                      </p:cBhvr>
                                    </p:animEffect>
                                  </p:childTnLst>
                                </p:cTn>
                              </p:par>
                              <p:par>
                                <p:cTn id="50" presetID="22" presetClass="entr" presetSubtype="1" fill="hold" grpId="0" nodeType="withEffect">
                                  <p:stCondLst>
                                    <p:cond delay="8700"/>
                                  </p:stCondLst>
                                  <p:childTnLst>
                                    <p:set>
                                      <p:cBhvr>
                                        <p:cTn id="51" dur="1" fill="hold">
                                          <p:stCondLst>
                                            <p:cond delay="0"/>
                                          </p:stCondLst>
                                        </p:cTn>
                                        <p:tgtEl>
                                          <p:spTgt spid="59"/>
                                        </p:tgtEl>
                                        <p:attrNameLst>
                                          <p:attrName>style.visibility</p:attrName>
                                        </p:attrNameLst>
                                      </p:cBhvr>
                                      <p:to>
                                        <p:strVal val="visible"/>
                                      </p:to>
                                    </p:set>
                                    <p:animEffect transition="in" filter="wipe(up)">
                                      <p:cBhvr>
                                        <p:cTn id="52" dur="700"/>
                                        <p:tgtEl>
                                          <p:spTgt spid="59"/>
                                        </p:tgtEl>
                                      </p:cBhvr>
                                    </p:animEffect>
                                  </p:childTnLst>
                                </p:cTn>
                              </p:par>
                              <p:par>
                                <p:cTn id="53" presetID="1" presetClass="exit" presetSubtype="0" fill="hold" grpId="1" nodeType="withEffect">
                                  <p:stCondLst>
                                    <p:cond delay="10400"/>
                                  </p:stCondLst>
                                  <p:childTnLst>
                                    <p:set>
                                      <p:cBhvr>
                                        <p:cTn id="54" dur="1" fill="hold">
                                          <p:stCondLst>
                                            <p:cond delay="0"/>
                                          </p:stCondLst>
                                        </p:cTn>
                                        <p:tgtEl>
                                          <p:spTgt spid="56"/>
                                        </p:tgtEl>
                                        <p:attrNameLst>
                                          <p:attrName>style.visibility</p:attrName>
                                        </p:attrNameLst>
                                      </p:cBhvr>
                                      <p:to>
                                        <p:strVal val="hidden"/>
                                      </p:to>
                                    </p:set>
                                  </p:childTnLst>
                                </p:cTn>
                              </p:par>
                              <p:par>
                                <p:cTn id="55" presetID="1" presetClass="exit" presetSubtype="0" fill="hold" grpId="1" nodeType="withEffect">
                                  <p:stCondLst>
                                    <p:cond delay="10400"/>
                                  </p:stCondLst>
                                  <p:childTnLst>
                                    <p:set>
                                      <p:cBhvr>
                                        <p:cTn id="56" dur="1" fill="hold">
                                          <p:stCondLst>
                                            <p:cond delay="0"/>
                                          </p:stCondLst>
                                        </p:cTn>
                                        <p:tgtEl>
                                          <p:spTgt spid="59"/>
                                        </p:tgtEl>
                                        <p:attrNameLst>
                                          <p:attrName>style.visibility</p:attrName>
                                        </p:attrNameLst>
                                      </p:cBhvr>
                                      <p:to>
                                        <p:strVal val="hidden"/>
                                      </p:to>
                                    </p:set>
                                  </p:childTnLst>
                                </p:cTn>
                              </p:par>
                              <p:par>
                                <p:cTn id="57" presetID="22" presetClass="entr" presetSubtype="1" fill="hold" grpId="0" nodeType="withEffect">
                                  <p:stCondLst>
                                    <p:cond delay="8900"/>
                                  </p:stCondLst>
                                  <p:childTnLst>
                                    <p:set>
                                      <p:cBhvr>
                                        <p:cTn id="58" dur="1" fill="hold">
                                          <p:stCondLst>
                                            <p:cond delay="0"/>
                                          </p:stCondLst>
                                        </p:cTn>
                                        <p:tgtEl>
                                          <p:spTgt spid="60"/>
                                        </p:tgtEl>
                                        <p:attrNameLst>
                                          <p:attrName>style.visibility</p:attrName>
                                        </p:attrNameLst>
                                      </p:cBhvr>
                                      <p:to>
                                        <p:strVal val="visible"/>
                                      </p:to>
                                    </p:set>
                                    <p:animEffect transition="in" filter="wipe(up)">
                                      <p:cBhvr>
                                        <p:cTn id="59" dur="500"/>
                                        <p:tgtEl>
                                          <p:spTgt spid="60"/>
                                        </p:tgtEl>
                                      </p:cBhvr>
                                    </p:animEffect>
                                  </p:childTnLst>
                                </p:cTn>
                              </p:par>
                              <p:par>
                                <p:cTn id="60" presetID="22" presetClass="entr" presetSubtype="1" fill="hold" grpId="0" nodeType="withEffect">
                                  <p:stCondLst>
                                    <p:cond delay="9400"/>
                                  </p:stCondLst>
                                  <p:childTnLst>
                                    <p:set>
                                      <p:cBhvr>
                                        <p:cTn id="61" dur="1" fill="hold">
                                          <p:stCondLst>
                                            <p:cond delay="0"/>
                                          </p:stCondLst>
                                        </p:cTn>
                                        <p:tgtEl>
                                          <p:spTgt spid="61"/>
                                        </p:tgtEl>
                                        <p:attrNameLst>
                                          <p:attrName>style.visibility</p:attrName>
                                        </p:attrNameLst>
                                      </p:cBhvr>
                                      <p:to>
                                        <p:strVal val="visible"/>
                                      </p:to>
                                    </p:set>
                                    <p:animEffect transition="in" filter="wipe(up)">
                                      <p:cBhvr>
                                        <p:cTn id="62" dur="500"/>
                                        <p:tgtEl>
                                          <p:spTgt spid="61"/>
                                        </p:tgtEl>
                                      </p:cBhvr>
                                    </p:animEffect>
                                  </p:childTnLst>
                                </p:cTn>
                              </p:par>
                              <p:par>
                                <p:cTn id="63" presetID="1" presetClass="exit" presetSubtype="0" fill="hold" grpId="1" nodeType="withEffect">
                                  <p:stCondLst>
                                    <p:cond delay="10400"/>
                                  </p:stCondLst>
                                  <p:childTnLst>
                                    <p:set>
                                      <p:cBhvr>
                                        <p:cTn id="64" dur="1" fill="hold">
                                          <p:stCondLst>
                                            <p:cond delay="0"/>
                                          </p:stCondLst>
                                        </p:cTn>
                                        <p:tgtEl>
                                          <p:spTgt spid="61"/>
                                        </p:tgtEl>
                                        <p:attrNameLst>
                                          <p:attrName>style.visibility</p:attrName>
                                        </p:attrNameLst>
                                      </p:cBhvr>
                                      <p:to>
                                        <p:strVal val="hidden"/>
                                      </p:to>
                                    </p:set>
                                  </p:childTnLst>
                                </p:cTn>
                              </p:par>
                              <p:par>
                                <p:cTn id="65" presetID="22" presetClass="entr" presetSubtype="1" fill="remove" grpId="0" nodeType="withEffect">
                                  <p:stCondLst>
                                    <p:cond delay="10600"/>
                                  </p:stCondLst>
                                  <p:childTnLst>
                                    <p:set>
                                      <p:cBhvr>
                                        <p:cTn id="66" dur="1" fill="hold">
                                          <p:stCondLst>
                                            <p:cond delay="0"/>
                                          </p:stCondLst>
                                        </p:cTn>
                                        <p:tgtEl>
                                          <p:spTgt spid="62"/>
                                        </p:tgtEl>
                                        <p:attrNameLst>
                                          <p:attrName>style.visibility</p:attrName>
                                        </p:attrNameLst>
                                      </p:cBhvr>
                                      <p:to>
                                        <p:strVal val="visible"/>
                                      </p:to>
                                    </p:set>
                                    <p:animEffect transition="in" filter="wipe(up)">
                                      <p:cBhvr>
                                        <p:cTn id="67" dur="600"/>
                                        <p:tgtEl>
                                          <p:spTgt spid="62"/>
                                        </p:tgtEl>
                                      </p:cBhvr>
                                    </p:animEffect>
                                  </p:childTnLst>
                                </p:cTn>
                              </p:par>
                              <p:par>
                                <p:cTn id="68" presetID="22" presetClass="entr" presetSubtype="1" fill="hold" grpId="0" nodeType="withEffect">
                                  <p:stCondLst>
                                    <p:cond delay="11200"/>
                                  </p:stCondLst>
                                  <p:childTnLst>
                                    <p:set>
                                      <p:cBhvr>
                                        <p:cTn id="69" dur="1" fill="hold">
                                          <p:stCondLst>
                                            <p:cond delay="0"/>
                                          </p:stCondLst>
                                        </p:cTn>
                                        <p:tgtEl>
                                          <p:spTgt spid="63"/>
                                        </p:tgtEl>
                                        <p:attrNameLst>
                                          <p:attrName>style.visibility</p:attrName>
                                        </p:attrNameLst>
                                      </p:cBhvr>
                                      <p:to>
                                        <p:strVal val="visible"/>
                                      </p:to>
                                    </p:set>
                                    <p:animEffect transition="in" filter="wipe(up)">
                                      <p:cBhvr>
                                        <p:cTn id="70" dur="6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8" grpId="0" animBg="1"/>
      <p:bldP spid="49" grpId="0" animBg="1"/>
      <p:bldP spid="50" grpId="0" animBg="1"/>
      <p:bldP spid="50" grpId="1" animBg="1"/>
      <p:bldP spid="51" grpId="0" animBg="1"/>
      <p:bldP spid="51" grpId="1" animBg="1"/>
      <p:bldP spid="52" grpId="0" animBg="1"/>
      <p:bldP spid="52" grpId="1" animBg="1"/>
      <p:bldP spid="54" grpId="0" animBg="1"/>
      <p:bldP spid="55" grpId="0" animBg="1"/>
      <p:bldP spid="55" grpId="1" animBg="1"/>
      <p:bldP spid="56" grpId="0" animBg="1"/>
      <p:bldP spid="56" grpId="1" animBg="1"/>
      <p:bldP spid="57" grpId="0" animBg="1"/>
      <p:bldP spid="58" grpId="0" animBg="1"/>
      <p:bldP spid="59" grpId="0" animBg="1"/>
      <p:bldP spid="59" grpId="1" animBg="1"/>
      <p:bldP spid="60" grpId="0" animBg="1"/>
      <p:bldP spid="61" grpId="0" animBg="1"/>
      <p:bldP spid="61" grpId="1" animBg="1"/>
      <p:bldP spid="62" grpId="0" animBg="1"/>
      <p:bldP spid="6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30"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32"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33" name="图片 32"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34" name="图片 33"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35" name="TextBox 34"/>
          <p:cNvSpPr txBox="1"/>
          <p:nvPr/>
        </p:nvSpPr>
        <p:spPr>
          <a:xfrm>
            <a:off x="5364088" y="123478"/>
            <a:ext cx="3456384" cy="429895"/>
          </a:xfrm>
          <a:prstGeom prst="rect">
            <a:avLst/>
          </a:prstGeom>
          <a:noFill/>
        </p:spPr>
        <p:txBody>
          <a:bodyPr wrap="square" rtlCol="0">
            <a:spAutoFit/>
          </a:bodyPr>
          <a:lstStyle/>
          <a:p>
            <a:r>
              <a:rPr lang="en-US" altLang="zh-CN" sz="2200" b="1" dirty="0" smtClean="0">
                <a:solidFill>
                  <a:srgbClr val="FFFF00"/>
                </a:solidFill>
              </a:rPr>
              <a:t>5.4.1 </a:t>
            </a:r>
            <a:r>
              <a:rPr lang="zh-CN" altLang="en-US" sz="2200" b="1" dirty="0" smtClean="0">
                <a:solidFill>
                  <a:srgbClr val="FFFF00"/>
                </a:solidFill>
              </a:rPr>
              <a:t>切换技术</a:t>
            </a:r>
            <a:endParaRPr lang="zh-CN" altLang="en-US" sz="2200" b="1" dirty="0">
              <a:solidFill>
                <a:srgbClr val="FFFF00"/>
              </a:solidFill>
            </a:endParaRPr>
          </a:p>
        </p:txBody>
      </p:sp>
      <p:sp>
        <p:nvSpPr>
          <p:cNvPr id="36" name="TextBox 35"/>
          <p:cNvSpPr txBox="1"/>
          <p:nvPr/>
        </p:nvSpPr>
        <p:spPr>
          <a:xfrm>
            <a:off x="251520" y="699542"/>
            <a:ext cx="8784976" cy="430887"/>
          </a:xfrm>
          <a:prstGeom prst="rect">
            <a:avLst/>
          </a:prstGeom>
          <a:noFill/>
        </p:spPr>
        <p:txBody>
          <a:bodyPr wrap="square" rtlCol="0">
            <a:spAutoFit/>
          </a:bodyPr>
          <a:lstStyle/>
          <a:p>
            <a:r>
              <a:rPr lang="en-US" altLang="zh-CN" sz="2200" b="1" dirty="0" smtClean="0">
                <a:solidFill>
                  <a:srgbClr val="0000FE"/>
                </a:solidFill>
              </a:rPr>
              <a:t>2.  </a:t>
            </a:r>
            <a:r>
              <a:rPr lang="zh-CN" altLang="en-US" sz="2200" b="1" dirty="0" smtClean="0">
                <a:solidFill>
                  <a:srgbClr val="0000FE"/>
                </a:solidFill>
              </a:rPr>
              <a:t>切换分类；</a:t>
            </a:r>
            <a:r>
              <a:rPr lang="zh-CN" altLang="en-US" sz="2200" b="1" dirty="0" smtClean="0">
                <a:solidFill>
                  <a:srgbClr val="FF0000"/>
                </a:solidFill>
              </a:rPr>
              <a:t>（</a:t>
            </a:r>
            <a:r>
              <a:rPr lang="en-US" altLang="zh-CN" sz="2200" b="1" dirty="0" smtClean="0">
                <a:solidFill>
                  <a:srgbClr val="FF0000"/>
                </a:solidFill>
              </a:rPr>
              <a:t>2</a:t>
            </a:r>
            <a:r>
              <a:rPr lang="zh-CN" altLang="en-US" sz="2200" b="1" dirty="0" smtClean="0">
                <a:solidFill>
                  <a:srgbClr val="FF0000"/>
                </a:solidFill>
              </a:rPr>
              <a:t>）软切换</a:t>
            </a:r>
            <a:endParaRPr lang="zh-CN" altLang="en-US" sz="2200" b="1" dirty="0">
              <a:solidFill>
                <a:srgbClr val="FF0000"/>
              </a:solidFill>
            </a:endParaRPr>
          </a:p>
        </p:txBody>
      </p:sp>
      <p:sp>
        <p:nvSpPr>
          <p:cNvPr id="37" name="Rectangle 3"/>
          <p:cNvSpPr txBox="1">
            <a:spLocks noChangeArrowheads="1"/>
          </p:cNvSpPr>
          <p:nvPr/>
        </p:nvSpPr>
        <p:spPr>
          <a:xfrm>
            <a:off x="395536" y="1141834"/>
            <a:ext cx="8496944" cy="3662164"/>
          </a:xfrm>
          <a:prstGeom prst="rect">
            <a:avLst/>
          </a:prstGeom>
          <a:noFill/>
          <a:ln w="9525">
            <a:noFill/>
          </a:ln>
        </p:spPr>
        <p:txBody>
          <a:bodyPr/>
          <a:lstStyle/>
          <a:p>
            <a:pPr marL="0" marR="0" lvl="0" indent="-257175" algn="l" defTabSz="914400" rtl="0" eaLnBrk="1" fontAlgn="base" latinLnBrk="0" hangingPunct="1">
              <a:lnSpc>
                <a:spcPct val="130000"/>
              </a:lnSpc>
              <a:spcBef>
                <a:spcPts val="0"/>
              </a:spcBef>
              <a:spcAft>
                <a:spcPct val="0"/>
              </a:spcAft>
              <a:buClr>
                <a:schemeClr val="hlink"/>
              </a:buClr>
              <a:buSzTx/>
              <a:buFont typeface="Wingdings" panose="05000000000000000000" pitchFamily="2" charset="2"/>
              <a:buNone/>
              <a:defRPr/>
            </a:pP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sym typeface="Wingdings" panose="05000000000000000000"/>
              </a:rPr>
              <a:t>优</a:t>
            </a: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rPr>
              <a:t>点：</a:t>
            </a:r>
            <a:endPar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cs typeface="+mn-cs"/>
            </a:endParaRPr>
          </a:p>
          <a:p>
            <a:pPr marL="0" marR="0" lvl="1" indent="-214630" algn="l" defTabSz="914400" rtl="0" eaLnBrk="1" fontAlgn="base" latinLnBrk="0" hangingPunct="1">
              <a:lnSpc>
                <a:spcPct val="130000"/>
              </a:lnSpc>
              <a:spcBef>
                <a:spcPts val="0"/>
              </a:spcBef>
              <a:spcAft>
                <a:spcPct val="0"/>
              </a:spcAft>
              <a:buClr>
                <a:schemeClr val="accent1"/>
              </a:buClr>
              <a:buSzTx/>
              <a:buFont typeface="Wingdings" panose="05000000000000000000" pitchFamily="2" charset="2"/>
              <a:buNone/>
              <a:defRPr/>
            </a:pPr>
            <a:r>
              <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rPr>
              <a:t>  </a:t>
            </a:r>
            <a:r>
              <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sym typeface="Wingdings" panose="05000000000000000000"/>
              </a:rPr>
              <a:t>提高切换成功率；增加系统容量；提高通信质量；</a:t>
            </a:r>
            <a:endParaRPr kumimoji="0" lang="en-US" altLang="zh-CN"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sym typeface="Wingdings" panose="05000000000000000000"/>
            </a:endParaRPr>
          </a:p>
          <a:p>
            <a:pPr marL="0" lvl="1" indent="-214630">
              <a:lnSpc>
                <a:spcPct val="130000"/>
              </a:lnSpc>
              <a:spcBef>
                <a:spcPts val="0"/>
              </a:spcBef>
              <a:buClr>
                <a:schemeClr val="accent1"/>
              </a:buClr>
            </a:pPr>
            <a:r>
              <a:rPr lang="zh-CN" altLang="en-US" sz="2200" kern="0" dirty="0" smtClean="0">
                <a:solidFill>
                  <a:srgbClr val="0000FE"/>
                </a:solidFill>
                <a:latin typeface="华文楷体" pitchFamily="2" charset="-122"/>
                <a:ea typeface="华文楷体" pitchFamily="2" charset="-122"/>
                <a:sym typeface="Wingdings" panose="05000000000000000000"/>
              </a:rPr>
              <a:t>缺点：</a:t>
            </a:r>
            <a:r>
              <a:rPr lang="zh-CN" altLang="en-US" sz="2200" kern="0" dirty="0" smtClean="0">
                <a:latin typeface="华文楷体" pitchFamily="2" charset="-122"/>
                <a:ea typeface="华文楷体" pitchFamily="2" charset="-122"/>
                <a:sym typeface="Wingdings" panose="05000000000000000000"/>
              </a:rPr>
              <a:t>导致硬件设备增加，占用更多资源，当切换的触发机制设定不合理导致过于频繁的控制消息交互时，也会影响用户正在进行的呼叫质量等等。</a:t>
            </a:r>
            <a:endParaRPr lang="en-US" altLang="zh-CN" sz="2200" kern="0" dirty="0" smtClean="0">
              <a:latin typeface="华文楷体" pitchFamily="2" charset="-122"/>
              <a:ea typeface="华文楷体" pitchFamily="2" charset="-122"/>
              <a:sym typeface="Wingdings" panose="05000000000000000000"/>
            </a:endParaRPr>
          </a:p>
          <a:p>
            <a:pPr marL="0" lvl="1" indent="-214630">
              <a:lnSpc>
                <a:spcPct val="130000"/>
              </a:lnSpc>
              <a:spcBef>
                <a:spcPts val="0"/>
              </a:spcBef>
              <a:buClr>
                <a:schemeClr val="accent1"/>
              </a:buClr>
            </a:pPr>
            <a:r>
              <a:rPr lang="zh-CN" altLang="en-US" sz="2200" kern="0" dirty="0" smtClean="0">
                <a:solidFill>
                  <a:srgbClr val="0000FE"/>
                </a:solidFill>
                <a:latin typeface="华文楷体" pitchFamily="2" charset="-122"/>
                <a:ea typeface="华文楷体" pitchFamily="2" charset="-122"/>
                <a:sym typeface="Wingdings" panose="05000000000000000000"/>
              </a:rPr>
              <a:t></a:t>
            </a:r>
            <a:r>
              <a:rPr kumimoji="0" lang="zh-CN" altLang="en-US" sz="2200" b="0" i="0" u="none" strike="noStrike" kern="0" cap="none" spc="0" normalizeH="0" baseline="0" noProof="0" dirty="0" smtClean="0">
                <a:ln>
                  <a:noFill/>
                </a:ln>
                <a:solidFill>
                  <a:srgbClr val="0000FE"/>
                </a:solidFill>
                <a:effectLst/>
                <a:uLnTx/>
                <a:uFillTx/>
                <a:latin typeface="华文楷体" pitchFamily="2" charset="-122"/>
                <a:ea typeface="华文楷体" pitchFamily="2" charset="-122"/>
                <a:sym typeface="Wingdings" panose="05000000000000000000"/>
              </a:rPr>
              <a:t>更软切换：</a:t>
            </a:r>
            <a:r>
              <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sym typeface="Wingdings" panose="05000000000000000000"/>
              </a:rPr>
              <a:t>同一个小区的不同扇区之间进行的软切换。</a:t>
            </a:r>
            <a:endParaRPr kumimoji="0" lang="zh-CN" altLang="en-US" sz="2200" b="0" i="0" u="none" strike="noStrike" kern="0" cap="none" spc="0" normalizeH="0" baseline="0" noProof="0" dirty="0" smtClean="0">
              <a:ln>
                <a:noFill/>
              </a:ln>
              <a:solidFill>
                <a:schemeClr val="tx1"/>
              </a:solidFill>
              <a:effectLst/>
              <a:uLnTx/>
              <a:uFillTx/>
              <a:latin typeface="华文楷体" pitchFamily="2" charset="-122"/>
              <a:ea typeface="华文楷体" pitchFamily="2" charset="-122"/>
            </a:endParaRPr>
          </a:p>
        </p:txBody>
      </p:sp>
    </p:spTree>
  </p:cSld>
  <p:clrMapOvr>
    <a:masterClrMapping/>
  </p:clrMapOvr>
  <p:transition>
    <p:cu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05477" name="Rectangle 3"/>
          <p:cNvSpPr>
            <a:spLocks noGrp="1" noChangeArrowheads="1"/>
          </p:cNvSpPr>
          <p:nvPr>
            <p:ph type="body" idx="4294967295"/>
          </p:nvPr>
        </p:nvSpPr>
        <p:spPr>
          <a:xfrm>
            <a:off x="107950" y="781794"/>
            <a:ext cx="8567738" cy="3086100"/>
          </a:xfrm>
        </p:spPr>
        <p:txBody>
          <a:bodyPr/>
          <a:lstStyle/>
          <a:p>
            <a:pPr marL="36195" eaLnBrk="1" hangingPunct="1">
              <a:lnSpc>
                <a:spcPct val="130000"/>
              </a:lnSpc>
              <a:spcBef>
                <a:spcPts val="0"/>
              </a:spcBef>
              <a:buFont typeface="Wingdings" panose="05000000000000000000" pitchFamily="2" charset="2"/>
              <a:buNone/>
            </a:pPr>
            <a:r>
              <a:rPr lang="en-US" altLang="zh-CN" sz="2200" b="0" dirty="0" smtClean="0">
                <a:latin typeface="华文楷体" pitchFamily="2" charset="-122"/>
                <a:ea typeface="华文楷体" pitchFamily="2" charset="-122"/>
              </a:rPr>
              <a:t>    </a:t>
            </a:r>
            <a:r>
              <a:rPr lang="zh-CN" altLang="en-US" sz="2200" b="0" dirty="0" smtClean="0">
                <a:latin typeface="华文楷体" pitchFamily="2" charset="-122"/>
                <a:ea typeface="华文楷体" pitchFamily="2" charset="-122"/>
              </a:rPr>
              <a:t>位置管理包括两个主要任务：位置登记和呼叫传递。</a:t>
            </a:r>
            <a:r>
              <a:rPr lang="zh-CN" altLang="en-US" sz="2200" b="0" dirty="0" smtClean="0">
                <a:solidFill>
                  <a:srgbClr val="C00000"/>
                </a:solidFill>
                <a:latin typeface="华文楷体" pitchFamily="2" charset="-122"/>
                <a:ea typeface="华文楷体" pitchFamily="2" charset="-122"/>
              </a:rPr>
              <a:t>位置登记</a:t>
            </a:r>
            <a:r>
              <a:rPr lang="zh-CN" altLang="en-US" sz="2200" b="0" dirty="0" smtClean="0">
                <a:latin typeface="华文楷体" pitchFamily="2" charset="-122"/>
                <a:ea typeface="华文楷体" pitchFamily="2" charset="-122"/>
              </a:rPr>
              <a:t>的步骤是在移动台的实时位置信息已知的情况下，更新位置数据库和认证移动台。</a:t>
            </a:r>
            <a:r>
              <a:rPr lang="zh-CN" altLang="en-US" sz="2200" b="0" dirty="0" smtClean="0">
                <a:solidFill>
                  <a:srgbClr val="C00000"/>
                </a:solidFill>
                <a:latin typeface="华文楷体" pitchFamily="2" charset="-122"/>
                <a:ea typeface="华文楷体" pitchFamily="2" charset="-122"/>
              </a:rPr>
              <a:t>呼叫传递</a:t>
            </a:r>
            <a:r>
              <a:rPr lang="zh-CN" altLang="en-US" sz="2200" b="0" dirty="0" smtClean="0">
                <a:latin typeface="华文楷体" pitchFamily="2" charset="-122"/>
                <a:ea typeface="华文楷体" pitchFamily="2" charset="-122"/>
              </a:rPr>
              <a:t>的步骤是在有呼叫给移动台的情况下，根据</a:t>
            </a:r>
            <a:r>
              <a:rPr lang="en-US" altLang="zh-CN" sz="2200" b="0" dirty="0" smtClean="0">
                <a:latin typeface="华文楷体" pitchFamily="2" charset="-122"/>
                <a:ea typeface="华文楷体" pitchFamily="2" charset="-122"/>
              </a:rPr>
              <a:t>HLR</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Home Location Register </a:t>
            </a:r>
            <a:r>
              <a:rPr lang="zh-CN" altLang="en-US" sz="2200" b="0" dirty="0" smtClean="0">
                <a:latin typeface="华文楷体" pitchFamily="2" charset="-122"/>
                <a:ea typeface="华文楷体" pitchFamily="2" charset="-122"/>
              </a:rPr>
              <a:t>归属寄存器）和</a:t>
            </a:r>
            <a:r>
              <a:rPr lang="en-US" altLang="zh-CN" sz="2200" b="0" dirty="0" smtClean="0">
                <a:latin typeface="华文楷体" pitchFamily="2" charset="-122"/>
                <a:ea typeface="华文楷体" pitchFamily="2" charset="-122"/>
              </a:rPr>
              <a:t>VLR</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Visitor Location Register </a:t>
            </a:r>
            <a:r>
              <a:rPr lang="zh-CN" altLang="en-US" sz="2200" b="0" dirty="0" smtClean="0">
                <a:latin typeface="华文楷体" pitchFamily="2" charset="-122"/>
                <a:ea typeface="华文楷体" pitchFamily="2" charset="-122"/>
              </a:rPr>
              <a:t>访问寄存器）中可用的位置信息来定位移动台。</a:t>
            </a:r>
            <a:endParaRPr lang="zh-CN" altLang="en-US" sz="2200" b="0" dirty="0" smtClean="0">
              <a:latin typeface="华文楷体" pitchFamily="2" charset="-122"/>
              <a:ea typeface="华文楷体" pitchFamily="2" charset="-122"/>
            </a:endParaRPr>
          </a:p>
          <a:p>
            <a:pPr marL="36195" eaLnBrk="1" hangingPunct="1">
              <a:lnSpc>
                <a:spcPct val="130000"/>
              </a:lnSpc>
              <a:spcBef>
                <a:spcPts val="0"/>
              </a:spcBef>
              <a:buFont typeface="Wingdings" panose="05000000000000000000" pitchFamily="2" charset="2"/>
              <a:buNone/>
            </a:pPr>
            <a:r>
              <a:rPr lang="zh-CN" altLang="en-US" sz="2200" b="0" dirty="0" smtClean="0">
                <a:latin typeface="华文楷体" pitchFamily="2" charset="-122"/>
                <a:ea typeface="华文楷体" pitchFamily="2" charset="-122"/>
              </a:rPr>
              <a:t>   与上述两个问题紧密相关的两个问题是：</a:t>
            </a:r>
            <a:r>
              <a:rPr lang="zh-CN" altLang="en-US" sz="2200" b="0" dirty="0" smtClean="0">
                <a:solidFill>
                  <a:srgbClr val="C00000"/>
                </a:solidFill>
                <a:latin typeface="华文楷体" pitchFamily="2" charset="-122"/>
                <a:ea typeface="华文楷体" pitchFamily="2" charset="-122"/>
              </a:rPr>
              <a:t>位置更新</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Location Update</a:t>
            </a:r>
            <a:r>
              <a:rPr lang="zh-CN" altLang="en-US" sz="2200" b="0" dirty="0" smtClean="0">
                <a:latin typeface="华文楷体" pitchFamily="2" charset="-122"/>
                <a:ea typeface="华文楷体" pitchFamily="2" charset="-122"/>
              </a:rPr>
              <a:t>）和</a:t>
            </a:r>
            <a:r>
              <a:rPr lang="zh-CN" altLang="en-US" sz="2200" b="0" dirty="0" smtClean="0">
                <a:solidFill>
                  <a:srgbClr val="C00000"/>
                </a:solidFill>
                <a:latin typeface="华文楷体" pitchFamily="2" charset="-122"/>
                <a:ea typeface="华文楷体" pitchFamily="2" charset="-122"/>
              </a:rPr>
              <a:t>寻呼</a:t>
            </a:r>
            <a:r>
              <a:rPr lang="zh-CN" altLang="en-US" sz="2200" b="0" dirty="0" smtClean="0">
                <a:latin typeface="华文楷体" pitchFamily="2" charset="-122"/>
                <a:ea typeface="华文楷体" pitchFamily="2" charset="-122"/>
              </a:rPr>
              <a:t>（</a:t>
            </a:r>
            <a:r>
              <a:rPr lang="en-US" altLang="zh-CN" sz="2200" b="0" dirty="0" smtClean="0">
                <a:latin typeface="华文楷体" pitchFamily="2" charset="-122"/>
                <a:ea typeface="华文楷体" pitchFamily="2" charset="-122"/>
              </a:rPr>
              <a:t>Paging</a:t>
            </a:r>
            <a:r>
              <a:rPr lang="zh-CN" altLang="en-US" sz="2200" b="0" dirty="0" smtClean="0">
                <a:latin typeface="华文楷体" pitchFamily="2" charset="-122"/>
                <a:ea typeface="华文楷体" pitchFamily="2" charset="-122"/>
              </a:rPr>
              <a:t>）。位置更新解决问题是移动台如何发现位置变化以及何时报告它的当前位置。寻呼解决的问题是如何有效地确定移动台当前处于哪一个小区。</a:t>
            </a:r>
            <a:endParaRPr lang="zh-CN" altLang="en-US" sz="2200" b="0" dirty="0" smtClean="0">
              <a:latin typeface="华文楷体" pitchFamily="2" charset="-122"/>
              <a:ea typeface="华文楷体" pitchFamily="2" charset="-122"/>
            </a:endParaRPr>
          </a:p>
        </p:txBody>
      </p:sp>
      <p:sp>
        <p:nvSpPr>
          <p:cNvPr id="6"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7" name="图片 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8" name="图片 7"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9" name="TextBox 8"/>
          <p:cNvSpPr txBox="1"/>
          <p:nvPr/>
        </p:nvSpPr>
        <p:spPr>
          <a:xfrm>
            <a:off x="5364088" y="123478"/>
            <a:ext cx="3456384" cy="429895"/>
          </a:xfrm>
          <a:prstGeom prst="rect">
            <a:avLst/>
          </a:prstGeom>
          <a:noFill/>
        </p:spPr>
        <p:txBody>
          <a:bodyPr wrap="square" rtlCol="0">
            <a:spAutoFit/>
          </a:bodyPr>
          <a:lstStyle/>
          <a:p>
            <a:r>
              <a:rPr lang="en-US" altLang="zh-CN" sz="2200" b="1" dirty="0" smtClean="0">
                <a:solidFill>
                  <a:srgbClr val="FFFF00"/>
                </a:solidFill>
              </a:rPr>
              <a:t>5.4.2  </a:t>
            </a:r>
            <a:r>
              <a:rPr lang="zh-CN" altLang="en-US" sz="2200" b="1" dirty="0" smtClean="0">
                <a:solidFill>
                  <a:srgbClr val="FFFF00"/>
                </a:solidFill>
              </a:rPr>
              <a:t>位置更新</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86020" name="Rectangle 3"/>
          <p:cNvSpPr>
            <a:spLocks noGrp="1" noChangeArrowheads="1"/>
          </p:cNvSpPr>
          <p:nvPr>
            <p:ph type="body" idx="1"/>
          </p:nvPr>
        </p:nvSpPr>
        <p:spPr>
          <a:xfrm>
            <a:off x="107950" y="824230"/>
            <a:ext cx="8856345" cy="3528695"/>
          </a:xfrm>
        </p:spPr>
        <p:txBody>
          <a:bodyPr/>
          <a:lstStyle/>
          <a:p>
            <a:pPr marL="36195" indent="0" eaLnBrk="1" hangingPunct="1">
              <a:lnSpc>
                <a:spcPct val="130000"/>
              </a:lnSpc>
              <a:buNone/>
            </a:pPr>
            <a:r>
              <a:rPr lang="en-US" altLang="zh-CN" sz="2100" dirty="0" smtClean="0">
                <a:solidFill>
                  <a:srgbClr val="C00000"/>
                </a:solidFill>
              </a:rPr>
              <a:t>SIM</a:t>
            </a:r>
            <a:r>
              <a:rPr lang="zh-CN" altLang="en-US" sz="2100" dirty="0" smtClean="0">
                <a:solidFill>
                  <a:srgbClr val="C00000"/>
                </a:solidFill>
              </a:rPr>
              <a:t>（</a:t>
            </a:r>
            <a:r>
              <a:rPr lang="en-US" altLang="zh-CN" sz="2100" dirty="0" smtClean="0">
                <a:solidFill>
                  <a:srgbClr val="C00000"/>
                </a:solidFill>
              </a:rPr>
              <a:t>Subscriber Identity Module</a:t>
            </a:r>
            <a:r>
              <a:rPr lang="zh-CN" altLang="en-US" sz="2100" dirty="0" smtClean="0">
                <a:solidFill>
                  <a:srgbClr val="C00000"/>
                </a:solidFill>
              </a:rPr>
              <a:t>）卡</a:t>
            </a:r>
            <a:endParaRPr lang="zh-CN" altLang="en-US" sz="2100" dirty="0" smtClean="0">
              <a:solidFill>
                <a:srgbClr val="C00000"/>
              </a:solidFill>
            </a:endParaRPr>
          </a:p>
          <a:p>
            <a:pPr marL="36195" lvl="1" indent="0" eaLnBrk="1" hangingPunct="1">
              <a:lnSpc>
                <a:spcPct val="130000"/>
              </a:lnSpc>
              <a:buNone/>
            </a:pPr>
            <a:r>
              <a:rPr lang="zh-CN" altLang="en-US" sz="2100" b="1" dirty="0" smtClean="0">
                <a:solidFill>
                  <a:srgbClr val="0000FE"/>
                </a:solidFill>
                <a:sym typeface="Wingdings" panose="05000000000000000000"/>
              </a:rPr>
              <a:t></a:t>
            </a:r>
            <a:r>
              <a:rPr lang="zh-CN" altLang="en-US" sz="2100" b="1" dirty="0" smtClean="0">
                <a:solidFill>
                  <a:srgbClr val="0000FE"/>
                </a:solidFill>
              </a:rPr>
              <a:t>功能：</a:t>
            </a:r>
            <a:r>
              <a:rPr lang="zh-CN" altLang="en-US" sz="2100" dirty="0" smtClean="0">
                <a:solidFill>
                  <a:srgbClr val="002A7E"/>
                </a:solidFill>
              </a:rPr>
              <a:t>存有用于用户身份认证所需的信息；执行一些与安全保密有关的信息；存储与网络和用户有关的管理数据</a:t>
            </a:r>
            <a:endParaRPr lang="zh-CN" altLang="en-US" sz="2100" dirty="0" smtClean="0">
              <a:solidFill>
                <a:srgbClr val="002A7E"/>
              </a:solidFill>
            </a:endParaRPr>
          </a:p>
          <a:p>
            <a:pPr marL="36195" lvl="1" indent="0" eaLnBrk="1" hangingPunct="1">
              <a:lnSpc>
                <a:spcPct val="130000"/>
              </a:lnSpc>
              <a:buNone/>
            </a:pPr>
            <a:r>
              <a:rPr lang="zh-CN" altLang="en-US" sz="2100" b="1" dirty="0" smtClean="0">
                <a:solidFill>
                  <a:srgbClr val="0000FE"/>
                </a:solidFill>
                <a:sym typeface="Wingdings" panose="05000000000000000000"/>
              </a:rPr>
              <a:t></a:t>
            </a:r>
            <a:r>
              <a:rPr lang="zh-CN" altLang="en-US" sz="2100" b="1" dirty="0" smtClean="0">
                <a:solidFill>
                  <a:srgbClr val="0000FE"/>
                </a:solidFill>
              </a:rPr>
              <a:t>结构：</a:t>
            </a:r>
            <a:r>
              <a:rPr lang="zh-CN" altLang="en-US" sz="2100" dirty="0" smtClean="0">
                <a:solidFill>
                  <a:srgbClr val="002A7E"/>
                </a:solidFill>
              </a:rPr>
              <a:t>由</a:t>
            </a:r>
            <a:r>
              <a:rPr lang="en-US" altLang="zh-CN" sz="2100" dirty="0" smtClean="0">
                <a:solidFill>
                  <a:srgbClr val="002A7E"/>
                </a:solidFill>
              </a:rPr>
              <a:t>CPU</a:t>
            </a:r>
            <a:r>
              <a:rPr lang="zh-CN" altLang="en-US" sz="2100" dirty="0" smtClean="0">
                <a:solidFill>
                  <a:srgbClr val="002A7E"/>
                </a:solidFill>
              </a:rPr>
              <a:t>、</a:t>
            </a:r>
            <a:r>
              <a:rPr lang="en-US" altLang="zh-CN" sz="2100" dirty="0" smtClean="0">
                <a:solidFill>
                  <a:srgbClr val="002A7E"/>
                </a:solidFill>
              </a:rPr>
              <a:t>ROM</a:t>
            </a:r>
            <a:r>
              <a:rPr lang="zh-CN" altLang="en-US" sz="2100" dirty="0" smtClean="0">
                <a:solidFill>
                  <a:srgbClr val="002A7E"/>
                </a:solidFill>
              </a:rPr>
              <a:t>、</a:t>
            </a:r>
            <a:r>
              <a:rPr lang="en-US" altLang="zh-CN" sz="2100" dirty="0" smtClean="0">
                <a:solidFill>
                  <a:srgbClr val="002A7E"/>
                </a:solidFill>
              </a:rPr>
              <a:t>RAM</a:t>
            </a:r>
            <a:r>
              <a:rPr lang="zh-CN" altLang="en-US" sz="2100" dirty="0" smtClean="0">
                <a:solidFill>
                  <a:srgbClr val="002A7E"/>
                </a:solidFill>
              </a:rPr>
              <a:t>和</a:t>
            </a:r>
            <a:r>
              <a:rPr lang="en-US" altLang="zh-CN" sz="2100" dirty="0" smtClean="0">
                <a:solidFill>
                  <a:srgbClr val="002A7E"/>
                </a:solidFill>
              </a:rPr>
              <a:t>EEPROM</a:t>
            </a:r>
            <a:r>
              <a:rPr lang="zh-CN" altLang="en-US" sz="2100" dirty="0" smtClean="0">
                <a:solidFill>
                  <a:srgbClr val="002A7E"/>
                </a:solidFill>
              </a:rPr>
              <a:t>等部件组成完整的单片计算机</a:t>
            </a:r>
            <a:endParaRPr lang="zh-CN" altLang="en-US" sz="2100" dirty="0" smtClean="0">
              <a:solidFill>
                <a:srgbClr val="002A7E"/>
              </a:solidFill>
            </a:endParaRPr>
          </a:p>
          <a:p>
            <a:pPr marL="36195" lvl="1" indent="0" eaLnBrk="1" hangingPunct="1">
              <a:lnSpc>
                <a:spcPct val="130000"/>
              </a:lnSpc>
              <a:buNone/>
            </a:pPr>
            <a:r>
              <a:rPr lang="zh-CN" altLang="en-US" sz="2100" b="1" dirty="0" smtClean="0">
                <a:solidFill>
                  <a:srgbClr val="0000FE"/>
                </a:solidFill>
                <a:sym typeface="Wingdings" panose="05000000000000000000"/>
              </a:rPr>
              <a:t></a:t>
            </a:r>
            <a:r>
              <a:rPr lang="zh-CN" altLang="en-US" sz="2100" b="1" dirty="0" smtClean="0">
                <a:solidFill>
                  <a:srgbClr val="0000FE"/>
                </a:solidFill>
              </a:rPr>
              <a:t>内容：</a:t>
            </a:r>
            <a:r>
              <a:rPr lang="zh-CN" altLang="en-US" sz="2100" dirty="0" smtClean="0">
                <a:solidFill>
                  <a:srgbClr val="002A7E"/>
                </a:solidFill>
              </a:rPr>
              <a:t>用户管理的有关信息，包括国际移动用户识别号（</a:t>
            </a:r>
            <a:r>
              <a:rPr lang="en-US" altLang="zh-CN" sz="2100" dirty="0" smtClean="0">
                <a:solidFill>
                  <a:srgbClr val="002A7E"/>
                </a:solidFill>
              </a:rPr>
              <a:t>IMSI</a:t>
            </a:r>
            <a:r>
              <a:rPr lang="zh-CN" altLang="en-US" sz="2100" dirty="0" smtClean="0">
                <a:solidFill>
                  <a:srgbClr val="002A7E"/>
                </a:solidFill>
              </a:rPr>
              <a:t>）、鉴权密钥（</a:t>
            </a:r>
            <a:r>
              <a:rPr lang="en-US" altLang="zh-CN" sz="2100" dirty="0" smtClean="0">
                <a:solidFill>
                  <a:srgbClr val="002A7E"/>
                </a:solidFill>
              </a:rPr>
              <a:t>Ki</a:t>
            </a:r>
            <a:r>
              <a:rPr lang="zh-CN" altLang="en-US" sz="2100" dirty="0" smtClean="0">
                <a:solidFill>
                  <a:srgbClr val="002A7E"/>
                </a:solidFill>
              </a:rPr>
              <a:t>）、用户接入等级控制以及用户注册的业务种类和相关网络信息等</a:t>
            </a:r>
            <a:endParaRPr lang="zh-CN" altLang="en-US" sz="2100" dirty="0" smtClean="0">
              <a:solidFill>
                <a:srgbClr val="002A7E"/>
              </a:solidFill>
            </a:endParaRPr>
          </a:p>
        </p:txBody>
      </p:sp>
      <p:pic>
        <p:nvPicPr>
          <p:cNvPr id="8" name="图片 7"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11" name="图片 10"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2" name="文本框 1"/>
          <p:cNvSpPr txBox="1"/>
          <p:nvPr/>
        </p:nvSpPr>
        <p:spPr>
          <a:xfrm>
            <a:off x="323850" y="894080"/>
            <a:ext cx="8414385" cy="3646170"/>
          </a:xfrm>
          <a:prstGeom prst="rect">
            <a:avLst/>
          </a:prstGeom>
          <a:solidFill>
            <a:schemeClr val="tx2">
              <a:lumMod val="20000"/>
              <a:lumOff val="80000"/>
            </a:schemeClr>
          </a:solidFill>
        </p:spPr>
        <p:txBody>
          <a:bodyPr wrap="square" rtlCol="0" anchor="t">
            <a:spAutoFit/>
          </a:bodyPr>
          <a:p>
            <a:pPr>
              <a:lnSpc>
                <a:spcPct val="150000"/>
              </a:lnSpc>
            </a:pPr>
            <a:r>
              <a:rPr lang="zh-CN" altLang="en-US" sz="2200">
                <a:solidFill>
                  <a:srgbClr val="000000"/>
                </a:solidFill>
              </a:rPr>
              <a:t>手机SIM卡根据尺寸大小不同被分为三种，分别是：普通SIM卡、微卡（也叫Mic</a:t>
            </a:r>
            <a:r>
              <a:rPr lang="en-US" altLang="zh-CN" sz="2200">
                <a:solidFill>
                  <a:srgbClr val="000000"/>
                </a:solidFill>
              </a:rPr>
              <a:t>ro</a:t>
            </a:r>
            <a:r>
              <a:rPr lang="zh-CN" altLang="en-US" sz="2200">
                <a:solidFill>
                  <a:srgbClr val="000000"/>
                </a:solidFill>
              </a:rPr>
              <a:t> SIM卡，小卡）和Nano SIM（小小卡）卡三种。</a:t>
            </a:r>
            <a:endParaRPr lang="zh-CN" altLang="en-US" sz="2200">
              <a:solidFill>
                <a:srgbClr val="000000"/>
              </a:solidFill>
            </a:endParaRPr>
          </a:p>
          <a:p>
            <a:pPr>
              <a:lnSpc>
                <a:spcPct val="150000"/>
              </a:lnSpc>
            </a:pPr>
            <a:r>
              <a:rPr lang="zh-CN" altLang="en-US" sz="2200">
                <a:solidFill>
                  <a:srgbClr val="000000"/>
                </a:solidFill>
              </a:rPr>
              <a:t>SIM卡：“标准卡”尺寸为25mm×15mm，是目前多数手机使用的卡，就是所说的大卡；</a:t>
            </a:r>
            <a:endParaRPr lang="zh-CN" altLang="en-US" sz="2200">
              <a:solidFill>
                <a:srgbClr val="000000"/>
              </a:solidFill>
            </a:endParaRPr>
          </a:p>
          <a:p>
            <a:pPr>
              <a:lnSpc>
                <a:spcPct val="150000"/>
              </a:lnSpc>
            </a:pPr>
            <a:r>
              <a:rPr lang="zh-CN" altLang="en-US" sz="2200">
                <a:solidFill>
                  <a:srgbClr val="000000"/>
                </a:solidFill>
              </a:rPr>
              <a:t>Mic</a:t>
            </a:r>
            <a:r>
              <a:rPr lang="en-US" altLang="zh-CN" sz="2200">
                <a:solidFill>
                  <a:srgbClr val="000000"/>
                </a:solidFill>
              </a:rPr>
              <a:t>r</a:t>
            </a:r>
            <a:r>
              <a:rPr lang="zh-CN" altLang="en-US" sz="2200">
                <a:solidFill>
                  <a:srgbClr val="000000"/>
                </a:solidFill>
              </a:rPr>
              <a:t>o SIM卡：尺寸是12×15mm，就是标准卡上带有芯片的那一块大小，这种卡就是小卡；</a:t>
            </a:r>
            <a:endParaRPr lang="zh-CN" altLang="en-US" sz="2200">
              <a:solidFill>
                <a:srgbClr val="000000"/>
              </a:solidFill>
            </a:endParaRPr>
          </a:p>
          <a:p>
            <a:pPr>
              <a:lnSpc>
                <a:spcPct val="150000"/>
              </a:lnSpc>
            </a:pPr>
            <a:r>
              <a:rPr lang="zh-CN" altLang="en-US" sz="2200">
                <a:solidFill>
                  <a:srgbClr val="000000"/>
                </a:solidFill>
              </a:rPr>
              <a:t>Nano SIM卡：微型卡是目前最小的，尺寸仅为 12mm x 9mm。</a:t>
            </a:r>
            <a:endParaRPr lang="zh-CN" altLang="en-US" sz="2200">
              <a:solidFill>
                <a:srgbClr val="000000"/>
              </a:solidFill>
            </a:endParaRPr>
          </a:p>
        </p:txBody>
      </p:sp>
      <p:sp>
        <p:nvSpPr>
          <p:cNvPr id="6" name="Rectangle 2"/>
          <p:cNvSpPr txBox="1"/>
          <p:nvPr/>
        </p:nvSpPr>
        <p:spPr>
          <a:xfrm>
            <a:off x="900311" y="141710"/>
            <a:ext cx="6768033" cy="422745"/>
          </a:xfrm>
          <a:prstGeom prst="rect">
            <a:avLst/>
          </a:prstGeom>
          <a:noFill/>
          <a:ln w="9525">
            <a:noFill/>
          </a:ln>
        </p:spPr>
        <p:txBody>
          <a:bodyPr vert="horz" wrap="square" lIns="68591" tIns="34295" rIns="68591" bIns="34295" anchor="ctr"/>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sp>
        <p:nvSpPr>
          <p:cNvPr id="3" name="TextBox 8"/>
          <p:cNvSpPr txBox="1"/>
          <p:nvPr/>
        </p:nvSpPr>
        <p:spPr>
          <a:xfrm>
            <a:off x="5364088" y="123478"/>
            <a:ext cx="3456384" cy="429895"/>
          </a:xfrm>
          <a:prstGeom prst="rect">
            <a:avLst/>
          </a:prstGeom>
          <a:noFill/>
        </p:spPr>
        <p:txBody>
          <a:bodyPr wrap="square" rtlCol="0">
            <a:spAutoFit/>
          </a:bodyPr>
          <a:p>
            <a:r>
              <a:rPr lang="en-US" altLang="zh-CN" sz="2200" b="1" dirty="0" smtClean="0">
                <a:solidFill>
                  <a:srgbClr val="FFFF00"/>
                </a:solidFill>
              </a:rPr>
              <a:t>5.4.2  </a:t>
            </a:r>
            <a:r>
              <a:rPr lang="zh-CN" altLang="en-US" sz="2200" b="1" dirty="0" smtClean="0">
                <a:solidFill>
                  <a:srgbClr val="FFFF00"/>
                </a:solidFill>
              </a:rPr>
              <a:t>位置更新</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grpId="1" nodeType="clickEffect">
                                  <p:stCondLst>
                                    <p:cond delay="0"/>
                                  </p:stCondLst>
                                  <p:childTnLst>
                                    <p:animEffect transition="out" filter="wipe(down)">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94212" name="Rectangle 3"/>
          <p:cNvSpPr>
            <a:spLocks noGrp="1" noChangeArrowheads="1"/>
          </p:cNvSpPr>
          <p:nvPr>
            <p:ph type="body" idx="1"/>
          </p:nvPr>
        </p:nvSpPr>
        <p:spPr>
          <a:xfrm>
            <a:off x="214630" y="1069975"/>
            <a:ext cx="8733155" cy="3086100"/>
          </a:xfrm>
          <a:noFill/>
        </p:spPr>
        <p:txBody>
          <a:bodyPr/>
          <a:lstStyle/>
          <a:p>
            <a:pPr marL="36195" eaLnBrk="1" hangingPunct="1">
              <a:lnSpc>
                <a:spcPct val="130000"/>
              </a:lnSpc>
              <a:buFont typeface="Wingdings" panose="05000000000000000000" pitchFamily="2" charset="2"/>
              <a:buNone/>
            </a:pPr>
            <a:r>
              <a:rPr lang="en-US" altLang="zh-CN" sz="2000" b="0" dirty="0" smtClean="0">
                <a:solidFill>
                  <a:srgbClr val="FF0000"/>
                </a:solidFill>
              </a:rPr>
              <a:t>MSISDN</a:t>
            </a:r>
            <a:r>
              <a:rPr lang="en-US" altLang="zh-CN" sz="2000" b="0" dirty="0" smtClean="0">
                <a:latin typeface="Arial" panose="020B0604020202020204" pitchFamily="34" charset="0"/>
              </a:rPr>
              <a:t>——</a:t>
            </a:r>
            <a:r>
              <a:rPr lang="zh-CN" altLang="en-US" sz="2000" b="0" dirty="0" smtClean="0"/>
              <a:t>移动用户的国际</a:t>
            </a:r>
            <a:r>
              <a:rPr lang="en-US" altLang="zh-CN" sz="2000" b="0" dirty="0" smtClean="0"/>
              <a:t>ISDN</a:t>
            </a:r>
            <a:r>
              <a:rPr lang="zh-CN" altLang="en-US" sz="2000" b="0" dirty="0" smtClean="0"/>
              <a:t>号码</a:t>
            </a:r>
            <a:r>
              <a:rPr lang="zh-CN" altLang="en-US" sz="2000" b="0" dirty="0" smtClean="0">
                <a:solidFill>
                  <a:srgbClr val="003300"/>
                </a:solidFill>
              </a:rPr>
              <a:t>号码结构</a:t>
            </a:r>
            <a:endParaRPr lang="zh-CN" altLang="en-US" sz="2000" b="0" dirty="0" smtClean="0">
              <a:solidFill>
                <a:srgbClr val="003300"/>
              </a:solidFill>
            </a:endParaRPr>
          </a:p>
          <a:p>
            <a:pPr marL="36195" eaLnBrk="1" hangingPunct="1">
              <a:lnSpc>
                <a:spcPct val="130000"/>
              </a:lnSpc>
              <a:buNone/>
            </a:pPr>
            <a:r>
              <a:rPr lang="en-US" altLang="zh-CN" sz="2000" dirty="0" smtClean="0">
                <a:solidFill>
                  <a:srgbClr val="0000FE"/>
                </a:solidFill>
                <a:sym typeface="Wingdings" panose="05000000000000000000"/>
              </a:rPr>
              <a:t> </a:t>
            </a:r>
            <a:r>
              <a:rPr lang="en-US" altLang="zh-CN" sz="2000" dirty="0" smtClean="0">
                <a:solidFill>
                  <a:srgbClr val="0000FE"/>
                </a:solidFill>
              </a:rPr>
              <a:t>CC</a:t>
            </a:r>
            <a:r>
              <a:rPr lang="zh-CN" altLang="en-US" sz="2000" dirty="0" smtClean="0">
                <a:solidFill>
                  <a:srgbClr val="0000FE"/>
                </a:solidFill>
              </a:rPr>
              <a:t>为国家代码</a:t>
            </a:r>
            <a:r>
              <a:rPr lang="zh-CN" altLang="en-US" sz="2000" b="0" dirty="0" smtClean="0"/>
              <a:t>，我国为</a:t>
            </a:r>
            <a:r>
              <a:rPr lang="en-US" altLang="zh-CN" sz="2000" b="0" dirty="0" smtClean="0"/>
              <a:t>86</a:t>
            </a:r>
            <a:endParaRPr lang="en-US" altLang="zh-CN" sz="2000" b="0" dirty="0" smtClean="0"/>
          </a:p>
          <a:p>
            <a:pPr marL="36195" eaLnBrk="1" hangingPunct="1">
              <a:lnSpc>
                <a:spcPct val="130000"/>
              </a:lnSpc>
              <a:buNone/>
            </a:pPr>
            <a:r>
              <a:rPr lang="en-US" altLang="zh-CN" sz="2000" dirty="0" smtClean="0">
                <a:solidFill>
                  <a:srgbClr val="0000FE"/>
                </a:solidFill>
                <a:sym typeface="Wingdings" panose="05000000000000000000"/>
              </a:rPr>
              <a:t></a:t>
            </a:r>
            <a:r>
              <a:rPr lang="zh-CN" altLang="en-US" sz="2000" dirty="0" smtClean="0">
                <a:solidFill>
                  <a:srgbClr val="0000FE"/>
                </a:solidFill>
              </a:rPr>
              <a:t>国内有效</a:t>
            </a:r>
            <a:r>
              <a:rPr lang="en-US" altLang="zh-CN" sz="2000" dirty="0" smtClean="0">
                <a:solidFill>
                  <a:srgbClr val="0000FE"/>
                </a:solidFill>
              </a:rPr>
              <a:t>ISDN</a:t>
            </a:r>
            <a:r>
              <a:rPr lang="zh-CN" altLang="en-US" sz="2000" dirty="0" smtClean="0">
                <a:solidFill>
                  <a:srgbClr val="0000FE"/>
                </a:solidFill>
              </a:rPr>
              <a:t>号码</a:t>
            </a:r>
            <a:r>
              <a:rPr lang="zh-CN" altLang="en-US" sz="2000" b="0" dirty="0" smtClean="0"/>
              <a:t>：</a:t>
            </a:r>
            <a:r>
              <a:rPr lang="en-US" altLang="zh-CN" sz="2000" b="0" dirty="0" smtClean="0"/>
              <a:t>11</a:t>
            </a:r>
            <a:r>
              <a:rPr lang="zh-CN" altLang="en-US" sz="2000" b="0" dirty="0" smtClean="0"/>
              <a:t>位</a:t>
            </a:r>
            <a:endParaRPr lang="zh-CN" altLang="en-US" sz="2000" b="0" dirty="0" smtClean="0"/>
          </a:p>
          <a:p>
            <a:pPr marL="36195" lvl="1" eaLnBrk="1" hangingPunct="1">
              <a:lnSpc>
                <a:spcPct val="130000"/>
              </a:lnSpc>
              <a:buNone/>
            </a:pPr>
            <a:r>
              <a:rPr lang="en-US" altLang="zh-CN" sz="2000" b="1" dirty="0" smtClean="0">
                <a:solidFill>
                  <a:srgbClr val="0000FE"/>
                </a:solidFill>
                <a:sym typeface="Wingdings" panose="05000000000000000000"/>
              </a:rPr>
              <a:t> </a:t>
            </a:r>
            <a:r>
              <a:rPr lang="en-US" altLang="zh-CN" sz="2000" b="1" dirty="0" smtClean="0">
                <a:solidFill>
                  <a:srgbClr val="0000FE"/>
                </a:solidFill>
              </a:rPr>
              <a:t>NDC</a:t>
            </a:r>
            <a:r>
              <a:rPr lang="zh-CN" altLang="en-US" sz="2000" b="1" dirty="0" smtClean="0">
                <a:solidFill>
                  <a:srgbClr val="0000FE"/>
                </a:solidFill>
              </a:rPr>
              <a:t>数字蜂窝移动业务接入号</a:t>
            </a:r>
            <a:endParaRPr lang="zh-CN" altLang="en-US" sz="2000" b="1" dirty="0" smtClean="0">
              <a:solidFill>
                <a:srgbClr val="0000FE"/>
              </a:solidFill>
            </a:endParaRPr>
          </a:p>
          <a:p>
            <a:pPr marL="36195" lvl="2" eaLnBrk="1" hangingPunct="1">
              <a:lnSpc>
                <a:spcPct val="130000"/>
              </a:lnSpc>
            </a:pPr>
            <a:r>
              <a:rPr lang="zh-CN" altLang="en-US" sz="2000" b="1" dirty="0" smtClean="0"/>
              <a:t>中国移动：</a:t>
            </a:r>
            <a:r>
              <a:rPr lang="en-US" altLang="zh-CN" sz="2000" b="1" dirty="0" smtClean="0">
                <a:solidFill>
                  <a:srgbClr val="0000FE"/>
                </a:solidFill>
              </a:rPr>
              <a:t>134</a:t>
            </a:r>
            <a:r>
              <a:rPr lang="zh-CN" altLang="en-US" sz="2000" b="1" dirty="0" smtClean="0">
                <a:solidFill>
                  <a:srgbClr val="0000FE"/>
                </a:solidFill>
              </a:rPr>
              <a:t>、</a:t>
            </a:r>
            <a:r>
              <a:rPr lang="en-US" altLang="zh-CN" sz="2000" b="1" dirty="0" smtClean="0">
                <a:solidFill>
                  <a:srgbClr val="0000FE"/>
                </a:solidFill>
              </a:rPr>
              <a:t>135</a:t>
            </a:r>
            <a:r>
              <a:rPr lang="zh-CN" altLang="en-US" sz="2000" b="1" dirty="0" smtClean="0">
                <a:solidFill>
                  <a:srgbClr val="0000FE"/>
                </a:solidFill>
              </a:rPr>
              <a:t>、</a:t>
            </a:r>
            <a:r>
              <a:rPr lang="en-US" altLang="zh-CN" sz="2000" b="1" dirty="0" smtClean="0">
                <a:solidFill>
                  <a:srgbClr val="0000FE"/>
                </a:solidFill>
              </a:rPr>
              <a:t>136</a:t>
            </a:r>
            <a:r>
              <a:rPr lang="zh-CN" altLang="en-US" sz="2000" b="1" dirty="0" smtClean="0">
                <a:solidFill>
                  <a:srgbClr val="0000FE"/>
                </a:solidFill>
              </a:rPr>
              <a:t>、</a:t>
            </a:r>
            <a:r>
              <a:rPr lang="en-US" altLang="zh-CN" sz="2000" b="1" dirty="0" smtClean="0">
                <a:solidFill>
                  <a:srgbClr val="0000FE"/>
                </a:solidFill>
              </a:rPr>
              <a:t>137</a:t>
            </a:r>
            <a:r>
              <a:rPr lang="zh-CN" altLang="en-US" sz="2000" b="1" dirty="0" smtClean="0">
                <a:solidFill>
                  <a:srgbClr val="0000FE"/>
                </a:solidFill>
              </a:rPr>
              <a:t>、</a:t>
            </a:r>
            <a:r>
              <a:rPr lang="en-US" altLang="zh-CN" sz="2000" b="1" dirty="0" smtClean="0">
                <a:solidFill>
                  <a:srgbClr val="0000FE"/>
                </a:solidFill>
              </a:rPr>
              <a:t>138</a:t>
            </a:r>
            <a:r>
              <a:rPr lang="zh-CN" altLang="en-US" sz="2000" b="1" dirty="0" smtClean="0">
                <a:solidFill>
                  <a:srgbClr val="0000FE"/>
                </a:solidFill>
              </a:rPr>
              <a:t>、</a:t>
            </a:r>
            <a:r>
              <a:rPr lang="en-US" altLang="zh-CN" sz="2000" b="1" dirty="0" smtClean="0">
                <a:solidFill>
                  <a:srgbClr val="0000FE"/>
                </a:solidFill>
              </a:rPr>
              <a:t>139</a:t>
            </a:r>
            <a:r>
              <a:rPr lang="zh-CN" altLang="en-US" sz="2000" dirty="0" smtClean="0"/>
              <a:t>、</a:t>
            </a:r>
            <a:r>
              <a:rPr lang="en-US" altLang="zh-CN" sz="2000" dirty="0" smtClean="0"/>
              <a:t>147</a:t>
            </a:r>
            <a:r>
              <a:rPr lang="zh-CN" altLang="en-US" sz="2000" dirty="0" smtClean="0"/>
              <a:t>、</a:t>
            </a:r>
            <a:r>
              <a:rPr lang="en-US" altLang="zh-CN" sz="2000" dirty="0" smtClean="0"/>
              <a:t>150</a:t>
            </a:r>
            <a:r>
              <a:rPr lang="zh-CN" altLang="en-US" sz="2000" dirty="0" smtClean="0"/>
              <a:t>、</a:t>
            </a:r>
            <a:r>
              <a:rPr lang="en-US" altLang="zh-CN" sz="2000" dirty="0" smtClean="0"/>
              <a:t>151</a:t>
            </a:r>
            <a:r>
              <a:rPr lang="zh-CN" altLang="en-US" sz="2000" dirty="0" smtClean="0"/>
              <a:t>、</a:t>
            </a:r>
            <a:r>
              <a:rPr lang="en-US" altLang="zh-CN" sz="2000" dirty="0" smtClean="0"/>
              <a:t>152</a:t>
            </a:r>
            <a:r>
              <a:rPr lang="zh-CN" altLang="en-US" sz="2000" dirty="0" smtClean="0"/>
              <a:t>、</a:t>
            </a:r>
            <a:r>
              <a:rPr lang="en-US" altLang="zh-CN" sz="2000" dirty="0" smtClean="0"/>
              <a:t>157</a:t>
            </a:r>
            <a:r>
              <a:rPr lang="zh-CN" altLang="en-US" sz="2000" dirty="0" smtClean="0"/>
              <a:t>、</a:t>
            </a:r>
            <a:r>
              <a:rPr lang="en-US" altLang="zh-CN" sz="2000" dirty="0" smtClean="0"/>
              <a:t>158</a:t>
            </a:r>
            <a:r>
              <a:rPr lang="zh-CN" altLang="en-US" sz="2000" dirty="0" smtClean="0"/>
              <a:t>、</a:t>
            </a:r>
            <a:r>
              <a:rPr lang="en-US" altLang="zh-CN" sz="2000" dirty="0" smtClean="0"/>
              <a:t>159</a:t>
            </a:r>
            <a:r>
              <a:rPr lang="zh-CN" altLang="en-US" sz="2000" dirty="0" smtClean="0"/>
              <a:t>、</a:t>
            </a:r>
            <a:r>
              <a:rPr lang="en-US" altLang="zh-CN" sz="2000" dirty="0" smtClean="0"/>
              <a:t>172</a:t>
            </a:r>
            <a:r>
              <a:rPr lang="zh-CN" altLang="en-US" sz="2000" dirty="0" smtClean="0"/>
              <a:t>、</a:t>
            </a:r>
            <a:r>
              <a:rPr lang="en-US" altLang="zh-CN" sz="2000" dirty="0" smtClean="0"/>
              <a:t>178</a:t>
            </a:r>
            <a:r>
              <a:rPr lang="zh-CN" altLang="en-US" sz="2000" dirty="0" smtClean="0"/>
              <a:t>、</a:t>
            </a:r>
            <a:r>
              <a:rPr lang="en-US" altLang="zh-CN" sz="2000" dirty="0" smtClean="0"/>
              <a:t>182</a:t>
            </a:r>
            <a:r>
              <a:rPr lang="zh-CN" altLang="en-US" sz="2000" dirty="0" smtClean="0"/>
              <a:t>、</a:t>
            </a:r>
            <a:r>
              <a:rPr lang="en-US" altLang="zh-CN" sz="2000" dirty="0" smtClean="0"/>
              <a:t>183</a:t>
            </a:r>
            <a:r>
              <a:rPr lang="zh-CN" altLang="en-US" sz="2000" dirty="0" smtClean="0"/>
              <a:t>、</a:t>
            </a:r>
            <a:r>
              <a:rPr lang="en-US" altLang="zh-CN" sz="2000" dirty="0" smtClean="0"/>
              <a:t>184</a:t>
            </a:r>
            <a:r>
              <a:rPr lang="zh-CN" altLang="en-US" sz="2000" dirty="0" smtClean="0"/>
              <a:t>、</a:t>
            </a:r>
            <a:r>
              <a:rPr lang="en-US" altLang="zh-CN" sz="2000" dirty="0" smtClean="0"/>
              <a:t>187</a:t>
            </a:r>
            <a:r>
              <a:rPr lang="zh-CN" altLang="en-US" sz="2000" dirty="0" smtClean="0"/>
              <a:t>、</a:t>
            </a:r>
            <a:r>
              <a:rPr lang="en-US" altLang="zh-CN" sz="2000" dirty="0" smtClean="0"/>
              <a:t>188</a:t>
            </a:r>
            <a:r>
              <a:rPr lang="zh-CN" altLang="en-US" sz="2000" dirty="0" smtClean="0"/>
              <a:t>、</a:t>
            </a:r>
            <a:r>
              <a:rPr lang="en-US" altLang="zh-CN" sz="2000" dirty="0" smtClean="0"/>
              <a:t>198</a:t>
            </a:r>
            <a:r>
              <a:rPr lang="zh-CN" altLang="en-US" sz="2000" dirty="0" smtClean="0"/>
              <a:t>；</a:t>
            </a:r>
            <a:endParaRPr lang="zh-CN" altLang="en-US" sz="2000" b="1" dirty="0" smtClean="0"/>
          </a:p>
          <a:p>
            <a:pPr marL="36195" lvl="2" eaLnBrk="1" hangingPunct="1">
              <a:lnSpc>
                <a:spcPct val="130000"/>
              </a:lnSpc>
            </a:pPr>
            <a:r>
              <a:rPr lang="zh-CN" altLang="en-US" sz="2000" b="1" dirty="0" smtClean="0"/>
              <a:t>中国联通：</a:t>
            </a:r>
            <a:r>
              <a:rPr lang="en-US" altLang="zh-CN" sz="2000" b="1" dirty="0" smtClean="0">
                <a:solidFill>
                  <a:srgbClr val="0000FE"/>
                </a:solidFill>
              </a:rPr>
              <a:t>130</a:t>
            </a:r>
            <a:r>
              <a:rPr lang="zh-CN" altLang="en-US" sz="2000" b="1" dirty="0" smtClean="0">
                <a:solidFill>
                  <a:srgbClr val="0000FE"/>
                </a:solidFill>
              </a:rPr>
              <a:t>，</a:t>
            </a:r>
            <a:r>
              <a:rPr lang="en-US" altLang="zh-CN" sz="2000" b="1" dirty="0" smtClean="0">
                <a:solidFill>
                  <a:srgbClr val="0000FE"/>
                </a:solidFill>
              </a:rPr>
              <a:t>131</a:t>
            </a:r>
            <a:r>
              <a:rPr lang="zh-CN" altLang="en-US" sz="2000" dirty="0" smtClean="0"/>
              <a:t>，</a:t>
            </a:r>
            <a:r>
              <a:rPr lang="en-US" altLang="zh-CN" sz="2000" dirty="0" smtClean="0"/>
              <a:t>132</a:t>
            </a:r>
            <a:r>
              <a:rPr lang="zh-CN" altLang="en-US" sz="2000" dirty="0" smtClean="0"/>
              <a:t>，</a:t>
            </a:r>
            <a:r>
              <a:rPr lang="en-US" altLang="zh-CN" sz="2000" dirty="0" smtClean="0"/>
              <a:t>155</a:t>
            </a:r>
            <a:r>
              <a:rPr lang="zh-CN" altLang="en-US" sz="2000" dirty="0" smtClean="0"/>
              <a:t>，</a:t>
            </a:r>
            <a:r>
              <a:rPr lang="en-US" altLang="zh-CN" sz="2000" dirty="0" smtClean="0"/>
              <a:t>156</a:t>
            </a:r>
            <a:r>
              <a:rPr lang="zh-CN" altLang="en-US" sz="2000" dirty="0" smtClean="0"/>
              <a:t>，</a:t>
            </a:r>
            <a:r>
              <a:rPr lang="en-US" altLang="zh-CN" sz="2000" dirty="0" smtClean="0"/>
              <a:t>185</a:t>
            </a:r>
            <a:r>
              <a:rPr lang="zh-CN" altLang="en-US" sz="2000" dirty="0" smtClean="0"/>
              <a:t>，</a:t>
            </a:r>
            <a:r>
              <a:rPr lang="en-US" altLang="zh-CN" sz="2000" dirty="0" smtClean="0"/>
              <a:t>186</a:t>
            </a:r>
            <a:r>
              <a:rPr lang="zh-CN" altLang="en-US" sz="2000" dirty="0" smtClean="0"/>
              <a:t>，</a:t>
            </a:r>
            <a:r>
              <a:rPr lang="en-US" altLang="zh-CN" sz="2000" dirty="0" smtClean="0"/>
              <a:t>145</a:t>
            </a:r>
            <a:r>
              <a:rPr lang="zh-CN" altLang="en-US" sz="2000" dirty="0" smtClean="0"/>
              <a:t>，</a:t>
            </a:r>
            <a:r>
              <a:rPr lang="en-US" altLang="zh-CN" sz="2000" dirty="0" smtClean="0"/>
              <a:t>175</a:t>
            </a:r>
            <a:r>
              <a:rPr lang="zh-CN" altLang="en-US" sz="2000" dirty="0" smtClean="0"/>
              <a:t>、196；</a:t>
            </a:r>
            <a:endParaRPr lang="en-US" altLang="zh-CN" sz="2000" dirty="0" smtClean="0"/>
          </a:p>
          <a:p>
            <a:pPr marL="36195" lvl="2" eaLnBrk="1" hangingPunct="1">
              <a:lnSpc>
                <a:spcPct val="130000"/>
              </a:lnSpc>
            </a:pPr>
            <a:r>
              <a:rPr lang="zh-CN" altLang="en-US" sz="2000" b="1" dirty="0" smtClean="0"/>
              <a:t>中国电信：</a:t>
            </a:r>
            <a:r>
              <a:rPr lang="en-US" altLang="zh-CN" sz="2000" dirty="0" smtClean="0"/>
              <a:t>133</a:t>
            </a:r>
            <a:r>
              <a:rPr lang="zh-CN" altLang="en-US" sz="2000" dirty="0" smtClean="0"/>
              <a:t>，</a:t>
            </a:r>
            <a:r>
              <a:rPr lang="en-US" altLang="zh-CN" sz="2000" dirty="0" smtClean="0"/>
              <a:t>153</a:t>
            </a:r>
            <a:r>
              <a:rPr lang="zh-CN" altLang="en-US" sz="2000" dirty="0" smtClean="0"/>
              <a:t>，</a:t>
            </a:r>
            <a:r>
              <a:rPr lang="en-US" altLang="zh-CN" sz="2000" dirty="0" smtClean="0"/>
              <a:t>177</a:t>
            </a:r>
            <a:r>
              <a:rPr lang="zh-CN" altLang="en-US" sz="2000" dirty="0" smtClean="0"/>
              <a:t>，</a:t>
            </a:r>
            <a:r>
              <a:rPr lang="en-US" altLang="zh-CN" sz="2000" dirty="0" smtClean="0"/>
              <a:t>180</a:t>
            </a:r>
            <a:r>
              <a:rPr lang="zh-CN" altLang="en-US" sz="2000" dirty="0" smtClean="0"/>
              <a:t>，</a:t>
            </a:r>
            <a:r>
              <a:rPr lang="en-US" altLang="zh-CN" sz="2000" dirty="0" smtClean="0"/>
              <a:t>181</a:t>
            </a:r>
            <a:r>
              <a:rPr lang="zh-CN" altLang="en-US" sz="2000" dirty="0" smtClean="0"/>
              <a:t>，</a:t>
            </a:r>
            <a:r>
              <a:rPr lang="en-US" altLang="zh-CN" sz="2000" dirty="0" smtClean="0"/>
              <a:t>189</a:t>
            </a:r>
            <a:r>
              <a:rPr lang="zh-CN" altLang="en-US" sz="2000" dirty="0" smtClean="0"/>
              <a:t>，190、191、193、199；</a:t>
            </a:r>
            <a:endParaRPr lang="zh-CN" altLang="en-US" sz="2000" dirty="0" smtClean="0"/>
          </a:p>
          <a:p>
            <a:pPr marL="36195" lvl="2" eaLnBrk="1" hangingPunct="1">
              <a:lnSpc>
                <a:spcPct val="130000"/>
              </a:lnSpc>
            </a:pPr>
            <a:r>
              <a:rPr lang="zh-CN" altLang="en-US" sz="2000" b="1" dirty="0" smtClean="0"/>
              <a:t>中国广电：</a:t>
            </a:r>
            <a:r>
              <a:rPr lang="en-US" altLang="zh-CN" sz="2000" b="1" dirty="0" smtClean="0"/>
              <a:t>192</a:t>
            </a:r>
            <a:endParaRPr lang="en-US" altLang="zh-CN" sz="2000" b="1" dirty="0" smtClean="0"/>
          </a:p>
        </p:txBody>
      </p:sp>
      <p:sp>
        <p:nvSpPr>
          <p:cNvPr id="94213" name="Rectangle 17"/>
          <p:cNvSpPr>
            <a:spLocks noChangeArrowheads="1"/>
          </p:cNvSpPr>
          <p:nvPr/>
        </p:nvSpPr>
        <p:spPr bwMode="auto">
          <a:xfrm>
            <a:off x="938213" y="1845469"/>
            <a:ext cx="184731" cy="369332"/>
          </a:xfrm>
          <a:prstGeom prst="rect">
            <a:avLst/>
          </a:prstGeom>
          <a:noFill/>
          <a:ln w="9525" algn="ctr">
            <a:noFill/>
            <a:miter lim="800000"/>
          </a:ln>
        </p:spPr>
        <p:txBody>
          <a:bodyPr wrap="none">
            <a:spAutoFit/>
          </a:bodyPr>
          <a:lstStyle/>
          <a:p>
            <a:pPr algn="l">
              <a:spcBef>
                <a:spcPct val="0"/>
              </a:spcBef>
              <a:buClrTx/>
            </a:pPr>
            <a:endParaRPr lang="zh-CN" altLang="zh-CN" sz="1800" b="0">
              <a:latin typeface="Arial" panose="020B0604020202020204" pitchFamily="34" charset="0"/>
            </a:endParaRPr>
          </a:p>
        </p:txBody>
      </p:sp>
      <p:grpSp>
        <p:nvGrpSpPr>
          <p:cNvPr id="2" name="Group 54"/>
          <p:cNvGrpSpPr/>
          <p:nvPr/>
        </p:nvGrpSpPr>
        <p:grpSpPr bwMode="auto">
          <a:xfrm>
            <a:off x="5508501" y="1518796"/>
            <a:ext cx="3455987" cy="1123950"/>
            <a:chOff x="3152" y="1397"/>
            <a:chExt cx="2177" cy="944"/>
          </a:xfrm>
        </p:grpSpPr>
        <p:sp>
          <p:nvSpPr>
            <p:cNvPr id="624678" name="Line 38"/>
            <p:cNvSpPr>
              <a:spLocks noChangeShapeType="1"/>
            </p:cNvSpPr>
            <p:nvPr/>
          </p:nvSpPr>
          <p:spPr bwMode="auto">
            <a:xfrm>
              <a:off x="3588" y="1797"/>
              <a:ext cx="0" cy="193"/>
            </a:xfrm>
            <a:prstGeom prst="line">
              <a:avLst/>
            </a:prstGeom>
            <a:noFill/>
            <a:ln w="19050">
              <a:solidFill>
                <a:srgbClr val="000000"/>
              </a:solidFill>
              <a:round/>
              <a:headEnd type="non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5" name="Line 35"/>
            <p:cNvSpPr>
              <a:spLocks noChangeShapeType="1"/>
            </p:cNvSpPr>
            <p:nvPr/>
          </p:nvSpPr>
          <p:spPr bwMode="auto">
            <a:xfrm>
              <a:off x="3152" y="1785"/>
              <a:ext cx="0" cy="556"/>
            </a:xfrm>
            <a:prstGeom prst="line">
              <a:avLst/>
            </a:prstGeom>
            <a:noFill/>
            <a:ln w="19050">
              <a:solidFill>
                <a:srgbClr val="000000"/>
              </a:solidFill>
              <a:round/>
              <a:headEnd type="non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6" name="Line 36"/>
            <p:cNvSpPr>
              <a:spLocks noChangeShapeType="1"/>
            </p:cNvSpPr>
            <p:nvPr/>
          </p:nvSpPr>
          <p:spPr bwMode="auto">
            <a:xfrm>
              <a:off x="5329" y="1729"/>
              <a:ext cx="0" cy="612"/>
            </a:xfrm>
            <a:prstGeom prst="line">
              <a:avLst/>
            </a:prstGeom>
            <a:noFill/>
            <a:ln w="19050">
              <a:solidFill>
                <a:srgbClr val="000000"/>
              </a:solidFill>
              <a:round/>
              <a:headEnd type="non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7" name="Line 37"/>
            <p:cNvSpPr>
              <a:spLocks noChangeShapeType="1"/>
            </p:cNvSpPr>
            <p:nvPr/>
          </p:nvSpPr>
          <p:spPr bwMode="auto">
            <a:xfrm>
              <a:off x="3584" y="1964"/>
              <a:ext cx="187" cy="0"/>
            </a:xfrm>
            <a:prstGeom prst="line">
              <a:avLst/>
            </a:prstGeom>
            <a:noFill/>
            <a:ln w="19050">
              <a:solidFill>
                <a:srgbClr val="000000"/>
              </a:solidFill>
              <a:round/>
              <a:headEnd type="triangl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9" name="Line 39"/>
            <p:cNvSpPr>
              <a:spLocks noChangeShapeType="1"/>
            </p:cNvSpPr>
            <p:nvPr/>
          </p:nvSpPr>
          <p:spPr bwMode="auto">
            <a:xfrm>
              <a:off x="5140" y="1964"/>
              <a:ext cx="188" cy="0"/>
            </a:xfrm>
            <a:prstGeom prst="line">
              <a:avLst/>
            </a:prstGeom>
            <a:noFill/>
            <a:ln w="19050">
              <a:solidFill>
                <a:srgbClr val="000000"/>
              </a:solidFill>
              <a:round/>
              <a:headEnd type="none" w="sm" len="sm"/>
              <a:tailEnd type="triangl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80" name="Rectangle 40"/>
            <p:cNvSpPr>
              <a:spLocks noChangeArrowheads="1"/>
            </p:cNvSpPr>
            <p:nvPr/>
          </p:nvSpPr>
          <p:spPr bwMode="auto">
            <a:xfrm>
              <a:off x="3152" y="1616"/>
              <a:ext cx="436" cy="180"/>
            </a:xfrm>
            <a:prstGeom prst="rect">
              <a:avLst/>
            </a:prstGeom>
            <a:solidFill>
              <a:srgbClr val="FF9FFF"/>
            </a:solidFill>
            <a:ln w="19050">
              <a:solidFill>
                <a:srgbClr val="000000"/>
              </a:solidFill>
              <a:miter lim="800000"/>
            </a:ln>
            <a:effectLst/>
          </p:spPr>
          <p:txBody>
            <a:bodyPr lIns="12700" tIns="12700" rIns="12700" bIns="12700"/>
            <a:lstStyle/>
            <a:p>
              <a:pPr marL="342900" indent="-342900">
                <a:defRPr/>
              </a:pPr>
              <a:r>
                <a:rPr lang="en-US" altLang="zh-CN" sz="1600">
                  <a:effectLst>
                    <a:outerShdw blurRad="38100" dist="38100" dir="2700000" algn="tl">
                      <a:srgbClr val="000000"/>
                    </a:outerShdw>
                  </a:effectLst>
                </a:rPr>
                <a:t>CC</a:t>
              </a:r>
              <a:endParaRPr lang="en-US" altLang="zh-CN" sz="1600">
                <a:effectLst>
                  <a:outerShdw blurRad="38100" dist="38100" dir="2700000" algn="tl">
                    <a:srgbClr val="000000"/>
                  </a:outerShdw>
                </a:effectLst>
              </a:endParaRPr>
            </a:p>
          </p:txBody>
        </p:sp>
        <p:sp>
          <p:nvSpPr>
            <p:cNvPr id="624681" name="Rectangle 41"/>
            <p:cNvSpPr>
              <a:spLocks noChangeArrowheads="1"/>
            </p:cNvSpPr>
            <p:nvPr/>
          </p:nvSpPr>
          <p:spPr bwMode="auto">
            <a:xfrm>
              <a:off x="3585" y="1618"/>
              <a:ext cx="436" cy="177"/>
            </a:xfrm>
            <a:prstGeom prst="rect">
              <a:avLst/>
            </a:prstGeom>
            <a:solidFill>
              <a:srgbClr val="33CC33"/>
            </a:solidFill>
            <a:ln w="19050">
              <a:solidFill>
                <a:srgbClr val="000000"/>
              </a:solidFill>
              <a:miter lim="800000"/>
            </a:ln>
            <a:effectLst/>
          </p:spPr>
          <p:txBody>
            <a:bodyPr lIns="12700" tIns="12700" rIns="12700" bIns="12700"/>
            <a:lstStyle/>
            <a:p>
              <a:pPr marL="342900" indent="-342900">
                <a:defRPr/>
              </a:pPr>
              <a:r>
                <a:rPr lang="en-US" altLang="zh-CN" sz="1600" dirty="0">
                  <a:effectLst>
                    <a:outerShdw blurRad="38100" dist="38100" dir="2700000" algn="tl">
                      <a:srgbClr val="000000"/>
                    </a:outerShdw>
                  </a:effectLst>
                </a:rPr>
                <a:t>NDC</a:t>
              </a:r>
              <a:endParaRPr lang="en-US" altLang="zh-CN" sz="1600" dirty="0">
                <a:effectLst>
                  <a:outerShdw blurRad="38100" dist="38100" dir="2700000" algn="tl">
                    <a:srgbClr val="000000"/>
                  </a:outerShdw>
                </a:effectLst>
              </a:endParaRPr>
            </a:p>
          </p:txBody>
        </p:sp>
        <p:sp>
          <p:nvSpPr>
            <p:cNvPr id="624682" name="Rectangle 42"/>
            <p:cNvSpPr>
              <a:spLocks noChangeArrowheads="1"/>
            </p:cNvSpPr>
            <p:nvPr/>
          </p:nvSpPr>
          <p:spPr bwMode="auto">
            <a:xfrm>
              <a:off x="4682" y="1618"/>
              <a:ext cx="647" cy="176"/>
            </a:xfrm>
            <a:prstGeom prst="rect">
              <a:avLst/>
            </a:prstGeom>
            <a:solidFill>
              <a:srgbClr val="33CCCC"/>
            </a:solidFill>
            <a:ln w="19050">
              <a:solidFill>
                <a:srgbClr val="000000"/>
              </a:solidFill>
              <a:miter lim="800000"/>
            </a:ln>
            <a:effectLst/>
          </p:spPr>
          <p:txBody>
            <a:bodyPr lIns="12700" tIns="12700" rIns="12700" bIns="12700"/>
            <a:lstStyle/>
            <a:p>
              <a:pPr marL="342900" indent="-342900">
                <a:defRPr/>
              </a:pPr>
              <a:r>
                <a:rPr lang="en-US" altLang="zh-CN" sz="1600" dirty="0">
                  <a:effectLst>
                    <a:outerShdw blurRad="38100" dist="38100" dir="2700000" algn="tl">
                      <a:srgbClr val="000000"/>
                    </a:outerShdw>
                  </a:effectLst>
                </a:rPr>
                <a:t>SN</a:t>
              </a:r>
              <a:endParaRPr lang="en-US" altLang="zh-CN" sz="1600" dirty="0">
                <a:effectLst>
                  <a:outerShdw blurRad="38100" dist="38100" dir="2700000" algn="tl">
                    <a:srgbClr val="000000"/>
                  </a:outerShdw>
                </a:effectLst>
              </a:endParaRPr>
            </a:p>
          </p:txBody>
        </p:sp>
        <p:sp>
          <p:nvSpPr>
            <p:cNvPr id="624683" name="Rectangle 43"/>
            <p:cNvSpPr>
              <a:spLocks noChangeArrowheads="1"/>
            </p:cNvSpPr>
            <p:nvPr/>
          </p:nvSpPr>
          <p:spPr bwMode="auto">
            <a:xfrm>
              <a:off x="3447" y="2160"/>
              <a:ext cx="1619" cy="177"/>
            </a:xfrm>
            <a:prstGeom prst="rect">
              <a:avLst/>
            </a:prstGeom>
            <a:noFill/>
            <a:ln w="9525">
              <a:noFill/>
              <a:miter lim="800000"/>
            </a:ln>
            <a:effectLst/>
          </p:spPr>
          <p:txBody>
            <a:bodyPr lIns="12700" tIns="12700" rIns="12700" bIns="12700"/>
            <a:lstStyle/>
            <a:p>
              <a:pPr marL="342900" indent="-342900">
                <a:defRPr/>
              </a:pPr>
              <a:r>
                <a:rPr lang="zh-CN" altLang="en-US" sz="1600">
                  <a:effectLst>
                    <a:outerShdw blurRad="38100" dist="38100" dir="2700000" algn="tl">
                      <a:srgbClr val="C0C0C0"/>
                    </a:outerShdw>
                  </a:effectLst>
                </a:rPr>
                <a:t>国际移动用户</a:t>
              </a:r>
              <a:r>
                <a:rPr lang="en-US" altLang="zh-CN" sz="1600">
                  <a:effectLst>
                    <a:outerShdw blurRad="38100" dist="38100" dir="2700000" algn="tl">
                      <a:srgbClr val="C0C0C0"/>
                    </a:outerShdw>
                  </a:effectLst>
                </a:rPr>
                <a:t>ISDN</a:t>
              </a:r>
              <a:r>
                <a:rPr lang="zh-CN" altLang="en-US" sz="1600">
                  <a:effectLst>
                    <a:outerShdw blurRad="38100" dist="38100" dir="2700000" algn="tl">
                      <a:srgbClr val="C0C0C0"/>
                    </a:outerShdw>
                  </a:effectLst>
                </a:rPr>
                <a:t>号码</a:t>
              </a:r>
              <a:endParaRPr lang="zh-CN" altLang="en-US" sz="1600">
                <a:effectLst>
                  <a:outerShdw blurRad="38100" dist="38100" dir="2700000" algn="tl">
                    <a:srgbClr val="C0C0C0"/>
                  </a:outerShdw>
                </a:effectLst>
              </a:endParaRPr>
            </a:p>
          </p:txBody>
        </p:sp>
        <p:sp>
          <p:nvSpPr>
            <p:cNvPr id="624684" name="Rectangle 44"/>
            <p:cNvSpPr>
              <a:spLocks noChangeArrowheads="1"/>
            </p:cNvSpPr>
            <p:nvPr/>
          </p:nvSpPr>
          <p:spPr bwMode="auto">
            <a:xfrm>
              <a:off x="3771" y="1885"/>
              <a:ext cx="1370" cy="178"/>
            </a:xfrm>
            <a:prstGeom prst="rect">
              <a:avLst/>
            </a:prstGeom>
            <a:noFill/>
            <a:ln w="9525">
              <a:noFill/>
              <a:miter lim="800000"/>
            </a:ln>
            <a:effectLst/>
          </p:spPr>
          <p:txBody>
            <a:bodyPr lIns="12700" tIns="12700" rIns="12700" bIns="12700"/>
            <a:lstStyle/>
            <a:p>
              <a:pPr marL="342900" indent="-342900">
                <a:defRPr/>
              </a:pPr>
              <a:r>
                <a:rPr lang="zh-CN" altLang="en-US" sz="1600">
                  <a:effectLst>
                    <a:outerShdw blurRad="38100" dist="38100" dir="2700000" algn="tl">
                      <a:srgbClr val="C0C0C0"/>
                    </a:outerShdw>
                  </a:effectLst>
                </a:rPr>
                <a:t>国内有效</a:t>
              </a:r>
              <a:r>
                <a:rPr lang="en-US" altLang="zh-CN" sz="1600">
                  <a:effectLst>
                    <a:outerShdw blurRad="38100" dist="38100" dir="2700000" algn="tl">
                      <a:srgbClr val="C0C0C0"/>
                    </a:outerShdw>
                  </a:effectLst>
                </a:rPr>
                <a:t>ISDN</a:t>
              </a:r>
              <a:r>
                <a:rPr lang="zh-CN" altLang="en-US" sz="1600">
                  <a:effectLst>
                    <a:outerShdw blurRad="38100" dist="38100" dir="2700000" algn="tl">
                      <a:srgbClr val="C0C0C0"/>
                    </a:outerShdw>
                  </a:effectLst>
                </a:rPr>
                <a:t>号码</a:t>
              </a:r>
              <a:endParaRPr lang="zh-CN" altLang="en-US" sz="1600">
                <a:effectLst>
                  <a:outerShdw blurRad="38100" dist="38100" dir="2700000" algn="tl">
                    <a:srgbClr val="C0C0C0"/>
                  </a:outerShdw>
                </a:effectLst>
              </a:endParaRPr>
            </a:p>
          </p:txBody>
        </p:sp>
        <p:sp>
          <p:nvSpPr>
            <p:cNvPr id="624685" name="Rectangle 45"/>
            <p:cNvSpPr>
              <a:spLocks noChangeArrowheads="1"/>
            </p:cNvSpPr>
            <p:nvPr/>
          </p:nvSpPr>
          <p:spPr bwMode="auto">
            <a:xfrm>
              <a:off x="4025" y="1618"/>
              <a:ext cx="657" cy="176"/>
            </a:xfrm>
            <a:prstGeom prst="rect">
              <a:avLst/>
            </a:prstGeom>
            <a:solidFill>
              <a:srgbClr val="FA7D00"/>
            </a:solidFill>
            <a:ln w="19050">
              <a:solidFill>
                <a:srgbClr val="000000"/>
              </a:solidFill>
              <a:miter lim="800000"/>
            </a:ln>
            <a:effectLst/>
          </p:spPr>
          <p:txBody>
            <a:bodyPr lIns="12700" tIns="12700" rIns="12700" bIns="12700"/>
            <a:lstStyle/>
            <a:p>
              <a:pPr marL="342900" indent="-342900">
                <a:defRPr/>
              </a:pPr>
              <a:r>
                <a:rPr lang="en-US" altLang="zh-CN" sz="1600">
                  <a:effectLst>
                    <a:outerShdw blurRad="38100" dist="38100" dir="2700000" algn="tl">
                      <a:srgbClr val="000000"/>
                    </a:outerShdw>
                  </a:effectLst>
                </a:rPr>
                <a:t>HLR</a:t>
              </a:r>
              <a:endParaRPr lang="en-US" altLang="zh-CN" sz="1600">
                <a:effectLst>
                  <a:outerShdw blurRad="38100" dist="38100" dir="2700000" algn="tl">
                    <a:srgbClr val="000000"/>
                  </a:outerShdw>
                </a:effectLst>
              </a:endParaRPr>
            </a:p>
          </p:txBody>
        </p:sp>
        <p:sp>
          <p:nvSpPr>
            <p:cNvPr id="624686" name="Line 46"/>
            <p:cNvSpPr>
              <a:spLocks noChangeShapeType="1"/>
            </p:cNvSpPr>
            <p:nvPr/>
          </p:nvSpPr>
          <p:spPr bwMode="auto">
            <a:xfrm flipH="1">
              <a:off x="3152" y="2229"/>
              <a:ext cx="353" cy="0"/>
            </a:xfrm>
            <a:prstGeom prst="line">
              <a:avLst/>
            </a:prstGeom>
            <a:noFill/>
            <a:ln w="19050">
              <a:solidFill>
                <a:schemeClr val="tx1"/>
              </a:solidFill>
              <a:rou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87" name="Line 47"/>
            <p:cNvSpPr>
              <a:spLocks noChangeShapeType="1"/>
            </p:cNvSpPr>
            <p:nvPr/>
          </p:nvSpPr>
          <p:spPr bwMode="auto">
            <a:xfrm>
              <a:off x="4976" y="2229"/>
              <a:ext cx="353" cy="0"/>
            </a:xfrm>
            <a:prstGeom prst="line">
              <a:avLst/>
            </a:prstGeom>
            <a:noFill/>
            <a:ln w="19050">
              <a:solidFill>
                <a:schemeClr val="tx1"/>
              </a:solidFill>
              <a:rou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90" name="Rectangle 50"/>
            <p:cNvSpPr>
              <a:spLocks noChangeArrowheads="1"/>
            </p:cNvSpPr>
            <p:nvPr/>
          </p:nvSpPr>
          <p:spPr bwMode="auto">
            <a:xfrm>
              <a:off x="3651" y="1434"/>
              <a:ext cx="408" cy="91"/>
            </a:xfrm>
            <a:prstGeom prst="rect">
              <a:avLst/>
            </a:prstGeom>
            <a:noFill/>
            <a:ln w="3175">
              <a:noFill/>
              <a:miter lim="800000"/>
            </a:ln>
            <a:effectLst/>
          </p:spPr>
          <p:txBody>
            <a:bodyPr lIns="12700" tIns="12700" rIns="12700" bIns="12700"/>
            <a:lstStyle/>
            <a:p>
              <a:pPr marL="342900" indent="-342900" algn="just">
                <a:defRPr/>
              </a:pPr>
              <a:r>
                <a:rPr lang="en-US" altLang="zh-CN" sz="1200" dirty="0">
                  <a:solidFill>
                    <a:srgbClr val="33CC33"/>
                  </a:solidFill>
                  <a:effectLst>
                    <a:outerShdw blurRad="38100" dist="38100" dir="2700000" algn="tl">
                      <a:srgbClr val="C0C0C0"/>
                    </a:outerShdw>
                  </a:effectLst>
                </a:rPr>
                <a:t>N</a:t>
              </a:r>
              <a:r>
                <a:rPr lang="en-US" altLang="zh-CN" sz="1200" baseline="-25000" dirty="0">
                  <a:solidFill>
                    <a:srgbClr val="33CC33"/>
                  </a:solidFill>
                  <a:effectLst>
                    <a:outerShdw blurRad="38100" dist="38100" dir="2700000" algn="tl">
                      <a:srgbClr val="C0C0C0"/>
                    </a:outerShdw>
                  </a:effectLst>
                  <a:latin typeface="宋体" panose="02010600030101010101" pitchFamily="2" charset="-122"/>
                </a:rPr>
                <a:t>1</a:t>
              </a:r>
              <a:r>
                <a:rPr lang="en-US" altLang="zh-CN" sz="1200" baseline="-25000" dirty="0">
                  <a:solidFill>
                    <a:srgbClr val="33CC33"/>
                  </a:solidFill>
                  <a:effectLst>
                    <a:outerShdw blurRad="38100" dist="38100" dir="2700000" algn="tl">
                      <a:srgbClr val="C0C0C0"/>
                    </a:outerShdw>
                  </a:effectLst>
                </a:rPr>
                <a:t> </a:t>
              </a:r>
              <a:r>
                <a:rPr lang="en-US" altLang="zh-CN" sz="1200" dirty="0">
                  <a:solidFill>
                    <a:srgbClr val="33CC33"/>
                  </a:solidFill>
                  <a:effectLst>
                    <a:outerShdw blurRad="38100" dist="38100" dir="2700000" algn="tl">
                      <a:srgbClr val="C0C0C0"/>
                    </a:outerShdw>
                  </a:effectLst>
                </a:rPr>
                <a:t>N</a:t>
              </a:r>
              <a:r>
                <a:rPr lang="en-US" altLang="zh-CN" sz="1200" baseline="-25000" dirty="0">
                  <a:solidFill>
                    <a:srgbClr val="33CC33"/>
                  </a:solidFill>
                  <a:effectLst>
                    <a:outerShdw blurRad="38100" dist="38100" dir="2700000" algn="tl">
                      <a:srgbClr val="C0C0C0"/>
                    </a:outerShdw>
                  </a:effectLst>
                  <a:latin typeface="宋体" panose="02010600030101010101" pitchFamily="2" charset="-122"/>
                </a:rPr>
                <a:t>2</a:t>
              </a:r>
              <a:r>
                <a:rPr lang="en-US" altLang="zh-CN" sz="1200" baseline="-25000" dirty="0">
                  <a:solidFill>
                    <a:srgbClr val="33CC33"/>
                  </a:solidFill>
                  <a:effectLst>
                    <a:outerShdw blurRad="38100" dist="38100" dir="2700000" algn="tl">
                      <a:srgbClr val="C0C0C0"/>
                    </a:outerShdw>
                  </a:effectLst>
                </a:rPr>
                <a:t> </a:t>
              </a:r>
              <a:r>
                <a:rPr lang="en-US" altLang="zh-CN" sz="1200" dirty="0">
                  <a:solidFill>
                    <a:srgbClr val="33CC33"/>
                  </a:solidFill>
                  <a:effectLst>
                    <a:outerShdw blurRad="38100" dist="38100" dir="2700000" algn="tl">
                      <a:srgbClr val="C0C0C0"/>
                    </a:outerShdw>
                  </a:effectLst>
                </a:rPr>
                <a:t>N</a:t>
              </a:r>
              <a:r>
                <a:rPr lang="en-US" altLang="zh-CN" sz="1200" baseline="-25000" dirty="0">
                  <a:solidFill>
                    <a:srgbClr val="33CC33"/>
                  </a:solidFill>
                  <a:effectLst>
                    <a:outerShdw blurRad="38100" dist="38100" dir="2700000" algn="tl">
                      <a:srgbClr val="C0C0C0"/>
                    </a:outerShdw>
                  </a:effectLst>
                  <a:latin typeface="宋体" panose="02010600030101010101" pitchFamily="2" charset="-122"/>
                </a:rPr>
                <a:t>3</a:t>
              </a:r>
              <a:endParaRPr lang="en-US" altLang="zh-CN" sz="1200" dirty="0">
                <a:solidFill>
                  <a:srgbClr val="33CC33"/>
                </a:solidFill>
                <a:effectLst>
                  <a:outerShdw blurRad="38100" dist="38100" dir="2700000" algn="tl">
                    <a:srgbClr val="C0C0C0"/>
                  </a:outerShdw>
                </a:effectLst>
              </a:endParaRPr>
            </a:p>
          </p:txBody>
        </p:sp>
        <p:sp>
          <p:nvSpPr>
            <p:cNvPr id="624691" name="Rectangle 51"/>
            <p:cNvSpPr>
              <a:spLocks noChangeArrowheads="1"/>
            </p:cNvSpPr>
            <p:nvPr/>
          </p:nvSpPr>
          <p:spPr bwMode="auto">
            <a:xfrm>
              <a:off x="4110" y="1434"/>
              <a:ext cx="720" cy="144"/>
            </a:xfrm>
            <a:prstGeom prst="rect">
              <a:avLst/>
            </a:prstGeom>
            <a:noFill/>
            <a:ln w="3175">
              <a:noFill/>
              <a:miter lim="800000"/>
            </a:ln>
            <a:effectLst/>
          </p:spPr>
          <p:txBody>
            <a:bodyPr lIns="12700" tIns="12700" rIns="12700" bIns="12700"/>
            <a:lstStyle/>
            <a:p>
              <a:pPr marL="342900" indent="-342900" algn="just">
                <a:defRPr/>
              </a:pP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0</a:t>
              </a:r>
              <a:r>
                <a:rPr lang="en-US" altLang="zh-CN" sz="1200" baseline="-25000">
                  <a:solidFill>
                    <a:srgbClr val="CC6600"/>
                  </a:solidFill>
                  <a:effectLst>
                    <a:outerShdw blurRad="38100" dist="38100" dir="2700000" algn="tl">
                      <a:srgbClr val="C0C0C0"/>
                    </a:outerShdw>
                  </a:effectLst>
                </a:rPr>
                <a:t> </a:t>
              </a: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1</a:t>
              </a:r>
              <a:r>
                <a:rPr lang="en-US" altLang="zh-CN" sz="1200" baseline="-25000">
                  <a:solidFill>
                    <a:srgbClr val="CC6600"/>
                  </a:solidFill>
                  <a:effectLst>
                    <a:outerShdw blurRad="38100" dist="38100" dir="2700000" algn="tl">
                      <a:srgbClr val="C0C0C0"/>
                    </a:outerShdw>
                  </a:effectLst>
                </a:rPr>
                <a:t> </a:t>
              </a: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2 </a:t>
              </a: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3</a:t>
              </a:r>
              <a:endParaRPr lang="en-US" altLang="zh-CN" sz="1200">
                <a:solidFill>
                  <a:srgbClr val="CC6600"/>
                </a:solidFill>
                <a:effectLst>
                  <a:outerShdw blurRad="38100" dist="38100" dir="2700000" algn="tl">
                    <a:srgbClr val="C0C0C0"/>
                  </a:outerShdw>
                </a:effectLst>
              </a:endParaRPr>
            </a:p>
          </p:txBody>
        </p:sp>
        <p:sp>
          <p:nvSpPr>
            <p:cNvPr id="624692" name="Rectangle 52"/>
            <p:cNvSpPr>
              <a:spLocks noChangeArrowheads="1"/>
            </p:cNvSpPr>
            <p:nvPr/>
          </p:nvSpPr>
          <p:spPr bwMode="auto">
            <a:xfrm>
              <a:off x="4855" y="1426"/>
              <a:ext cx="384" cy="144"/>
            </a:xfrm>
            <a:prstGeom prst="rect">
              <a:avLst/>
            </a:prstGeom>
            <a:noFill/>
            <a:ln w="3175">
              <a:noFill/>
              <a:miter lim="800000"/>
            </a:ln>
            <a:effectLst/>
          </p:spPr>
          <p:txBody>
            <a:bodyPr lIns="12700" tIns="12700" rIns="12700" bIns="12700"/>
            <a:lstStyle/>
            <a:p>
              <a:pPr marL="342900" indent="-342900" algn="just">
                <a:defRPr/>
              </a:pPr>
              <a:r>
                <a:rPr lang="en-US" altLang="zh-CN" sz="1200">
                  <a:solidFill>
                    <a:srgbClr val="8FB4FF"/>
                  </a:solidFill>
                  <a:effectLst>
                    <a:outerShdw blurRad="38100" dist="38100" dir="2700000" algn="tl">
                      <a:srgbClr val="C0C0C0"/>
                    </a:outerShdw>
                  </a:effectLst>
                </a:rPr>
                <a:t>ABCD</a:t>
              </a:r>
              <a:endParaRPr lang="en-US" altLang="zh-CN" sz="1200">
                <a:solidFill>
                  <a:srgbClr val="8FB4FF"/>
                </a:solidFill>
                <a:effectLst>
                  <a:outerShdw blurRad="38100" dist="38100" dir="2700000" algn="tl">
                    <a:srgbClr val="C0C0C0"/>
                  </a:outerShdw>
                </a:effectLst>
              </a:endParaRPr>
            </a:p>
          </p:txBody>
        </p:sp>
        <p:sp>
          <p:nvSpPr>
            <p:cNvPr id="624693" name="Text Box 53"/>
            <p:cNvSpPr txBox="1">
              <a:spLocks noChangeArrowheads="1"/>
            </p:cNvSpPr>
            <p:nvPr/>
          </p:nvSpPr>
          <p:spPr bwMode="auto">
            <a:xfrm>
              <a:off x="3198" y="1397"/>
              <a:ext cx="318" cy="259"/>
            </a:xfrm>
            <a:prstGeom prst="rect">
              <a:avLst/>
            </a:prstGeom>
            <a:noFill/>
            <a:ln w="9525" algn="ctr">
              <a:noFill/>
              <a:miter lim="800000"/>
            </a:ln>
            <a:effectLst/>
          </p:spPr>
          <p:txBody>
            <a:bodyPr>
              <a:spAutoFit/>
            </a:bodyPr>
            <a:lstStyle/>
            <a:p>
              <a:pPr marL="342900" indent="-342900">
                <a:spcBef>
                  <a:spcPct val="50000"/>
                </a:spcBef>
                <a:defRPr/>
              </a:pPr>
              <a:r>
                <a:rPr lang="en-US" altLang="zh-CN" sz="1400">
                  <a:solidFill>
                    <a:srgbClr val="FF9FFF"/>
                  </a:solidFill>
                  <a:effectLst>
                    <a:outerShdw blurRad="38100" dist="38100" dir="2700000" algn="tl">
                      <a:srgbClr val="C0C0C0"/>
                    </a:outerShdw>
                  </a:effectLst>
                </a:rPr>
                <a:t>86</a:t>
              </a:r>
              <a:endParaRPr lang="en-US" altLang="zh-CN" sz="1400">
                <a:solidFill>
                  <a:srgbClr val="FF9FFF"/>
                </a:solidFill>
                <a:effectLst>
                  <a:outerShdw blurRad="38100" dist="38100" dir="2700000" algn="tl">
                    <a:srgbClr val="C0C0C0"/>
                  </a:outerShdw>
                </a:effectLst>
              </a:endParaRPr>
            </a:p>
          </p:txBody>
        </p:sp>
      </p:grpSp>
      <p:pic>
        <p:nvPicPr>
          <p:cNvPr id="27" name="图片 2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29" name="图片 28"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30" name="TextBox 29"/>
          <p:cNvSpPr txBox="1"/>
          <p:nvPr/>
        </p:nvSpPr>
        <p:spPr>
          <a:xfrm>
            <a:off x="323528" y="699542"/>
            <a:ext cx="6696744" cy="429895"/>
          </a:xfrm>
          <a:prstGeom prst="rect">
            <a:avLst/>
          </a:prstGeom>
          <a:noFill/>
        </p:spPr>
        <p:txBody>
          <a:bodyPr wrap="square" rtlCol="0">
            <a:spAutoFit/>
          </a:bodyPr>
          <a:lstStyle/>
          <a:p>
            <a:r>
              <a:rPr lang="zh-CN" altLang="en-US" sz="2200" b="1" dirty="0" smtClean="0">
                <a:solidFill>
                  <a:srgbClr val="FF0000"/>
                </a:solidFill>
              </a:rPr>
              <a:t>电话号码</a:t>
            </a:r>
            <a:r>
              <a:rPr lang="en-US" altLang="zh-CN" sz="2200" b="1" dirty="0" smtClean="0">
                <a:solidFill>
                  <a:srgbClr val="FF0000"/>
                </a:solidFill>
              </a:rPr>
              <a:t>MSISDN</a:t>
            </a:r>
            <a:endParaRPr lang="zh-CN" altLang="en-US" sz="2200" b="1" dirty="0">
              <a:solidFill>
                <a:srgbClr val="FF0000"/>
              </a:solidFill>
            </a:endParaRPr>
          </a:p>
        </p:txBody>
      </p:sp>
      <p:sp>
        <p:nvSpPr>
          <p:cNvPr id="3" name="文本框 2"/>
          <p:cNvSpPr txBox="1"/>
          <p:nvPr/>
        </p:nvSpPr>
        <p:spPr>
          <a:xfrm>
            <a:off x="323215" y="915670"/>
            <a:ext cx="8776335" cy="3784600"/>
          </a:xfrm>
          <a:prstGeom prst="rect">
            <a:avLst/>
          </a:prstGeom>
          <a:solidFill>
            <a:schemeClr val="tx2">
              <a:lumMod val="20000"/>
              <a:lumOff val="80000"/>
            </a:schemeClr>
          </a:solidFill>
        </p:spPr>
        <p:txBody>
          <a:bodyPr wrap="square" rtlCol="0" anchor="t">
            <a:spAutoFit/>
          </a:bodyPr>
          <a:p>
            <a:pPr>
              <a:lnSpc>
                <a:spcPct val="150000"/>
              </a:lnSpc>
            </a:pPr>
            <a:r>
              <a:rPr lang="zh-CN" altLang="en-US" sz="2000"/>
              <a:t>2019年6月6日，工信部正式下发4张5G牌照，宣布我国正式进入5G时代。除了我们最熟悉的中国移动、中国联通、中国电信三家运营商外，当时中国广电也拿到了5G牌照。</a:t>
            </a:r>
            <a:endParaRPr lang="zh-CN" altLang="en-US" sz="2000"/>
          </a:p>
          <a:p>
            <a:pPr>
              <a:lnSpc>
                <a:spcPct val="150000"/>
              </a:lnSpc>
            </a:pPr>
            <a:r>
              <a:rPr lang="zh-CN" altLang="en-US" sz="2000"/>
              <a:t>广电的首批号码均为192号段，从2022年5月17日开始运营，广电手中最大的资源就是原用于广播电视的700MHz频段。广电与移动合作，共建700MHz 5G频段。与现在常见的2.6Ghz 5G频段相比，700MHz频段覆盖半径足足大了1倍，覆盖范围大约是2.6Ghz的4~5倍，只需要50~60万座基站，就能实现国内基本覆盖。</a:t>
            </a:r>
            <a:endParaRPr lang="zh-CN" altLang="en-US" sz="2000"/>
          </a:p>
        </p:txBody>
      </p:sp>
      <p:sp>
        <p:nvSpPr>
          <p:cNvPr id="4" name="文本框 3"/>
          <p:cNvSpPr txBox="1"/>
          <p:nvPr/>
        </p:nvSpPr>
        <p:spPr>
          <a:xfrm>
            <a:off x="951230" y="1923415"/>
            <a:ext cx="7658100" cy="1014730"/>
          </a:xfrm>
          <a:prstGeom prst="rect">
            <a:avLst/>
          </a:prstGeom>
          <a:solidFill>
            <a:schemeClr val="accent2">
              <a:lumMod val="40000"/>
              <a:lumOff val="60000"/>
            </a:schemeClr>
          </a:solidFill>
        </p:spPr>
        <p:txBody>
          <a:bodyPr wrap="square" rtlCol="0">
            <a:spAutoFit/>
          </a:bodyPr>
          <a:p>
            <a:pPr algn="l">
              <a:lnSpc>
                <a:spcPct val="150000"/>
              </a:lnSpc>
              <a:buClrTx/>
              <a:buSzTx/>
              <a:buFontTx/>
            </a:pPr>
            <a:r>
              <a:rPr lang="zh-CN" altLang="en-US" sz="2000"/>
              <a:t>中国香港：852，中国台湾：886；中国澳门：853；日本：81；韩国82</a:t>
            </a:r>
            <a:endParaRPr lang="zh-CN" altLang="en-US" sz="2000"/>
          </a:p>
        </p:txBody>
      </p:sp>
      <p:sp>
        <p:nvSpPr>
          <p:cNvPr id="6" name="Rectangle 2"/>
          <p:cNvSpPr txBox="1"/>
          <p:nvPr/>
        </p:nvSpPr>
        <p:spPr>
          <a:xfrm>
            <a:off x="900311" y="141710"/>
            <a:ext cx="6768033" cy="422745"/>
          </a:xfrm>
          <a:prstGeom prst="rect">
            <a:avLst/>
          </a:prstGeom>
          <a:noFill/>
          <a:ln w="9525">
            <a:noFill/>
          </a:ln>
        </p:spPr>
        <p:txBody>
          <a:bodyPr vert="horz" wrap="square" lIns="68591" tIns="34295" rIns="68591" bIns="34295" anchor="ctr"/>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sp>
        <p:nvSpPr>
          <p:cNvPr id="5" name="TextBox 8"/>
          <p:cNvSpPr txBox="1"/>
          <p:nvPr/>
        </p:nvSpPr>
        <p:spPr>
          <a:xfrm>
            <a:off x="5364088" y="123478"/>
            <a:ext cx="3456384" cy="429895"/>
          </a:xfrm>
          <a:prstGeom prst="rect">
            <a:avLst/>
          </a:prstGeom>
          <a:noFill/>
        </p:spPr>
        <p:txBody>
          <a:bodyPr wrap="square" rtlCol="0">
            <a:spAutoFit/>
          </a:bodyPr>
          <a:p>
            <a:r>
              <a:rPr lang="en-US" altLang="zh-CN" sz="2200" b="1" dirty="0" smtClean="0">
                <a:solidFill>
                  <a:srgbClr val="FFFF00"/>
                </a:solidFill>
              </a:rPr>
              <a:t>5.4.2  </a:t>
            </a:r>
            <a:r>
              <a:rPr lang="zh-CN" altLang="en-US" sz="2200" b="1" dirty="0" smtClean="0">
                <a:solidFill>
                  <a:srgbClr val="FFFF00"/>
                </a:solidFill>
              </a:rPr>
              <a:t>位置更新</a:t>
            </a:r>
            <a:endParaRPr lang="zh-CN" altLang="en-US" sz="2200" b="1" dirty="0">
              <a:solidFill>
                <a:srgbClr val="FFFF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grpId="1" nodeType="clickEffect">
                                  <p:stCondLst>
                                    <p:cond delay="0"/>
                                  </p:stCondLst>
                                  <p:childTnLst>
                                    <p:animEffect transition="out" filter="wipe(down)">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grpId="1" nodeType="clickEffect">
                                  <p:stCondLst>
                                    <p:cond delay="0"/>
                                  </p:stCondLst>
                                  <p:childTnLst>
                                    <p:animEffect transition="out" filter="wipe(down)">
                                      <p:cBhvr>
                                        <p:cTn id="23" dur="500"/>
                                        <p:tgtEl>
                                          <p:spTgt spid="3"/>
                                        </p:tgtEl>
                                      </p:cBhvr>
                                    </p:animEffect>
                                    <p:set>
                                      <p:cBhvr>
                                        <p:cTn id="24"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bldLvl="0" animBg="1"/>
      <p:bldP spid="4" grpId="0" bldLvl="0" animBg="1"/>
      <p:bldP spid="4" grpId="1"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3"/>
          <p:cNvSpPr>
            <a:spLocks noGrp="1"/>
          </p:cNvSpPr>
          <p:nvPr>
            <p:ph type="ftr" sz="quarter" idx="10"/>
          </p:nvPr>
        </p:nvSpPr>
        <p:spPr/>
        <p:txBody>
          <a:bodyPr/>
          <a:lstStyle/>
          <a:p>
            <a:pPr>
              <a:defRPr/>
            </a:pPr>
            <a:r>
              <a:rPr lang="en-US" altLang="zh-CN"/>
              <a:t>Principle of Mobile Communication</a:t>
            </a:r>
            <a:endParaRPr lang="en-US" altLang="zh-CN"/>
          </a:p>
        </p:txBody>
      </p:sp>
      <p:sp>
        <p:nvSpPr>
          <p:cNvPr id="94212" name="Rectangle 3"/>
          <p:cNvSpPr>
            <a:spLocks noGrp="1" noChangeArrowheads="1"/>
          </p:cNvSpPr>
          <p:nvPr>
            <p:ph type="body" idx="1"/>
          </p:nvPr>
        </p:nvSpPr>
        <p:spPr>
          <a:xfrm>
            <a:off x="323850" y="1851670"/>
            <a:ext cx="8351838" cy="3086100"/>
          </a:xfrm>
          <a:noFill/>
        </p:spPr>
        <p:txBody>
          <a:bodyPr/>
          <a:lstStyle/>
          <a:p>
            <a:pPr marL="36195" lvl="1" eaLnBrk="1" hangingPunct="1">
              <a:lnSpc>
                <a:spcPct val="130000"/>
              </a:lnSpc>
              <a:buNone/>
            </a:pPr>
            <a:r>
              <a:rPr lang="en-US" altLang="zh-CN" sz="2000" b="1" dirty="0" smtClean="0">
                <a:solidFill>
                  <a:srgbClr val="0000FE"/>
                </a:solidFill>
                <a:sym typeface="Wingdings" panose="05000000000000000000"/>
              </a:rPr>
              <a:t></a:t>
            </a:r>
            <a:r>
              <a:rPr lang="en-US" altLang="zh-CN" sz="2000" b="1" dirty="0" smtClean="0">
                <a:solidFill>
                  <a:srgbClr val="0000FE"/>
                </a:solidFill>
              </a:rPr>
              <a:t>HLR</a:t>
            </a:r>
            <a:r>
              <a:rPr lang="zh-CN" altLang="en-US" sz="2000" b="1" dirty="0" smtClean="0">
                <a:solidFill>
                  <a:srgbClr val="0000FE"/>
                </a:solidFill>
              </a:rPr>
              <a:t>识别号：</a:t>
            </a:r>
            <a:r>
              <a:rPr lang="en-US" altLang="zh-CN" sz="2000" b="1" dirty="0" smtClean="0"/>
              <a:t>H0 H1 H2 H3 </a:t>
            </a:r>
            <a:endParaRPr lang="en-US" altLang="zh-CN" sz="2000" b="1" dirty="0" smtClean="0"/>
          </a:p>
          <a:p>
            <a:pPr marL="36195" lvl="1" eaLnBrk="1" hangingPunct="1">
              <a:lnSpc>
                <a:spcPct val="130000"/>
              </a:lnSpc>
              <a:buFont typeface="Wingdings" panose="05000000000000000000" pitchFamily="2" charset="2"/>
              <a:buNone/>
            </a:pPr>
            <a:r>
              <a:rPr lang="en-US" altLang="zh-CN" sz="2000" b="1" dirty="0" smtClean="0"/>
              <a:t>    </a:t>
            </a:r>
            <a:r>
              <a:rPr lang="zh-CN" altLang="en-US" sz="2000" b="1" dirty="0" smtClean="0"/>
              <a:t>我国的</a:t>
            </a:r>
            <a:r>
              <a:rPr lang="en-US" altLang="zh-CN" sz="2000" b="1" dirty="0" smtClean="0"/>
              <a:t>H0 H1 H2 H3</a:t>
            </a:r>
            <a:r>
              <a:rPr lang="zh-CN" altLang="en-US" sz="2000" b="1" dirty="0" smtClean="0"/>
              <a:t>分配分为</a:t>
            </a:r>
            <a:r>
              <a:rPr lang="en-US" altLang="zh-CN" sz="2000" b="1" dirty="0" smtClean="0"/>
              <a:t>H0=0</a:t>
            </a:r>
            <a:r>
              <a:rPr lang="zh-CN" altLang="en-US" sz="2000" b="1" dirty="0" smtClean="0"/>
              <a:t>和</a:t>
            </a:r>
            <a:r>
              <a:rPr lang="en-US" altLang="zh-CN" sz="2000" b="1" dirty="0" smtClean="0"/>
              <a:t>H0≠0</a:t>
            </a:r>
            <a:r>
              <a:rPr lang="zh-CN" altLang="en-US" sz="2000" b="1" dirty="0" smtClean="0"/>
              <a:t>两种情况</a:t>
            </a:r>
            <a:endParaRPr lang="zh-CN" altLang="en-US" sz="2000" b="1" dirty="0" smtClean="0"/>
          </a:p>
          <a:p>
            <a:pPr marL="36195" lvl="2" eaLnBrk="1" hangingPunct="1">
              <a:lnSpc>
                <a:spcPct val="130000"/>
              </a:lnSpc>
            </a:pPr>
            <a:r>
              <a:rPr lang="en-US" altLang="zh-CN" sz="2000" b="1" dirty="0" smtClean="0"/>
              <a:t>H0=0</a:t>
            </a:r>
            <a:r>
              <a:rPr lang="zh-CN" altLang="en-US" sz="2000" b="1" dirty="0" smtClean="0"/>
              <a:t>时，</a:t>
            </a:r>
            <a:r>
              <a:rPr lang="en-US" altLang="zh-CN" sz="2000" b="1" dirty="0" smtClean="0"/>
              <a:t>H1</a:t>
            </a:r>
            <a:r>
              <a:rPr lang="zh-CN" altLang="en-US" sz="2000" b="1" dirty="0" smtClean="0"/>
              <a:t>、</a:t>
            </a:r>
            <a:r>
              <a:rPr lang="en-US" altLang="zh-CN" sz="2000" b="1" dirty="0" smtClean="0"/>
              <a:t>H2</a:t>
            </a:r>
            <a:r>
              <a:rPr lang="zh-CN" altLang="en-US" sz="2000" b="1" dirty="0" smtClean="0"/>
              <a:t>由全国统一分配，</a:t>
            </a:r>
            <a:r>
              <a:rPr lang="en-US" altLang="zh-CN" sz="2000" b="1" dirty="0" smtClean="0"/>
              <a:t>H3 </a:t>
            </a:r>
            <a:r>
              <a:rPr lang="zh-CN" altLang="en-US" sz="2000" b="1" dirty="0" smtClean="0"/>
              <a:t>由各省自行分配。一个</a:t>
            </a:r>
            <a:r>
              <a:rPr lang="en-US" altLang="zh-CN" sz="2000" b="1" dirty="0" smtClean="0"/>
              <a:t>HLR</a:t>
            </a:r>
            <a:r>
              <a:rPr lang="zh-CN" altLang="en-US" sz="2000" b="1" dirty="0" smtClean="0"/>
              <a:t>可以包含一个或多个</a:t>
            </a:r>
            <a:r>
              <a:rPr lang="en-US" altLang="zh-CN" sz="2000" b="1" dirty="0" smtClean="0"/>
              <a:t>H3</a:t>
            </a:r>
            <a:r>
              <a:rPr lang="zh-CN" altLang="en-US" sz="2000" b="1" dirty="0" smtClean="0"/>
              <a:t>数值</a:t>
            </a:r>
            <a:endParaRPr lang="zh-CN" altLang="en-US" sz="2000" b="1" dirty="0" smtClean="0"/>
          </a:p>
          <a:p>
            <a:pPr marL="36195" lvl="2" eaLnBrk="1" hangingPunct="1">
              <a:lnSpc>
                <a:spcPct val="130000"/>
              </a:lnSpc>
            </a:pPr>
            <a:r>
              <a:rPr lang="en-US" altLang="zh-CN" sz="2000" b="1" dirty="0" smtClean="0"/>
              <a:t>H0 ≠ 0</a:t>
            </a:r>
            <a:r>
              <a:rPr lang="zh-CN" altLang="en-US" sz="2000" b="1" dirty="0" smtClean="0"/>
              <a:t>时，</a:t>
            </a:r>
            <a:r>
              <a:rPr lang="en-US" altLang="zh-CN" sz="2000" b="1" dirty="0" smtClean="0"/>
              <a:t>S</a:t>
            </a:r>
            <a:r>
              <a:rPr lang="zh-CN" altLang="en-US" sz="2000" b="1" dirty="0" smtClean="0"/>
              <a:t>、</a:t>
            </a:r>
            <a:r>
              <a:rPr lang="en-US" altLang="zh-CN" sz="2000" b="1" dirty="0" smtClean="0"/>
              <a:t>H0</a:t>
            </a:r>
            <a:r>
              <a:rPr lang="zh-CN" altLang="en-US" sz="2000" b="1" dirty="0" smtClean="0"/>
              <a:t>、</a:t>
            </a:r>
            <a:r>
              <a:rPr lang="en-US" altLang="zh-CN" sz="2000" b="1" dirty="0" smtClean="0"/>
              <a:t>H1</a:t>
            </a:r>
            <a:r>
              <a:rPr lang="zh-CN" altLang="en-US" sz="2000" b="1" dirty="0" smtClean="0"/>
              <a:t>、</a:t>
            </a:r>
            <a:r>
              <a:rPr lang="en-US" altLang="zh-CN" sz="2000" b="1" dirty="0" smtClean="0"/>
              <a:t>H2</a:t>
            </a:r>
            <a:r>
              <a:rPr lang="zh-CN" altLang="en-US" sz="2000" b="1" dirty="0" smtClean="0"/>
              <a:t>由全国统一分配。一个</a:t>
            </a:r>
            <a:r>
              <a:rPr lang="en-US" altLang="zh-CN" sz="2000" b="1" dirty="0" smtClean="0"/>
              <a:t>HLR</a:t>
            </a:r>
            <a:r>
              <a:rPr lang="zh-CN" altLang="en-US" sz="2000" b="1" dirty="0" smtClean="0"/>
              <a:t>可包含一个或若干个</a:t>
            </a:r>
            <a:r>
              <a:rPr lang="en-US" altLang="zh-CN" sz="2000" b="1" dirty="0" smtClean="0"/>
              <a:t>SH0H1H2</a:t>
            </a:r>
            <a:r>
              <a:rPr lang="zh-CN" altLang="en-US" sz="2000" b="1" dirty="0" smtClean="0"/>
              <a:t>数值</a:t>
            </a:r>
            <a:endParaRPr lang="zh-CN" altLang="en-US" sz="2000" b="1" dirty="0" smtClean="0"/>
          </a:p>
          <a:p>
            <a:pPr marL="36195" lvl="1" eaLnBrk="1" hangingPunct="1">
              <a:lnSpc>
                <a:spcPct val="130000"/>
              </a:lnSpc>
              <a:buNone/>
            </a:pPr>
            <a:r>
              <a:rPr lang="en-US" altLang="zh-CN" sz="2000" b="1" dirty="0" smtClean="0">
                <a:solidFill>
                  <a:srgbClr val="0000FE"/>
                </a:solidFill>
                <a:sym typeface="Wingdings" panose="05000000000000000000"/>
              </a:rPr>
              <a:t> </a:t>
            </a:r>
            <a:r>
              <a:rPr lang="en-US" altLang="zh-CN" sz="2000" b="1" dirty="0" smtClean="0">
                <a:solidFill>
                  <a:srgbClr val="0000FE"/>
                </a:solidFill>
              </a:rPr>
              <a:t>SN</a:t>
            </a:r>
            <a:r>
              <a:rPr lang="zh-CN" altLang="en-US" sz="2000" b="1" dirty="0" smtClean="0">
                <a:solidFill>
                  <a:srgbClr val="0000FE"/>
                </a:solidFill>
              </a:rPr>
              <a:t>（移动用户号）：</a:t>
            </a:r>
            <a:r>
              <a:rPr lang="en-US" altLang="zh-CN" sz="2000" b="1" dirty="0" smtClean="0"/>
              <a:t>ABCD</a:t>
            </a:r>
            <a:r>
              <a:rPr lang="zh-CN" altLang="en-US" sz="2000" b="1" dirty="0" smtClean="0"/>
              <a:t>。由各</a:t>
            </a:r>
            <a:r>
              <a:rPr lang="en-US" altLang="zh-CN" sz="2000" b="1" dirty="0" smtClean="0"/>
              <a:t>HLR</a:t>
            </a:r>
            <a:r>
              <a:rPr lang="zh-CN" altLang="en-US" sz="2000" b="1" dirty="0" smtClean="0"/>
              <a:t>自行分配</a:t>
            </a:r>
            <a:endParaRPr lang="zh-CN" altLang="en-US" sz="2000" b="1" dirty="0" smtClean="0"/>
          </a:p>
        </p:txBody>
      </p:sp>
      <p:sp>
        <p:nvSpPr>
          <p:cNvPr id="94213" name="Rectangle 17"/>
          <p:cNvSpPr>
            <a:spLocks noChangeArrowheads="1"/>
          </p:cNvSpPr>
          <p:nvPr/>
        </p:nvSpPr>
        <p:spPr bwMode="auto">
          <a:xfrm>
            <a:off x="938213" y="1845469"/>
            <a:ext cx="184731" cy="369332"/>
          </a:xfrm>
          <a:prstGeom prst="rect">
            <a:avLst/>
          </a:prstGeom>
          <a:noFill/>
          <a:ln w="9525" algn="ctr">
            <a:noFill/>
            <a:miter lim="800000"/>
          </a:ln>
        </p:spPr>
        <p:txBody>
          <a:bodyPr wrap="none">
            <a:spAutoFit/>
          </a:bodyPr>
          <a:lstStyle/>
          <a:p>
            <a:pPr algn="l">
              <a:spcBef>
                <a:spcPct val="0"/>
              </a:spcBef>
              <a:buClrTx/>
            </a:pPr>
            <a:endParaRPr lang="zh-CN" altLang="zh-CN" sz="1800" b="0">
              <a:latin typeface="Arial" panose="020B0604020202020204" pitchFamily="34" charset="0"/>
            </a:endParaRPr>
          </a:p>
        </p:txBody>
      </p:sp>
      <p:grpSp>
        <p:nvGrpSpPr>
          <p:cNvPr id="2" name="Group 54"/>
          <p:cNvGrpSpPr/>
          <p:nvPr/>
        </p:nvGrpSpPr>
        <p:grpSpPr bwMode="auto">
          <a:xfrm>
            <a:off x="5508501" y="1131590"/>
            <a:ext cx="3455987" cy="1123950"/>
            <a:chOff x="3152" y="1397"/>
            <a:chExt cx="2177" cy="944"/>
          </a:xfrm>
        </p:grpSpPr>
        <p:sp>
          <p:nvSpPr>
            <p:cNvPr id="624678" name="Line 38"/>
            <p:cNvSpPr>
              <a:spLocks noChangeShapeType="1"/>
            </p:cNvSpPr>
            <p:nvPr/>
          </p:nvSpPr>
          <p:spPr bwMode="auto">
            <a:xfrm>
              <a:off x="3588" y="1797"/>
              <a:ext cx="0" cy="193"/>
            </a:xfrm>
            <a:prstGeom prst="line">
              <a:avLst/>
            </a:prstGeom>
            <a:noFill/>
            <a:ln w="19050">
              <a:solidFill>
                <a:srgbClr val="000000"/>
              </a:solidFill>
              <a:round/>
              <a:headEnd type="non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5" name="Line 35"/>
            <p:cNvSpPr>
              <a:spLocks noChangeShapeType="1"/>
            </p:cNvSpPr>
            <p:nvPr/>
          </p:nvSpPr>
          <p:spPr bwMode="auto">
            <a:xfrm>
              <a:off x="3152" y="1785"/>
              <a:ext cx="0" cy="556"/>
            </a:xfrm>
            <a:prstGeom prst="line">
              <a:avLst/>
            </a:prstGeom>
            <a:noFill/>
            <a:ln w="19050">
              <a:solidFill>
                <a:srgbClr val="000000"/>
              </a:solidFill>
              <a:round/>
              <a:headEnd type="non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6" name="Line 36"/>
            <p:cNvSpPr>
              <a:spLocks noChangeShapeType="1"/>
            </p:cNvSpPr>
            <p:nvPr/>
          </p:nvSpPr>
          <p:spPr bwMode="auto">
            <a:xfrm>
              <a:off x="5329" y="1729"/>
              <a:ext cx="0" cy="612"/>
            </a:xfrm>
            <a:prstGeom prst="line">
              <a:avLst/>
            </a:prstGeom>
            <a:noFill/>
            <a:ln w="19050">
              <a:solidFill>
                <a:srgbClr val="000000"/>
              </a:solidFill>
              <a:round/>
              <a:headEnd type="non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7" name="Line 37"/>
            <p:cNvSpPr>
              <a:spLocks noChangeShapeType="1"/>
            </p:cNvSpPr>
            <p:nvPr/>
          </p:nvSpPr>
          <p:spPr bwMode="auto">
            <a:xfrm>
              <a:off x="3584" y="1964"/>
              <a:ext cx="187" cy="0"/>
            </a:xfrm>
            <a:prstGeom prst="line">
              <a:avLst/>
            </a:prstGeom>
            <a:noFill/>
            <a:ln w="19050">
              <a:solidFill>
                <a:srgbClr val="000000"/>
              </a:solidFill>
              <a:round/>
              <a:headEnd type="triangle" w="sm" len="sm"/>
              <a:tailEnd type="non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79" name="Line 39"/>
            <p:cNvSpPr>
              <a:spLocks noChangeShapeType="1"/>
            </p:cNvSpPr>
            <p:nvPr/>
          </p:nvSpPr>
          <p:spPr bwMode="auto">
            <a:xfrm>
              <a:off x="5140" y="1964"/>
              <a:ext cx="188" cy="0"/>
            </a:xfrm>
            <a:prstGeom prst="line">
              <a:avLst/>
            </a:prstGeom>
            <a:noFill/>
            <a:ln w="19050">
              <a:solidFill>
                <a:srgbClr val="000000"/>
              </a:solidFill>
              <a:round/>
              <a:headEnd type="none" w="sm" len="sm"/>
              <a:tailEnd type="triangle" w="sm" len="sm"/>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80" name="Rectangle 40"/>
            <p:cNvSpPr>
              <a:spLocks noChangeArrowheads="1"/>
            </p:cNvSpPr>
            <p:nvPr/>
          </p:nvSpPr>
          <p:spPr bwMode="auto">
            <a:xfrm>
              <a:off x="3152" y="1616"/>
              <a:ext cx="436" cy="180"/>
            </a:xfrm>
            <a:prstGeom prst="rect">
              <a:avLst/>
            </a:prstGeom>
            <a:solidFill>
              <a:srgbClr val="FF9FFF"/>
            </a:solidFill>
            <a:ln w="19050">
              <a:solidFill>
                <a:srgbClr val="000000"/>
              </a:solidFill>
              <a:miter lim="800000"/>
            </a:ln>
            <a:effectLst/>
          </p:spPr>
          <p:txBody>
            <a:bodyPr lIns="12700" tIns="12700" rIns="12700" bIns="12700"/>
            <a:lstStyle/>
            <a:p>
              <a:pPr marL="342900" indent="-342900">
                <a:defRPr/>
              </a:pPr>
              <a:r>
                <a:rPr lang="en-US" altLang="zh-CN" sz="1600">
                  <a:effectLst>
                    <a:outerShdw blurRad="38100" dist="38100" dir="2700000" algn="tl">
                      <a:srgbClr val="000000"/>
                    </a:outerShdw>
                  </a:effectLst>
                </a:rPr>
                <a:t>CC</a:t>
              </a:r>
              <a:endParaRPr lang="en-US" altLang="zh-CN" sz="1600">
                <a:effectLst>
                  <a:outerShdw blurRad="38100" dist="38100" dir="2700000" algn="tl">
                    <a:srgbClr val="000000"/>
                  </a:outerShdw>
                </a:effectLst>
              </a:endParaRPr>
            </a:p>
          </p:txBody>
        </p:sp>
        <p:sp>
          <p:nvSpPr>
            <p:cNvPr id="624681" name="Rectangle 41"/>
            <p:cNvSpPr>
              <a:spLocks noChangeArrowheads="1"/>
            </p:cNvSpPr>
            <p:nvPr/>
          </p:nvSpPr>
          <p:spPr bwMode="auto">
            <a:xfrm>
              <a:off x="3585" y="1618"/>
              <a:ext cx="436" cy="177"/>
            </a:xfrm>
            <a:prstGeom prst="rect">
              <a:avLst/>
            </a:prstGeom>
            <a:solidFill>
              <a:srgbClr val="33CC33"/>
            </a:solidFill>
            <a:ln w="19050">
              <a:solidFill>
                <a:srgbClr val="000000"/>
              </a:solidFill>
              <a:miter lim="800000"/>
            </a:ln>
            <a:effectLst/>
          </p:spPr>
          <p:txBody>
            <a:bodyPr lIns="12700" tIns="12700" rIns="12700" bIns="12700"/>
            <a:lstStyle/>
            <a:p>
              <a:pPr marL="342900" indent="-342900">
                <a:defRPr/>
              </a:pPr>
              <a:r>
                <a:rPr lang="en-US" altLang="zh-CN" sz="1600" dirty="0">
                  <a:effectLst>
                    <a:outerShdw blurRad="38100" dist="38100" dir="2700000" algn="tl">
                      <a:srgbClr val="000000"/>
                    </a:outerShdw>
                  </a:effectLst>
                </a:rPr>
                <a:t>NDC</a:t>
              </a:r>
              <a:endParaRPr lang="en-US" altLang="zh-CN" sz="1600" dirty="0">
                <a:effectLst>
                  <a:outerShdw blurRad="38100" dist="38100" dir="2700000" algn="tl">
                    <a:srgbClr val="000000"/>
                  </a:outerShdw>
                </a:effectLst>
              </a:endParaRPr>
            </a:p>
          </p:txBody>
        </p:sp>
        <p:sp>
          <p:nvSpPr>
            <p:cNvPr id="624682" name="Rectangle 42"/>
            <p:cNvSpPr>
              <a:spLocks noChangeArrowheads="1"/>
            </p:cNvSpPr>
            <p:nvPr/>
          </p:nvSpPr>
          <p:spPr bwMode="auto">
            <a:xfrm>
              <a:off x="4682" y="1618"/>
              <a:ext cx="647" cy="176"/>
            </a:xfrm>
            <a:prstGeom prst="rect">
              <a:avLst/>
            </a:prstGeom>
            <a:solidFill>
              <a:srgbClr val="33CCCC"/>
            </a:solidFill>
            <a:ln w="19050">
              <a:solidFill>
                <a:srgbClr val="000000"/>
              </a:solidFill>
              <a:miter lim="800000"/>
            </a:ln>
            <a:effectLst/>
          </p:spPr>
          <p:txBody>
            <a:bodyPr lIns="12700" tIns="12700" rIns="12700" bIns="12700"/>
            <a:lstStyle/>
            <a:p>
              <a:pPr marL="342900" indent="-342900">
                <a:defRPr/>
              </a:pPr>
              <a:r>
                <a:rPr lang="en-US" altLang="zh-CN" sz="1600" dirty="0">
                  <a:effectLst>
                    <a:outerShdw blurRad="38100" dist="38100" dir="2700000" algn="tl">
                      <a:srgbClr val="000000"/>
                    </a:outerShdw>
                  </a:effectLst>
                </a:rPr>
                <a:t>SN</a:t>
              </a:r>
              <a:endParaRPr lang="en-US" altLang="zh-CN" sz="1600" dirty="0">
                <a:effectLst>
                  <a:outerShdw blurRad="38100" dist="38100" dir="2700000" algn="tl">
                    <a:srgbClr val="000000"/>
                  </a:outerShdw>
                </a:effectLst>
              </a:endParaRPr>
            </a:p>
          </p:txBody>
        </p:sp>
        <p:sp>
          <p:nvSpPr>
            <p:cNvPr id="624683" name="Rectangle 43"/>
            <p:cNvSpPr>
              <a:spLocks noChangeArrowheads="1"/>
            </p:cNvSpPr>
            <p:nvPr/>
          </p:nvSpPr>
          <p:spPr bwMode="auto">
            <a:xfrm>
              <a:off x="3447" y="2160"/>
              <a:ext cx="1619" cy="177"/>
            </a:xfrm>
            <a:prstGeom prst="rect">
              <a:avLst/>
            </a:prstGeom>
            <a:noFill/>
            <a:ln w="9525">
              <a:noFill/>
              <a:miter lim="800000"/>
            </a:ln>
            <a:effectLst/>
          </p:spPr>
          <p:txBody>
            <a:bodyPr lIns="12700" tIns="12700" rIns="12700" bIns="12700"/>
            <a:lstStyle/>
            <a:p>
              <a:pPr marL="342900" indent="-342900">
                <a:defRPr/>
              </a:pPr>
              <a:r>
                <a:rPr lang="zh-CN" altLang="en-US" sz="1600">
                  <a:effectLst>
                    <a:outerShdw blurRad="38100" dist="38100" dir="2700000" algn="tl">
                      <a:srgbClr val="C0C0C0"/>
                    </a:outerShdw>
                  </a:effectLst>
                </a:rPr>
                <a:t>国际移动用户</a:t>
              </a:r>
              <a:r>
                <a:rPr lang="en-US" altLang="zh-CN" sz="1600">
                  <a:effectLst>
                    <a:outerShdw blurRad="38100" dist="38100" dir="2700000" algn="tl">
                      <a:srgbClr val="C0C0C0"/>
                    </a:outerShdw>
                  </a:effectLst>
                </a:rPr>
                <a:t>ISDN</a:t>
              </a:r>
              <a:r>
                <a:rPr lang="zh-CN" altLang="en-US" sz="1600">
                  <a:effectLst>
                    <a:outerShdw blurRad="38100" dist="38100" dir="2700000" algn="tl">
                      <a:srgbClr val="C0C0C0"/>
                    </a:outerShdw>
                  </a:effectLst>
                </a:rPr>
                <a:t>号码</a:t>
              </a:r>
              <a:endParaRPr lang="zh-CN" altLang="en-US" sz="1600">
                <a:effectLst>
                  <a:outerShdw blurRad="38100" dist="38100" dir="2700000" algn="tl">
                    <a:srgbClr val="C0C0C0"/>
                  </a:outerShdw>
                </a:effectLst>
              </a:endParaRPr>
            </a:p>
          </p:txBody>
        </p:sp>
        <p:sp>
          <p:nvSpPr>
            <p:cNvPr id="624684" name="Rectangle 44"/>
            <p:cNvSpPr>
              <a:spLocks noChangeArrowheads="1"/>
            </p:cNvSpPr>
            <p:nvPr/>
          </p:nvSpPr>
          <p:spPr bwMode="auto">
            <a:xfrm>
              <a:off x="3771" y="1885"/>
              <a:ext cx="1370" cy="178"/>
            </a:xfrm>
            <a:prstGeom prst="rect">
              <a:avLst/>
            </a:prstGeom>
            <a:noFill/>
            <a:ln w="9525">
              <a:noFill/>
              <a:miter lim="800000"/>
            </a:ln>
            <a:effectLst/>
          </p:spPr>
          <p:txBody>
            <a:bodyPr lIns="12700" tIns="12700" rIns="12700" bIns="12700"/>
            <a:lstStyle/>
            <a:p>
              <a:pPr marL="342900" indent="-342900">
                <a:defRPr/>
              </a:pPr>
              <a:r>
                <a:rPr lang="zh-CN" altLang="en-US" sz="1600">
                  <a:effectLst>
                    <a:outerShdw blurRad="38100" dist="38100" dir="2700000" algn="tl">
                      <a:srgbClr val="C0C0C0"/>
                    </a:outerShdw>
                  </a:effectLst>
                </a:rPr>
                <a:t>国内有效</a:t>
              </a:r>
              <a:r>
                <a:rPr lang="en-US" altLang="zh-CN" sz="1600">
                  <a:effectLst>
                    <a:outerShdw blurRad="38100" dist="38100" dir="2700000" algn="tl">
                      <a:srgbClr val="C0C0C0"/>
                    </a:outerShdw>
                  </a:effectLst>
                </a:rPr>
                <a:t>ISDN</a:t>
              </a:r>
              <a:r>
                <a:rPr lang="zh-CN" altLang="en-US" sz="1600">
                  <a:effectLst>
                    <a:outerShdw blurRad="38100" dist="38100" dir="2700000" algn="tl">
                      <a:srgbClr val="C0C0C0"/>
                    </a:outerShdw>
                  </a:effectLst>
                </a:rPr>
                <a:t>号码</a:t>
              </a:r>
              <a:endParaRPr lang="zh-CN" altLang="en-US" sz="1600">
                <a:effectLst>
                  <a:outerShdw blurRad="38100" dist="38100" dir="2700000" algn="tl">
                    <a:srgbClr val="C0C0C0"/>
                  </a:outerShdw>
                </a:effectLst>
              </a:endParaRPr>
            </a:p>
          </p:txBody>
        </p:sp>
        <p:sp>
          <p:nvSpPr>
            <p:cNvPr id="624685" name="Rectangle 45"/>
            <p:cNvSpPr>
              <a:spLocks noChangeArrowheads="1"/>
            </p:cNvSpPr>
            <p:nvPr/>
          </p:nvSpPr>
          <p:spPr bwMode="auto">
            <a:xfrm>
              <a:off x="4025" y="1618"/>
              <a:ext cx="657" cy="176"/>
            </a:xfrm>
            <a:prstGeom prst="rect">
              <a:avLst/>
            </a:prstGeom>
            <a:solidFill>
              <a:srgbClr val="FA7D00"/>
            </a:solidFill>
            <a:ln w="19050">
              <a:solidFill>
                <a:srgbClr val="000000"/>
              </a:solidFill>
              <a:miter lim="800000"/>
            </a:ln>
            <a:effectLst/>
          </p:spPr>
          <p:txBody>
            <a:bodyPr lIns="12700" tIns="12700" rIns="12700" bIns="12700"/>
            <a:lstStyle/>
            <a:p>
              <a:pPr marL="342900" indent="-342900">
                <a:defRPr/>
              </a:pPr>
              <a:r>
                <a:rPr lang="en-US" altLang="zh-CN" sz="1600">
                  <a:effectLst>
                    <a:outerShdw blurRad="38100" dist="38100" dir="2700000" algn="tl">
                      <a:srgbClr val="000000"/>
                    </a:outerShdw>
                  </a:effectLst>
                </a:rPr>
                <a:t>HLR</a:t>
              </a:r>
              <a:endParaRPr lang="en-US" altLang="zh-CN" sz="1600">
                <a:effectLst>
                  <a:outerShdw blurRad="38100" dist="38100" dir="2700000" algn="tl">
                    <a:srgbClr val="000000"/>
                  </a:outerShdw>
                </a:effectLst>
              </a:endParaRPr>
            </a:p>
          </p:txBody>
        </p:sp>
        <p:sp>
          <p:nvSpPr>
            <p:cNvPr id="624686" name="Line 46"/>
            <p:cNvSpPr>
              <a:spLocks noChangeShapeType="1"/>
            </p:cNvSpPr>
            <p:nvPr/>
          </p:nvSpPr>
          <p:spPr bwMode="auto">
            <a:xfrm flipH="1">
              <a:off x="3152" y="2229"/>
              <a:ext cx="353" cy="0"/>
            </a:xfrm>
            <a:prstGeom prst="line">
              <a:avLst/>
            </a:prstGeom>
            <a:noFill/>
            <a:ln w="19050">
              <a:solidFill>
                <a:schemeClr val="tx1"/>
              </a:solidFill>
              <a:rou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87" name="Line 47"/>
            <p:cNvSpPr>
              <a:spLocks noChangeShapeType="1"/>
            </p:cNvSpPr>
            <p:nvPr/>
          </p:nvSpPr>
          <p:spPr bwMode="auto">
            <a:xfrm>
              <a:off x="4976" y="2229"/>
              <a:ext cx="353" cy="0"/>
            </a:xfrm>
            <a:prstGeom prst="line">
              <a:avLst/>
            </a:prstGeom>
            <a:noFill/>
            <a:ln w="19050">
              <a:solidFill>
                <a:schemeClr val="tx1"/>
              </a:solidFill>
              <a:rou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624690" name="Rectangle 50"/>
            <p:cNvSpPr>
              <a:spLocks noChangeArrowheads="1"/>
            </p:cNvSpPr>
            <p:nvPr/>
          </p:nvSpPr>
          <p:spPr bwMode="auto">
            <a:xfrm>
              <a:off x="3651" y="1434"/>
              <a:ext cx="408" cy="91"/>
            </a:xfrm>
            <a:prstGeom prst="rect">
              <a:avLst/>
            </a:prstGeom>
            <a:noFill/>
            <a:ln w="3175">
              <a:noFill/>
              <a:miter lim="800000"/>
            </a:ln>
            <a:effectLst/>
          </p:spPr>
          <p:txBody>
            <a:bodyPr lIns="12700" tIns="12700" rIns="12700" bIns="12700"/>
            <a:lstStyle/>
            <a:p>
              <a:pPr marL="342900" indent="-342900" algn="just">
                <a:defRPr/>
              </a:pPr>
              <a:r>
                <a:rPr lang="en-US" altLang="zh-CN" sz="1200" dirty="0">
                  <a:solidFill>
                    <a:srgbClr val="33CC33"/>
                  </a:solidFill>
                  <a:effectLst>
                    <a:outerShdw blurRad="38100" dist="38100" dir="2700000" algn="tl">
                      <a:srgbClr val="C0C0C0"/>
                    </a:outerShdw>
                  </a:effectLst>
                </a:rPr>
                <a:t>N</a:t>
              </a:r>
              <a:r>
                <a:rPr lang="en-US" altLang="zh-CN" sz="1200" baseline="-25000" dirty="0">
                  <a:solidFill>
                    <a:srgbClr val="33CC33"/>
                  </a:solidFill>
                  <a:effectLst>
                    <a:outerShdw blurRad="38100" dist="38100" dir="2700000" algn="tl">
                      <a:srgbClr val="C0C0C0"/>
                    </a:outerShdw>
                  </a:effectLst>
                  <a:latin typeface="宋体" panose="02010600030101010101" pitchFamily="2" charset="-122"/>
                </a:rPr>
                <a:t>1</a:t>
              </a:r>
              <a:r>
                <a:rPr lang="en-US" altLang="zh-CN" sz="1200" baseline="-25000" dirty="0">
                  <a:solidFill>
                    <a:srgbClr val="33CC33"/>
                  </a:solidFill>
                  <a:effectLst>
                    <a:outerShdw blurRad="38100" dist="38100" dir="2700000" algn="tl">
                      <a:srgbClr val="C0C0C0"/>
                    </a:outerShdw>
                  </a:effectLst>
                </a:rPr>
                <a:t> </a:t>
              </a:r>
              <a:r>
                <a:rPr lang="en-US" altLang="zh-CN" sz="1200" dirty="0">
                  <a:solidFill>
                    <a:srgbClr val="33CC33"/>
                  </a:solidFill>
                  <a:effectLst>
                    <a:outerShdw blurRad="38100" dist="38100" dir="2700000" algn="tl">
                      <a:srgbClr val="C0C0C0"/>
                    </a:outerShdw>
                  </a:effectLst>
                </a:rPr>
                <a:t>N</a:t>
              </a:r>
              <a:r>
                <a:rPr lang="en-US" altLang="zh-CN" sz="1200" baseline="-25000" dirty="0">
                  <a:solidFill>
                    <a:srgbClr val="33CC33"/>
                  </a:solidFill>
                  <a:effectLst>
                    <a:outerShdw blurRad="38100" dist="38100" dir="2700000" algn="tl">
                      <a:srgbClr val="C0C0C0"/>
                    </a:outerShdw>
                  </a:effectLst>
                  <a:latin typeface="宋体" panose="02010600030101010101" pitchFamily="2" charset="-122"/>
                </a:rPr>
                <a:t>2</a:t>
              </a:r>
              <a:r>
                <a:rPr lang="en-US" altLang="zh-CN" sz="1200" baseline="-25000" dirty="0">
                  <a:solidFill>
                    <a:srgbClr val="33CC33"/>
                  </a:solidFill>
                  <a:effectLst>
                    <a:outerShdw blurRad="38100" dist="38100" dir="2700000" algn="tl">
                      <a:srgbClr val="C0C0C0"/>
                    </a:outerShdw>
                  </a:effectLst>
                </a:rPr>
                <a:t> </a:t>
              </a:r>
              <a:r>
                <a:rPr lang="en-US" altLang="zh-CN" sz="1200" dirty="0">
                  <a:solidFill>
                    <a:srgbClr val="33CC33"/>
                  </a:solidFill>
                  <a:effectLst>
                    <a:outerShdw blurRad="38100" dist="38100" dir="2700000" algn="tl">
                      <a:srgbClr val="C0C0C0"/>
                    </a:outerShdw>
                  </a:effectLst>
                </a:rPr>
                <a:t>N</a:t>
              </a:r>
              <a:r>
                <a:rPr lang="en-US" altLang="zh-CN" sz="1200" baseline="-25000" dirty="0">
                  <a:solidFill>
                    <a:srgbClr val="33CC33"/>
                  </a:solidFill>
                  <a:effectLst>
                    <a:outerShdw blurRad="38100" dist="38100" dir="2700000" algn="tl">
                      <a:srgbClr val="C0C0C0"/>
                    </a:outerShdw>
                  </a:effectLst>
                  <a:latin typeface="宋体" panose="02010600030101010101" pitchFamily="2" charset="-122"/>
                </a:rPr>
                <a:t>3</a:t>
              </a:r>
              <a:endParaRPr lang="en-US" altLang="zh-CN" sz="1200" dirty="0">
                <a:solidFill>
                  <a:srgbClr val="33CC33"/>
                </a:solidFill>
                <a:effectLst>
                  <a:outerShdw blurRad="38100" dist="38100" dir="2700000" algn="tl">
                    <a:srgbClr val="C0C0C0"/>
                  </a:outerShdw>
                </a:effectLst>
              </a:endParaRPr>
            </a:p>
          </p:txBody>
        </p:sp>
        <p:sp>
          <p:nvSpPr>
            <p:cNvPr id="624691" name="Rectangle 51"/>
            <p:cNvSpPr>
              <a:spLocks noChangeArrowheads="1"/>
            </p:cNvSpPr>
            <p:nvPr/>
          </p:nvSpPr>
          <p:spPr bwMode="auto">
            <a:xfrm>
              <a:off x="4110" y="1434"/>
              <a:ext cx="720" cy="144"/>
            </a:xfrm>
            <a:prstGeom prst="rect">
              <a:avLst/>
            </a:prstGeom>
            <a:noFill/>
            <a:ln w="3175">
              <a:noFill/>
              <a:miter lim="800000"/>
            </a:ln>
            <a:effectLst/>
          </p:spPr>
          <p:txBody>
            <a:bodyPr lIns="12700" tIns="12700" rIns="12700" bIns="12700"/>
            <a:lstStyle/>
            <a:p>
              <a:pPr marL="342900" indent="-342900" algn="just">
                <a:defRPr/>
              </a:pP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0</a:t>
              </a:r>
              <a:r>
                <a:rPr lang="en-US" altLang="zh-CN" sz="1200" baseline="-25000">
                  <a:solidFill>
                    <a:srgbClr val="CC6600"/>
                  </a:solidFill>
                  <a:effectLst>
                    <a:outerShdw blurRad="38100" dist="38100" dir="2700000" algn="tl">
                      <a:srgbClr val="C0C0C0"/>
                    </a:outerShdw>
                  </a:effectLst>
                </a:rPr>
                <a:t> </a:t>
              </a: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1</a:t>
              </a:r>
              <a:r>
                <a:rPr lang="en-US" altLang="zh-CN" sz="1200" baseline="-25000">
                  <a:solidFill>
                    <a:srgbClr val="CC6600"/>
                  </a:solidFill>
                  <a:effectLst>
                    <a:outerShdw blurRad="38100" dist="38100" dir="2700000" algn="tl">
                      <a:srgbClr val="C0C0C0"/>
                    </a:outerShdw>
                  </a:effectLst>
                </a:rPr>
                <a:t> </a:t>
              </a: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2 </a:t>
              </a:r>
              <a:r>
                <a:rPr lang="en-US" altLang="zh-CN" sz="1200">
                  <a:solidFill>
                    <a:srgbClr val="CC6600"/>
                  </a:solidFill>
                  <a:effectLst>
                    <a:outerShdw blurRad="38100" dist="38100" dir="2700000" algn="tl">
                      <a:srgbClr val="C0C0C0"/>
                    </a:outerShdw>
                  </a:effectLst>
                </a:rPr>
                <a:t>H</a:t>
              </a:r>
              <a:r>
                <a:rPr lang="en-US" altLang="zh-CN" sz="1200" baseline="-25000">
                  <a:solidFill>
                    <a:srgbClr val="CC6600"/>
                  </a:solidFill>
                  <a:effectLst>
                    <a:outerShdw blurRad="38100" dist="38100" dir="2700000" algn="tl">
                      <a:srgbClr val="C0C0C0"/>
                    </a:outerShdw>
                  </a:effectLst>
                  <a:latin typeface="宋体" panose="02010600030101010101" pitchFamily="2" charset="-122"/>
                </a:rPr>
                <a:t>3</a:t>
              </a:r>
              <a:endParaRPr lang="en-US" altLang="zh-CN" sz="1200">
                <a:solidFill>
                  <a:srgbClr val="CC6600"/>
                </a:solidFill>
                <a:effectLst>
                  <a:outerShdw blurRad="38100" dist="38100" dir="2700000" algn="tl">
                    <a:srgbClr val="C0C0C0"/>
                  </a:outerShdw>
                </a:effectLst>
              </a:endParaRPr>
            </a:p>
          </p:txBody>
        </p:sp>
        <p:sp>
          <p:nvSpPr>
            <p:cNvPr id="624692" name="Rectangle 52"/>
            <p:cNvSpPr>
              <a:spLocks noChangeArrowheads="1"/>
            </p:cNvSpPr>
            <p:nvPr/>
          </p:nvSpPr>
          <p:spPr bwMode="auto">
            <a:xfrm>
              <a:off x="4855" y="1426"/>
              <a:ext cx="384" cy="144"/>
            </a:xfrm>
            <a:prstGeom prst="rect">
              <a:avLst/>
            </a:prstGeom>
            <a:noFill/>
            <a:ln w="3175">
              <a:noFill/>
              <a:miter lim="800000"/>
            </a:ln>
            <a:effectLst/>
          </p:spPr>
          <p:txBody>
            <a:bodyPr lIns="12700" tIns="12700" rIns="12700" bIns="12700"/>
            <a:lstStyle/>
            <a:p>
              <a:pPr marL="342900" indent="-342900" algn="just">
                <a:defRPr/>
              </a:pPr>
              <a:r>
                <a:rPr lang="en-US" altLang="zh-CN" sz="1200">
                  <a:solidFill>
                    <a:srgbClr val="8FB4FF"/>
                  </a:solidFill>
                  <a:effectLst>
                    <a:outerShdw blurRad="38100" dist="38100" dir="2700000" algn="tl">
                      <a:srgbClr val="C0C0C0"/>
                    </a:outerShdw>
                  </a:effectLst>
                </a:rPr>
                <a:t>ABCD</a:t>
              </a:r>
              <a:endParaRPr lang="en-US" altLang="zh-CN" sz="1200">
                <a:solidFill>
                  <a:srgbClr val="8FB4FF"/>
                </a:solidFill>
                <a:effectLst>
                  <a:outerShdw blurRad="38100" dist="38100" dir="2700000" algn="tl">
                    <a:srgbClr val="C0C0C0"/>
                  </a:outerShdw>
                </a:effectLst>
              </a:endParaRPr>
            </a:p>
          </p:txBody>
        </p:sp>
        <p:sp>
          <p:nvSpPr>
            <p:cNvPr id="624693" name="Text Box 53"/>
            <p:cNvSpPr txBox="1">
              <a:spLocks noChangeArrowheads="1"/>
            </p:cNvSpPr>
            <p:nvPr/>
          </p:nvSpPr>
          <p:spPr bwMode="auto">
            <a:xfrm>
              <a:off x="3198" y="1397"/>
              <a:ext cx="318" cy="259"/>
            </a:xfrm>
            <a:prstGeom prst="rect">
              <a:avLst/>
            </a:prstGeom>
            <a:noFill/>
            <a:ln w="9525" algn="ctr">
              <a:noFill/>
              <a:miter lim="800000"/>
            </a:ln>
            <a:effectLst/>
          </p:spPr>
          <p:txBody>
            <a:bodyPr>
              <a:spAutoFit/>
            </a:bodyPr>
            <a:lstStyle/>
            <a:p>
              <a:pPr marL="342900" indent="-342900">
                <a:spcBef>
                  <a:spcPct val="50000"/>
                </a:spcBef>
                <a:defRPr/>
              </a:pPr>
              <a:r>
                <a:rPr lang="en-US" altLang="zh-CN" sz="1400">
                  <a:solidFill>
                    <a:srgbClr val="FF9FFF"/>
                  </a:solidFill>
                  <a:effectLst>
                    <a:outerShdw blurRad="38100" dist="38100" dir="2700000" algn="tl">
                      <a:srgbClr val="C0C0C0"/>
                    </a:outerShdw>
                  </a:effectLst>
                </a:rPr>
                <a:t>86</a:t>
              </a:r>
              <a:endParaRPr lang="en-US" altLang="zh-CN" sz="1400">
                <a:solidFill>
                  <a:srgbClr val="FF9FFF"/>
                </a:solidFill>
                <a:effectLst>
                  <a:outerShdw blurRad="38100" dist="38100" dir="2700000" algn="tl">
                    <a:srgbClr val="C0C0C0"/>
                  </a:outerShdw>
                </a:effectLst>
              </a:endParaRPr>
            </a:p>
          </p:txBody>
        </p:sp>
      </p:grpSp>
      <p:pic>
        <p:nvPicPr>
          <p:cNvPr id="27" name="图片 26"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pic>
        <p:nvPicPr>
          <p:cNvPr id="29" name="图片 28"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30" name="TextBox 29"/>
          <p:cNvSpPr txBox="1"/>
          <p:nvPr/>
        </p:nvSpPr>
        <p:spPr>
          <a:xfrm>
            <a:off x="323528" y="699542"/>
            <a:ext cx="6696744" cy="429895"/>
          </a:xfrm>
          <a:prstGeom prst="rect">
            <a:avLst/>
          </a:prstGeom>
          <a:noFill/>
        </p:spPr>
        <p:txBody>
          <a:bodyPr wrap="square" rtlCol="0">
            <a:spAutoFit/>
          </a:bodyPr>
          <a:lstStyle/>
          <a:p>
            <a:r>
              <a:rPr lang="zh-CN" altLang="en-US" sz="2200" b="1" dirty="0" smtClean="0">
                <a:solidFill>
                  <a:srgbClr val="0000FE"/>
                </a:solidFill>
              </a:rPr>
              <a:t>电话号码</a:t>
            </a:r>
            <a:r>
              <a:rPr lang="en-US" altLang="zh-CN" sz="2200" b="1" dirty="0" smtClean="0">
                <a:solidFill>
                  <a:srgbClr val="0000FE"/>
                </a:solidFill>
              </a:rPr>
              <a:t>MSISDN</a:t>
            </a:r>
            <a:endParaRPr lang="zh-CN" altLang="en-US" sz="2200" b="1" dirty="0">
              <a:solidFill>
                <a:srgbClr val="0000FE"/>
              </a:solidFill>
            </a:endParaRPr>
          </a:p>
        </p:txBody>
      </p:sp>
      <p:sp>
        <p:nvSpPr>
          <p:cNvPr id="6" name="Rectangle 2"/>
          <p:cNvSpPr txBox="1"/>
          <p:nvPr/>
        </p:nvSpPr>
        <p:spPr>
          <a:xfrm>
            <a:off x="900430" y="141605"/>
            <a:ext cx="5850890" cy="422910"/>
          </a:xfrm>
          <a:prstGeom prst="rect">
            <a:avLst/>
          </a:prstGeom>
          <a:noFill/>
          <a:ln w="9525">
            <a:noFill/>
          </a:ln>
        </p:spPr>
        <p:txBody>
          <a:bodyPr vert="horz" wrap="square" lIns="68591" tIns="34295" rIns="68591" bIns="34295" anchor="ctr"/>
          <a:p>
            <a:pPr lvl="0" eaLnBrk="0" hangingPunct="0"/>
            <a:r>
              <a:rPr lang="en-US" altLang="zh-CN" sz="3200" dirty="0" smtClean="0">
                <a:solidFill>
                  <a:schemeClr val="bg1"/>
                </a:solidFill>
              </a:rPr>
              <a:t>5.4  </a:t>
            </a:r>
            <a:r>
              <a:rPr lang="zh-CN" altLang="en-US" sz="3200" dirty="0" smtClean="0">
                <a:solidFill>
                  <a:schemeClr val="bg1"/>
                </a:solidFill>
              </a:rPr>
              <a:t>切换和位置更新</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sp>
        <p:nvSpPr>
          <p:cNvPr id="5" name="TextBox 8"/>
          <p:cNvSpPr txBox="1"/>
          <p:nvPr/>
        </p:nvSpPr>
        <p:spPr>
          <a:xfrm>
            <a:off x="5364088" y="123478"/>
            <a:ext cx="3456384" cy="429895"/>
          </a:xfrm>
          <a:prstGeom prst="rect">
            <a:avLst/>
          </a:prstGeom>
          <a:noFill/>
        </p:spPr>
        <p:txBody>
          <a:bodyPr wrap="square" rtlCol="0">
            <a:spAutoFit/>
          </a:bodyPr>
          <a:p>
            <a:r>
              <a:rPr lang="en-US" altLang="zh-CN" sz="2200" b="1" dirty="0" smtClean="0">
                <a:solidFill>
                  <a:srgbClr val="FFFF00"/>
                </a:solidFill>
              </a:rPr>
              <a:t>5.4.2  </a:t>
            </a:r>
            <a:r>
              <a:rPr lang="zh-CN" altLang="en-US" sz="2200" b="1" dirty="0" smtClean="0">
                <a:solidFill>
                  <a:srgbClr val="FFFF00"/>
                </a:solidFill>
              </a:rPr>
              <a:t>位置更新</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06501" name="Rectangle 3"/>
          <p:cNvSpPr>
            <a:spLocks noGrp="1" noChangeArrowheads="1"/>
          </p:cNvSpPr>
          <p:nvPr>
            <p:ph type="body" idx="4294967295"/>
          </p:nvPr>
        </p:nvSpPr>
        <p:spPr>
          <a:xfrm>
            <a:off x="107950" y="642938"/>
            <a:ext cx="8567738" cy="4125516"/>
          </a:xfrm>
        </p:spPr>
        <p:txBody>
          <a:bodyPr/>
          <a:lstStyle/>
          <a:p>
            <a:pPr eaLnBrk="1" hangingPunct="1">
              <a:lnSpc>
                <a:spcPct val="130000"/>
              </a:lnSpc>
              <a:buFont typeface="Wingdings" panose="05000000000000000000" pitchFamily="2" charset="2"/>
              <a:buNone/>
            </a:pPr>
            <a:r>
              <a:rPr lang="zh-CN" altLang="en-US" sz="2200" dirty="0" smtClean="0">
                <a:solidFill>
                  <a:srgbClr val="0000FE"/>
                </a:solidFill>
                <a:latin typeface="华文楷体" pitchFamily="2" charset="-122"/>
                <a:ea typeface="华文楷体" pitchFamily="2" charset="-122"/>
                <a:sym typeface="Wingdings" panose="05000000000000000000"/>
              </a:rPr>
              <a:t></a:t>
            </a:r>
            <a:r>
              <a:rPr lang="zh-CN" altLang="en-US" sz="2200" dirty="0" smtClean="0">
                <a:solidFill>
                  <a:srgbClr val="0000FE"/>
                </a:solidFill>
                <a:latin typeface="华文楷体" pitchFamily="2" charset="-122"/>
                <a:ea typeface="华文楷体" pitchFamily="2" charset="-122"/>
              </a:rPr>
              <a:t>定义：</a:t>
            </a:r>
            <a:r>
              <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无线资源管理，是指通过一定的策略和手段进行管理、控制和调度，尽可能充分利用有限的无线网络各种资源，保障各类业务满足服务质量（</a:t>
            </a:r>
            <a:r>
              <a:rPr lang="en-US" altLang="zh-CN"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QoS</a:t>
            </a:r>
            <a:r>
              <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en-US" altLang="zh-CN"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Quality of Service</a:t>
            </a:r>
            <a:r>
              <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）的要求，确保达到规划的覆盖区域，尽可能地提高系统容量和资源利用率。</a:t>
            </a:r>
            <a:endPar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eaLnBrk="1" hangingPunct="1">
              <a:lnSpc>
                <a:spcPct val="130000"/>
              </a:lnSpc>
              <a:buSzTx/>
              <a:buNone/>
            </a:pPr>
            <a:r>
              <a:rPr lang="zh-CN" altLang="en-US" sz="2200" dirty="0" smtClean="0">
                <a:solidFill>
                  <a:srgbClr val="0000FE"/>
                </a:solidFill>
                <a:latin typeface="华文楷体" pitchFamily="2" charset="-122"/>
                <a:ea typeface="华文楷体" pitchFamily="2" charset="-122"/>
                <a:sym typeface="Wingdings" panose="05000000000000000000"/>
              </a:rPr>
              <a:t></a:t>
            </a:r>
            <a:r>
              <a:rPr lang="zh-CN" altLang="en-US" sz="2200" dirty="0" smtClean="0">
                <a:solidFill>
                  <a:srgbClr val="0000FE"/>
                </a:solidFill>
                <a:latin typeface="华文楷体" pitchFamily="2" charset="-122"/>
                <a:ea typeface="华文楷体" pitchFamily="2" charset="-122"/>
              </a:rPr>
              <a:t>无线资源包括：</a:t>
            </a:r>
            <a:r>
              <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频率资源，时间资源，码资源，功率资源，地理资源，空间资源，存储资源等；</a:t>
            </a:r>
            <a:endPar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eaLnBrk="1" hangingPunct="1">
              <a:lnSpc>
                <a:spcPct val="130000"/>
              </a:lnSpc>
              <a:buSzTx/>
              <a:buNone/>
            </a:pPr>
            <a:r>
              <a:rPr lang="zh-CN" altLang="en-US" sz="2200" dirty="0" smtClean="0">
                <a:solidFill>
                  <a:srgbClr val="0000FE"/>
                </a:solidFill>
                <a:latin typeface="华文楷体" pitchFamily="2" charset="-122"/>
                <a:ea typeface="华文楷体" pitchFamily="2" charset="-122"/>
                <a:sym typeface="Wingdings" panose="05000000000000000000"/>
              </a:rPr>
              <a:t></a:t>
            </a:r>
            <a:r>
              <a:rPr lang="zh-CN" altLang="en-US" sz="2200" dirty="0" smtClean="0">
                <a:solidFill>
                  <a:srgbClr val="0000FE"/>
                </a:solidFill>
                <a:latin typeface="华文楷体" pitchFamily="2" charset="-122"/>
                <a:ea typeface="华文楷体" pitchFamily="2" charset="-122"/>
              </a:rPr>
              <a:t>无线资源管理包括：</a:t>
            </a:r>
            <a:r>
              <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rPr>
              <a:t>接纳控制；负载控制；功率控制；切换控制；速率控制；信道分配及分组调度等。</a:t>
            </a:r>
            <a:endParaRPr lang="zh-CN" altLang="en-US" sz="2200" b="0" dirty="0" smtClean="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pic>
        <p:nvPicPr>
          <p:cNvPr id="9" name="图片 8"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7"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 name="图片 7"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0" name="TextBox 9"/>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5.5.1 </a:t>
            </a:r>
            <a:r>
              <a:rPr lang="zh-CN" altLang="en-US" sz="2200" b="1" dirty="0" smtClean="0">
                <a:solidFill>
                  <a:srgbClr val="FFFF00"/>
                </a:solidFill>
              </a:rPr>
              <a:t>概述</a:t>
            </a:r>
            <a:endParaRPr lang="zh-CN" altLang="en-US" sz="2200" b="1" dirty="0">
              <a:solidFill>
                <a:srgbClr val="FFFF00"/>
              </a:solidFill>
            </a:endParaRPr>
          </a:p>
        </p:txBody>
      </p:sp>
      <p:graphicFrame>
        <p:nvGraphicFramePr>
          <p:cNvPr id="2" name="对象 1"/>
          <p:cNvGraphicFramePr/>
          <p:nvPr/>
        </p:nvGraphicFramePr>
        <p:xfrm>
          <a:off x="611505" y="267970"/>
          <a:ext cx="7402830" cy="4761865"/>
        </p:xfrm>
        <a:graphic>
          <a:graphicData uri="http://schemas.openxmlformats.org/presentationml/2006/ole">
            <mc:AlternateContent xmlns:mc="http://schemas.openxmlformats.org/markup-compatibility/2006">
              <mc:Choice xmlns:v="urn:schemas-microsoft-com:vml" Requires="v">
                <p:oleObj spid="_x0000_s3" name="" r:id="rId2" imgW="6781800" imgH="4362450" progId="Paint.Picture">
                  <p:embed/>
                </p:oleObj>
              </mc:Choice>
              <mc:Fallback>
                <p:oleObj name="" r:id="rId2" imgW="6781800" imgH="4362450" progId="Paint.Picture">
                  <p:embed/>
                  <p:pic>
                    <p:nvPicPr>
                      <p:cNvPr id="0" name="图片 2"/>
                      <p:cNvPicPr/>
                      <p:nvPr/>
                    </p:nvPicPr>
                    <p:blipFill>
                      <a:blip r:embed="rId3"/>
                      <a:stretch>
                        <a:fillRect/>
                      </a:stretch>
                    </p:blipFill>
                    <p:spPr>
                      <a:xfrm>
                        <a:off x="611505" y="267970"/>
                        <a:ext cx="7402830" cy="4761865"/>
                      </a:xfrm>
                      <a:prstGeom prst="rect">
                        <a:avLst/>
                      </a:prstGeom>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08549" name="Rectangle 3"/>
          <p:cNvSpPr>
            <a:spLocks noGrp="1" noChangeArrowheads="1"/>
          </p:cNvSpPr>
          <p:nvPr>
            <p:ph type="body" idx="4294967295"/>
          </p:nvPr>
        </p:nvSpPr>
        <p:spPr>
          <a:xfrm>
            <a:off x="107950" y="642938"/>
            <a:ext cx="8567738" cy="4125516"/>
          </a:xfrm>
        </p:spPr>
        <p:txBody>
          <a:bodyPr/>
          <a:lstStyle/>
          <a:p>
            <a:pPr marL="0" eaLnBrk="1" hangingPunct="1">
              <a:lnSpc>
                <a:spcPct val="150000"/>
              </a:lnSpc>
              <a:spcBef>
                <a:spcPts val="0"/>
              </a:spcBef>
              <a:buFont typeface="Wingdings" panose="05000000000000000000" pitchFamily="2" charset="2"/>
              <a:buNone/>
            </a:pPr>
            <a:r>
              <a:rPr lang="zh-CN" altLang="en-US" sz="2200" b="0" dirty="0" smtClean="0">
                <a:solidFill>
                  <a:srgbClr val="002A7E"/>
                </a:solidFill>
              </a:rPr>
              <a:t>    接纳控制其目的是维持网络的稳定性，保证已建立链路的QoS。当发生下面3种情况时就需要进行接纳控制：</a:t>
            </a:r>
            <a:endParaRPr lang="en-US" altLang="zh-CN" sz="2200" b="0" dirty="0" smtClean="0">
              <a:solidFill>
                <a:srgbClr val="002A7E"/>
              </a:solidFill>
            </a:endParaRPr>
          </a:p>
          <a:p>
            <a:pPr marL="0">
              <a:lnSpc>
                <a:spcPct val="150000"/>
              </a:lnSpc>
              <a:spcBef>
                <a:spcPts val="0"/>
              </a:spcBef>
              <a:buNone/>
            </a:pPr>
            <a:r>
              <a:rPr lang="zh-CN" altLang="en-US" sz="2200" b="0" dirty="0" smtClean="0">
                <a:solidFill>
                  <a:srgbClr val="002A7E"/>
                </a:solidFill>
              </a:rPr>
              <a:t>（</a:t>
            </a:r>
            <a:r>
              <a:rPr lang="en-US" altLang="zh-CN" sz="2200" b="0" dirty="0" smtClean="0">
                <a:solidFill>
                  <a:srgbClr val="002A7E"/>
                </a:solidFill>
              </a:rPr>
              <a:t>1</a:t>
            </a:r>
            <a:r>
              <a:rPr lang="zh-CN" altLang="en-US" sz="2200" b="0" dirty="0" smtClean="0">
                <a:solidFill>
                  <a:srgbClr val="002A7E"/>
                </a:solidFill>
              </a:rPr>
              <a:t>）</a:t>
            </a:r>
            <a:r>
              <a:rPr lang="en-US" altLang="zh-CN" sz="2200" b="0" dirty="0" smtClean="0">
                <a:solidFill>
                  <a:srgbClr val="002A7E"/>
                </a:solidFill>
              </a:rPr>
              <a:t> UE</a:t>
            </a:r>
            <a:r>
              <a:rPr lang="zh-CN" altLang="en-US" sz="2200" b="0" dirty="0" smtClean="0">
                <a:solidFill>
                  <a:srgbClr val="002A7E"/>
                </a:solidFill>
              </a:rPr>
              <a:t>的初始建立、无线承载建立；</a:t>
            </a:r>
            <a:endParaRPr lang="en-US" altLang="zh-CN" sz="2200" b="0" dirty="0" smtClean="0">
              <a:solidFill>
                <a:srgbClr val="002A7E"/>
              </a:solidFill>
            </a:endParaRPr>
          </a:p>
          <a:p>
            <a:pPr marL="0">
              <a:lnSpc>
                <a:spcPct val="150000"/>
              </a:lnSpc>
              <a:spcBef>
                <a:spcPts val="0"/>
              </a:spcBef>
              <a:buNone/>
            </a:pPr>
            <a:r>
              <a:rPr lang="zh-CN" altLang="en-US" sz="2200" b="0" dirty="0" smtClean="0">
                <a:solidFill>
                  <a:srgbClr val="002A7E"/>
                </a:solidFill>
              </a:rPr>
              <a:t>（</a:t>
            </a:r>
            <a:r>
              <a:rPr lang="en-US" altLang="zh-CN" sz="2200" b="0" dirty="0" smtClean="0">
                <a:solidFill>
                  <a:srgbClr val="002A7E"/>
                </a:solidFill>
              </a:rPr>
              <a:t>2</a:t>
            </a:r>
            <a:r>
              <a:rPr lang="zh-CN" altLang="en-US" sz="2200" b="0" dirty="0" smtClean="0">
                <a:solidFill>
                  <a:srgbClr val="002A7E"/>
                </a:solidFill>
              </a:rPr>
              <a:t>）</a:t>
            </a:r>
            <a:r>
              <a:rPr lang="en-US" altLang="zh-CN" sz="2200" b="0" dirty="0" smtClean="0">
                <a:solidFill>
                  <a:srgbClr val="002A7E"/>
                </a:solidFill>
              </a:rPr>
              <a:t>UE</a:t>
            </a:r>
            <a:r>
              <a:rPr lang="zh-CN" altLang="en-US" sz="2200" b="0" dirty="0" smtClean="0">
                <a:solidFill>
                  <a:srgbClr val="002A7E"/>
                </a:solidFill>
              </a:rPr>
              <a:t>发生越区切换；</a:t>
            </a:r>
            <a:endParaRPr lang="en-US" altLang="zh-CN" sz="2200" b="0" dirty="0" smtClean="0">
              <a:solidFill>
                <a:srgbClr val="002A7E"/>
              </a:solidFill>
            </a:endParaRPr>
          </a:p>
          <a:p>
            <a:pPr marL="0">
              <a:lnSpc>
                <a:spcPct val="150000"/>
              </a:lnSpc>
              <a:spcBef>
                <a:spcPts val="0"/>
              </a:spcBef>
              <a:buNone/>
            </a:pPr>
            <a:r>
              <a:rPr lang="zh-CN" altLang="en-US" sz="2200" b="0" dirty="0" smtClean="0">
                <a:solidFill>
                  <a:srgbClr val="002A7E"/>
                </a:solidFill>
              </a:rPr>
              <a:t>（</a:t>
            </a:r>
            <a:r>
              <a:rPr lang="en-US" altLang="zh-CN" sz="2200" b="0" dirty="0" smtClean="0">
                <a:solidFill>
                  <a:srgbClr val="002A7E"/>
                </a:solidFill>
              </a:rPr>
              <a:t>3</a:t>
            </a:r>
            <a:r>
              <a:rPr lang="zh-CN" altLang="en-US" sz="2200" b="0" dirty="0" smtClean="0">
                <a:solidFill>
                  <a:srgbClr val="002A7E"/>
                </a:solidFill>
              </a:rPr>
              <a:t>）处于连接模式的</a:t>
            </a:r>
            <a:r>
              <a:rPr lang="en-US" altLang="zh-CN" sz="2200" b="0" dirty="0" smtClean="0">
                <a:solidFill>
                  <a:srgbClr val="002A7E"/>
                </a:solidFill>
              </a:rPr>
              <a:t>UE</a:t>
            </a:r>
            <a:r>
              <a:rPr lang="zh-CN" altLang="en-US" sz="2200" b="0" dirty="0" smtClean="0">
                <a:solidFill>
                  <a:srgbClr val="002A7E"/>
                </a:solidFill>
              </a:rPr>
              <a:t>需要增加业务。</a:t>
            </a:r>
            <a:endParaRPr lang="en-US" altLang="zh-CN" sz="2200" b="0" dirty="0" smtClean="0">
              <a:solidFill>
                <a:srgbClr val="002A7E"/>
              </a:solidFill>
            </a:endParaRPr>
          </a:p>
          <a:p>
            <a:pPr marL="0">
              <a:lnSpc>
                <a:spcPct val="150000"/>
              </a:lnSpc>
              <a:spcBef>
                <a:spcPts val="0"/>
              </a:spcBef>
              <a:buFont typeface="Wingdings" panose="05000000000000000000" pitchFamily="2" charset="2"/>
              <a:buNone/>
            </a:pPr>
            <a:r>
              <a:rPr lang="zh-CN" altLang="en-US" sz="2200" b="0" dirty="0" smtClean="0">
                <a:solidFill>
                  <a:srgbClr val="002A7E"/>
                </a:solidFill>
              </a:rPr>
              <a:t>      接纳控制通过建立一个无线接入承载来接受或拒绝一个呼叫请求，当无线承载建立或发生变化时接纳控制模块就需要执行接纳控制算法。</a:t>
            </a:r>
            <a:endParaRPr lang="en-US" altLang="zh-CN" sz="2200" b="0" dirty="0" smtClean="0">
              <a:solidFill>
                <a:srgbClr val="002A7E"/>
              </a:solidFill>
            </a:endParaRPr>
          </a:p>
        </p:txBody>
      </p:sp>
      <p:pic>
        <p:nvPicPr>
          <p:cNvPr id="6" name="图片 5"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7"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8" name="图片 7"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9" name="TextBox 8"/>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5.5.2 </a:t>
            </a:r>
            <a:r>
              <a:rPr lang="zh-CN" altLang="en-US" sz="2200" b="1" dirty="0" smtClean="0">
                <a:solidFill>
                  <a:srgbClr val="FFFF00"/>
                </a:solidFill>
              </a:rPr>
              <a:t>接纳控制</a:t>
            </a:r>
            <a:endParaRPr lang="zh-CN" altLang="en-US" sz="2200" b="1" dirty="0">
              <a:solidFill>
                <a:srgbClr val="FFFF00"/>
              </a:solidFill>
            </a:endParaRPr>
          </a:p>
        </p:txBody>
      </p:sp>
      <p:graphicFrame>
        <p:nvGraphicFramePr>
          <p:cNvPr id="2" name="对象 1"/>
          <p:cNvGraphicFramePr/>
          <p:nvPr/>
        </p:nvGraphicFramePr>
        <p:xfrm>
          <a:off x="90805" y="1913255"/>
          <a:ext cx="8928100" cy="1322070"/>
        </p:xfrm>
        <a:graphic>
          <a:graphicData uri="http://schemas.openxmlformats.org/presentationml/2006/ole">
            <mc:AlternateContent xmlns:mc="http://schemas.openxmlformats.org/markup-compatibility/2006">
              <mc:Choice xmlns:v="urn:schemas-microsoft-com:vml" Requires="v">
                <p:oleObj spid="_x0000_s3" name="" r:id="rId2" imgW="7781925" imgH="1152525" progId="Paint.Picture">
                  <p:embed/>
                </p:oleObj>
              </mc:Choice>
              <mc:Fallback>
                <p:oleObj name="" r:id="rId2" imgW="7781925" imgH="1152525" progId="Paint.Picture">
                  <p:embed/>
                  <p:pic>
                    <p:nvPicPr>
                      <p:cNvPr id="0" name="图片 2"/>
                      <p:cNvPicPr/>
                      <p:nvPr/>
                    </p:nvPicPr>
                    <p:blipFill>
                      <a:blip r:embed="rId3"/>
                      <a:stretch>
                        <a:fillRect/>
                      </a:stretch>
                    </p:blipFill>
                    <p:spPr>
                      <a:xfrm>
                        <a:off x="90805" y="1913255"/>
                        <a:ext cx="8928100" cy="1322070"/>
                      </a:xfrm>
                      <a:prstGeom prst="rect">
                        <a:avLst/>
                      </a:prstGeom>
                    </p:spPr>
                  </p:pic>
                </p:oleObj>
              </mc:Fallback>
            </mc:AlternateContent>
          </a:graphicData>
        </a:graphic>
      </p:graphicFrame>
      <p:graphicFrame>
        <p:nvGraphicFramePr>
          <p:cNvPr id="10" name="对象 9"/>
          <p:cNvGraphicFramePr/>
          <p:nvPr/>
        </p:nvGraphicFramePr>
        <p:xfrm>
          <a:off x="690880" y="651510"/>
          <a:ext cx="7124700" cy="4217670"/>
        </p:xfrm>
        <a:graphic>
          <a:graphicData uri="http://schemas.openxmlformats.org/presentationml/2006/ole">
            <mc:AlternateContent xmlns:mc="http://schemas.openxmlformats.org/markup-compatibility/2006">
              <mc:Choice xmlns:v="urn:schemas-microsoft-com:vml" Requires="v">
                <p:oleObj spid="_x0000_s11" name="" r:id="rId4" imgW="5229225" imgH="3095625" progId="Paint.Picture">
                  <p:embed/>
                </p:oleObj>
              </mc:Choice>
              <mc:Fallback>
                <p:oleObj name="" r:id="rId4" imgW="5229225" imgH="3095625" progId="Paint.Picture">
                  <p:embed/>
                  <p:pic>
                    <p:nvPicPr>
                      <p:cNvPr id="0" name="图片 10"/>
                      <p:cNvPicPr/>
                      <p:nvPr/>
                    </p:nvPicPr>
                    <p:blipFill>
                      <a:blip r:embed="rId5"/>
                      <a:stretch>
                        <a:fillRect/>
                      </a:stretch>
                    </p:blipFill>
                    <p:spPr>
                      <a:xfrm>
                        <a:off x="690880" y="651510"/>
                        <a:ext cx="7124700" cy="4217670"/>
                      </a:xfrm>
                      <a:prstGeom prst="rect">
                        <a:avLst/>
                      </a:prstGeom>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nodeType="clickEffect">
                                  <p:stCondLst>
                                    <p:cond delay="0"/>
                                  </p:stCondLst>
                                  <p:childTnLst>
                                    <p:animEffect transition="out" filter="wipe(down)">
                                      <p:cBhvr>
                                        <p:cTn id="23" dur="500"/>
                                        <p:tgtEl>
                                          <p:spTgt spid="10"/>
                                        </p:tgtEl>
                                      </p:cBhvr>
                                    </p:animEffect>
                                    <p:set>
                                      <p:cBhvr>
                                        <p:cTn id="2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09573" name="Rectangle 3"/>
          <p:cNvSpPr>
            <a:spLocks noGrp="1" noChangeArrowheads="1"/>
          </p:cNvSpPr>
          <p:nvPr>
            <p:ph type="body" idx="4294967295"/>
          </p:nvPr>
        </p:nvSpPr>
        <p:spPr>
          <a:xfrm>
            <a:off x="107950" y="642938"/>
            <a:ext cx="8567738" cy="4125516"/>
          </a:xfrm>
        </p:spPr>
        <p:txBody>
          <a:bodyPr/>
          <a:lstStyle/>
          <a:p>
            <a:pPr eaLnBrk="1" hangingPunct="1">
              <a:lnSpc>
                <a:spcPct val="150000"/>
              </a:lnSpc>
              <a:buFont typeface="Wingdings" panose="05000000000000000000" pitchFamily="2" charset="2"/>
              <a:buNone/>
            </a:pPr>
            <a:r>
              <a:rPr lang="zh-CN" altLang="en-US" sz="2200" dirty="0" smtClean="0">
                <a:solidFill>
                  <a:srgbClr val="0000FE"/>
                </a:solidFill>
              </a:rPr>
              <a:t>接纳控制算法：</a:t>
            </a:r>
            <a:endParaRPr lang="en-US" altLang="zh-CN" sz="2200" dirty="0" smtClean="0">
              <a:solidFill>
                <a:srgbClr val="0000FE"/>
              </a:solidFill>
            </a:endParaRPr>
          </a:p>
          <a:p>
            <a:pPr eaLnBrk="1" hangingPunct="1">
              <a:lnSpc>
                <a:spcPct val="150000"/>
              </a:lnSpc>
            </a:pPr>
            <a:r>
              <a:rPr lang="zh-CN" altLang="en-US" sz="2200" b="0" dirty="0" smtClean="0">
                <a:solidFill>
                  <a:srgbClr val="002A7E"/>
                </a:solidFill>
              </a:rPr>
              <a:t>基于预留信道的</a:t>
            </a:r>
            <a:r>
              <a:rPr lang="en-US" altLang="zh-CN" sz="2200" b="0" dirty="0" smtClean="0">
                <a:solidFill>
                  <a:srgbClr val="002A7E"/>
                </a:solidFill>
              </a:rPr>
              <a:t>CAC</a:t>
            </a:r>
            <a:r>
              <a:rPr lang="zh-CN" altLang="en-US" sz="2200" b="0" dirty="0" smtClean="0">
                <a:solidFill>
                  <a:srgbClr val="002A7E"/>
                </a:solidFill>
              </a:rPr>
              <a:t>算法：信道预留的</a:t>
            </a:r>
            <a:r>
              <a:rPr lang="en-US" altLang="zh-CN" sz="2200" b="0" dirty="0" smtClean="0">
                <a:solidFill>
                  <a:srgbClr val="002A7E"/>
                </a:solidFill>
              </a:rPr>
              <a:t>CAC</a:t>
            </a:r>
            <a:r>
              <a:rPr lang="zh-CN" altLang="en-US" sz="2200" b="0" dirty="0" smtClean="0">
                <a:solidFill>
                  <a:srgbClr val="002A7E"/>
                </a:solidFill>
              </a:rPr>
              <a:t>机制的关键在于确定最优的预留信道供切换使用。</a:t>
            </a:r>
            <a:endParaRPr lang="en-US" altLang="zh-CN" sz="2200" b="0" dirty="0" smtClean="0">
              <a:solidFill>
                <a:srgbClr val="002A7E"/>
              </a:solidFill>
            </a:endParaRPr>
          </a:p>
          <a:p>
            <a:pPr eaLnBrk="1" hangingPunct="1">
              <a:lnSpc>
                <a:spcPct val="150000"/>
              </a:lnSpc>
            </a:pPr>
            <a:r>
              <a:rPr lang="zh-CN" altLang="en-US" sz="2200" b="0" dirty="0" smtClean="0">
                <a:solidFill>
                  <a:srgbClr val="002A7E"/>
                </a:solidFill>
              </a:rPr>
              <a:t>基于信干比的</a:t>
            </a:r>
            <a:r>
              <a:rPr lang="en-US" altLang="zh-CN" sz="2200" b="0" dirty="0" smtClean="0">
                <a:solidFill>
                  <a:srgbClr val="002A7E"/>
                </a:solidFill>
              </a:rPr>
              <a:t>CAC</a:t>
            </a:r>
            <a:r>
              <a:rPr lang="zh-CN" altLang="en-US" sz="2200" b="0" dirty="0" smtClean="0">
                <a:solidFill>
                  <a:srgbClr val="002A7E"/>
                </a:solidFill>
              </a:rPr>
              <a:t>算法：根据小区内用户当前的信干比和信</a:t>
            </a:r>
            <a:r>
              <a:rPr lang="en-US" altLang="zh-CN" sz="2200" b="0" dirty="0" smtClean="0">
                <a:solidFill>
                  <a:srgbClr val="002A7E"/>
                </a:solidFill>
              </a:rPr>
              <a:t> </a:t>
            </a:r>
            <a:r>
              <a:rPr lang="zh-CN" altLang="en-US" sz="2200" b="0" dirty="0" smtClean="0">
                <a:solidFill>
                  <a:srgbClr val="002A7E"/>
                </a:solidFill>
              </a:rPr>
              <a:t>干比门限值来估计系统的剩余容量。对于新呼叫或切换呼叫，</a:t>
            </a:r>
            <a:r>
              <a:rPr lang="en-US" altLang="zh-CN" sz="2200" b="0" dirty="0" smtClean="0">
                <a:solidFill>
                  <a:srgbClr val="002A7E"/>
                </a:solidFill>
              </a:rPr>
              <a:t> </a:t>
            </a:r>
            <a:r>
              <a:rPr lang="zh-CN" altLang="en-US" sz="2200" b="0" dirty="0" smtClean="0">
                <a:solidFill>
                  <a:srgbClr val="002A7E"/>
                </a:solidFill>
              </a:rPr>
              <a:t>只有在系统剩余容量大于零的前提下才允许接入。</a:t>
            </a:r>
            <a:endParaRPr lang="en-US" altLang="zh-CN" sz="2200" b="0" dirty="0" smtClean="0">
              <a:solidFill>
                <a:srgbClr val="002A7E"/>
              </a:solidFill>
            </a:endParaRPr>
          </a:p>
        </p:txBody>
      </p:sp>
      <p:sp>
        <p:nvSpPr>
          <p:cNvPr id="109574"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sp>
        <p:nvSpPr>
          <p:cNvPr id="8"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9" name="图片 8"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0" name="TextBox 9"/>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5.5.2 </a:t>
            </a:r>
            <a:r>
              <a:rPr lang="zh-CN" altLang="en-US" sz="2200" b="1" dirty="0" smtClean="0">
                <a:solidFill>
                  <a:srgbClr val="FFFF00"/>
                </a:solidFill>
              </a:rPr>
              <a:t>接纳控制</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10597" name="Rectangle 3"/>
          <p:cNvSpPr>
            <a:spLocks noGrp="1" noChangeArrowheads="1"/>
          </p:cNvSpPr>
          <p:nvPr>
            <p:ph type="body" idx="4294967295"/>
          </p:nvPr>
        </p:nvSpPr>
        <p:spPr>
          <a:xfrm>
            <a:off x="107950" y="642938"/>
            <a:ext cx="8567738" cy="4125516"/>
          </a:xfrm>
        </p:spPr>
        <p:txBody>
          <a:bodyPr/>
          <a:lstStyle/>
          <a:p>
            <a:pPr eaLnBrk="1" hangingPunct="1">
              <a:lnSpc>
                <a:spcPct val="150000"/>
              </a:lnSpc>
              <a:buFont typeface="Wingdings" panose="05000000000000000000" pitchFamily="2" charset="2"/>
              <a:buNone/>
            </a:pPr>
            <a:r>
              <a:rPr lang="zh-CN" altLang="en-US" sz="2200" dirty="0" smtClean="0">
                <a:solidFill>
                  <a:srgbClr val="0000FE"/>
                </a:solidFill>
              </a:rPr>
              <a:t>接纳控制算法：</a:t>
            </a:r>
            <a:endParaRPr lang="en-US" altLang="zh-CN" sz="2200" dirty="0" smtClean="0">
              <a:solidFill>
                <a:srgbClr val="0000FE"/>
              </a:solidFill>
            </a:endParaRPr>
          </a:p>
          <a:p>
            <a:pPr eaLnBrk="1" hangingPunct="1">
              <a:lnSpc>
                <a:spcPct val="150000"/>
              </a:lnSpc>
              <a:buNone/>
            </a:pPr>
            <a:r>
              <a:rPr lang="zh-CN" altLang="en-US" sz="2200" b="0" dirty="0" smtClean="0">
                <a:solidFill>
                  <a:srgbClr val="002A7E"/>
                </a:solidFill>
                <a:sym typeface="Wingdings" panose="05000000000000000000"/>
              </a:rPr>
              <a:t></a:t>
            </a:r>
            <a:r>
              <a:rPr lang="zh-CN" altLang="en-US" sz="2200" b="0" dirty="0" smtClean="0">
                <a:solidFill>
                  <a:srgbClr val="002A7E"/>
                </a:solidFill>
              </a:rPr>
              <a:t>基于码道的</a:t>
            </a:r>
            <a:r>
              <a:rPr lang="en-US" altLang="zh-CN" sz="2200" b="0" dirty="0" smtClean="0">
                <a:solidFill>
                  <a:srgbClr val="002A7E"/>
                </a:solidFill>
              </a:rPr>
              <a:t>CAC</a:t>
            </a:r>
            <a:r>
              <a:rPr lang="zh-CN" altLang="en-US" sz="2200" b="0" dirty="0" smtClean="0">
                <a:solidFill>
                  <a:srgbClr val="002A7E"/>
                </a:solidFill>
              </a:rPr>
              <a:t>算法：当一个新呼叫到达时，该呼叫的归属</a:t>
            </a:r>
            <a:r>
              <a:rPr lang="en-US" altLang="zh-CN" sz="2200" b="0" dirty="0" smtClean="0">
                <a:solidFill>
                  <a:srgbClr val="002A7E"/>
                </a:solidFill>
              </a:rPr>
              <a:t> </a:t>
            </a:r>
            <a:r>
              <a:rPr lang="zh-CN" altLang="en-US" sz="2200" b="0" dirty="0" smtClean="0">
                <a:solidFill>
                  <a:srgbClr val="002A7E"/>
                </a:solidFill>
              </a:rPr>
              <a:t>基站判断本小区的空闲</a:t>
            </a:r>
            <a:r>
              <a:rPr lang="en-US" altLang="zh-CN" sz="2200" b="0" dirty="0" smtClean="0">
                <a:solidFill>
                  <a:srgbClr val="002A7E"/>
                </a:solidFill>
              </a:rPr>
              <a:t>RU</a:t>
            </a:r>
            <a:r>
              <a:rPr lang="zh-CN" altLang="en-US" sz="2200" b="0" dirty="0" smtClean="0">
                <a:solidFill>
                  <a:srgbClr val="002A7E"/>
                </a:solidFill>
              </a:rPr>
              <a:t>（资源单元）是否能够满足呼叫</a:t>
            </a:r>
            <a:r>
              <a:rPr lang="en-US" altLang="zh-CN" sz="2200" b="0" dirty="0" smtClean="0">
                <a:solidFill>
                  <a:srgbClr val="002A7E"/>
                </a:solidFill>
              </a:rPr>
              <a:t> </a:t>
            </a:r>
            <a:r>
              <a:rPr lang="zh-CN" altLang="en-US" sz="2200" b="0" dirty="0" smtClean="0">
                <a:solidFill>
                  <a:srgbClr val="002A7E"/>
                </a:solidFill>
              </a:rPr>
              <a:t>用户的需求，能够满足则接入新呼叫，否则阻塞该新呼叫。</a:t>
            </a:r>
            <a:endParaRPr lang="en-US" altLang="zh-CN" sz="2200" b="0" dirty="0" smtClean="0">
              <a:solidFill>
                <a:srgbClr val="002A7E"/>
              </a:solidFill>
            </a:endParaRPr>
          </a:p>
          <a:p>
            <a:pPr eaLnBrk="1" hangingPunct="1">
              <a:lnSpc>
                <a:spcPct val="150000"/>
              </a:lnSpc>
              <a:buFont typeface="Wingdings" panose="05000000000000000000" pitchFamily="2" charset="2"/>
              <a:buNone/>
            </a:pPr>
            <a:endParaRPr lang="en-US" altLang="zh-CN" sz="2200" b="0" dirty="0" smtClean="0">
              <a:solidFill>
                <a:srgbClr val="002A7E"/>
              </a:solidFill>
            </a:endParaRPr>
          </a:p>
          <a:p>
            <a:pPr eaLnBrk="1" hangingPunct="1">
              <a:lnSpc>
                <a:spcPct val="150000"/>
              </a:lnSpc>
            </a:pPr>
            <a:r>
              <a:rPr lang="zh-CN" altLang="en-US" sz="2200" b="0" dirty="0" smtClean="0">
                <a:solidFill>
                  <a:srgbClr val="002A7E"/>
                </a:solidFill>
              </a:rPr>
              <a:t>基于码道和功率的</a:t>
            </a:r>
            <a:r>
              <a:rPr lang="en-US" altLang="zh-CN" sz="2200" b="0" dirty="0" smtClean="0">
                <a:solidFill>
                  <a:srgbClr val="002A7E"/>
                </a:solidFill>
              </a:rPr>
              <a:t>CAC</a:t>
            </a:r>
            <a:r>
              <a:rPr lang="zh-CN" altLang="en-US" sz="2200" b="0" dirty="0" smtClean="0">
                <a:solidFill>
                  <a:srgbClr val="002A7E"/>
                </a:solidFill>
              </a:rPr>
              <a:t>算法：在进行接纳判别时，除了要进行码道资源的判断外，还要进行功率资源的判断。</a:t>
            </a:r>
            <a:endParaRPr lang="en-US" altLang="zh-CN" sz="2200" b="0" dirty="0" smtClean="0">
              <a:solidFill>
                <a:srgbClr val="002A7E"/>
              </a:solidFill>
            </a:endParaRPr>
          </a:p>
        </p:txBody>
      </p:sp>
      <p:sp>
        <p:nvSpPr>
          <p:cNvPr id="110598"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1" name="图片 10"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2"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3" name="图片 12"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4" name="TextBox 13"/>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5.5.2 </a:t>
            </a:r>
            <a:r>
              <a:rPr lang="zh-CN" altLang="en-US" sz="2200" b="1" dirty="0" smtClean="0">
                <a:solidFill>
                  <a:srgbClr val="FFFF00"/>
                </a:solidFill>
              </a:rPr>
              <a:t>接纳控制</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11621" name="Rectangle 3"/>
          <p:cNvSpPr>
            <a:spLocks noGrp="1" noChangeArrowheads="1"/>
          </p:cNvSpPr>
          <p:nvPr>
            <p:ph type="body" idx="4294967295"/>
          </p:nvPr>
        </p:nvSpPr>
        <p:spPr>
          <a:xfrm>
            <a:off x="107950" y="642938"/>
            <a:ext cx="8567738" cy="4125516"/>
          </a:xfrm>
        </p:spPr>
        <p:txBody>
          <a:bodyPr/>
          <a:lstStyle/>
          <a:p>
            <a:pPr marL="0" eaLnBrk="1" hangingPunct="1">
              <a:lnSpc>
                <a:spcPct val="130000"/>
              </a:lnSpc>
              <a:buFont typeface="Wingdings" panose="05000000000000000000" pitchFamily="2" charset="2"/>
              <a:buNone/>
            </a:pPr>
            <a:r>
              <a:rPr lang="zh-CN" altLang="en-US" sz="2200" b="0" dirty="0" smtClean="0"/>
              <a:t>按照信道分割的不同方式，信道分配技术可分为：</a:t>
            </a:r>
            <a:endParaRPr lang="en-US" altLang="zh-CN" sz="2200" b="0" dirty="0" smtClean="0"/>
          </a:p>
          <a:p>
            <a:pPr eaLnBrk="1" hangingPunct="1">
              <a:lnSpc>
                <a:spcPct val="130000"/>
              </a:lnSpc>
            </a:pPr>
            <a:r>
              <a:rPr lang="zh-CN" altLang="en-US" sz="2200" b="0" dirty="0" smtClean="0"/>
              <a:t>固定信道分配（</a:t>
            </a:r>
            <a:r>
              <a:rPr lang="en-US" altLang="zh-CN" sz="2200" b="0" dirty="0" smtClean="0"/>
              <a:t>FCA</a:t>
            </a:r>
            <a:r>
              <a:rPr lang="zh-CN" altLang="en-US" sz="2200" b="0" dirty="0" smtClean="0"/>
              <a:t>）；指根据预先估计的覆盖区域内的业务负荷，将信道资源分给若干个小区，相同的信道集合在间隔一定距离的小区内可以再次得到利用。</a:t>
            </a:r>
            <a:endParaRPr lang="en-US" altLang="zh-CN" sz="2200" b="0" dirty="0" smtClean="0"/>
          </a:p>
          <a:p>
            <a:pPr eaLnBrk="1" hangingPunct="1">
              <a:lnSpc>
                <a:spcPct val="130000"/>
              </a:lnSpc>
            </a:pPr>
            <a:r>
              <a:rPr lang="zh-CN" altLang="en-US" sz="2200" b="0" dirty="0" smtClean="0"/>
              <a:t>动态信道分配（</a:t>
            </a:r>
            <a:r>
              <a:rPr lang="en-US" altLang="zh-CN" sz="2200" b="0" dirty="0" smtClean="0"/>
              <a:t>DCA</a:t>
            </a:r>
            <a:r>
              <a:rPr lang="zh-CN" altLang="en-US" sz="2200" b="0" dirty="0" smtClean="0"/>
              <a:t>）；将根据小区的业务负荷，候选信道的通信质量、使用率及信道的再用距离等诸多因素选择最佳的信道，动态的分配给接入的业务。</a:t>
            </a:r>
            <a:endParaRPr lang="en-US" altLang="zh-CN" sz="2200" b="0" dirty="0" smtClean="0"/>
          </a:p>
          <a:p>
            <a:pPr eaLnBrk="1" hangingPunct="1">
              <a:lnSpc>
                <a:spcPct val="130000"/>
              </a:lnSpc>
            </a:pPr>
            <a:r>
              <a:rPr lang="zh-CN" altLang="en-US" sz="2200" b="0" dirty="0" smtClean="0"/>
              <a:t> 混合信道分配（</a:t>
            </a:r>
            <a:r>
              <a:rPr lang="en-US" altLang="zh-CN" sz="2200" b="0" dirty="0" smtClean="0"/>
              <a:t>HCA</a:t>
            </a:r>
            <a:r>
              <a:rPr lang="zh-CN" altLang="en-US" sz="2200" b="0" dirty="0" smtClean="0"/>
              <a:t>）；是固定信道分配和动态信道分配的结合，在</a:t>
            </a:r>
            <a:r>
              <a:rPr lang="en-US" altLang="zh-CN" sz="2200" b="0" dirty="0" smtClean="0"/>
              <a:t>HCA </a:t>
            </a:r>
            <a:r>
              <a:rPr lang="zh-CN" altLang="en-US" sz="2200" b="0" dirty="0" smtClean="0"/>
              <a:t>中全部信道被分为固定和动态两个集合。</a:t>
            </a:r>
            <a:endParaRPr lang="en-US" altLang="zh-CN" sz="2200" b="0" dirty="0" smtClean="0"/>
          </a:p>
          <a:p>
            <a:pPr eaLnBrk="1" hangingPunct="1">
              <a:lnSpc>
                <a:spcPct val="130000"/>
              </a:lnSpc>
              <a:buFont typeface="Wingdings" panose="05000000000000000000" pitchFamily="2" charset="2"/>
              <a:buNone/>
            </a:pPr>
            <a:endParaRPr lang="en-US" altLang="zh-CN" sz="2200" b="0" dirty="0" smtClean="0"/>
          </a:p>
        </p:txBody>
      </p:sp>
      <p:sp>
        <p:nvSpPr>
          <p:cNvPr id="111622"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7" name="图片 6"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8"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9" name="图片 8"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0" name="TextBox 9"/>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5.5.3 </a:t>
            </a:r>
            <a:r>
              <a:rPr lang="zh-CN" altLang="en-US" sz="2200" b="1" dirty="0" smtClean="0">
                <a:solidFill>
                  <a:srgbClr val="FFFF00"/>
                </a:solidFill>
              </a:rPr>
              <a:t>动态信道分配</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13669" name="Rectangle 3"/>
          <p:cNvSpPr>
            <a:spLocks noGrp="1" noChangeArrowheads="1"/>
          </p:cNvSpPr>
          <p:nvPr>
            <p:ph type="body" idx="4294967295"/>
          </p:nvPr>
        </p:nvSpPr>
        <p:spPr>
          <a:xfrm>
            <a:off x="107950" y="642938"/>
            <a:ext cx="8567738" cy="4125516"/>
          </a:xfrm>
        </p:spPr>
        <p:txBody>
          <a:bodyPr/>
          <a:lstStyle/>
          <a:p>
            <a:pPr eaLnBrk="1" hangingPunct="1">
              <a:lnSpc>
                <a:spcPct val="130000"/>
              </a:lnSpc>
              <a:buFont typeface="Wingdings" panose="05000000000000000000" pitchFamily="2" charset="2"/>
              <a:buNone/>
            </a:pPr>
            <a:r>
              <a:rPr lang="zh-CN" altLang="en-US" sz="2200" b="0" dirty="0" smtClean="0">
                <a:solidFill>
                  <a:srgbClr val="002A7E"/>
                </a:solidFill>
              </a:rPr>
              <a:t>   无线资源管理功能的一个重要任务是确保系统不发生过载。</a:t>
            </a:r>
            <a:endParaRPr lang="en-US" altLang="zh-CN" sz="2200" b="0" dirty="0" smtClean="0">
              <a:solidFill>
                <a:srgbClr val="002A7E"/>
              </a:solidFill>
            </a:endParaRPr>
          </a:p>
          <a:p>
            <a:pPr eaLnBrk="1" hangingPunct="1">
              <a:lnSpc>
                <a:spcPct val="130000"/>
              </a:lnSpc>
              <a:buFont typeface="Wingdings" panose="05000000000000000000" pitchFamily="2" charset="2"/>
              <a:buNone/>
            </a:pPr>
            <a:r>
              <a:rPr lang="zh-CN" altLang="en-US" sz="2200" b="0" dirty="0" smtClean="0">
                <a:solidFill>
                  <a:srgbClr val="0000FE"/>
                </a:solidFill>
                <a:sym typeface="Wingdings" panose="05000000000000000000"/>
              </a:rPr>
              <a:t></a:t>
            </a:r>
            <a:r>
              <a:rPr lang="zh-CN" altLang="en-US" sz="2200" b="0" dirty="0" smtClean="0">
                <a:solidFill>
                  <a:srgbClr val="0000FE"/>
                </a:solidFill>
              </a:rPr>
              <a:t>定义：</a:t>
            </a:r>
            <a:r>
              <a:rPr lang="zh-CN" altLang="en-US" sz="2200" b="0" dirty="0" smtClean="0">
                <a:solidFill>
                  <a:srgbClr val="002A7E"/>
                </a:solidFill>
              </a:rPr>
              <a:t>负载控制就是通过一定的方法或准则，对系统承载能力进行</a:t>
            </a:r>
            <a:r>
              <a:rPr lang="en-US" altLang="zh-CN" sz="2200" b="0" dirty="0" smtClean="0">
                <a:solidFill>
                  <a:srgbClr val="002A7E"/>
                </a:solidFill>
              </a:rPr>
              <a:t> </a:t>
            </a:r>
            <a:r>
              <a:rPr lang="zh-CN" altLang="en-US" sz="2200" b="0" dirty="0" smtClean="0">
                <a:solidFill>
                  <a:srgbClr val="002A7E"/>
                </a:solidFill>
              </a:rPr>
              <a:t>监控和处理，确保系统在具有高性能高容量的目标下能稳定可靠的工作的一种无线资源管理方法。</a:t>
            </a:r>
            <a:endParaRPr lang="en-US" altLang="zh-CN" sz="2200" b="0" dirty="0" smtClean="0">
              <a:solidFill>
                <a:srgbClr val="002A7E"/>
              </a:solidFill>
            </a:endParaRPr>
          </a:p>
          <a:p>
            <a:pPr eaLnBrk="1" hangingPunct="1">
              <a:buNone/>
            </a:pPr>
            <a:r>
              <a:rPr lang="zh-CN" altLang="en-US" sz="2200" b="0" dirty="0" smtClean="0">
                <a:solidFill>
                  <a:srgbClr val="0000FE"/>
                </a:solidFill>
                <a:sym typeface="Wingdings" panose="05000000000000000000"/>
              </a:rPr>
              <a:t></a:t>
            </a:r>
            <a:r>
              <a:rPr lang="zh-CN" altLang="en-US" sz="2200" b="0" dirty="0" smtClean="0">
                <a:solidFill>
                  <a:srgbClr val="0000FE"/>
                </a:solidFill>
              </a:rPr>
              <a:t>负载控制的功能：</a:t>
            </a:r>
            <a:endParaRPr lang="en-US" altLang="zh-CN" sz="2200" b="0" dirty="0" smtClean="0">
              <a:solidFill>
                <a:srgbClr val="0000FE"/>
              </a:solidFill>
            </a:endParaRPr>
          </a:p>
          <a:p>
            <a:pPr>
              <a:buNone/>
            </a:pPr>
            <a:r>
              <a:rPr lang="zh-CN" altLang="en-US" sz="2200" b="0" dirty="0" smtClean="0">
                <a:solidFill>
                  <a:srgbClr val="002A7E"/>
                </a:solidFill>
              </a:rPr>
              <a:t>（</a:t>
            </a:r>
            <a:r>
              <a:rPr lang="en-US" altLang="zh-CN" sz="2200" b="0" dirty="0" smtClean="0">
                <a:solidFill>
                  <a:srgbClr val="002A7E"/>
                </a:solidFill>
              </a:rPr>
              <a:t>1</a:t>
            </a:r>
            <a:r>
              <a:rPr lang="zh-CN" altLang="en-US" sz="2200" b="0" dirty="0" smtClean="0">
                <a:solidFill>
                  <a:srgbClr val="002A7E"/>
                </a:solidFill>
              </a:rPr>
              <a:t>）负荷监测和评估：进行公共测量处理。</a:t>
            </a:r>
            <a:endParaRPr lang="zh-CN" altLang="en-US" sz="2200" b="0" dirty="0" smtClean="0">
              <a:solidFill>
                <a:srgbClr val="002A7E"/>
              </a:solidFill>
            </a:endParaRPr>
          </a:p>
          <a:p>
            <a:pPr>
              <a:buNone/>
            </a:pPr>
            <a:r>
              <a:rPr lang="zh-CN" altLang="en-US" sz="2200" b="0" dirty="0" smtClean="0">
                <a:solidFill>
                  <a:srgbClr val="002A7E"/>
                </a:solidFill>
              </a:rPr>
              <a:t>（</a:t>
            </a:r>
            <a:r>
              <a:rPr lang="en-US" altLang="zh-CN" sz="2200" b="0" dirty="0" smtClean="0">
                <a:solidFill>
                  <a:srgbClr val="002A7E"/>
                </a:solidFill>
              </a:rPr>
              <a:t>2</a:t>
            </a:r>
            <a:r>
              <a:rPr lang="zh-CN" altLang="en-US" sz="2200" b="0" dirty="0" smtClean="0">
                <a:solidFill>
                  <a:srgbClr val="002A7E"/>
                </a:solidFill>
              </a:rPr>
              <a:t>）拥塞处理：决定使用何种方式来处理当前的拥塞情况。当系</a:t>
            </a:r>
            <a:r>
              <a:rPr lang="en-US" altLang="zh-CN" sz="2200" b="0" dirty="0" smtClean="0">
                <a:solidFill>
                  <a:srgbClr val="002A7E"/>
                </a:solidFill>
              </a:rPr>
              <a:t> </a:t>
            </a:r>
            <a:r>
              <a:rPr lang="zh-CN" altLang="en-US" sz="2200" b="0" dirty="0" smtClean="0">
                <a:solidFill>
                  <a:srgbClr val="002A7E"/>
                </a:solidFill>
              </a:rPr>
              <a:t>统受到的干扰急剧增加导致系统过载，此时负载控制的功能是较快地降低系统负载，使网络返回到稳定的工作状态。</a:t>
            </a:r>
            <a:endParaRPr lang="zh-CN" altLang="en-US" sz="2200" b="0" dirty="0" smtClean="0">
              <a:solidFill>
                <a:srgbClr val="002A7E"/>
              </a:solidFill>
            </a:endParaRPr>
          </a:p>
          <a:p>
            <a:pPr>
              <a:buNone/>
            </a:pPr>
            <a:r>
              <a:rPr lang="zh-CN" altLang="en-US" sz="2200" b="0" dirty="0" smtClean="0">
                <a:solidFill>
                  <a:srgbClr val="002A7E"/>
                </a:solidFill>
              </a:rPr>
              <a:t>（</a:t>
            </a:r>
            <a:r>
              <a:rPr lang="en-US" altLang="zh-CN" sz="2200" b="0" dirty="0" smtClean="0">
                <a:solidFill>
                  <a:srgbClr val="002A7E"/>
                </a:solidFill>
              </a:rPr>
              <a:t>3</a:t>
            </a:r>
            <a:r>
              <a:rPr lang="zh-CN" altLang="en-US" sz="2200" b="0" dirty="0" smtClean="0">
                <a:solidFill>
                  <a:srgbClr val="002A7E"/>
                </a:solidFill>
              </a:rPr>
              <a:t>）负荷调整：根据用户</a:t>
            </a:r>
            <a:r>
              <a:rPr lang="en-US" altLang="zh-CN" sz="2200" b="0" dirty="0" smtClean="0">
                <a:solidFill>
                  <a:srgbClr val="002A7E"/>
                </a:solidFill>
              </a:rPr>
              <a:t>QOS</a:t>
            </a:r>
            <a:r>
              <a:rPr lang="zh-CN" altLang="en-US" sz="2200" b="0" dirty="0" smtClean="0">
                <a:solidFill>
                  <a:srgbClr val="002A7E"/>
                </a:solidFill>
              </a:rPr>
              <a:t>调整用户所占用的资源。</a:t>
            </a:r>
            <a:endParaRPr lang="en-US" altLang="zh-CN" sz="2200" b="0" dirty="0" smtClean="0">
              <a:solidFill>
                <a:srgbClr val="002A7E"/>
              </a:solidFill>
            </a:endParaRPr>
          </a:p>
          <a:p>
            <a:pPr eaLnBrk="1" hangingPunct="1">
              <a:lnSpc>
                <a:spcPct val="130000"/>
              </a:lnSpc>
              <a:buFont typeface="Wingdings" panose="05000000000000000000" pitchFamily="2" charset="2"/>
              <a:buNone/>
            </a:pPr>
            <a:endParaRPr lang="en-US" altLang="zh-CN" sz="2200" b="0" dirty="0" smtClean="0">
              <a:solidFill>
                <a:srgbClr val="002A7E"/>
              </a:solidFill>
            </a:endParaRPr>
          </a:p>
        </p:txBody>
      </p:sp>
      <p:sp>
        <p:nvSpPr>
          <p:cNvPr id="113670"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7" name="图片 6"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8"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9" name="图片 8"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0" name="TextBox 9"/>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5.5.4 </a:t>
            </a:r>
            <a:r>
              <a:rPr lang="zh-CN" altLang="en-US" sz="2200" b="1" dirty="0" smtClean="0">
                <a:solidFill>
                  <a:srgbClr val="FFFF00"/>
                </a:solidFill>
              </a:rPr>
              <a:t>负载控制</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16741" name="Rectangle 3"/>
          <p:cNvSpPr>
            <a:spLocks noGrp="1" noChangeArrowheads="1"/>
          </p:cNvSpPr>
          <p:nvPr>
            <p:ph type="body" idx="4294967295"/>
          </p:nvPr>
        </p:nvSpPr>
        <p:spPr>
          <a:xfrm>
            <a:off x="107950" y="642938"/>
            <a:ext cx="8567738" cy="4125516"/>
          </a:xfrm>
        </p:spPr>
        <p:txBody>
          <a:bodyPr/>
          <a:lstStyle/>
          <a:p>
            <a:pPr marL="0" eaLnBrk="1" hangingPunct="1">
              <a:lnSpc>
                <a:spcPct val="130000"/>
              </a:lnSpc>
              <a:spcBef>
                <a:spcPts val="0"/>
              </a:spcBef>
              <a:buFont typeface="Wingdings" panose="05000000000000000000" pitchFamily="2" charset="2"/>
              <a:buNone/>
            </a:pPr>
            <a:r>
              <a:rPr lang="zh-CN" altLang="en-US" sz="2200" b="0" dirty="0" smtClean="0">
                <a:solidFill>
                  <a:srgbClr val="002A7E"/>
                </a:solidFill>
              </a:rPr>
              <a:t>非实时数据业务可以通过分组调度的方式来传输。</a:t>
            </a:r>
            <a:endParaRPr lang="en-US" altLang="zh-CN" sz="2200" b="0" dirty="0" smtClean="0">
              <a:solidFill>
                <a:srgbClr val="002A7E"/>
              </a:solidFill>
            </a:endParaRPr>
          </a:p>
          <a:p>
            <a:pPr marL="0" eaLnBrk="1" hangingPunct="1">
              <a:lnSpc>
                <a:spcPct val="130000"/>
              </a:lnSpc>
              <a:spcBef>
                <a:spcPts val="0"/>
              </a:spcBef>
              <a:buFont typeface="Wingdings" panose="05000000000000000000" pitchFamily="2" charset="2"/>
              <a:buNone/>
            </a:pPr>
            <a:r>
              <a:rPr lang="zh-CN" altLang="en-US" sz="2200" b="0" dirty="0" smtClean="0">
                <a:solidFill>
                  <a:srgbClr val="0000FE"/>
                </a:solidFill>
                <a:sym typeface="Wingdings" panose="05000000000000000000"/>
              </a:rPr>
              <a:t>定义：</a:t>
            </a:r>
            <a:r>
              <a:rPr lang="zh-CN" altLang="en-US" sz="2200" b="0" dirty="0" smtClean="0">
                <a:solidFill>
                  <a:srgbClr val="002A7E"/>
                </a:solidFill>
              </a:rPr>
              <a:t>分组调度的任务是根据系统资源和业务</a:t>
            </a:r>
            <a:r>
              <a:rPr lang="en-US" altLang="zh-CN" sz="2200" b="0" dirty="0" smtClean="0">
                <a:solidFill>
                  <a:srgbClr val="002A7E"/>
                </a:solidFill>
              </a:rPr>
              <a:t>QoS</a:t>
            </a:r>
            <a:r>
              <a:rPr lang="zh-CN" altLang="en-US" sz="2200" b="0" dirty="0" smtClean="0">
                <a:solidFill>
                  <a:srgbClr val="002A7E"/>
                </a:solidFill>
              </a:rPr>
              <a:t>要求，对数据</a:t>
            </a:r>
            <a:r>
              <a:rPr lang="en-US" altLang="zh-CN" sz="2200" b="0" dirty="0" smtClean="0">
                <a:solidFill>
                  <a:srgbClr val="002A7E"/>
                </a:solidFill>
              </a:rPr>
              <a:t> </a:t>
            </a:r>
            <a:r>
              <a:rPr lang="zh-CN" altLang="en-US" sz="2200" b="0" dirty="0" smtClean="0">
                <a:solidFill>
                  <a:srgbClr val="002A7E"/>
                </a:solidFill>
              </a:rPr>
              <a:t>业务实施高效可靠的传输和调度控制的过程；</a:t>
            </a:r>
            <a:endParaRPr lang="en-US" altLang="zh-CN" sz="2200" b="0" dirty="0" smtClean="0">
              <a:solidFill>
                <a:srgbClr val="002A7E"/>
              </a:solidFill>
            </a:endParaRPr>
          </a:p>
          <a:p>
            <a:pPr marL="0" eaLnBrk="1" hangingPunct="1">
              <a:lnSpc>
                <a:spcPct val="130000"/>
              </a:lnSpc>
              <a:spcBef>
                <a:spcPts val="0"/>
              </a:spcBef>
              <a:buNone/>
            </a:pPr>
            <a:r>
              <a:rPr lang="zh-CN" altLang="en-US" sz="2200" b="0" dirty="0" smtClean="0">
                <a:solidFill>
                  <a:srgbClr val="0000FE"/>
                </a:solidFill>
                <a:sym typeface="Wingdings" panose="05000000000000000000"/>
              </a:rPr>
              <a:t></a:t>
            </a:r>
            <a:r>
              <a:rPr lang="zh-CN" altLang="en-US" sz="2200" b="0" dirty="0" smtClean="0">
                <a:solidFill>
                  <a:srgbClr val="0000FE"/>
                </a:solidFill>
              </a:rPr>
              <a:t>主要功能：</a:t>
            </a:r>
            <a:endParaRPr lang="en-US" altLang="zh-CN" sz="2200" b="0" dirty="0" smtClean="0">
              <a:solidFill>
                <a:srgbClr val="002A7E"/>
              </a:solidFill>
            </a:endParaRPr>
          </a:p>
          <a:p>
            <a:pPr marL="0">
              <a:lnSpc>
                <a:spcPct val="130000"/>
              </a:lnSpc>
              <a:spcBef>
                <a:spcPts val="0"/>
              </a:spcBef>
              <a:buNone/>
            </a:pPr>
            <a:r>
              <a:rPr lang="zh-CN" altLang="en-US" sz="2200" b="0" dirty="0" smtClean="0">
                <a:solidFill>
                  <a:srgbClr val="002A7E"/>
                </a:solidFill>
              </a:rPr>
              <a:t>（</a:t>
            </a:r>
            <a:r>
              <a:rPr lang="en-US" altLang="zh-CN" sz="2200" b="0" dirty="0" smtClean="0">
                <a:solidFill>
                  <a:srgbClr val="002A7E"/>
                </a:solidFill>
              </a:rPr>
              <a:t>1</a:t>
            </a:r>
            <a:r>
              <a:rPr lang="zh-CN" altLang="en-US" sz="2200" b="0" dirty="0" smtClean="0">
                <a:solidFill>
                  <a:srgbClr val="002A7E"/>
                </a:solidFill>
              </a:rPr>
              <a:t>）在非实时业务的用户间分配可用空中接口资源，确保用户申</a:t>
            </a:r>
            <a:r>
              <a:rPr lang="en-US" altLang="zh-CN" sz="2200" b="0" dirty="0" smtClean="0">
                <a:solidFill>
                  <a:srgbClr val="002A7E"/>
                </a:solidFill>
              </a:rPr>
              <a:t> </a:t>
            </a:r>
            <a:r>
              <a:rPr lang="zh-CN" altLang="en-US" sz="2200" b="0" dirty="0" smtClean="0">
                <a:solidFill>
                  <a:srgbClr val="002A7E"/>
                </a:solidFill>
              </a:rPr>
              <a:t>请业务的</a:t>
            </a:r>
            <a:r>
              <a:rPr lang="en-US" altLang="zh-CN" sz="2200" b="0" dirty="0" smtClean="0">
                <a:solidFill>
                  <a:srgbClr val="002A7E"/>
                </a:solidFill>
              </a:rPr>
              <a:t>QoS</a:t>
            </a:r>
            <a:r>
              <a:rPr lang="zh-CN" altLang="en-US" sz="2200" b="0" dirty="0" smtClean="0">
                <a:solidFill>
                  <a:srgbClr val="002A7E"/>
                </a:solidFill>
              </a:rPr>
              <a:t>要求，如传输时延、时延抖动、分组丢失率、系统吞吐量以及用户间公平性等。 </a:t>
            </a:r>
            <a:endParaRPr lang="zh-CN" altLang="en-US" sz="2200" b="0" dirty="0" smtClean="0">
              <a:solidFill>
                <a:srgbClr val="002A7E"/>
              </a:solidFill>
            </a:endParaRPr>
          </a:p>
          <a:p>
            <a:pPr marL="0">
              <a:lnSpc>
                <a:spcPct val="130000"/>
              </a:lnSpc>
              <a:spcBef>
                <a:spcPts val="0"/>
              </a:spcBef>
              <a:buNone/>
            </a:pPr>
            <a:r>
              <a:rPr lang="zh-CN" altLang="en-US" sz="2200" b="0" dirty="0" smtClean="0">
                <a:solidFill>
                  <a:srgbClr val="002A7E"/>
                </a:solidFill>
              </a:rPr>
              <a:t>（</a:t>
            </a:r>
            <a:r>
              <a:rPr lang="en-US" altLang="zh-CN" sz="2200" b="0" dirty="0" smtClean="0">
                <a:solidFill>
                  <a:srgbClr val="002A7E"/>
                </a:solidFill>
              </a:rPr>
              <a:t>2</a:t>
            </a:r>
            <a:r>
              <a:rPr lang="zh-CN" altLang="en-US" sz="2200" b="0" dirty="0" smtClean="0">
                <a:solidFill>
                  <a:srgbClr val="002A7E"/>
                </a:solidFill>
              </a:rPr>
              <a:t>）为每个用户的分组数据传输分配传输信道。</a:t>
            </a:r>
            <a:endParaRPr lang="zh-CN" altLang="en-US" sz="2200" b="0" dirty="0" smtClean="0">
              <a:solidFill>
                <a:srgbClr val="002A7E"/>
              </a:solidFill>
            </a:endParaRPr>
          </a:p>
          <a:p>
            <a:pPr marL="0">
              <a:lnSpc>
                <a:spcPct val="130000"/>
              </a:lnSpc>
              <a:spcBef>
                <a:spcPts val="0"/>
              </a:spcBef>
              <a:buNone/>
            </a:pPr>
            <a:r>
              <a:rPr lang="zh-CN" altLang="en-US" sz="2200" b="0" dirty="0" smtClean="0">
                <a:solidFill>
                  <a:srgbClr val="002A7E"/>
                </a:solidFill>
              </a:rPr>
              <a:t>（</a:t>
            </a:r>
            <a:r>
              <a:rPr lang="en-US" altLang="zh-CN" sz="2200" b="0" dirty="0" smtClean="0">
                <a:solidFill>
                  <a:srgbClr val="002A7E"/>
                </a:solidFill>
              </a:rPr>
              <a:t>3</a:t>
            </a:r>
            <a:r>
              <a:rPr lang="zh-CN" altLang="en-US" sz="2200" b="0" dirty="0" smtClean="0">
                <a:solidFill>
                  <a:srgbClr val="002A7E"/>
                </a:solidFill>
              </a:rPr>
              <a:t>）监视分组分配以及网络负载，通过对数据速率的调解来对网</a:t>
            </a:r>
            <a:endParaRPr lang="en-US" altLang="zh-CN" sz="2200" b="0" dirty="0" smtClean="0">
              <a:solidFill>
                <a:srgbClr val="002A7E"/>
              </a:solidFill>
            </a:endParaRPr>
          </a:p>
          <a:p>
            <a:pPr marL="0">
              <a:lnSpc>
                <a:spcPct val="130000"/>
              </a:lnSpc>
              <a:spcBef>
                <a:spcPts val="0"/>
              </a:spcBef>
              <a:buFont typeface="Wingdings" panose="05000000000000000000" pitchFamily="2" charset="2"/>
              <a:buNone/>
            </a:pPr>
            <a:r>
              <a:rPr lang="en-US" altLang="zh-CN" sz="2200" b="0" dirty="0" smtClean="0">
                <a:solidFill>
                  <a:srgbClr val="002A7E"/>
                </a:solidFill>
              </a:rPr>
              <a:t>    </a:t>
            </a:r>
            <a:r>
              <a:rPr lang="zh-CN" altLang="en-US" sz="2200" b="0" dirty="0" smtClean="0">
                <a:solidFill>
                  <a:srgbClr val="002A7E"/>
                </a:solidFill>
              </a:rPr>
              <a:t>络负载进行匹配。</a:t>
            </a:r>
            <a:endParaRPr lang="zh-CN" altLang="en-US" sz="2200" b="0" dirty="0" smtClean="0">
              <a:solidFill>
                <a:srgbClr val="002A7E"/>
              </a:solidFill>
            </a:endParaRPr>
          </a:p>
        </p:txBody>
      </p:sp>
      <p:sp>
        <p:nvSpPr>
          <p:cNvPr id="116742"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sp>
        <p:nvSpPr>
          <p:cNvPr id="116743"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8" name="图片 7"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9"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0" name="图片 9"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1" name="TextBox 10"/>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5.5.5 </a:t>
            </a:r>
            <a:r>
              <a:rPr lang="zh-CN" altLang="en-US" sz="2200" b="1" dirty="0" smtClean="0">
                <a:solidFill>
                  <a:srgbClr val="FFFF00"/>
                </a:solidFill>
              </a:rPr>
              <a:t>分组调度</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117765" name="Rectangle 3"/>
          <p:cNvSpPr>
            <a:spLocks noGrp="1" noChangeArrowheads="1"/>
          </p:cNvSpPr>
          <p:nvPr>
            <p:ph type="body" idx="4294967295"/>
          </p:nvPr>
        </p:nvSpPr>
        <p:spPr>
          <a:xfrm>
            <a:off x="107950" y="642938"/>
            <a:ext cx="8567738" cy="4125516"/>
          </a:xfrm>
        </p:spPr>
        <p:txBody>
          <a:bodyPr/>
          <a:lstStyle/>
          <a:p>
            <a:pPr eaLnBrk="1" hangingPunct="1">
              <a:lnSpc>
                <a:spcPct val="150000"/>
              </a:lnSpc>
              <a:buFont typeface="Wingdings" panose="05000000000000000000" pitchFamily="2" charset="2"/>
              <a:buNone/>
            </a:pPr>
            <a:r>
              <a:rPr lang="zh-CN" altLang="en-US" sz="2200" b="0" dirty="0" smtClean="0"/>
              <a:t>传统的分组调度算法有：</a:t>
            </a:r>
            <a:endParaRPr lang="en-US" altLang="zh-CN" sz="2200" b="0" dirty="0" smtClean="0"/>
          </a:p>
          <a:p>
            <a:pPr eaLnBrk="1" hangingPunct="1">
              <a:lnSpc>
                <a:spcPct val="150000"/>
              </a:lnSpc>
            </a:pPr>
            <a:r>
              <a:rPr lang="zh-CN" altLang="en-US" sz="2200" b="0" dirty="0" smtClean="0"/>
              <a:t>正比公平算法（</a:t>
            </a:r>
            <a:r>
              <a:rPr lang="en-US" altLang="zh-CN" sz="2200" b="0" dirty="0" smtClean="0"/>
              <a:t>Proportional Fair</a:t>
            </a:r>
            <a:r>
              <a:rPr lang="zh-CN" altLang="en-US" sz="2200" b="0" dirty="0" smtClean="0"/>
              <a:t>）；每个用户都有一个相应的优先级，在任意时刻，小区中优先级最大的用户接受服务。</a:t>
            </a:r>
            <a:endParaRPr lang="en-US" altLang="zh-CN" sz="2200" b="0" dirty="0" smtClean="0"/>
          </a:p>
          <a:p>
            <a:pPr eaLnBrk="1" hangingPunct="1">
              <a:lnSpc>
                <a:spcPct val="150000"/>
              </a:lnSpc>
            </a:pPr>
            <a:r>
              <a:rPr lang="zh-CN" altLang="en-US" sz="2200" b="0" dirty="0" smtClean="0"/>
              <a:t>轮询算法（</a:t>
            </a:r>
            <a:r>
              <a:rPr lang="en-US" altLang="zh-CN" sz="2200" b="0" dirty="0" smtClean="0"/>
              <a:t>Round Robin</a:t>
            </a:r>
            <a:r>
              <a:rPr lang="zh-CN" altLang="en-US" sz="2200" b="0" dirty="0" smtClean="0"/>
              <a:t>）；用户以一定的时间间隔循环地占用等时间的无线资源。</a:t>
            </a:r>
            <a:endParaRPr lang="en-US" altLang="zh-CN" sz="2200" b="0" dirty="0" smtClean="0"/>
          </a:p>
          <a:p>
            <a:pPr eaLnBrk="1" hangingPunct="1">
              <a:lnSpc>
                <a:spcPct val="150000"/>
              </a:lnSpc>
            </a:pPr>
            <a:r>
              <a:rPr lang="zh-CN" altLang="en-US" sz="2200" b="0" dirty="0" smtClean="0"/>
              <a:t>最大载干比算法（</a:t>
            </a:r>
            <a:r>
              <a:rPr lang="en-US" altLang="zh-CN" sz="2200" b="0" dirty="0" smtClean="0"/>
              <a:t>MAX C/I</a:t>
            </a:r>
            <a:r>
              <a:rPr lang="zh-CN" altLang="en-US" sz="2200" b="0" dirty="0" smtClean="0"/>
              <a:t>）；对所有移动台按照其接收信号的</a:t>
            </a:r>
            <a:r>
              <a:rPr lang="en-US" altLang="zh-CN" sz="2200" b="0" dirty="0" smtClean="0"/>
              <a:t>C/I</a:t>
            </a:r>
            <a:r>
              <a:rPr lang="zh-CN" altLang="en-US" sz="2200" b="0" dirty="0" smtClean="0"/>
              <a:t>预测值从大到小的顺序服务。    </a:t>
            </a:r>
            <a:endParaRPr lang="zh-CN" altLang="en-US" sz="2200" b="0" dirty="0" smtClean="0"/>
          </a:p>
        </p:txBody>
      </p:sp>
      <p:sp>
        <p:nvSpPr>
          <p:cNvPr id="117766"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sp>
        <p:nvSpPr>
          <p:cNvPr id="117767"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sp>
        <p:nvSpPr>
          <p:cNvPr id="117768" name="Rectangle 2"/>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9" name="图片 8"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0"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5.5  </a:t>
            </a:r>
            <a:r>
              <a:rPr lang="zh-CN" altLang="en-US" sz="3200" dirty="0" smtClean="0">
                <a:solidFill>
                  <a:schemeClr val="bg1"/>
                </a:solidFill>
              </a:rPr>
              <a:t>无线资源管理技术原理</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1" name="图片 10"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2" name="TextBox 11"/>
          <p:cNvSpPr txBox="1"/>
          <p:nvPr/>
        </p:nvSpPr>
        <p:spPr>
          <a:xfrm>
            <a:off x="5940152" y="123478"/>
            <a:ext cx="2880320" cy="429895"/>
          </a:xfrm>
          <a:prstGeom prst="rect">
            <a:avLst/>
          </a:prstGeom>
          <a:noFill/>
        </p:spPr>
        <p:txBody>
          <a:bodyPr wrap="square" rtlCol="0">
            <a:spAutoFit/>
          </a:bodyPr>
          <a:lstStyle/>
          <a:p>
            <a:r>
              <a:rPr lang="en-US" altLang="zh-CN" sz="2200" b="1" dirty="0" smtClean="0">
                <a:solidFill>
                  <a:srgbClr val="FFFF00"/>
                </a:solidFill>
              </a:rPr>
              <a:t>5.5.5 </a:t>
            </a:r>
            <a:r>
              <a:rPr lang="zh-CN" altLang="en-US" sz="2200" b="1" dirty="0" smtClean="0">
                <a:solidFill>
                  <a:srgbClr val="FFFF00"/>
                </a:solidFill>
              </a:rPr>
              <a:t>分组调度</a:t>
            </a:r>
            <a:endParaRPr lang="zh-CN" altLang="en-US" sz="2200" b="1" dirty="0">
              <a:solidFill>
                <a:srgbClr val="FFFF00"/>
              </a:solidFill>
            </a:endParaRPr>
          </a:p>
        </p:txBody>
      </p:sp>
    </p:spTree>
  </p:cSld>
  <p:clrMapOvr>
    <a:masterClrMapping/>
  </p:clrMapOvr>
  <p:transition>
    <p:cu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graphicFrame>
        <p:nvGraphicFramePr>
          <p:cNvPr id="41986" name="Object 5"/>
          <p:cNvGraphicFramePr>
            <a:graphicFrameLocks noChangeAspect="1"/>
          </p:cNvGraphicFramePr>
          <p:nvPr/>
        </p:nvGraphicFramePr>
        <p:xfrm>
          <a:off x="932158" y="1188169"/>
          <a:ext cx="6808194" cy="3615829"/>
        </p:xfrm>
        <a:graphic>
          <a:graphicData uri="http://schemas.openxmlformats.org/presentationml/2006/ole">
            <mc:AlternateContent xmlns:mc="http://schemas.openxmlformats.org/markup-compatibility/2006">
              <mc:Choice xmlns:v="urn:schemas-microsoft-com:vml" Requires="v">
                <p:oleObj spid="_x0000_s24577" name="Visio" r:id="rId1" imgW="43138725" imgH="30537150" progId="">
                  <p:embed/>
                </p:oleObj>
              </mc:Choice>
              <mc:Fallback>
                <p:oleObj name="Visio" r:id="rId1" imgW="43138725" imgH="30537150" progId="">
                  <p:embed/>
                  <p:pic>
                    <p:nvPicPr>
                      <p:cNvPr id="0" name="Object 5"/>
                      <p:cNvPicPr>
                        <a:picLocks noChangeAspect="1"/>
                      </p:cNvPicPr>
                      <p:nvPr/>
                    </p:nvPicPr>
                    <p:blipFill>
                      <a:blip r:embed="rId2"/>
                      <a:stretch>
                        <a:fillRect/>
                      </a:stretch>
                    </p:blipFill>
                    <p:spPr>
                      <a:xfrm>
                        <a:off x="932158" y="1188169"/>
                        <a:ext cx="6808194" cy="3615829"/>
                      </a:xfrm>
                      <a:prstGeom prst="rect">
                        <a:avLst/>
                      </a:prstGeom>
                      <a:noFill/>
                      <a:ln w="9525">
                        <a:noFill/>
                      </a:ln>
                    </p:spPr>
                  </p:pic>
                </p:oleObj>
              </mc:Fallback>
            </mc:AlternateContent>
          </a:graphicData>
        </a:graphic>
      </p:graphicFrame>
      <p:pic>
        <p:nvPicPr>
          <p:cNvPr id="7" name="图片 6"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sp>
        <p:nvSpPr>
          <p:cNvPr id="8"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5.6  </a:t>
            </a:r>
            <a:r>
              <a:rPr lang="zh-CN" altLang="en-US" sz="3200" dirty="0" smtClean="0">
                <a:solidFill>
                  <a:schemeClr val="bg1"/>
                </a:solidFill>
              </a:rPr>
              <a:t>移动通信网络结构</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9" name="图片 8"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
        <p:nvSpPr>
          <p:cNvPr id="11" name="TextBox 10"/>
          <p:cNvSpPr txBox="1"/>
          <p:nvPr/>
        </p:nvSpPr>
        <p:spPr>
          <a:xfrm>
            <a:off x="251520" y="699542"/>
            <a:ext cx="3888432" cy="430887"/>
          </a:xfrm>
          <a:prstGeom prst="rect">
            <a:avLst/>
          </a:prstGeom>
          <a:noFill/>
        </p:spPr>
        <p:txBody>
          <a:bodyPr wrap="square" rtlCol="0">
            <a:spAutoFit/>
          </a:bodyPr>
          <a:lstStyle/>
          <a:p>
            <a:r>
              <a:rPr lang="en-US" altLang="zh-CN" sz="2200" b="1" dirty="0" smtClean="0">
                <a:solidFill>
                  <a:srgbClr val="0000FE"/>
                </a:solidFill>
              </a:rPr>
              <a:t>1.  2G</a:t>
            </a:r>
            <a:r>
              <a:rPr lang="zh-CN" altLang="en-US" sz="2200" b="1" dirty="0" smtClean="0">
                <a:solidFill>
                  <a:srgbClr val="0000FE"/>
                </a:solidFill>
              </a:rPr>
              <a:t>移动网络的基本组成</a:t>
            </a:r>
            <a:endParaRPr lang="zh-CN" altLang="en-US" sz="2200" b="1" dirty="0">
              <a:solidFill>
                <a:srgbClr val="0000FE"/>
              </a:solidFill>
            </a:endParaRPr>
          </a:p>
        </p:txBody>
      </p:sp>
      <p:sp>
        <p:nvSpPr>
          <p:cNvPr id="12" name="Rectangle 5"/>
          <p:cNvSpPr>
            <a:spLocks noChangeArrowheads="1"/>
          </p:cNvSpPr>
          <p:nvPr/>
        </p:nvSpPr>
        <p:spPr bwMode="auto">
          <a:xfrm>
            <a:off x="251520" y="4443958"/>
            <a:ext cx="3084499" cy="430887"/>
          </a:xfrm>
          <a:prstGeom prst="rect">
            <a:avLst/>
          </a:prstGeom>
          <a:noFill/>
          <a:ln w="9525">
            <a:noFill/>
            <a:miter lim="800000"/>
          </a:ln>
        </p:spPr>
        <p:txBody>
          <a:bodyPr wrap="none" anchor="ctr">
            <a:spAutoFit/>
          </a:bodyPr>
          <a:lstStyle/>
          <a:p>
            <a:r>
              <a:rPr lang="zh-CN" altLang="en-US" sz="2200" dirty="0" smtClean="0"/>
              <a:t>移动通信网的基本组成</a:t>
            </a:r>
            <a:endParaRPr lang="zh-CN" altLang="en-US" sz="2200" dirty="0"/>
          </a:p>
        </p:txBody>
      </p:sp>
    </p:spTree>
  </p:cSld>
  <p:clrMapOvr>
    <a:masterClrMapping/>
  </p:clrMapOvr>
  <p:transition>
    <p:cu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3014" name="Rectangle 5"/>
          <p:cNvSpPr>
            <a:spLocks noChangeArrowheads="1"/>
          </p:cNvSpPr>
          <p:nvPr/>
        </p:nvSpPr>
        <p:spPr bwMode="auto">
          <a:xfrm>
            <a:off x="827584" y="4485189"/>
            <a:ext cx="2190023" cy="430887"/>
          </a:xfrm>
          <a:prstGeom prst="rect">
            <a:avLst/>
          </a:prstGeom>
          <a:noFill/>
          <a:ln w="9525">
            <a:noFill/>
            <a:miter lim="800000"/>
          </a:ln>
        </p:spPr>
        <p:txBody>
          <a:bodyPr wrap="none" anchor="ctr">
            <a:spAutoFit/>
          </a:bodyPr>
          <a:lstStyle/>
          <a:p>
            <a:r>
              <a:rPr lang="en-US" altLang="zh-CN" sz="2200" dirty="0"/>
              <a:t>GPRS</a:t>
            </a:r>
            <a:r>
              <a:rPr lang="zh-CN" altLang="en-US" sz="2200" dirty="0"/>
              <a:t>网络结构 </a:t>
            </a:r>
            <a:endParaRPr lang="zh-CN" altLang="en-US" sz="2200" dirty="0"/>
          </a:p>
        </p:txBody>
      </p:sp>
      <p:sp>
        <p:nvSpPr>
          <p:cNvPr id="43015" name="Rectangle 7"/>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graphicFrame>
        <p:nvGraphicFramePr>
          <p:cNvPr id="43010" name="Object 6"/>
          <p:cNvGraphicFramePr>
            <a:graphicFrameLocks noChangeAspect="1"/>
          </p:cNvGraphicFramePr>
          <p:nvPr/>
        </p:nvGraphicFramePr>
        <p:xfrm>
          <a:off x="234596" y="1060178"/>
          <a:ext cx="8082317" cy="3527796"/>
        </p:xfrm>
        <a:graphic>
          <a:graphicData uri="http://schemas.openxmlformats.org/presentationml/2006/ole">
            <mc:AlternateContent xmlns:mc="http://schemas.openxmlformats.org/markup-compatibility/2006">
              <mc:Choice xmlns:v="urn:schemas-microsoft-com:vml" Requires="v">
                <p:oleObj spid="_x0000_s25601" name="Visio" r:id="rId1" imgW="56721375" imgH="39947850" progId="">
                  <p:embed/>
                </p:oleObj>
              </mc:Choice>
              <mc:Fallback>
                <p:oleObj name="Visio" r:id="rId1" imgW="56721375" imgH="39947850" progId="">
                  <p:embed/>
                  <p:pic>
                    <p:nvPicPr>
                      <p:cNvPr id="0" name="Object 6"/>
                      <p:cNvPicPr>
                        <a:picLocks noChangeAspect="1"/>
                      </p:cNvPicPr>
                      <p:nvPr/>
                    </p:nvPicPr>
                    <p:blipFill>
                      <a:blip r:embed="rId2"/>
                      <a:stretch>
                        <a:fillRect/>
                      </a:stretch>
                    </p:blipFill>
                    <p:spPr>
                      <a:xfrm>
                        <a:off x="234596" y="1060178"/>
                        <a:ext cx="8082317" cy="3527796"/>
                      </a:xfrm>
                      <a:prstGeom prst="rect">
                        <a:avLst/>
                      </a:prstGeom>
                      <a:noFill/>
                      <a:ln w="9525">
                        <a:noFill/>
                      </a:ln>
                    </p:spPr>
                  </p:pic>
                </p:oleObj>
              </mc:Fallback>
            </mc:AlternateContent>
          </a:graphicData>
        </a:graphic>
      </p:graphicFrame>
      <p:pic>
        <p:nvPicPr>
          <p:cNvPr id="8" name="图片 7"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sp>
        <p:nvSpPr>
          <p:cNvPr id="9"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5.6  </a:t>
            </a:r>
            <a:r>
              <a:rPr lang="zh-CN" altLang="en-US" sz="3200" dirty="0" smtClean="0">
                <a:solidFill>
                  <a:schemeClr val="bg1"/>
                </a:solidFill>
              </a:rPr>
              <a:t>移动通信网络结构</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0" name="图片 9"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
        <p:nvSpPr>
          <p:cNvPr id="11" name="TextBox 10"/>
          <p:cNvSpPr txBox="1"/>
          <p:nvPr/>
        </p:nvSpPr>
        <p:spPr>
          <a:xfrm>
            <a:off x="251520" y="699542"/>
            <a:ext cx="3888432" cy="430887"/>
          </a:xfrm>
          <a:prstGeom prst="rect">
            <a:avLst/>
          </a:prstGeom>
          <a:noFill/>
        </p:spPr>
        <p:txBody>
          <a:bodyPr wrap="square" rtlCol="0">
            <a:spAutoFit/>
          </a:bodyPr>
          <a:lstStyle/>
          <a:p>
            <a:r>
              <a:rPr lang="en-US" altLang="zh-CN" sz="2200" b="1" dirty="0" smtClean="0">
                <a:solidFill>
                  <a:srgbClr val="0000FE"/>
                </a:solidFill>
              </a:rPr>
              <a:t>2.  2.5G</a:t>
            </a:r>
            <a:r>
              <a:rPr lang="zh-CN" altLang="en-US" sz="2200" b="1" dirty="0" smtClean="0">
                <a:solidFill>
                  <a:srgbClr val="0000FE"/>
                </a:solidFill>
              </a:rPr>
              <a:t>移动网络的基本组成</a:t>
            </a:r>
            <a:endParaRPr lang="zh-CN" altLang="en-US" sz="2200" b="1" dirty="0">
              <a:solidFill>
                <a:srgbClr val="0000FE"/>
              </a:solidFill>
            </a:endParaRPr>
          </a:p>
        </p:txBody>
      </p:sp>
    </p:spTree>
  </p:cSld>
  <p:clrMapOvr>
    <a:masterClrMapping/>
  </p:clrMapOvr>
  <p:transition>
    <p:cu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4038" name="Rectangle 5"/>
          <p:cNvSpPr>
            <a:spLocks noChangeArrowheads="1"/>
          </p:cNvSpPr>
          <p:nvPr/>
        </p:nvSpPr>
        <p:spPr bwMode="auto">
          <a:xfrm>
            <a:off x="179512" y="4443958"/>
            <a:ext cx="3009157" cy="430887"/>
          </a:xfrm>
          <a:prstGeom prst="rect">
            <a:avLst/>
          </a:prstGeom>
          <a:noFill/>
          <a:ln w="9525">
            <a:noFill/>
            <a:miter lim="800000"/>
          </a:ln>
        </p:spPr>
        <p:txBody>
          <a:bodyPr wrap="none" anchor="ctr">
            <a:spAutoFit/>
          </a:bodyPr>
          <a:lstStyle/>
          <a:p>
            <a:r>
              <a:rPr lang="en-US" altLang="zh-CN" sz="2200" dirty="0"/>
              <a:t>cdma20001x</a:t>
            </a:r>
            <a:r>
              <a:rPr lang="zh-CN" altLang="en-US" sz="2200" dirty="0"/>
              <a:t>网络结构 </a:t>
            </a:r>
            <a:endParaRPr lang="zh-CN" altLang="en-US" sz="2200" dirty="0"/>
          </a:p>
        </p:txBody>
      </p:sp>
      <p:sp>
        <p:nvSpPr>
          <p:cNvPr id="44039" name="Rectangle 7"/>
          <p:cNvSpPr>
            <a:spLocks noChangeArrowheads="1"/>
          </p:cNvSpPr>
          <p:nvPr/>
        </p:nvSpPr>
        <p:spPr bwMode="auto">
          <a:xfrm>
            <a:off x="0" y="1390531"/>
            <a:ext cx="184731" cy="369332"/>
          </a:xfrm>
          <a:prstGeom prst="rect">
            <a:avLst/>
          </a:prstGeom>
          <a:noFill/>
          <a:ln w="9525">
            <a:noFill/>
            <a:miter lim="800000"/>
          </a:ln>
        </p:spPr>
        <p:txBody>
          <a:bodyPr wrap="none" anchor="ctr">
            <a:spAutoFit/>
          </a:bodyPr>
          <a:lstStyle/>
          <a:p>
            <a:endParaRPr lang="zh-CN" altLang="en-US"/>
          </a:p>
        </p:txBody>
      </p:sp>
      <p:graphicFrame>
        <p:nvGraphicFramePr>
          <p:cNvPr id="44034" name="Object 6"/>
          <p:cNvGraphicFramePr>
            <a:graphicFrameLocks noChangeAspect="1"/>
          </p:cNvGraphicFramePr>
          <p:nvPr/>
        </p:nvGraphicFramePr>
        <p:xfrm>
          <a:off x="1331640" y="1041748"/>
          <a:ext cx="7072482" cy="3474218"/>
        </p:xfrm>
        <a:graphic>
          <a:graphicData uri="http://schemas.openxmlformats.org/presentationml/2006/ole">
            <mc:AlternateContent xmlns:mc="http://schemas.openxmlformats.org/markup-compatibility/2006">
              <mc:Choice xmlns:v="urn:schemas-microsoft-com:vml" Requires="v">
                <p:oleObj spid="_x0000_s26625" name="Visio" r:id="rId1" imgW="5034915" imgH="3161030" progId="">
                  <p:embed/>
                </p:oleObj>
              </mc:Choice>
              <mc:Fallback>
                <p:oleObj name="Visio" r:id="rId1" imgW="5034915" imgH="3161030" progId="">
                  <p:embed/>
                  <p:pic>
                    <p:nvPicPr>
                      <p:cNvPr id="0" name="Object 6"/>
                      <p:cNvPicPr>
                        <a:picLocks noChangeAspect="1"/>
                      </p:cNvPicPr>
                      <p:nvPr/>
                    </p:nvPicPr>
                    <p:blipFill>
                      <a:blip r:embed="rId2"/>
                      <a:stretch>
                        <a:fillRect/>
                      </a:stretch>
                    </p:blipFill>
                    <p:spPr>
                      <a:xfrm>
                        <a:off x="1331640" y="1041748"/>
                        <a:ext cx="7072482" cy="3474218"/>
                      </a:xfrm>
                      <a:prstGeom prst="rect">
                        <a:avLst/>
                      </a:prstGeom>
                      <a:noFill/>
                      <a:ln w="9525">
                        <a:noFill/>
                      </a:ln>
                    </p:spPr>
                  </p:pic>
                </p:oleObj>
              </mc:Fallback>
            </mc:AlternateContent>
          </a:graphicData>
        </a:graphic>
      </p:graphicFrame>
      <p:pic>
        <p:nvPicPr>
          <p:cNvPr id="8" name="图片 7"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sp>
        <p:nvSpPr>
          <p:cNvPr id="9"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5.6  </a:t>
            </a:r>
            <a:r>
              <a:rPr lang="zh-CN" altLang="en-US" sz="3200" dirty="0" smtClean="0">
                <a:solidFill>
                  <a:schemeClr val="bg1"/>
                </a:solidFill>
              </a:rPr>
              <a:t>移动通信网络结构</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0" name="图片 9"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
        <p:nvSpPr>
          <p:cNvPr id="11" name="TextBox 10"/>
          <p:cNvSpPr txBox="1"/>
          <p:nvPr/>
        </p:nvSpPr>
        <p:spPr>
          <a:xfrm>
            <a:off x="251520" y="699542"/>
            <a:ext cx="3888432" cy="430887"/>
          </a:xfrm>
          <a:prstGeom prst="rect">
            <a:avLst/>
          </a:prstGeom>
          <a:noFill/>
        </p:spPr>
        <p:txBody>
          <a:bodyPr wrap="square" rtlCol="0">
            <a:spAutoFit/>
          </a:bodyPr>
          <a:lstStyle/>
          <a:p>
            <a:r>
              <a:rPr lang="en-US" altLang="zh-CN" sz="2200" b="1" dirty="0" smtClean="0">
                <a:solidFill>
                  <a:srgbClr val="0000FE"/>
                </a:solidFill>
              </a:rPr>
              <a:t>3.  2.5G</a:t>
            </a:r>
            <a:r>
              <a:rPr lang="zh-CN" altLang="en-US" sz="2200" b="1" dirty="0" smtClean="0">
                <a:solidFill>
                  <a:srgbClr val="0000FE"/>
                </a:solidFill>
              </a:rPr>
              <a:t>移动网络的基本组成</a:t>
            </a:r>
            <a:endParaRPr lang="zh-CN" altLang="en-US" sz="2200" b="1" dirty="0">
              <a:solidFill>
                <a:srgbClr val="0000FE"/>
              </a:solidFill>
            </a:endParaRPr>
          </a:p>
        </p:txBody>
      </p:sp>
    </p:spTree>
  </p:cSld>
  <p:clrMapOvr>
    <a:masterClrMapping/>
  </p:clrMapOvr>
  <p:transition>
    <p:cu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5062" name="Rectangle 5"/>
          <p:cNvSpPr>
            <a:spLocks noChangeArrowheads="1"/>
          </p:cNvSpPr>
          <p:nvPr/>
        </p:nvSpPr>
        <p:spPr bwMode="auto">
          <a:xfrm>
            <a:off x="1187624" y="3405069"/>
            <a:ext cx="2646878" cy="430887"/>
          </a:xfrm>
          <a:prstGeom prst="rect">
            <a:avLst/>
          </a:prstGeom>
          <a:noFill/>
          <a:ln w="9525">
            <a:noFill/>
            <a:miter lim="800000"/>
          </a:ln>
        </p:spPr>
        <p:txBody>
          <a:bodyPr wrap="none" anchor="ctr">
            <a:spAutoFit/>
          </a:bodyPr>
          <a:lstStyle/>
          <a:p>
            <a:r>
              <a:rPr lang="en-US" altLang="zh-CN" sz="2200" dirty="0"/>
              <a:t>R99 3G</a:t>
            </a:r>
            <a:r>
              <a:rPr lang="zh-CN" altLang="en-US" sz="2200" dirty="0"/>
              <a:t>网络结构图 </a:t>
            </a:r>
            <a:endParaRPr lang="zh-CN" altLang="en-US" sz="2200" dirty="0"/>
          </a:p>
        </p:txBody>
      </p:sp>
      <p:sp>
        <p:nvSpPr>
          <p:cNvPr id="45063" name="Rectangle 7"/>
          <p:cNvSpPr>
            <a:spLocks noChangeArrowheads="1"/>
          </p:cNvSpPr>
          <p:nvPr/>
        </p:nvSpPr>
        <p:spPr bwMode="auto">
          <a:xfrm>
            <a:off x="0" y="883325"/>
            <a:ext cx="184731" cy="369332"/>
          </a:xfrm>
          <a:prstGeom prst="rect">
            <a:avLst/>
          </a:prstGeom>
          <a:noFill/>
          <a:ln w="9525">
            <a:noFill/>
            <a:miter lim="800000"/>
          </a:ln>
        </p:spPr>
        <p:txBody>
          <a:bodyPr wrap="none" anchor="ctr">
            <a:spAutoFit/>
          </a:bodyPr>
          <a:lstStyle/>
          <a:p>
            <a:endParaRPr lang="zh-CN" altLang="en-US"/>
          </a:p>
        </p:txBody>
      </p:sp>
      <p:graphicFrame>
        <p:nvGraphicFramePr>
          <p:cNvPr id="45058" name="Object 6"/>
          <p:cNvGraphicFramePr>
            <a:graphicFrameLocks noChangeAspect="1"/>
          </p:cNvGraphicFramePr>
          <p:nvPr/>
        </p:nvGraphicFramePr>
        <p:xfrm>
          <a:off x="3924622" y="771550"/>
          <a:ext cx="4895850" cy="4212431"/>
        </p:xfrm>
        <a:graphic>
          <a:graphicData uri="http://schemas.openxmlformats.org/presentationml/2006/ole">
            <mc:AlternateContent xmlns:mc="http://schemas.openxmlformats.org/markup-compatibility/2006">
              <mc:Choice xmlns:v="urn:schemas-microsoft-com:vml" Requires="v">
                <p:oleObj spid="_x0000_s27649" name="图片" r:id="rId1" imgW="38871525" imgH="45539025" progId="">
                  <p:embed/>
                </p:oleObj>
              </mc:Choice>
              <mc:Fallback>
                <p:oleObj name="图片" r:id="rId1" imgW="38871525" imgH="45539025" progId="">
                  <p:embed/>
                  <p:pic>
                    <p:nvPicPr>
                      <p:cNvPr id="0" name="Object 6"/>
                      <p:cNvPicPr>
                        <a:picLocks noChangeAspect="1"/>
                      </p:cNvPicPr>
                      <p:nvPr/>
                    </p:nvPicPr>
                    <p:blipFill>
                      <a:blip r:embed="rId2"/>
                      <a:stretch>
                        <a:fillRect/>
                      </a:stretch>
                    </p:blipFill>
                    <p:spPr>
                      <a:xfrm>
                        <a:off x="3924622" y="771550"/>
                        <a:ext cx="4895850" cy="4212431"/>
                      </a:xfrm>
                      <a:prstGeom prst="rect">
                        <a:avLst/>
                      </a:prstGeom>
                      <a:noFill/>
                      <a:ln w="9525">
                        <a:noFill/>
                      </a:ln>
                    </p:spPr>
                  </p:pic>
                </p:oleObj>
              </mc:Fallback>
            </mc:AlternateContent>
          </a:graphicData>
        </a:graphic>
      </p:graphicFrame>
      <p:pic>
        <p:nvPicPr>
          <p:cNvPr id="8" name="图片 7" descr="5bc6fc52-b49d-4298-b410-192e1f0ef3a5.gif"/>
          <p:cNvPicPr>
            <a:picLocks noChangeAspect="1"/>
          </p:cNvPicPr>
          <p:nvPr/>
        </p:nvPicPr>
        <p:blipFill>
          <a:blip r:embed="rId3" cstate="print"/>
          <a:srcRect l="36267" t="33821" r="11138" b="38327"/>
          <a:stretch>
            <a:fillRect/>
          </a:stretch>
        </p:blipFill>
        <p:spPr>
          <a:xfrm>
            <a:off x="7308304" y="4495428"/>
            <a:ext cx="1835696" cy="648072"/>
          </a:xfrm>
          <a:prstGeom prst="rect">
            <a:avLst/>
          </a:prstGeom>
        </p:spPr>
      </p:pic>
      <p:sp>
        <p:nvSpPr>
          <p:cNvPr id="9"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5.6  </a:t>
            </a:r>
            <a:r>
              <a:rPr lang="zh-CN" altLang="en-US" sz="3200" dirty="0" smtClean="0">
                <a:solidFill>
                  <a:schemeClr val="bg1"/>
                </a:solidFill>
              </a:rPr>
              <a:t>移动通信网络结构</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0" name="图片 9" descr="5bc6fc52-b49d-4298-b410-192e1f0ef3a5.gif"/>
          <p:cNvPicPr>
            <a:picLocks noChangeAspect="1"/>
          </p:cNvPicPr>
          <p:nvPr/>
        </p:nvPicPr>
        <p:blipFill>
          <a:blip r:embed="rId3" cstate="print"/>
          <a:srcRect l="14589" t="33821" r="63763" b="38327"/>
          <a:stretch>
            <a:fillRect/>
          </a:stretch>
        </p:blipFill>
        <p:spPr>
          <a:xfrm>
            <a:off x="0" y="0"/>
            <a:ext cx="755576" cy="648072"/>
          </a:xfrm>
          <a:prstGeom prst="rect">
            <a:avLst/>
          </a:prstGeom>
        </p:spPr>
      </p:pic>
      <p:sp>
        <p:nvSpPr>
          <p:cNvPr id="11" name="TextBox 10"/>
          <p:cNvSpPr txBox="1"/>
          <p:nvPr/>
        </p:nvSpPr>
        <p:spPr>
          <a:xfrm>
            <a:off x="251520" y="699542"/>
            <a:ext cx="3888432" cy="430887"/>
          </a:xfrm>
          <a:prstGeom prst="rect">
            <a:avLst/>
          </a:prstGeom>
          <a:noFill/>
        </p:spPr>
        <p:txBody>
          <a:bodyPr wrap="square" rtlCol="0">
            <a:spAutoFit/>
          </a:bodyPr>
          <a:lstStyle/>
          <a:p>
            <a:r>
              <a:rPr lang="en-US" altLang="zh-CN" sz="2200" b="1" dirty="0" smtClean="0">
                <a:solidFill>
                  <a:srgbClr val="0000FE"/>
                </a:solidFill>
              </a:rPr>
              <a:t>2.  3G</a:t>
            </a:r>
            <a:r>
              <a:rPr lang="zh-CN" altLang="en-US" sz="2200" b="1" dirty="0" smtClean="0">
                <a:solidFill>
                  <a:srgbClr val="0000FE"/>
                </a:solidFill>
              </a:rPr>
              <a:t>移动网络的基本组成</a:t>
            </a:r>
            <a:endParaRPr lang="zh-CN" altLang="en-US" sz="2200" b="1" dirty="0">
              <a:solidFill>
                <a:srgbClr val="0000FE"/>
              </a:solidFill>
            </a:endParaRPr>
          </a:p>
        </p:txBody>
      </p:sp>
    </p:spTree>
  </p:cSld>
  <p:clrMapOvr>
    <a:masterClrMapping/>
  </p:clrMapOvr>
  <p:transition>
    <p:cu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5.6  </a:t>
            </a:r>
            <a:r>
              <a:rPr lang="zh-CN" altLang="en-US" sz="3200" dirty="0" smtClean="0">
                <a:solidFill>
                  <a:schemeClr val="bg1"/>
                </a:solidFill>
              </a:rPr>
              <a:t>移动通信网络结构</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520" y="699542"/>
            <a:ext cx="3888432" cy="430887"/>
          </a:xfrm>
          <a:prstGeom prst="rect">
            <a:avLst/>
          </a:prstGeom>
          <a:noFill/>
        </p:spPr>
        <p:txBody>
          <a:bodyPr wrap="square" rtlCol="0">
            <a:spAutoFit/>
          </a:bodyPr>
          <a:lstStyle/>
          <a:p>
            <a:r>
              <a:rPr lang="en-US" altLang="zh-CN" sz="2200" b="1" dirty="0" smtClean="0">
                <a:solidFill>
                  <a:srgbClr val="0000FE"/>
                </a:solidFill>
              </a:rPr>
              <a:t>4.  4G</a:t>
            </a:r>
            <a:r>
              <a:rPr lang="zh-CN" altLang="en-US" sz="2200" b="1" dirty="0" smtClean="0">
                <a:solidFill>
                  <a:srgbClr val="0000FE"/>
                </a:solidFill>
              </a:rPr>
              <a:t>移动网络的基本组成</a:t>
            </a:r>
            <a:endParaRPr lang="zh-CN" altLang="en-US" sz="2200" b="1" dirty="0">
              <a:solidFill>
                <a:srgbClr val="0000FE"/>
              </a:solidFill>
            </a:endParaRPr>
          </a:p>
        </p:txBody>
      </p:sp>
      <p:graphicFrame>
        <p:nvGraphicFramePr>
          <p:cNvPr id="2" name="对象 1"/>
          <p:cNvGraphicFramePr/>
          <p:nvPr/>
        </p:nvGraphicFramePr>
        <p:xfrm>
          <a:off x="1043940" y="184785"/>
          <a:ext cx="6558280" cy="4871085"/>
        </p:xfrm>
        <a:graphic>
          <a:graphicData uri="http://schemas.openxmlformats.org/presentationml/2006/ole">
            <mc:AlternateContent xmlns:mc="http://schemas.openxmlformats.org/markup-compatibility/2006">
              <mc:Choice xmlns:v="urn:schemas-microsoft-com:vml" Requires="v">
                <p:oleObj spid="_x0000_s3" name="" r:id="rId2" imgW="6553200" imgH="4867275" progId="Paint.Picture">
                  <p:embed/>
                </p:oleObj>
              </mc:Choice>
              <mc:Fallback>
                <p:oleObj name="" r:id="rId2" imgW="6553200" imgH="4867275" progId="Paint.Picture">
                  <p:embed/>
                  <p:pic>
                    <p:nvPicPr>
                      <p:cNvPr id="0" name="图片 2"/>
                      <p:cNvPicPr/>
                      <p:nvPr/>
                    </p:nvPicPr>
                    <p:blipFill>
                      <a:blip r:embed="rId3"/>
                      <a:stretch>
                        <a:fillRect/>
                      </a:stretch>
                    </p:blipFill>
                    <p:spPr>
                      <a:xfrm>
                        <a:off x="1043940" y="184785"/>
                        <a:ext cx="6558280" cy="4871085"/>
                      </a:xfrm>
                      <a:prstGeom prst="rect">
                        <a:avLst/>
                      </a:prstGeom>
                    </p:spPr>
                  </p:pic>
                </p:oleObj>
              </mc:Fallback>
            </mc:AlternateContent>
          </a:graphicData>
        </a:graphic>
      </p:graphicFrame>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5.6  </a:t>
            </a:r>
            <a:r>
              <a:rPr lang="zh-CN" altLang="en-US" sz="3200" dirty="0" smtClean="0">
                <a:solidFill>
                  <a:schemeClr val="bg1"/>
                </a:solidFill>
              </a:rPr>
              <a:t>移动通信网络结构</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520" y="699542"/>
            <a:ext cx="3888432" cy="429895"/>
          </a:xfrm>
          <a:prstGeom prst="rect">
            <a:avLst/>
          </a:prstGeom>
          <a:noFill/>
        </p:spPr>
        <p:txBody>
          <a:bodyPr wrap="square" rtlCol="0">
            <a:spAutoFit/>
          </a:bodyPr>
          <a:lstStyle/>
          <a:p>
            <a:r>
              <a:rPr lang="en-US" altLang="zh-CN" sz="2200" b="1" dirty="0" smtClean="0">
                <a:solidFill>
                  <a:srgbClr val="0000FE"/>
                </a:solidFill>
              </a:rPr>
              <a:t>5.  5G</a:t>
            </a:r>
            <a:r>
              <a:rPr lang="zh-CN" altLang="en-US" sz="2200" b="1" dirty="0" smtClean="0">
                <a:solidFill>
                  <a:srgbClr val="0000FE"/>
                </a:solidFill>
              </a:rPr>
              <a:t>移动网络的基本组成</a:t>
            </a:r>
            <a:endParaRPr lang="zh-CN" altLang="en-US" sz="2200" b="1" dirty="0">
              <a:solidFill>
                <a:srgbClr val="0000FE"/>
              </a:solidFill>
            </a:endParaRPr>
          </a:p>
        </p:txBody>
      </p:sp>
      <p:pic>
        <p:nvPicPr>
          <p:cNvPr id="5" name="图片 4"/>
          <p:cNvPicPr/>
          <p:nvPr/>
        </p:nvPicPr>
        <p:blipFill>
          <a:blip r:embed="rId2"/>
          <a:stretch>
            <a:fillRect/>
          </a:stretch>
        </p:blipFill>
        <p:spPr>
          <a:xfrm>
            <a:off x="1009015" y="326390"/>
            <a:ext cx="7125970" cy="4490720"/>
          </a:xfrm>
          <a:prstGeom prst="rect">
            <a:avLst/>
          </a:prstGeo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5.7  </a:t>
            </a:r>
            <a:r>
              <a:rPr lang="zh-CN" altLang="zh-CN" sz="3200" dirty="0" smtClean="0">
                <a:solidFill>
                  <a:schemeClr val="bg1"/>
                </a:solidFill>
              </a:rPr>
              <a:t>移动网络安全</a:t>
            </a:r>
            <a:endParaRPr kumimoji="0" lang="en-US" altLang="zh-CN" sz="3200" b="1" i="0" u="none" strike="noStrike" kern="0" cap="none" spc="0" normalizeH="0" baseline="0" noProof="0" dirty="0">
              <a:ln>
                <a:noFill/>
              </a:ln>
              <a:solidFill>
                <a:schemeClr val="bg1"/>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460" y="699770"/>
            <a:ext cx="8646795" cy="3538220"/>
          </a:xfrm>
          <a:prstGeom prst="rect">
            <a:avLst/>
          </a:prstGeom>
          <a:noFill/>
        </p:spPr>
        <p:txBody>
          <a:bodyPr wrap="square" rtlCol="0">
            <a:spAutoFit/>
          </a:bodyPr>
          <a:lstStyle/>
          <a:p>
            <a:pPr>
              <a:lnSpc>
                <a:spcPct val="140000"/>
              </a:lnSpc>
            </a:pPr>
            <a:r>
              <a:rPr lang="en-US" altLang="zh-CN" sz="2000" dirty="0">
                <a:solidFill>
                  <a:srgbClr val="000000"/>
                </a:solidFill>
              </a:rPr>
              <a:t>1G </a:t>
            </a:r>
            <a:r>
              <a:rPr lang="zh-CN" altLang="en-US" sz="2000" dirty="0">
                <a:solidFill>
                  <a:srgbClr val="000000"/>
                </a:solidFill>
              </a:rPr>
              <a:t>是模拟移动通信系统，除设备商配置的设备序列号和运营商分配的身份号外，缺乏有效的身份认证和通信保密机制，也易被窃听。</a:t>
            </a:r>
            <a:endParaRPr lang="zh-CN" altLang="en-US" sz="2000" dirty="0">
              <a:solidFill>
                <a:srgbClr val="000000"/>
              </a:solidFill>
            </a:endParaRPr>
          </a:p>
          <a:p>
            <a:pPr>
              <a:lnSpc>
                <a:spcPct val="140000"/>
              </a:lnSpc>
            </a:pPr>
            <a:r>
              <a:rPr lang="en-US" altLang="zh-CN" sz="2000" dirty="0">
                <a:solidFill>
                  <a:srgbClr val="000000"/>
                </a:solidFill>
              </a:rPr>
              <a:t>2G GSM</a:t>
            </a:r>
            <a:r>
              <a:rPr lang="zh-CN" altLang="en-US" sz="2000" dirty="0">
                <a:solidFill>
                  <a:srgbClr val="000000"/>
                </a:solidFill>
              </a:rPr>
              <a:t>系统安全性有了专门的设计，增加了具有安全保护功能的用户识别卡（</a:t>
            </a:r>
            <a:r>
              <a:rPr lang="en-US" altLang="zh-CN" sz="2000" dirty="0">
                <a:solidFill>
                  <a:srgbClr val="000000"/>
                </a:solidFill>
              </a:rPr>
              <a:t>Subscriber Identity Module</a:t>
            </a:r>
            <a:r>
              <a:rPr lang="zh-CN" altLang="zh-CN" sz="2000" dirty="0">
                <a:solidFill>
                  <a:srgbClr val="000000"/>
                </a:solidFill>
              </a:rPr>
              <a:t>，</a:t>
            </a:r>
            <a:r>
              <a:rPr lang="en-US" altLang="zh-CN" sz="2000" dirty="0">
                <a:solidFill>
                  <a:srgbClr val="000000"/>
                </a:solidFill>
              </a:rPr>
              <a:t>SIM</a:t>
            </a:r>
            <a:r>
              <a:rPr lang="zh-CN" altLang="en-US" sz="2000" dirty="0">
                <a:solidFill>
                  <a:srgbClr val="000000"/>
                </a:solidFill>
              </a:rPr>
              <a:t>）卡，以实现对用户身份信息及密钥的保护。</a:t>
            </a:r>
            <a:endParaRPr lang="zh-CN" altLang="en-US" sz="2000" dirty="0">
              <a:solidFill>
                <a:srgbClr val="000000"/>
              </a:solidFill>
            </a:endParaRPr>
          </a:p>
          <a:p>
            <a:pPr>
              <a:lnSpc>
                <a:spcPct val="140000"/>
              </a:lnSpc>
            </a:pPr>
            <a:r>
              <a:rPr lang="zh-CN" altLang="en-US" sz="2000" dirty="0">
                <a:solidFill>
                  <a:srgbClr val="000000"/>
                </a:solidFill>
              </a:rPr>
              <a:t>后续的</a:t>
            </a:r>
            <a:r>
              <a:rPr lang="en-US" altLang="zh-CN" sz="2000" dirty="0">
                <a:solidFill>
                  <a:srgbClr val="000000"/>
                </a:solidFill>
              </a:rPr>
              <a:t>3G</a:t>
            </a:r>
            <a:r>
              <a:rPr lang="zh-CN" altLang="en-US" sz="2000" dirty="0">
                <a:solidFill>
                  <a:srgbClr val="000000"/>
                </a:solidFill>
              </a:rPr>
              <a:t>、</a:t>
            </a:r>
            <a:r>
              <a:rPr lang="en-US" altLang="zh-CN" sz="2000" dirty="0">
                <a:solidFill>
                  <a:srgbClr val="000000"/>
                </a:solidFill>
              </a:rPr>
              <a:t>4G</a:t>
            </a:r>
            <a:r>
              <a:rPr lang="zh-CN" altLang="en-US" sz="2000" dirty="0">
                <a:solidFill>
                  <a:srgbClr val="000000"/>
                </a:solidFill>
              </a:rPr>
              <a:t>、</a:t>
            </a:r>
            <a:r>
              <a:rPr lang="en-US" altLang="zh-CN" sz="2000" dirty="0">
                <a:solidFill>
                  <a:srgbClr val="000000"/>
                </a:solidFill>
              </a:rPr>
              <a:t>5G</a:t>
            </a:r>
            <a:r>
              <a:rPr lang="zh-CN" altLang="en-US" sz="2000" dirty="0">
                <a:solidFill>
                  <a:srgbClr val="000000"/>
                </a:solidFill>
              </a:rPr>
              <a:t>，安全机制和协议进一步完善。</a:t>
            </a:r>
            <a:endParaRPr lang="zh-CN" altLang="en-US" sz="2000" dirty="0">
              <a:solidFill>
                <a:srgbClr val="000000"/>
              </a:solidFill>
            </a:endParaRPr>
          </a:p>
          <a:p>
            <a:pPr>
              <a:lnSpc>
                <a:spcPct val="140000"/>
              </a:lnSpc>
            </a:pPr>
            <a:r>
              <a:rPr lang="zh-CN" altLang="en-US" sz="2000" dirty="0">
                <a:solidFill>
                  <a:srgbClr val="000000"/>
                </a:solidFill>
              </a:rPr>
              <a:t>移动网络安全主要有</a:t>
            </a:r>
            <a:r>
              <a:rPr lang="zh-CN" altLang="en-US" sz="2000" b="1" dirty="0">
                <a:solidFill>
                  <a:srgbClr val="000000"/>
                </a:solidFill>
              </a:rPr>
              <a:t>接入认证</a:t>
            </a:r>
            <a:r>
              <a:rPr lang="zh-CN" altLang="en-US" sz="2000" dirty="0">
                <a:solidFill>
                  <a:srgbClr val="000000"/>
                </a:solidFill>
              </a:rPr>
              <a:t>、</a:t>
            </a:r>
            <a:r>
              <a:rPr lang="zh-CN" altLang="en-US" sz="2000" b="1" dirty="0">
                <a:solidFill>
                  <a:srgbClr val="000000"/>
                </a:solidFill>
              </a:rPr>
              <a:t>机密性保护、完整性保护和用户</a:t>
            </a:r>
            <a:r>
              <a:rPr lang="en-US" altLang="zh-CN" sz="2000" b="1" dirty="0">
                <a:solidFill>
                  <a:srgbClr val="000000"/>
                </a:solidFill>
              </a:rPr>
              <a:t>ID</a:t>
            </a:r>
            <a:r>
              <a:rPr lang="zh-CN" altLang="en-US" sz="2000" b="1" dirty="0">
                <a:solidFill>
                  <a:srgbClr val="000000"/>
                </a:solidFill>
              </a:rPr>
              <a:t>隐私保护</a:t>
            </a:r>
            <a:r>
              <a:rPr lang="zh-CN" altLang="en-US" sz="2000" dirty="0">
                <a:solidFill>
                  <a:srgbClr val="000000"/>
                </a:solidFill>
              </a:rPr>
              <a:t>等。</a:t>
            </a:r>
            <a:endParaRPr lang="zh-CN" altLang="en-US" sz="2000" dirty="0">
              <a:solidFill>
                <a:srgbClr val="0000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5.7  </a:t>
            </a:r>
            <a:r>
              <a:rPr lang="zh-CN" altLang="zh-CN" sz="3200" dirty="0" smtClean="0">
                <a:solidFill>
                  <a:schemeClr val="bg1"/>
                </a:solidFill>
              </a:rPr>
              <a:t>移动网络安全</a:t>
            </a:r>
            <a:r>
              <a:rPr lang="en-US" altLang="zh-CN" sz="3200" dirty="0" smtClean="0">
                <a:solidFill>
                  <a:schemeClr val="bg1"/>
                </a:solidFill>
              </a:rPr>
              <a:t>    </a:t>
            </a:r>
            <a:endParaRPr kumimoji="0" lang="zh-CN" altLang="en-US" sz="3200" b="1" i="0" u="none" strike="noStrike" kern="0" cap="none" spc="0" normalizeH="0" baseline="0" noProof="0" dirty="0" smtClean="0">
              <a:ln>
                <a:noFill/>
              </a:ln>
              <a:solidFill>
                <a:srgbClr val="C00000"/>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460" y="699770"/>
            <a:ext cx="8646795" cy="2245360"/>
          </a:xfrm>
          <a:prstGeom prst="rect">
            <a:avLst/>
          </a:prstGeom>
          <a:noFill/>
        </p:spPr>
        <p:txBody>
          <a:bodyPr wrap="square" rtlCol="0">
            <a:spAutoFit/>
          </a:bodyPr>
          <a:lstStyle/>
          <a:p>
            <a:pPr>
              <a:lnSpc>
                <a:spcPct val="140000"/>
              </a:lnSpc>
            </a:pPr>
            <a:r>
              <a:rPr lang="en-US" altLang="zh-CN" sz="2000" b="1" dirty="0">
                <a:solidFill>
                  <a:srgbClr val="000000"/>
                </a:solidFill>
              </a:rPr>
              <a:t>1.</a:t>
            </a:r>
            <a:r>
              <a:rPr lang="zh-CN" altLang="zh-CN" sz="2000" b="1" dirty="0">
                <a:solidFill>
                  <a:srgbClr val="000000"/>
                </a:solidFill>
              </a:rPr>
              <a:t> 接入认证</a:t>
            </a:r>
            <a:endParaRPr lang="zh-CN" altLang="zh-CN" sz="2000" b="1" dirty="0">
              <a:solidFill>
                <a:srgbClr val="000000"/>
              </a:solidFill>
            </a:endParaRPr>
          </a:p>
          <a:p>
            <a:pPr>
              <a:lnSpc>
                <a:spcPct val="140000"/>
              </a:lnSpc>
            </a:pPr>
            <a:r>
              <a:rPr lang="zh-CN" altLang="en-US" sz="2000" dirty="0">
                <a:solidFill>
                  <a:srgbClr val="000000"/>
                </a:solidFill>
              </a:rPr>
              <a:t>接入认证是对接入移动网络用户的合法性进行鉴权。</a:t>
            </a:r>
            <a:endParaRPr lang="zh-CN" altLang="en-US" sz="2000" dirty="0">
              <a:solidFill>
                <a:srgbClr val="000000"/>
              </a:solidFill>
            </a:endParaRPr>
          </a:p>
          <a:p>
            <a:pPr>
              <a:lnSpc>
                <a:spcPct val="140000"/>
              </a:lnSpc>
            </a:pPr>
            <a:r>
              <a:rPr lang="zh-CN" altLang="en-US" sz="2000" dirty="0">
                <a:solidFill>
                  <a:srgbClr val="000000"/>
                </a:solidFill>
              </a:rPr>
              <a:t>当自然人购买移动设备和服务时，就要与运营商签订合同，成为使用移动网络的合法或授权用户。当移动用户进行开机或位置更新等活动时，网络要通信接入认证对移动用户进行鉴权。</a:t>
            </a:r>
            <a:endParaRPr lang="zh-CN" altLang="en-US" sz="2000" dirty="0">
              <a:solidFill>
                <a:srgbClr val="0000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5.7  </a:t>
            </a:r>
            <a:r>
              <a:rPr lang="zh-CN" altLang="zh-CN" sz="3200" dirty="0" smtClean="0">
                <a:solidFill>
                  <a:schemeClr val="bg1"/>
                </a:solidFill>
              </a:rPr>
              <a:t>移动网络安全</a:t>
            </a:r>
            <a:r>
              <a:rPr lang="en-US" altLang="zh-CN" sz="3200" dirty="0" smtClean="0">
                <a:solidFill>
                  <a:schemeClr val="bg1"/>
                </a:solidFill>
              </a:rPr>
              <a:t>    </a:t>
            </a:r>
            <a:endParaRPr kumimoji="0" lang="zh-CN" altLang="en-US" sz="3200" b="1" i="0" u="none" strike="noStrike" kern="0" cap="none" spc="0" normalizeH="0" baseline="0" noProof="0" dirty="0" smtClean="0">
              <a:ln>
                <a:noFill/>
              </a:ln>
              <a:solidFill>
                <a:srgbClr val="C00000"/>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460" y="699770"/>
            <a:ext cx="8646795" cy="4399915"/>
          </a:xfrm>
          <a:prstGeom prst="rect">
            <a:avLst/>
          </a:prstGeom>
          <a:noFill/>
        </p:spPr>
        <p:txBody>
          <a:bodyPr wrap="square" rtlCol="0">
            <a:spAutoFit/>
          </a:bodyPr>
          <a:lstStyle/>
          <a:p>
            <a:pPr>
              <a:lnSpc>
                <a:spcPct val="140000"/>
              </a:lnSpc>
            </a:pPr>
            <a:r>
              <a:rPr lang="en-US" altLang="zh-CN" sz="2000" b="1" dirty="0">
                <a:solidFill>
                  <a:srgbClr val="000000"/>
                </a:solidFill>
              </a:rPr>
              <a:t>2.</a:t>
            </a:r>
            <a:r>
              <a:rPr lang="zh-CN" altLang="zh-CN" sz="2000" b="1" dirty="0">
                <a:solidFill>
                  <a:srgbClr val="000000"/>
                </a:solidFill>
              </a:rPr>
              <a:t> 机密性保护</a:t>
            </a:r>
            <a:endParaRPr lang="zh-CN" altLang="zh-CN" sz="2000" b="1" dirty="0">
              <a:solidFill>
                <a:srgbClr val="000000"/>
              </a:solidFill>
            </a:endParaRPr>
          </a:p>
          <a:p>
            <a:pPr>
              <a:lnSpc>
                <a:spcPct val="140000"/>
              </a:lnSpc>
            </a:pPr>
            <a:r>
              <a:rPr lang="zh-CN" altLang="en-US" sz="2000" dirty="0">
                <a:solidFill>
                  <a:srgbClr val="000000"/>
                </a:solidFill>
              </a:rPr>
              <a:t>机密性保护是指对移动用户数据和信令的加密保护。机密性是确保信息在存储、使用、传输过程中不会泄露给非授权用户或实体。</a:t>
            </a:r>
            <a:endParaRPr lang="zh-CN" altLang="en-US" sz="2000" dirty="0">
              <a:solidFill>
                <a:srgbClr val="000000"/>
              </a:solidFill>
            </a:endParaRPr>
          </a:p>
          <a:p>
            <a:pPr>
              <a:lnSpc>
                <a:spcPct val="140000"/>
              </a:lnSpc>
            </a:pPr>
            <a:r>
              <a:rPr lang="zh-CN" altLang="en-US" sz="2000" dirty="0">
                <a:solidFill>
                  <a:srgbClr val="000000"/>
                </a:solidFill>
              </a:rPr>
              <a:t>移动网络典型加密算法：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1</a:t>
            </a:r>
            <a:r>
              <a:rPr lang="zh-CN" altLang="en-US" sz="2000" dirty="0">
                <a:solidFill>
                  <a:srgbClr val="000000"/>
                </a:solidFill>
              </a:rPr>
              <a:t>）</a:t>
            </a:r>
            <a:r>
              <a:rPr lang="en-US" altLang="zh-CN" sz="2000" dirty="0">
                <a:solidFill>
                  <a:srgbClr val="000000"/>
                </a:solidFill>
              </a:rPr>
              <a:t>A5</a:t>
            </a:r>
            <a:r>
              <a:rPr lang="zh-CN" altLang="en-US" sz="2000" dirty="0">
                <a:solidFill>
                  <a:srgbClr val="000000"/>
                </a:solidFill>
              </a:rPr>
              <a:t>系列算法。</a:t>
            </a:r>
            <a:r>
              <a:rPr lang="en-US" altLang="zh-CN" sz="2000" dirty="0">
                <a:solidFill>
                  <a:srgbClr val="000000"/>
                </a:solidFill>
              </a:rPr>
              <a:t>A5/1~3</a:t>
            </a:r>
            <a:r>
              <a:rPr lang="zh-CN" altLang="zh-CN" sz="2000" dirty="0">
                <a:solidFill>
                  <a:srgbClr val="000000"/>
                </a:solidFill>
              </a:rPr>
              <a:t>，</a:t>
            </a:r>
            <a:r>
              <a:rPr lang="en-US" altLang="zh-CN" sz="2000" dirty="0">
                <a:solidFill>
                  <a:srgbClr val="000000"/>
                </a:solidFill>
              </a:rPr>
              <a:t>64bit</a:t>
            </a:r>
            <a:r>
              <a:rPr lang="zh-CN" altLang="zh-CN" sz="2000" dirty="0">
                <a:solidFill>
                  <a:srgbClr val="000000"/>
                </a:solidFill>
              </a:rPr>
              <a:t>，加密性能弱不再使用，</a:t>
            </a:r>
            <a:r>
              <a:rPr lang="en-US" altLang="zh-CN" sz="2000" dirty="0">
                <a:solidFill>
                  <a:srgbClr val="000000"/>
                </a:solidFill>
              </a:rPr>
              <a:t>A5/4</a:t>
            </a:r>
            <a:r>
              <a:rPr lang="zh-CN" altLang="en-US" sz="2000" dirty="0">
                <a:solidFill>
                  <a:srgbClr val="000000"/>
                </a:solidFill>
              </a:rPr>
              <a:t>，</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2G</a:t>
            </a:r>
            <a:r>
              <a:rPr lang="zh-CN" altLang="en-US" sz="2000" dirty="0">
                <a:solidFill>
                  <a:srgbClr val="000000"/>
                </a:solidFill>
              </a:rPr>
              <a:t>使用的加密算法。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2</a:t>
            </a:r>
            <a:r>
              <a:rPr lang="zh-CN" altLang="en-US" sz="2000" dirty="0">
                <a:solidFill>
                  <a:srgbClr val="000000"/>
                </a:solidFill>
              </a:rPr>
              <a:t>）</a:t>
            </a:r>
            <a:r>
              <a:rPr lang="en-US" altLang="zh-CN" sz="2000" dirty="0">
                <a:solidFill>
                  <a:srgbClr val="000000"/>
                </a:solidFill>
              </a:rPr>
              <a:t>KASUMI</a:t>
            </a:r>
            <a:r>
              <a:rPr lang="zh-CN" altLang="en-US" sz="2000" dirty="0">
                <a:solidFill>
                  <a:srgbClr val="000000"/>
                </a:solidFill>
              </a:rPr>
              <a:t>算法，</a:t>
            </a:r>
            <a:r>
              <a:rPr lang="en-US" altLang="zh-CN" sz="2000" dirty="0">
                <a:solidFill>
                  <a:srgbClr val="000000"/>
                </a:solidFill>
              </a:rPr>
              <a:t>128bit</a:t>
            </a:r>
            <a:r>
              <a:rPr lang="zh-CN" altLang="en-US" sz="2000" dirty="0">
                <a:solidFill>
                  <a:srgbClr val="000000"/>
                </a:solidFill>
              </a:rPr>
              <a:t>，</a:t>
            </a:r>
            <a:r>
              <a:rPr lang="en-US" altLang="zh-CN" sz="2000" dirty="0">
                <a:solidFill>
                  <a:srgbClr val="000000"/>
                </a:solidFill>
              </a:rPr>
              <a:t>3G</a:t>
            </a:r>
            <a:r>
              <a:rPr lang="zh-CN" altLang="en-US" sz="2000" dirty="0">
                <a:solidFill>
                  <a:srgbClr val="000000"/>
                </a:solidFill>
              </a:rPr>
              <a:t>中使用，命名为</a:t>
            </a:r>
            <a:r>
              <a:rPr lang="en-US" altLang="zh-CN" sz="2000" dirty="0">
                <a:solidFill>
                  <a:srgbClr val="000000"/>
                </a:solidFill>
              </a:rPr>
              <a:t>UEA1</a:t>
            </a:r>
            <a:r>
              <a:rPr lang="zh-CN" altLang="en-US" sz="2000" dirty="0">
                <a:solidFill>
                  <a:srgbClr val="000000"/>
                </a:solidFill>
              </a:rPr>
              <a:t>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3</a:t>
            </a:r>
            <a:r>
              <a:rPr lang="zh-CN" altLang="en-US" sz="2000" dirty="0">
                <a:solidFill>
                  <a:srgbClr val="000000"/>
                </a:solidFill>
              </a:rPr>
              <a:t>）</a:t>
            </a:r>
            <a:r>
              <a:rPr lang="en-US" altLang="zh-CN" sz="2000" dirty="0">
                <a:solidFill>
                  <a:srgbClr val="000000"/>
                </a:solidFill>
              </a:rPr>
              <a:t>SNOW </a:t>
            </a:r>
            <a:r>
              <a:rPr lang="zh-CN" altLang="en-US" sz="2000" dirty="0">
                <a:solidFill>
                  <a:srgbClr val="000000"/>
                </a:solidFill>
              </a:rPr>
              <a:t>算法，</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3G</a:t>
            </a:r>
            <a:r>
              <a:rPr lang="zh-CN" altLang="en-US" sz="2000" dirty="0">
                <a:solidFill>
                  <a:srgbClr val="000000"/>
                </a:solidFill>
              </a:rPr>
              <a:t>命名为</a:t>
            </a:r>
            <a:r>
              <a:rPr lang="en-US" altLang="zh-CN" sz="2000" dirty="0">
                <a:solidFill>
                  <a:srgbClr val="000000"/>
                </a:solidFill>
              </a:rPr>
              <a:t>UEA2</a:t>
            </a:r>
            <a:r>
              <a:rPr lang="zh-CN" altLang="zh-CN" sz="2000" dirty="0">
                <a:solidFill>
                  <a:srgbClr val="000000"/>
                </a:solidFill>
              </a:rPr>
              <a:t>算法，</a:t>
            </a:r>
            <a:r>
              <a:rPr lang="en-US" altLang="zh-CN" sz="2000" dirty="0">
                <a:solidFill>
                  <a:srgbClr val="000000"/>
                </a:solidFill>
              </a:rPr>
              <a:t>4G</a:t>
            </a:r>
            <a:r>
              <a:rPr lang="zh-CN" altLang="en-US" sz="2000" dirty="0">
                <a:solidFill>
                  <a:srgbClr val="000000"/>
                </a:solidFill>
              </a:rPr>
              <a:t>命名为</a:t>
            </a:r>
            <a:r>
              <a:rPr lang="en-US" altLang="zh-CN" sz="2000" dirty="0">
                <a:solidFill>
                  <a:srgbClr val="000000"/>
                </a:solidFill>
              </a:rPr>
              <a:t>EEA1</a:t>
            </a:r>
            <a:r>
              <a:rPr lang="zh-CN" altLang="en-US" sz="2000" dirty="0">
                <a:solidFill>
                  <a:srgbClr val="000000"/>
                </a:solidFill>
              </a:rPr>
              <a:t>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4</a:t>
            </a:r>
            <a:r>
              <a:rPr lang="zh-CN" altLang="en-US" sz="2000" dirty="0">
                <a:solidFill>
                  <a:srgbClr val="000000"/>
                </a:solidFill>
              </a:rPr>
              <a:t>）高级加密标准算法（</a:t>
            </a:r>
            <a:r>
              <a:rPr lang="en-US" altLang="zh-CN" sz="2000" dirty="0">
                <a:solidFill>
                  <a:srgbClr val="000000"/>
                </a:solidFill>
              </a:rPr>
              <a:t>AES</a:t>
            </a:r>
            <a:r>
              <a:rPr lang="zh-CN" altLang="en-US" sz="2000" dirty="0">
                <a:solidFill>
                  <a:srgbClr val="000000"/>
                </a:solidFill>
              </a:rPr>
              <a:t>），</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4G</a:t>
            </a:r>
            <a:r>
              <a:rPr lang="zh-CN" altLang="en-US" sz="2000" dirty="0">
                <a:solidFill>
                  <a:srgbClr val="000000"/>
                </a:solidFill>
              </a:rPr>
              <a:t>命名为</a:t>
            </a:r>
            <a:r>
              <a:rPr lang="en-US" altLang="zh-CN" sz="2000" dirty="0">
                <a:solidFill>
                  <a:srgbClr val="000000"/>
                </a:solidFill>
              </a:rPr>
              <a:t>EEA2</a:t>
            </a:r>
            <a:r>
              <a:rPr lang="zh-CN" altLang="en-US" sz="2000" dirty="0">
                <a:solidFill>
                  <a:srgbClr val="000000"/>
                </a:solidFill>
              </a:rPr>
              <a:t>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5</a:t>
            </a:r>
            <a:r>
              <a:rPr lang="zh-CN" altLang="en-US" sz="2000" dirty="0">
                <a:solidFill>
                  <a:srgbClr val="000000"/>
                </a:solidFill>
              </a:rPr>
              <a:t>）中国的祖冲之算法（</a:t>
            </a:r>
            <a:r>
              <a:rPr lang="en-US" altLang="zh-CN" sz="2000" dirty="0">
                <a:solidFill>
                  <a:srgbClr val="000000"/>
                </a:solidFill>
              </a:rPr>
              <a:t>ZUC</a:t>
            </a:r>
            <a:r>
              <a:rPr lang="zh-CN" altLang="en-US" sz="2000" dirty="0">
                <a:solidFill>
                  <a:srgbClr val="000000"/>
                </a:solidFill>
              </a:rPr>
              <a:t>），</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4G</a:t>
            </a:r>
            <a:r>
              <a:rPr lang="zh-CN" altLang="en-US" sz="2000" dirty="0">
                <a:solidFill>
                  <a:srgbClr val="000000"/>
                </a:solidFill>
              </a:rPr>
              <a:t>命名为</a:t>
            </a:r>
            <a:r>
              <a:rPr lang="en-US" altLang="zh-CN" sz="2000" dirty="0">
                <a:solidFill>
                  <a:srgbClr val="000000"/>
                </a:solidFill>
              </a:rPr>
              <a:t>EEA3</a:t>
            </a:r>
            <a:r>
              <a:rPr lang="zh-CN" altLang="zh-CN" sz="2000" dirty="0">
                <a:solidFill>
                  <a:srgbClr val="000000"/>
                </a:solidFill>
              </a:rPr>
              <a:t>。</a:t>
            </a:r>
            <a:endParaRPr lang="zh-CN" altLang="zh-CN" sz="2000" dirty="0">
              <a:solidFill>
                <a:srgbClr val="0000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 calcmode="lin" valueType="num">
                                      <p:cBhvr additive="base">
                                        <p:cTn id="31"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
                                            <p:txEl>
                                              <p:pRg st="5" end="5"/>
                                            </p:txEl>
                                          </p:spTgt>
                                        </p:tgtEl>
                                        <p:attrNameLst>
                                          <p:attrName>style.visibility</p:attrName>
                                        </p:attrNameLst>
                                      </p:cBhvr>
                                      <p:to>
                                        <p:strVal val="visible"/>
                                      </p:to>
                                    </p:set>
                                    <p:anim calcmode="lin" valueType="num">
                                      <p:cBhvr additive="base">
                                        <p:cTn id="37"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3">
                                            <p:txEl>
                                              <p:pRg st="6" end="6"/>
                                            </p:txEl>
                                          </p:spTgt>
                                        </p:tgtEl>
                                        <p:attrNameLst>
                                          <p:attrName>style.visibility</p:attrName>
                                        </p:attrNameLst>
                                      </p:cBhvr>
                                      <p:to>
                                        <p:strVal val="visible"/>
                                      </p:to>
                                    </p:set>
                                    <p:anim calcmode="lin" valueType="num">
                                      <p:cBhvr additive="base">
                                        <p:cTn id="43" dur="500" fill="hold"/>
                                        <p:tgtEl>
                                          <p:spTgt spid="1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3">
                                            <p:txEl>
                                              <p:pRg st="7" end="7"/>
                                            </p:txEl>
                                          </p:spTgt>
                                        </p:tgtEl>
                                        <p:attrNameLst>
                                          <p:attrName>style.visibility</p:attrName>
                                        </p:attrNameLst>
                                      </p:cBhvr>
                                      <p:to>
                                        <p:strVal val="visible"/>
                                      </p:to>
                                    </p:set>
                                    <p:anim calcmode="lin" valueType="num">
                                      <p:cBhvr additive="base">
                                        <p:cTn id="49" dur="500" fill="hold"/>
                                        <p:tgtEl>
                                          <p:spTgt spid="1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5.7  </a:t>
            </a:r>
            <a:r>
              <a:rPr lang="zh-CN" altLang="zh-CN" sz="3200" dirty="0" smtClean="0">
                <a:solidFill>
                  <a:schemeClr val="bg1"/>
                </a:solidFill>
              </a:rPr>
              <a:t>移动网络安全</a:t>
            </a:r>
            <a:r>
              <a:rPr lang="en-US" altLang="zh-CN" sz="3200" dirty="0" smtClean="0">
                <a:solidFill>
                  <a:schemeClr val="bg1"/>
                </a:solidFill>
              </a:rPr>
              <a:t>    </a:t>
            </a:r>
            <a:endParaRPr kumimoji="0" lang="zh-CN" altLang="en-US" sz="3200" b="1" i="0" u="none" strike="noStrike" kern="0" cap="none" spc="0" normalizeH="0" baseline="0" noProof="0" dirty="0" smtClean="0">
              <a:ln>
                <a:noFill/>
              </a:ln>
              <a:solidFill>
                <a:srgbClr val="C00000"/>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460" y="699770"/>
            <a:ext cx="8646795" cy="3969385"/>
          </a:xfrm>
          <a:prstGeom prst="rect">
            <a:avLst/>
          </a:prstGeom>
          <a:noFill/>
        </p:spPr>
        <p:txBody>
          <a:bodyPr wrap="square" rtlCol="0">
            <a:spAutoFit/>
          </a:bodyPr>
          <a:lstStyle/>
          <a:p>
            <a:pPr>
              <a:lnSpc>
                <a:spcPct val="140000"/>
              </a:lnSpc>
            </a:pPr>
            <a:r>
              <a:rPr lang="en-US" altLang="zh-CN" sz="2000" b="1" dirty="0">
                <a:solidFill>
                  <a:srgbClr val="000000"/>
                </a:solidFill>
              </a:rPr>
              <a:t>3.</a:t>
            </a:r>
            <a:r>
              <a:rPr lang="zh-CN" altLang="zh-CN" sz="2000" b="1" dirty="0">
                <a:solidFill>
                  <a:srgbClr val="000000"/>
                </a:solidFill>
              </a:rPr>
              <a:t> 完整性保护</a:t>
            </a:r>
            <a:endParaRPr lang="zh-CN" altLang="zh-CN" sz="2000" b="1" dirty="0">
              <a:solidFill>
                <a:srgbClr val="000000"/>
              </a:solidFill>
            </a:endParaRPr>
          </a:p>
          <a:p>
            <a:pPr>
              <a:lnSpc>
                <a:spcPct val="140000"/>
              </a:lnSpc>
            </a:pPr>
            <a:r>
              <a:rPr lang="zh-CN" altLang="en-US" sz="2000" dirty="0">
                <a:solidFill>
                  <a:srgbClr val="000000"/>
                </a:solidFill>
              </a:rPr>
              <a:t>完整性保护是确保信息在存储、使用、传输过程上不会被非授权用户篡改，同时还要防止授权用户对系统及信息进行不恰当的篡改，保持信息内、外部表示一致。</a:t>
            </a:r>
            <a:endParaRPr lang="zh-CN" altLang="en-US" sz="2000" dirty="0">
              <a:solidFill>
                <a:srgbClr val="000000"/>
              </a:solidFill>
            </a:endParaRPr>
          </a:p>
          <a:p>
            <a:pPr>
              <a:lnSpc>
                <a:spcPct val="140000"/>
              </a:lnSpc>
            </a:pPr>
            <a:r>
              <a:rPr lang="zh-CN" altLang="en-US" sz="2000" dirty="0">
                <a:solidFill>
                  <a:srgbClr val="000000"/>
                </a:solidFill>
              </a:rPr>
              <a:t>典型完整性算法：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1</a:t>
            </a:r>
            <a:r>
              <a:rPr lang="zh-CN" altLang="en-US" sz="2000" dirty="0">
                <a:solidFill>
                  <a:srgbClr val="000000"/>
                </a:solidFill>
              </a:rPr>
              <a:t>）</a:t>
            </a:r>
            <a:r>
              <a:rPr lang="en-US" altLang="zh-CN" sz="2000" dirty="0">
                <a:solidFill>
                  <a:srgbClr val="000000"/>
                </a:solidFill>
              </a:rPr>
              <a:t>KASUMI</a:t>
            </a:r>
            <a:r>
              <a:rPr lang="zh-CN" altLang="en-US" sz="2000" dirty="0">
                <a:solidFill>
                  <a:srgbClr val="000000"/>
                </a:solidFill>
              </a:rPr>
              <a:t>算法，</a:t>
            </a:r>
            <a:r>
              <a:rPr lang="en-US" altLang="zh-CN" sz="2000" dirty="0">
                <a:solidFill>
                  <a:srgbClr val="000000"/>
                </a:solidFill>
              </a:rPr>
              <a:t>128bit</a:t>
            </a:r>
            <a:r>
              <a:rPr lang="zh-CN" altLang="en-US" sz="2000" dirty="0">
                <a:solidFill>
                  <a:srgbClr val="000000"/>
                </a:solidFill>
              </a:rPr>
              <a:t>，</a:t>
            </a:r>
            <a:r>
              <a:rPr lang="en-US" altLang="zh-CN" sz="2000" dirty="0">
                <a:solidFill>
                  <a:srgbClr val="000000"/>
                </a:solidFill>
              </a:rPr>
              <a:t>3G</a:t>
            </a:r>
            <a:r>
              <a:rPr lang="zh-CN" altLang="en-US" sz="2000" dirty="0">
                <a:solidFill>
                  <a:srgbClr val="000000"/>
                </a:solidFill>
              </a:rPr>
              <a:t>中使用，命名为</a:t>
            </a:r>
            <a:r>
              <a:rPr lang="en-US" altLang="zh-CN" sz="2000" dirty="0">
                <a:solidFill>
                  <a:srgbClr val="000000"/>
                </a:solidFill>
              </a:rPr>
              <a:t>UEA1</a:t>
            </a:r>
            <a:r>
              <a:rPr lang="zh-CN" altLang="en-US" sz="2000" dirty="0">
                <a:solidFill>
                  <a:srgbClr val="000000"/>
                </a:solidFill>
              </a:rPr>
              <a:t>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2</a:t>
            </a:r>
            <a:r>
              <a:rPr lang="zh-CN" altLang="en-US" sz="2000" dirty="0">
                <a:solidFill>
                  <a:srgbClr val="000000"/>
                </a:solidFill>
              </a:rPr>
              <a:t>）</a:t>
            </a:r>
            <a:r>
              <a:rPr lang="en-US" altLang="zh-CN" sz="2000" dirty="0">
                <a:solidFill>
                  <a:srgbClr val="000000"/>
                </a:solidFill>
              </a:rPr>
              <a:t>SNOW </a:t>
            </a:r>
            <a:r>
              <a:rPr lang="zh-CN" altLang="en-US" sz="2000" dirty="0">
                <a:solidFill>
                  <a:srgbClr val="000000"/>
                </a:solidFill>
              </a:rPr>
              <a:t>算法，</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3G</a:t>
            </a:r>
            <a:r>
              <a:rPr lang="zh-CN" altLang="en-US" sz="2000" dirty="0">
                <a:solidFill>
                  <a:srgbClr val="000000"/>
                </a:solidFill>
              </a:rPr>
              <a:t>命名为</a:t>
            </a:r>
            <a:r>
              <a:rPr lang="en-US" altLang="zh-CN" sz="2000" dirty="0">
                <a:solidFill>
                  <a:srgbClr val="000000"/>
                </a:solidFill>
              </a:rPr>
              <a:t>UEA2</a:t>
            </a:r>
            <a:r>
              <a:rPr lang="zh-CN" altLang="zh-CN" sz="2000" dirty="0">
                <a:solidFill>
                  <a:srgbClr val="000000"/>
                </a:solidFill>
              </a:rPr>
              <a:t>算法，</a:t>
            </a:r>
            <a:r>
              <a:rPr lang="en-US" altLang="zh-CN" sz="2000" dirty="0">
                <a:solidFill>
                  <a:srgbClr val="000000"/>
                </a:solidFill>
              </a:rPr>
              <a:t>4G</a:t>
            </a:r>
            <a:r>
              <a:rPr lang="zh-CN" altLang="en-US" sz="2000" dirty="0">
                <a:solidFill>
                  <a:srgbClr val="000000"/>
                </a:solidFill>
              </a:rPr>
              <a:t>命名为</a:t>
            </a:r>
            <a:r>
              <a:rPr lang="en-US" altLang="zh-CN" sz="2000" dirty="0">
                <a:solidFill>
                  <a:srgbClr val="000000"/>
                </a:solidFill>
              </a:rPr>
              <a:t>EEA1</a:t>
            </a:r>
            <a:r>
              <a:rPr lang="zh-CN" altLang="en-US" sz="2000" dirty="0">
                <a:solidFill>
                  <a:srgbClr val="000000"/>
                </a:solidFill>
              </a:rPr>
              <a:t>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3</a:t>
            </a:r>
            <a:r>
              <a:rPr lang="zh-CN" altLang="en-US" sz="2000" dirty="0">
                <a:solidFill>
                  <a:srgbClr val="000000"/>
                </a:solidFill>
              </a:rPr>
              <a:t>）</a:t>
            </a:r>
            <a:r>
              <a:rPr lang="en-US" altLang="zh-CN" sz="2000" dirty="0">
                <a:solidFill>
                  <a:srgbClr val="000000"/>
                </a:solidFill>
              </a:rPr>
              <a:t>AES</a:t>
            </a:r>
            <a:r>
              <a:rPr lang="zh-CN" altLang="en-US" sz="2000" dirty="0">
                <a:solidFill>
                  <a:srgbClr val="000000"/>
                </a:solidFill>
              </a:rPr>
              <a:t>算法，</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4G</a:t>
            </a:r>
            <a:r>
              <a:rPr lang="zh-CN" altLang="en-US" sz="2000" dirty="0">
                <a:solidFill>
                  <a:srgbClr val="000000"/>
                </a:solidFill>
              </a:rPr>
              <a:t>命名为</a:t>
            </a:r>
            <a:r>
              <a:rPr lang="en-US" altLang="zh-CN" sz="2000" dirty="0">
                <a:solidFill>
                  <a:srgbClr val="000000"/>
                </a:solidFill>
              </a:rPr>
              <a:t>EEA2</a:t>
            </a:r>
            <a:r>
              <a:rPr lang="zh-CN" altLang="en-US" sz="2000" dirty="0">
                <a:solidFill>
                  <a:srgbClr val="000000"/>
                </a:solidFill>
              </a:rPr>
              <a:t>算法；</a:t>
            </a:r>
            <a:endParaRPr lang="zh-CN" altLang="en-US" sz="2000" dirty="0">
              <a:solidFill>
                <a:srgbClr val="000000"/>
              </a:solidFill>
            </a:endParaRPr>
          </a:p>
          <a:p>
            <a:pPr>
              <a:lnSpc>
                <a:spcPct val="140000"/>
              </a:lnSpc>
            </a:pPr>
            <a:r>
              <a:rPr lang="zh-CN" altLang="en-US" sz="2000" dirty="0">
                <a:solidFill>
                  <a:srgbClr val="000000"/>
                </a:solidFill>
              </a:rPr>
              <a:t>（</a:t>
            </a:r>
            <a:r>
              <a:rPr lang="en-US" altLang="zh-CN" sz="2000" dirty="0">
                <a:solidFill>
                  <a:srgbClr val="000000"/>
                </a:solidFill>
              </a:rPr>
              <a:t>4</a:t>
            </a:r>
            <a:r>
              <a:rPr lang="zh-CN" altLang="en-US" sz="2000" dirty="0">
                <a:solidFill>
                  <a:srgbClr val="000000"/>
                </a:solidFill>
              </a:rPr>
              <a:t>）祖冲之算法（</a:t>
            </a:r>
            <a:r>
              <a:rPr lang="en-US" altLang="zh-CN" sz="2000" dirty="0">
                <a:solidFill>
                  <a:srgbClr val="000000"/>
                </a:solidFill>
              </a:rPr>
              <a:t>ZUC</a:t>
            </a:r>
            <a:r>
              <a:rPr lang="zh-CN" altLang="en-US" sz="2000" dirty="0">
                <a:solidFill>
                  <a:srgbClr val="000000"/>
                </a:solidFill>
              </a:rPr>
              <a:t>），</a:t>
            </a:r>
            <a:r>
              <a:rPr lang="en-US" altLang="zh-CN" sz="2000" dirty="0">
                <a:solidFill>
                  <a:srgbClr val="000000"/>
                </a:solidFill>
              </a:rPr>
              <a:t>128bit</a:t>
            </a:r>
            <a:r>
              <a:rPr lang="zh-CN" altLang="zh-CN" sz="2000" dirty="0">
                <a:solidFill>
                  <a:srgbClr val="000000"/>
                </a:solidFill>
              </a:rPr>
              <a:t>，</a:t>
            </a:r>
            <a:r>
              <a:rPr lang="en-US" altLang="zh-CN" sz="2000" dirty="0">
                <a:solidFill>
                  <a:srgbClr val="000000"/>
                </a:solidFill>
              </a:rPr>
              <a:t>4G</a:t>
            </a:r>
            <a:r>
              <a:rPr lang="zh-CN" altLang="en-US" sz="2000" dirty="0">
                <a:solidFill>
                  <a:srgbClr val="000000"/>
                </a:solidFill>
              </a:rPr>
              <a:t>命名为</a:t>
            </a:r>
            <a:r>
              <a:rPr lang="en-US" altLang="zh-CN" sz="2000" dirty="0">
                <a:solidFill>
                  <a:srgbClr val="000000"/>
                </a:solidFill>
              </a:rPr>
              <a:t>EEA3</a:t>
            </a:r>
            <a:r>
              <a:rPr lang="zh-CN" altLang="zh-CN" sz="2000" dirty="0">
                <a:solidFill>
                  <a:srgbClr val="000000"/>
                </a:solidFill>
              </a:rPr>
              <a:t>。</a:t>
            </a:r>
            <a:endParaRPr lang="zh-CN" altLang="zh-CN" sz="2000" dirty="0">
              <a:solidFill>
                <a:srgbClr val="0000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xEl>
                                              <p:pRg st="4" end="4"/>
                                            </p:txEl>
                                          </p:spTgt>
                                        </p:tgtEl>
                                        <p:attrNameLst>
                                          <p:attrName>style.visibility</p:attrName>
                                        </p:attrNameLst>
                                      </p:cBhvr>
                                      <p:to>
                                        <p:strVal val="visible"/>
                                      </p:to>
                                    </p:set>
                                    <p:anim calcmode="lin" valueType="num">
                                      <p:cBhvr additive="base">
                                        <p:cTn id="31"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xEl>
                                              <p:pRg st="5" end="5"/>
                                            </p:txEl>
                                          </p:spTgt>
                                        </p:tgtEl>
                                        <p:attrNameLst>
                                          <p:attrName>style.visibility</p:attrName>
                                        </p:attrNameLst>
                                      </p:cBhvr>
                                      <p:to>
                                        <p:strVal val="visible"/>
                                      </p:to>
                                    </p:set>
                                    <p:anim calcmode="lin" valueType="num">
                                      <p:cBhvr additive="base">
                                        <p:cTn id="37" dur="500" fill="hold"/>
                                        <p:tgtEl>
                                          <p:spTgt spid="1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xEl>
                                              <p:pRg st="6" end="6"/>
                                            </p:txEl>
                                          </p:spTgt>
                                        </p:tgtEl>
                                        <p:attrNameLst>
                                          <p:attrName>style.visibility</p:attrName>
                                        </p:attrNameLst>
                                      </p:cBhvr>
                                      <p:to>
                                        <p:strVal val="visible"/>
                                      </p:to>
                                    </p:set>
                                    <p:anim calcmode="lin" valueType="num">
                                      <p:cBhvr additive="base">
                                        <p:cTn id="43" dur="500" fill="hold"/>
                                        <p:tgtEl>
                                          <p:spTgt spid="1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1"/>
          <p:cNvSpPr>
            <a:spLocks noGrp="1"/>
          </p:cNvSpPr>
          <p:nvPr>
            <p:ph type="ftr" sz="quarter" idx="10"/>
          </p:nvPr>
        </p:nvSpPr>
        <p:spPr/>
        <p:txBody>
          <a:bodyPr/>
          <a:lstStyle/>
          <a:p>
            <a:pPr>
              <a:defRPr/>
            </a:pPr>
            <a:r>
              <a:rPr lang="en-US" altLang="zh-CN"/>
              <a:t>Principle of Mobile Communication</a:t>
            </a:r>
            <a:endParaRPr lang="en-US" altLang="zh-CN"/>
          </a:p>
        </p:txBody>
      </p:sp>
      <p:sp>
        <p:nvSpPr>
          <p:cNvPr id="4" name="页脚占位符 3"/>
          <p:cNvSpPr txBox="1">
            <a:spLocks noGrp="1"/>
          </p:cNvSpPr>
          <p:nvPr/>
        </p:nvSpPr>
        <p:spPr bwMode="auto">
          <a:xfrm>
            <a:off x="1331914" y="4869657"/>
            <a:ext cx="4135437" cy="240506"/>
          </a:xfrm>
          <a:prstGeom prst="rect">
            <a:avLst/>
          </a:prstGeom>
          <a:noFill/>
          <a:ln>
            <a:miter lim="800000"/>
          </a:ln>
        </p:spPr>
        <p:txBody>
          <a:bodyPr/>
          <a:lstStyle/>
          <a:p>
            <a:pPr algn="ctr">
              <a:defRPr/>
            </a:pPr>
            <a:r>
              <a:rPr lang="en-US" altLang="zh-CN" sz="1200" b="1" i="1">
                <a:solidFill>
                  <a:schemeClr val="bg1"/>
                </a:solidFill>
                <a:latin typeface="+mn-lt"/>
              </a:rPr>
              <a:t>Mobile Communication Theory</a:t>
            </a:r>
            <a:endParaRPr lang="en-US" altLang="zh-CN" sz="1200" b="1" i="1">
              <a:solidFill>
                <a:schemeClr val="bg1"/>
              </a:solidFill>
              <a:latin typeface="+mn-lt"/>
            </a:endParaRPr>
          </a:p>
        </p:txBody>
      </p:sp>
      <p:sp>
        <p:nvSpPr>
          <p:cNvPr id="46086" name="Rectangle 5"/>
          <p:cNvSpPr>
            <a:spLocks noChangeArrowheads="1"/>
          </p:cNvSpPr>
          <p:nvPr/>
        </p:nvSpPr>
        <p:spPr bwMode="auto">
          <a:xfrm>
            <a:off x="0" y="1372672"/>
            <a:ext cx="184731" cy="369332"/>
          </a:xfrm>
          <a:prstGeom prst="rect">
            <a:avLst/>
          </a:prstGeom>
          <a:noFill/>
          <a:ln w="9525">
            <a:noFill/>
            <a:miter lim="800000"/>
          </a:ln>
        </p:spPr>
        <p:txBody>
          <a:bodyPr wrap="none" anchor="ctr">
            <a:spAutoFit/>
          </a:bodyPr>
          <a:lstStyle/>
          <a:p>
            <a:endParaRPr lang="zh-CN" altLang="en-US"/>
          </a:p>
        </p:txBody>
      </p:sp>
      <p:sp>
        <p:nvSpPr>
          <p:cNvPr id="46087" name="Rectangle 8"/>
          <p:cNvSpPr>
            <a:spLocks noChangeArrowheads="1"/>
          </p:cNvSpPr>
          <p:nvPr/>
        </p:nvSpPr>
        <p:spPr bwMode="auto">
          <a:xfrm>
            <a:off x="0" y="1644134"/>
            <a:ext cx="184731" cy="369332"/>
          </a:xfrm>
          <a:prstGeom prst="rect">
            <a:avLst/>
          </a:prstGeom>
          <a:noFill/>
          <a:ln w="9525">
            <a:noFill/>
            <a:miter lim="800000"/>
          </a:ln>
        </p:spPr>
        <p:txBody>
          <a:bodyPr wrap="none" anchor="ctr">
            <a:spAutoFit/>
          </a:bodyPr>
          <a:lstStyle/>
          <a:p>
            <a:endParaRPr lang="zh-CN" altLang="en-US"/>
          </a:p>
        </p:txBody>
      </p:sp>
      <p:sp>
        <p:nvSpPr>
          <p:cNvPr id="46089" name="Rectangle 4"/>
          <p:cNvSpPr>
            <a:spLocks noChangeArrowheads="1"/>
          </p:cNvSpPr>
          <p:nvPr/>
        </p:nvSpPr>
        <p:spPr bwMode="auto">
          <a:xfrm>
            <a:off x="0" y="-184666"/>
            <a:ext cx="184731" cy="369332"/>
          </a:xfrm>
          <a:prstGeom prst="rect">
            <a:avLst/>
          </a:prstGeom>
          <a:noFill/>
          <a:ln w="9525">
            <a:noFill/>
            <a:miter lim="800000"/>
          </a:ln>
          <a:effectLst>
            <a:prstShdw prst="shdw12">
              <a:schemeClr val="bg2">
                <a:alpha val="50000"/>
              </a:schemeClr>
            </a:prstShdw>
          </a:effectLst>
        </p:spPr>
        <p:txBody>
          <a:bodyPr wrap="none" anchor="ctr">
            <a:spAutoFit/>
          </a:bodyPr>
          <a:lstStyle/>
          <a:p>
            <a:endParaRPr lang="zh-CN" altLang="en-US"/>
          </a:p>
        </p:txBody>
      </p:sp>
      <p:pic>
        <p:nvPicPr>
          <p:cNvPr id="10" name="图片 9" descr="5bc6fc52-b49d-4298-b410-192e1f0ef3a5.gif"/>
          <p:cNvPicPr>
            <a:picLocks noChangeAspect="1"/>
          </p:cNvPicPr>
          <p:nvPr/>
        </p:nvPicPr>
        <p:blipFill>
          <a:blip r:embed="rId1" cstate="print"/>
          <a:srcRect l="36267" t="33821" r="11138" b="38327"/>
          <a:stretch>
            <a:fillRect/>
          </a:stretch>
        </p:blipFill>
        <p:spPr>
          <a:xfrm>
            <a:off x="7308304" y="4495428"/>
            <a:ext cx="1835696" cy="648072"/>
          </a:xfrm>
          <a:prstGeom prst="rect">
            <a:avLst/>
          </a:prstGeom>
        </p:spPr>
      </p:pic>
      <p:sp>
        <p:nvSpPr>
          <p:cNvPr id="11" name="Rectangle 2"/>
          <p:cNvSpPr txBox="1"/>
          <p:nvPr/>
        </p:nvSpPr>
        <p:spPr>
          <a:xfrm>
            <a:off x="900311" y="141710"/>
            <a:ext cx="6768033" cy="422745"/>
          </a:xfrm>
          <a:prstGeom prst="rect">
            <a:avLst/>
          </a:prstGeom>
          <a:noFill/>
          <a:ln w="9525">
            <a:noFill/>
          </a:ln>
        </p:spPr>
        <p:txBody>
          <a:bodyPr vert="horz" wrap="square" lIns="68591" tIns="34295" rIns="68591" bIns="34295" anchor="ctr"/>
          <a:lstStyle/>
          <a:p>
            <a:pPr lvl="0" eaLnBrk="0" hangingPunct="0"/>
            <a:r>
              <a:rPr lang="en-US" altLang="zh-CN" sz="3200" dirty="0" smtClean="0">
                <a:solidFill>
                  <a:schemeClr val="bg1"/>
                </a:solidFill>
              </a:rPr>
              <a:t>5.7  </a:t>
            </a:r>
            <a:r>
              <a:rPr lang="zh-CN" altLang="zh-CN" sz="3200" dirty="0" smtClean="0">
                <a:solidFill>
                  <a:schemeClr val="bg1"/>
                </a:solidFill>
              </a:rPr>
              <a:t>移动网络安全</a:t>
            </a:r>
            <a:r>
              <a:rPr lang="en-US" altLang="zh-CN" sz="3200" dirty="0" smtClean="0">
                <a:solidFill>
                  <a:schemeClr val="bg1"/>
                </a:solidFill>
              </a:rPr>
              <a:t>    </a:t>
            </a:r>
            <a:endParaRPr kumimoji="0" lang="zh-CN" altLang="en-US" sz="3200" b="1" i="0" u="none" strike="noStrike" kern="0" cap="none" spc="0" normalizeH="0" baseline="0" noProof="0" dirty="0" smtClean="0">
              <a:ln>
                <a:noFill/>
              </a:ln>
              <a:solidFill>
                <a:srgbClr val="C00000"/>
              </a:solidFill>
              <a:effectLst/>
              <a:uLnTx/>
              <a:uFillTx/>
              <a:latin typeface="+mj-lt"/>
              <a:ea typeface="+mj-ea"/>
              <a:cs typeface="+mj-cs"/>
            </a:endParaRPr>
          </a:p>
        </p:txBody>
      </p:sp>
      <p:pic>
        <p:nvPicPr>
          <p:cNvPr id="12" name="图片 11" descr="5bc6fc52-b49d-4298-b410-192e1f0ef3a5.gif"/>
          <p:cNvPicPr>
            <a:picLocks noChangeAspect="1"/>
          </p:cNvPicPr>
          <p:nvPr/>
        </p:nvPicPr>
        <p:blipFill>
          <a:blip r:embed="rId1" cstate="print"/>
          <a:srcRect l="14589" t="33821" r="63763" b="38327"/>
          <a:stretch>
            <a:fillRect/>
          </a:stretch>
        </p:blipFill>
        <p:spPr>
          <a:xfrm>
            <a:off x="0" y="0"/>
            <a:ext cx="755576" cy="648072"/>
          </a:xfrm>
          <a:prstGeom prst="rect">
            <a:avLst/>
          </a:prstGeom>
        </p:spPr>
      </p:pic>
      <p:sp>
        <p:nvSpPr>
          <p:cNvPr id="13" name="TextBox 12"/>
          <p:cNvSpPr txBox="1"/>
          <p:nvPr/>
        </p:nvSpPr>
        <p:spPr>
          <a:xfrm>
            <a:off x="251460" y="699770"/>
            <a:ext cx="8646795" cy="3969385"/>
          </a:xfrm>
          <a:prstGeom prst="rect">
            <a:avLst/>
          </a:prstGeom>
          <a:noFill/>
        </p:spPr>
        <p:txBody>
          <a:bodyPr wrap="square" rtlCol="0">
            <a:spAutoFit/>
          </a:bodyPr>
          <a:lstStyle/>
          <a:p>
            <a:pPr>
              <a:lnSpc>
                <a:spcPct val="140000"/>
              </a:lnSpc>
            </a:pPr>
            <a:r>
              <a:rPr lang="en-US" altLang="zh-CN" sz="2000" b="1" dirty="0">
                <a:solidFill>
                  <a:srgbClr val="000000"/>
                </a:solidFill>
              </a:rPr>
              <a:t>4.</a:t>
            </a:r>
            <a:r>
              <a:rPr lang="zh-CN" altLang="zh-CN" sz="2000" b="1" dirty="0">
                <a:solidFill>
                  <a:srgbClr val="000000"/>
                </a:solidFill>
              </a:rPr>
              <a:t> 用户</a:t>
            </a:r>
            <a:r>
              <a:rPr lang="en-US" altLang="zh-CN" sz="2000" b="1" dirty="0">
                <a:solidFill>
                  <a:srgbClr val="000000"/>
                </a:solidFill>
              </a:rPr>
              <a:t>ID</a:t>
            </a:r>
            <a:r>
              <a:rPr lang="zh-CN" altLang="en-US" sz="2000" b="1" dirty="0">
                <a:solidFill>
                  <a:srgbClr val="000000"/>
                </a:solidFill>
              </a:rPr>
              <a:t>隐私保护</a:t>
            </a:r>
            <a:endParaRPr lang="zh-CN" altLang="zh-CN" sz="2000" b="1" dirty="0">
              <a:solidFill>
                <a:srgbClr val="000000"/>
              </a:solidFill>
            </a:endParaRPr>
          </a:p>
          <a:p>
            <a:pPr>
              <a:lnSpc>
                <a:spcPct val="140000"/>
              </a:lnSpc>
            </a:pPr>
            <a:r>
              <a:rPr lang="zh-CN" sz="2000" dirty="0">
                <a:solidFill>
                  <a:srgbClr val="000000"/>
                </a:solidFill>
              </a:rPr>
              <a:t>用户身份信息的隐私保护，从</a:t>
            </a:r>
            <a:r>
              <a:rPr lang="en-US" altLang="zh-CN" sz="2000" dirty="0">
                <a:solidFill>
                  <a:srgbClr val="000000"/>
                </a:solidFill>
              </a:rPr>
              <a:t>2G</a:t>
            </a:r>
            <a:r>
              <a:rPr lang="zh-CN" altLang="en-US" sz="2000" dirty="0">
                <a:solidFill>
                  <a:srgbClr val="000000"/>
                </a:solidFill>
              </a:rPr>
              <a:t>开始就有设计上的考虑。每一个</a:t>
            </a:r>
            <a:r>
              <a:rPr lang="en-US" altLang="zh-CN" sz="2000" dirty="0">
                <a:solidFill>
                  <a:srgbClr val="000000"/>
                </a:solidFill>
              </a:rPr>
              <a:t>SIM</a:t>
            </a:r>
            <a:r>
              <a:rPr lang="zh-CN" altLang="en-US" sz="2000" dirty="0">
                <a:solidFill>
                  <a:srgbClr val="000000"/>
                </a:solidFill>
              </a:rPr>
              <a:t>卡启用都会绑定全球唯一的国际移动用户识别号（</a:t>
            </a:r>
            <a:r>
              <a:rPr lang="en-US" altLang="zh-CN" sz="2000" dirty="0">
                <a:solidFill>
                  <a:srgbClr val="000000"/>
                </a:solidFill>
              </a:rPr>
              <a:t>International Mobile Subscriber Identity ,IMSI</a:t>
            </a:r>
            <a:r>
              <a:rPr lang="zh-CN" altLang="en-US" sz="2000" dirty="0">
                <a:solidFill>
                  <a:srgbClr val="000000"/>
                </a:solidFill>
              </a:rPr>
              <a:t>），同时，网络端的</a:t>
            </a:r>
            <a:r>
              <a:rPr lang="en-US" altLang="zh-CN" sz="2000" dirty="0">
                <a:solidFill>
                  <a:srgbClr val="000000"/>
                </a:solidFill>
              </a:rPr>
              <a:t>HLR</a:t>
            </a:r>
            <a:r>
              <a:rPr lang="zh-CN" altLang="en-US" sz="2000" dirty="0">
                <a:solidFill>
                  <a:srgbClr val="000000"/>
                </a:solidFill>
              </a:rPr>
              <a:t>（归属位置寄存器）（或拜访位置寄存器，</a:t>
            </a:r>
            <a:r>
              <a:rPr lang="en-US" altLang="zh-CN" sz="2000" dirty="0">
                <a:solidFill>
                  <a:srgbClr val="000000"/>
                </a:solidFill>
              </a:rPr>
              <a:t>VLR</a:t>
            </a:r>
            <a:r>
              <a:rPr lang="zh-CN" altLang="en-US" sz="2000" dirty="0">
                <a:solidFill>
                  <a:srgbClr val="000000"/>
                </a:solidFill>
              </a:rPr>
              <a:t>）也会有保存。但</a:t>
            </a:r>
            <a:r>
              <a:rPr lang="en-US" altLang="zh-CN" sz="2000" dirty="0">
                <a:solidFill>
                  <a:srgbClr val="000000"/>
                </a:solidFill>
              </a:rPr>
              <a:t>IMSI</a:t>
            </a:r>
            <a:r>
              <a:rPr lang="zh-CN" altLang="en-US" sz="2000" dirty="0">
                <a:solidFill>
                  <a:srgbClr val="000000"/>
                </a:solidFill>
              </a:rPr>
              <a:t>是可以识别用户身份的唯一信息，在网络中传输需要加以保护，防止泄露后被恶意定位或跟踪。因此，２</a:t>
            </a:r>
            <a:r>
              <a:rPr lang="en-US" altLang="zh-CN" sz="2000" dirty="0">
                <a:solidFill>
                  <a:srgbClr val="000000"/>
                </a:solidFill>
              </a:rPr>
              <a:t>G</a:t>
            </a:r>
            <a:r>
              <a:rPr lang="zh-CN" altLang="en-US" sz="2000" dirty="0">
                <a:solidFill>
                  <a:srgbClr val="000000"/>
                </a:solidFill>
              </a:rPr>
              <a:t>系统引入临时移动用户识别号（</a:t>
            </a:r>
            <a:r>
              <a:rPr lang="en-US" altLang="zh-CN" sz="2000" dirty="0">
                <a:solidFill>
                  <a:srgbClr val="000000"/>
                </a:solidFill>
              </a:rPr>
              <a:t>TMSI</a:t>
            </a:r>
            <a:r>
              <a:rPr lang="zh-CN" altLang="en-US" sz="2000" dirty="0">
                <a:solidFill>
                  <a:srgbClr val="000000"/>
                </a:solidFill>
              </a:rPr>
              <a:t>），当用户接入网络通过认证后，</a:t>
            </a:r>
            <a:r>
              <a:rPr lang="en-US" altLang="zh-CN" sz="2000" dirty="0">
                <a:solidFill>
                  <a:srgbClr val="000000"/>
                </a:solidFill>
              </a:rPr>
              <a:t>VLR</a:t>
            </a:r>
            <a:r>
              <a:rPr lang="zh-CN" altLang="en-US" sz="2000" dirty="0">
                <a:solidFill>
                  <a:srgbClr val="000000"/>
                </a:solidFill>
              </a:rPr>
              <a:t>会分配给用户一个</a:t>
            </a:r>
            <a:r>
              <a:rPr lang="en-US" altLang="zh-CN" sz="2000" dirty="0">
                <a:solidFill>
                  <a:srgbClr val="000000"/>
                </a:solidFill>
              </a:rPr>
              <a:t>TMSI</a:t>
            </a:r>
            <a:r>
              <a:rPr lang="zh-CN" altLang="en-US" sz="2000" dirty="0">
                <a:solidFill>
                  <a:srgbClr val="000000"/>
                </a:solidFill>
              </a:rPr>
              <a:t>，并在网络协议交互中尽量使用</a:t>
            </a:r>
            <a:r>
              <a:rPr lang="en-US" altLang="zh-CN" sz="2000" dirty="0">
                <a:solidFill>
                  <a:srgbClr val="000000"/>
                </a:solidFill>
              </a:rPr>
              <a:t>TMSI</a:t>
            </a:r>
            <a:r>
              <a:rPr lang="zh-CN" altLang="en-US" sz="2000" dirty="0">
                <a:solidFill>
                  <a:srgbClr val="000000"/>
                </a:solidFill>
              </a:rPr>
              <a:t>来代替</a:t>
            </a:r>
            <a:r>
              <a:rPr lang="en-US" altLang="zh-CN" sz="2000" dirty="0">
                <a:solidFill>
                  <a:srgbClr val="000000"/>
                </a:solidFill>
              </a:rPr>
              <a:t>IMSI</a:t>
            </a:r>
            <a:r>
              <a:rPr lang="zh-CN" altLang="en-US" sz="2000" dirty="0">
                <a:solidFill>
                  <a:srgbClr val="000000"/>
                </a:solidFill>
              </a:rPr>
              <a:t>，且</a:t>
            </a:r>
            <a:r>
              <a:rPr lang="en-US" altLang="zh-CN" sz="2000" dirty="0">
                <a:solidFill>
                  <a:srgbClr val="000000"/>
                </a:solidFill>
              </a:rPr>
              <a:t>TMSI</a:t>
            </a:r>
            <a:r>
              <a:rPr lang="zh-CN" altLang="en-US" sz="2000" dirty="0">
                <a:solidFill>
                  <a:srgbClr val="000000"/>
                </a:solidFill>
              </a:rPr>
              <a:t>定期更新。</a:t>
            </a:r>
            <a:endParaRPr lang="zh-CN" altLang="en-US" sz="2000" dirty="0">
              <a:solidFill>
                <a:srgbClr val="000000"/>
              </a:solidFil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subTitle" idx="4294967295"/>
          </p:nvPr>
        </p:nvSpPr>
        <p:spPr bwMode="white">
          <a:xfrm>
            <a:off x="1547813" y="1491854"/>
            <a:ext cx="3835400" cy="310753"/>
          </a:xfrm>
          <a:solidFill>
            <a:srgbClr val="FFFFFF"/>
          </a:solidFill>
        </p:spPr>
        <p:txBody>
          <a:bodyPr/>
          <a:lstStyle/>
          <a:p>
            <a:pPr marL="0" indent="0" algn="dist" eaLnBrk="1" hangingPunct="1">
              <a:lnSpc>
                <a:spcPct val="80000"/>
              </a:lnSpc>
              <a:buFont typeface="Wingdings" panose="05000000000000000000" pitchFamily="2" charset="2"/>
              <a:buNone/>
            </a:pPr>
            <a:r>
              <a:rPr lang="en-US" altLang="zh-CN" sz="1400" smtClean="0">
                <a:solidFill>
                  <a:schemeClr val="bg1"/>
                </a:solidFill>
                <a:latin typeface="Arial" panose="020B0604020202020204" pitchFamily="34" charset="0"/>
              </a:rPr>
              <a:t>Wireless Supports People Navigating</a:t>
            </a:r>
            <a:endParaRPr lang="en-US" altLang="zh-CN" sz="1400" smtClean="0">
              <a:solidFill>
                <a:schemeClr val="bg1"/>
              </a:solidFill>
              <a:latin typeface="Arial" panose="020B0604020202020204" pitchFamily="34" charset="0"/>
            </a:endParaRPr>
          </a:p>
        </p:txBody>
      </p:sp>
      <p:sp>
        <p:nvSpPr>
          <p:cNvPr id="748547" name="WordArt 3"/>
          <p:cNvSpPr>
            <a:spLocks noChangeArrowheads="1" noChangeShapeType="1" noTextEdit="1"/>
          </p:cNvSpPr>
          <p:nvPr/>
        </p:nvSpPr>
        <p:spPr bwMode="gray">
          <a:xfrm>
            <a:off x="1403351" y="2409825"/>
            <a:ext cx="4105275" cy="756047"/>
          </a:xfrm>
          <a:prstGeom prst="rect">
            <a:avLst/>
          </a:prstGeom>
        </p:spPr>
        <p:txBody>
          <a:bodyPr wrap="none" fromWordArt="1">
            <a:prstTxWarp prst="textDeflate">
              <a:avLst>
                <a:gd name="adj" fmla="val 23620"/>
              </a:avLst>
            </a:prstTxWarp>
          </a:bodyPr>
          <a:lstStyle/>
          <a:p>
            <a:r>
              <a:rPr lang="en-US" altLang="zh-CN" sz="3600" kern="10">
                <a:ln w="19050">
                  <a:solidFill>
                    <a:srgbClr val="FFFFFF"/>
                  </a:solidFill>
                  <a:round/>
                </a:ln>
                <a:gradFill rotWithShape="1">
                  <a:gsLst>
                    <a:gs pos="0">
                      <a:schemeClr val="tx2"/>
                    </a:gs>
                    <a:gs pos="100000">
                      <a:schemeClr val="accent1"/>
                    </a:gs>
                  </a:gsLst>
                  <a:lin ang="0" scaled="1"/>
                </a:gradFill>
                <a:effectLst>
                  <a:outerShdw dist="71842" dir="2700000" algn="ctr" rotWithShape="0">
                    <a:schemeClr val="tx1">
                      <a:alpha val="50000"/>
                    </a:schemeClr>
                  </a:outerShdw>
                </a:effectLst>
                <a:latin typeface="Arial" panose="020B0604020202020204"/>
                <a:cs typeface="Arial" panose="020B0604020202020204"/>
              </a:rPr>
              <a:t>Thank You !</a:t>
            </a:r>
            <a:endParaRPr lang="zh-CN" altLang="en-US" sz="3600" kern="10">
              <a:ln w="19050">
                <a:solidFill>
                  <a:srgbClr val="FFFFFF"/>
                </a:solidFill>
                <a:round/>
              </a:ln>
              <a:gradFill rotWithShape="1">
                <a:gsLst>
                  <a:gs pos="0">
                    <a:schemeClr val="tx2"/>
                  </a:gs>
                  <a:gs pos="100000">
                    <a:schemeClr val="accent1"/>
                  </a:gs>
                </a:gsLst>
                <a:lin ang="0" scaled="1"/>
              </a:gradFill>
              <a:effectLst>
                <a:outerShdw dist="71842" dir="2700000" algn="ctr" rotWithShape="0">
                  <a:schemeClr val="tx1">
                    <a:alpha val="50000"/>
                  </a:schemeClr>
                </a:outerShdw>
              </a:effectLst>
              <a:latin typeface="Arial" panose="020B0604020202020204"/>
              <a:cs typeface="Arial" panose="020B0604020202020204"/>
            </a:endParaRPr>
          </a:p>
        </p:txBody>
      </p:sp>
      <p:pic>
        <p:nvPicPr>
          <p:cNvPr id="5" name="图片 4" descr="5bc6fc52-b49d-4298-b410-192e1f0ef3a5.gif"/>
          <p:cNvPicPr>
            <a:picLocks noChangeAspect="1"/>
          </p:cNvPicPr>
          <p:nvPr/>
        </p:nvPicPr>
        <p:blipFill>
          <a:blip r:embed="rId1" cstate="print"/>
          <a:srcRect l="14589" t="33821" r="63763" b="38327"/>
          <a:stretch>
            <a:fillRect/>
          </a:stretch>
        </p:blipFill>
        <p:spPr>
          <a:xfrm>
            <a:off x="251520" y="339502"/>
            <a:ext cx="755576" cy="648072"/>
          </a:xfrm>
          <a:prstGeom prst="rect">
            <a:avLst/>
          </a:prstGeo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48547"/>
                                        </p:tgtEl>
                                        <p:attrNameLst>
                                          <p:attrName>style.visibility</p:attrName>
                                        </p:attrNameLst>
                                      </p:cBhvr>
                                      <p:to>
                                        <p:strVal val="visible"/>
                                      </p:to>
                                    </p:set>
                                    <p:anim calcmode="lin" valueType="num">
                                      <p:cBhvr>
                                        <p:cTn id="7" dur="500" fill="hold"/>
                                        <p:tgtEl>
                                          <p:spTgt spid="748547"/>
                                        </p:tgtEl>
                                        <p:attrNameLst>
                                          <p:attrName>ppt_w</p:attrName>
                                        </p:attrNameLst>
                                      </p:cBhvr>
                                      <p:tavLst>
                                        <p:tav tm="0">
                                          <p:val>
                                            <p:fltVal val="0"/>
                                          </p:val>
                                        </p:tav>
                                        <p:tav tm="100000">
                                          <p:val>
                                            <p:strVal val="#ppt_w"/>
                                          </p:val>
                                        </p:tav>
                                      </p:tavLst>
                                    </p:anim>
                                    <p:anim calcmode="lin" valueType="num">
                                      <p:cBhvr>
                                        <p:cTn id="8" dur="500" fill="hold"/>
                                        <p:tgtEl>
                                          <p:spTgt spid="748547"/>
                                        </p:tgtEl>
                                        <p:attrNameLst>
                                          <p:attrName>ppt_h</p:attrName>
                                        </p:attrNameLst>
                                      </p:cBhvr>
                                      <p:tavLst>
                                        <p:tav tm="0">
                                          <p:val>
                                            <p:fltVal val="0"/>
                                          </p:val>
                                        </p:tav>
                                        <p:tav tm="100000">
                                          <p:val>
                                            <p:strVal val="#ppt_h"/>
                                          </p:val>
                                        </p:tav>
                                      </p:tavLst>
                                    </p:anim>
                                    <p:animEffect transition="in" filter="fade">
                                      <p:cBhvr>
                                        <p:cTn id="9" dur="500"/>
                                        <p:tgtEl>
                                          <p:spTgt spid="748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47" grpId="0" animBg="1"/>
    </p:bldLst>
  </p:timing>
</p:sld>
</file>

<file path=ppt/tags/tag1.xml><?xml version="1.0" encoding="utf-8"?>
<p:tagLst xmlns:p="http://schemas.openxmlformats.org/presentationml/2006/main">
  <p:tag name="KSO_WM_DIAGRAM_VIRTUALLY_FRAME" val="{&quot;height&quot;:315.93755905511813,&quot;left&quot;:167.25,&quot;top&quot;:53.62496062992126,&quot;width&quot;:373.5}"/>
</p:tagLst>
</file>

<file path=ppt/tags/tag2.xml><?xml version="1.0" encoding="utf-8"?>
<p:tagLst xmlns:p="http://schemas.openxmlformats.org/presentationml/2006/main">
  <p:tag name="KSO_WM_DIAGRAM_VIRTUALLY_FRAME" val="{&quot;height&quot;:315.93755905511813,&quot;left&quot;:167.25,&quot;top&quot;:53.62496062992126,&quot;width&quot;:373.5}"/>
</p:tagLst>
</file>

<file path=ppt/tags/tag3.xml><?xml version="1.0" encoding="utf-8"?>
<p:tagLst xmlns:p="http://schemas.openxmlformats.org/presentationml/2006/main">
  <p:tag name="KSO_WM_DIAGRAM_VIRTUALLY_FRAME" val="{&quot;height&quot;:315.93755905511813,&quot;left&quot;:167.25,&quot;top&quot;:53.62496062992126,&quot;width&quot;:373.5}"/>
</p:tagLst>
</file>

<file path=ppt/tags/tag4.xml><?xml version="1.0" encoding="utf-8"?>
<p:tagLst xmlns:p="http://schemas.openxmlformats.org/presentationml/2006/main">
  <p:tag name="KSO_WM_DIAGRAM_VIRTUALLY_FRAME" val="{&quot;height&quot;:315.93755905511813,&quot;left&quot;:167.25,&quot;top&quot;:53.62496062992126,&quot;width&quot;:373.5}"/>
</p:tagLst>
</file>

<file path=ppt/tags/tag5.xml><?xml version="1.0" encoding="utf-8"?>
<p:tagLst xmlns:p="http://schemas.openxmlformats.org/presentationml/2006/main">
  <p:tag name="KSO_WM_DIAGRAM_VIRTUALLY_FRAME" val="{&quot;height&quot;:315.93755905511813,&quot;left&quot;:167.25,&quot;top&quot;:53.62496062992126,&quot;width&quot;:373.5}"/>
</p:tagLst>
</file>

<file path=ppt/tags/tag6.xml><?xml version="1.0" encoding="utf-8"?>
<p:tagLst xmlns:p="http://schemas.openxmlformats.org/presentationml/2006/main">
  <p:tag name="KSO_WM_DIAGRAM_VIRTUALLY_FRAME" val="{&quot;height&quot;:315.93755905511813,&quot;left&quot;:167.25,&quot;top&quot;:53.62496062992126,&quot;width&quot;:373.5}"/>
</p:tagLst>
</file>

<file path=ppt/tags/tag7.xml><?xml version="1.0" encoding="utf-8"?>
<p:tagLst xmlns:p="http://schemas.openxmlformats.org/presentationml/2006/main">
  <p:tag name="KSO_WM_DIAGRAM_VIRTUALLY_FRAME" val="{&quot;height&quot;:315.93755905511813,&quot;left&quot;:167.25,&quot;top&quot;:53.62496062992126,&quot;width&quot;:373.5}"/>
</p:tagLst>
</file>

<file path=ppt/tags/tag8.xml><?xml version="1.0" encoding="utf-8"?>
<p:tagLst xmlns:p="http://schemas.openxmlformats.org/presentationml/2006/main">
  <p:tag name="KSO_WM_DIAGRAM_VIRTUALLY_FRAME" val="{&quot;height&quot;:315.93755905511813,&quot;left&quot;:167.25,&quot;top&quot;:53.62496062992126,&quot;width&quot;:373.5}"/>
</p:tagLst>
</file>

<file path=ppt/tags/tag9.xml><?xml version="1.0" encoding="utf-8"?>
<p:tagLst xmlns:p="http://schemas.openxmlformats.org/presentationml/2006/main">
  <p:tag name="KSO_WM_DIAGRAM_VIRTUALLY_FRAME" val="{&quot;height&quot;:315.93755905511813,&quot;left&quot;:167.25,&quot;top&quot;:53.62496062992126,&quot;width&quot;:373.5}"/>
</p:tagLst>
</file>

<file path=ppt/tags/tag10.xml><?xml version="1.0" encoding="utf-8"?>
<p:tagLst xmlns:p="http://schemas.openxmlformats.org/presentationml/2006/main">
  <p:tag name="KSO_WM_DIAGRAM_VIRTUALLY_FRAME" val="{&quot;height&quot;:315.93755905511813,&quot;left&quot;:167.25,&quot;top&quot;:53.62496062992126,&quot;width&quot;:373.5}"/>
</p:tagLst>
</file>

<file path=ppt/tags/tag11.xml><?xml version="1.0" encoding="utf-8"?>
<p:tagLst xmlns:p="http://schemas.openxmlformats.org/presentationml/2006/main">
  <p:tag name="KSO_WM_DIAGRAM_VIRTUALLY_FRAME" val="{&quot;height&quot;:315.93755905511813,&quot;left&quot;:167.25,&quot;top&quot;:53.62496062992126,&quot;width&quot;:373.5}"/>
</p:tagLst>
</file>

<file path=ppt/tags/tag12.xml><?xml version="1.0" encoding="utf-8"?>
<p:tagLst xmlns:p="http://schemas.openxmlformats.org/presentationml/2006/main">
  <p:tag name="KSO_WM_DIAGRAM_VIRTUALLY_FRAME" val="{&quot;height&quot;:315.93755905511813,&quot;left&quot;:167.25,&quot;top&quot;:53.62496062992126,&quot;width&quot;:373.5}"/>
</p:tagLst>
</file>

<file path=ppt/tags/tag13.xml><?xml version="1.0" encoding="utf-8"?>
<p:tagLst xmlns:p="http://schemas.openxmlformats.org/presentationml/2006/main">
  <p:tag name="KSO_WM_DIAGRAM_VIRTUALLY_FRAME" val="{&quot;height&quot;:315.93755905511813,&quot;left&quot;:167.25,&quot;top&quot;:53.62496062992126,&quot;width&quot;:373.5}"/>
</p:tagLst>
</file>

<file path=ppt/tags/tag14.xml><?xml version="1.0" encoding="utf-8"?>
<p:tagLst xmlns:p="http://schemas.openxmlformats.org/presentationml/2006/main">
  <p:tag name="KSO_WM_DIAGRAM_VIRTUALLY_FRAME" val="{&quot;height&quot;:315.93755905511813,&quot;left&quot;:167.25,&quot;top&quot;:53.62496062992126,&quot;width&quot;:373.5}"/>
</p:tagLst>
</file>

<file path=ppt/tags/tag15.xml><?xml version="1.0" encoding="utf-8"?>
<p:tagLst xmlns:p="http://schemas.openxmlformats.org/presentationml/2006/main">
  <p:tag name="KSO_WM_DIAGRAM_VIRTUALLY_FRAME" val="{&quot;height&quot;:315.93755905511813,&quot;left&quot;:167.25,&quot;top&quot;:53.62496062992126,&quot;width&quot;:373.5}"/>
</p:tagLst>
</file>

<file path=ppt/tags/tag16.xml><?xml version="1.0" encoding="utf-8"?>
<p:tagLst xmlns:p="http://schemas.openxmlformats.org/presentationml/2006/main">
  <p:tag name="KSO_WM_DIAGRAM_VIRTUALLY_FRAME" val="{&quot;height&quot;:315.93755905511813,&quot;left&quot;:167.25,&quot;top&quot;:53.62496062992126,&quot;width&quot;:373.5}"/>
</p:tagLst>
</file>

<file path=ppt/tags/tag17.xml><?xml version="1.0" encoding="utf-8"?>
<p:tagLst xmlns:p="http://schemas.openxmlformats.org/presentationml/2006/main">
  <p:tag name="KSO_WM_DIAGRAM_VIRTUALLY_FRAME" val="{&quot;height&quot;:315.93755905511813,&quot;left&quot;:167.25,&quot;top&quot;:53.62496062992126,&quot;width&quot;:373.5}"/>
</p:tagLst>
</file>

<file path=ppt/tags/tag18.xml><?xml version="1.0" encoding="utf-8"?>
<p:tagLst xmlns:p="http://schemas.openxmlformats.org/presentationml/2006/main">
  <p:tag name="KSO_WM_DIAGRAM_VIRTUALLY_FRAME" val="{&quot;height&quot;:315.93755905511813,&quot;left&quot;:167.25,&quot;top&quot;:53.62496062992126,&quot;width&quot;:373.5}"/>
</p:tagLst>
</file>

<file path=ppt/tags/tag19.xml><?xml version="1.0" encoding="utf-8"?>
<p:tagLst xmlns:p="http://schemas.openxmlformats.org/presentationml/2006/main">
  <p:tag name="KSO_WM_DIAGRAM_VIRTUALLY_FRAME" val="{&quot;height&quot;:315.93755905511813,&quot;left&quot;:167.25,&quot;top&quot;:53.62496062992126,&quot;width&quot;:373.5}"/>
</p:tagLst>
</file>

<file path=ppt/tags/tag20.xml><?xml version="1.0" encoding="utf-8"?>
<p:tagLst xmlns:p="http://schemas.openxmlformats.org/presentationml/2006/main">
  <p:tag name="KSO_WM_DIAGRAM_VIRTUALLY_FRAME" val="{&quot;height&quot;:315.93755905511813,&quot;left&quot;:167.25,&quot;top&quot;:53.62496062992126,&quot;width&quot;:373.5}"/>
</p:tagLst>
</file>

<file path=ppt/tags/tag21.xml><?xml version="1.0" encoding="utf-8"?>
<p:tagLst xmlns:p="http://schemas.openxmlformats.org/presentationml/2006/main">
  <p:tag name="KSO_WM_DIAGRAM_VIRTUALLY_FRAME" val="{&quot;height&quot;:315.93755905511813,&quot;left&quot;:167.25,&quot;top&quot;:53.62496062992126,&quot;width&quot;:373.5}"/>
</p:tagLst>
</file>

<file path=ppt/tags/tag22.xml><?xml version="1.0" encoding="utf-8"?>
<p:tagLst xmlns:p="http://schemas.openxmlformats.org/presentationml/2006/main">
  <p:tag name="KSO_WM_DIAGRAM_VIRTUALLY_FRAME" val="{&quot;height&quot;:315.93755905511813,&quot;left&quot;:167.25,&quot;top&quot;:53.62496062992126,&quot;width&quot;:373.5}"/>
</p:tagLst>
</file>

<file path=ppt/tags/tag23.xml><?xml version="1.0" encoding="utf-8"?>
<p:tagLst xmlns:p="http://schemas.openxmlformats.org/presentationml/2006/main">
  <p:tag name="KSO_WM_DIAGRAM_VIRTUALLY_FRAME" val="{&quot;height&quot;:315.93755905511813,&quot;left&quot;:167.25,&quot;top&quot;:53.62496062992126,&quot;width&quot;:373.5}"/>
</p:tagLst>
</file>

<file path=ppt/tags/tag24.xml><?xml version="1.0" encoding="utf-8"?>
<p:tagLst xmlns:p="http://schemas.openxmlformats.org/presentationml/2006/main">
  <p:tag name="KSO_WM_DIAGRAM_VIRTUALLY_FRAME" val="{&quot;height&quot;:315.93755905511813,&quot;left&quot;:167.25,&quot;top&quot;:53.62496062992126,&quot;width&quot;:373.5}"/>
</p:tagLst>
</file>

<file path=ppt/tags/tag25.xml><?xml version="1.0" encoding="utf-8"?>
<p:tagLst xmlns:p="http://schemas.openxmlformats.org/presentationml/2006/main">
  <p:tag name="KSO_WM_DIAGRAM_VIRTUALLY_FRAME" val="{&quot;height&quot;:315.93755905511813,&quot;left&quot;:167.25,&quot;top&quot;:53.62496062992126,&quot;width&quot;:373.5}"/>
</p:tagLst>
</file>

<file path=ppt/tags/tag26.xml><?xml version="1.0" encoding="utf-8"?>
<p:tagLst xmlns:p="http://schemas.openxmlformats.org/presentationml/2006/main">
  <p:tag name="KSO_WM_DIAGRAM_VIRTUALLY_FRAME" val="{&quot;height&quot;:315.93755905511813,&quot;left&quot;:167.25,&quot;top&quot;:53.62496062992126,&quot;width&quot;:373.5}"/>
</p:tagLst>
</file>

<file path=ppt/tags/tag27.xml><?xml version="1.0" encoding="utf-8"?>
<p:tagLst xmlns:p="http://schemas.openxmlformats.org/presentationml/2006/main">
  <p:tag name="KSO_WM_DIAGRAM_VIRTUALLY_FRAME" val="{&quot;height&quot;:315.93755905511813,&quot;left&quot;:167.25,&quot;top&quot;:53.62496062992126,&quot;width&quot;:373.5}"/>
</p:tagLst>
</file>

<file path=ppt/tags/tag28.xml><?xml version="1.0" encoding="utf-8"?>
<p:tagLst xmlns:p="http://schemas.openxmlformats.org/presentationml/2006/main">
  <p:tag name="KSO_WM_DIAGRAM_VIRTUALLY_FRAME" val="{&quot;height&quot;:315.93755905511813,&quot;left&quot;:167.25,&quot;top&quot;:53.62496062992126,&quot;width&quot;:373.5}"/>
</p:tagLst>
</file>

<file path=ppt/tags/tag29.xml><?xml version="1.0" encoding="utf-8"?>
<p:tagLst xmlns:p="http://schemas.openxmlformats.org/presentationml/2006/main">
  <p:tag name="KSO_WM_DIAGRAM_VIRTUALLY_FRAME" val="{&quot;height&quot;:315.93755905511813,&quot;left&quot;:167.25,&quot;top&quot;:53.62496062992126,&quot;width&quot;:373.5}"/>
</p:tagLst>
</file>

<file path=ppt/tags/tag30.xml><?xml version="1.0" encoding="utf-8"?>
<p:tagLst xmlns:p="http://schemas.openxmlformats.org/presentationml/2006/main">
  <p:tag name="KSO_WM_DIAGRAM_VIRTUALLY_FRAME" val="{&quot;height&quot;:315.93755905511813,&quot;left&quot;:167.25,&quot;top&quot;:53.62496062992126,&quot;width&quot;:373.5}"/>
</p:tagLst>
</file>

<file path=ppt/theme/theme1.xml><?xml version="1.0" encoding="utf-8"?>
<a:theme xmlns:a="http://schemas.openxmlformats.org/drawingml/2006/main" name="143TGp_happy_light_v2_e">
  <a:themeElements>
    <a:clrScheme name="143TGp_happy_light_v2_e 1">
      <a:dk1>
        <a:srgbClr val="000066"/>
      </a:dk1>
      <a:lt1>
        <a:srgbClr val="FFFFFF"/>
      </a:lt1>
      <a:dk2>
        <a:srgbClr val="1D7ACF"/>
      </a:dk2>
      <a:lt2>
        <a:srgbClr val="C0C0C0"/>
      </a:lt2>
      <a:accent1>
        <a:srgbClr val="189E8E"/>
      </a:accent1>
      <a:accent2>
        <a:srgbClr val="E0BB20"/>
      </a:accent2>
      <a:accent3>
        <a:srgbClr val="FFFFFF"/>
      </a:accent3>
      <a:accent4>
        <a:srgbClr val="000056"/>
      </a:accent4>
      <a:accent5>
        <a:srgbClr val="ABCCC6"/>
      </a:accent5>
      <a:accent6>
        <a:srgbClr val="CBA91C"/>
      </a:accent6>
      <a:hlink>
        <a:srgbClr val="5AA5DE"/>
      </a:hlink>
      <a:folHlink>
        <a:srgbClr val="9885A3"/>
      </a:folHlink>
    </a:clrScheme>
    <a:fontScheme name="143TGp_happy_light_v2_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43TGp_happy_light_v2_e 1">
        <a:dk1>
          <a:srgbClr val="000066"/>
        </a:dk1>
        <a:lt1>
          <a:srgbClr val="FFFFFF"/>
        </a:lt1>
        <a:dk2>
          <a:srgbClr val="1D7ACF"/>
        </a:dk2>
        <a:lt2>
          <a:srgbClr val="C0C0C0"/>
        </a:lt2>
        <a:accent1>
          <a:srgbClr val="189E8E"/>
        </a:accent1>
        <a:accent2>
          <a:srgbClr val="E0BB20"/>
        </a:accent2>
        <a:accent3>
          <a:srgbClr val="FFFFFF"/>
        </a:accent3>
        <a:accent4>
          <a:srgbClr val="000056"/>
        </a:accent4>
        <a:accent5>
          <a:srgbClr val="ABCCC6"/>
        </a:accent5>
        <a:accent6>
          <a:srgbClr val="CBA91C"/>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43TGp_happy_light_v2_e 2">
        <a:dk1>
          <a:srgbClr val="000066"/>
        </a:dk1>
        <a:lt1>
          <a:srgbClr val="FFFFFF"/>
        </a:lt1>
        <a:dk2>
          <a:srgbClr val="238D3F"/>
        </a:dk2>
        <a:lt2>
          <a:srgbClr val="DDDDDD"/>
        </a:lt2>
        <a:accent1>
          <a:srgbClr val="808080"/>
        </a:accent1>
        <a:accent2>
          <a:srgbClr val="CC9900"/>
        </a:accent2>
        <a:accent3>
          <a:srgbClr val="FFFFFF"/>
        </a:accent3>
        <a:accent4>
          <a:srgbClr val="000056"/>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43TGp_happy_light_v2_e 3">
        <a:dk1>
          <a:srgbClr val="000066"/>
        </a:dk1>
        <a:lt1>
          <a:srgbClr val="FFFFFF"/>
        </a:lt1>
        <a:dk2>
          <a:srgbClr val="D75F1D"/>
        </a:dk2>
        <a:lt2>
          <a:srgbClr val="DDDDDD"/>
        </a:lt2>
        <a:accent1>
          <a:srgbClr val="3885A0"/>
        </a:accent1>
        <a:accent2>
          <a:srgbClr val="3399FF"/>
        </a:accent2>
        <a:accent3>
          <a:srgbClr val="FFFFFF"/>
        </a:accent3>
        <a:accent4>
          <a:srgbClr val="000056"/>
        </a:accent4>
        <a:accent5>
          <a:srgbClr val="AEC2CD"/>
        </a:accent5>
        <a:accent6>
          <a:srgbClr val="2D8AE7"/>
        </a:accent6>
        <a:hlink>
          <a:srgbClr val="4B67B7"/>
        </a:hlink>
        <a:folHlink>
          <a:srgbClr val="7B6A9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13113</Words>
  <Application>WPS 演示</Application>
  <PresentationFormat>全屏显示(16:9)</PresentationFormat>
  <Paragraphs>1224</Paragraphs>
  <Slides>61</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61</vt:i4>
      </vt:variant>
    </vt:vector>
  </HeadingPairs>
  <TitlesOfParts>
    <vt:vector size="79" baseType="lpstr">
      <vt:lpstr>Arial</vt:lpstr>
      <vt:lpstr>宋体</vt:lpstr>
      <vt:lpstr>Wingdings</vt:lpstr>
      <vt:lpstr>Verdana</vt:lpstr>
      <vt:lpstr>Gulim</vt:lpstr>
      <vt:lpstr>华文楷体</vt:lpstr>
      <vt:lpstr>微软雅黑</vt:lpstr>
      <vt:lpstr>Times New Roman</vt:lpstr>
      <vt:lpstr>Arial Unicode MS</vt:lpstr>
      <vt:lpstr>Calibri</vt:lpstr>
      <vt:lpstr>Wingdings</vt:lpstr>
      <vt:lpstr>Arial</vt:lpstr>
      <vt:lpstr>143TGp_happy_light_v2_e</vt:lpstr>
      <vt:lpstr>Paint.Picture</vt:lpstr>
      <vt:lpstr>Paint.Picture</vt:lpstr>
      <vt:lpstr>Paint.Picture</vt:lpstr>
      <vt:lpstr>Paint.Picture</vt:lpstr>
      <vt:lpstr>Equation.KSEE3</vt:lpstr>
      <vt:lpstr>移动通信原理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（4）频率复用距离与小区簇的关系</vt:lpstr>
      <vt:lpstr>PowerPoint 演示文稿</vt:lpstr>
      <vt:lpstr>推导载波干扰比与小区簇的关系</vt:lpstr>
      <vt:lpstr>推导载波干扰比与小区簇的关系</vt:lpstr>
      <vt:lpstr>（6）同频相邻小区的找法</vt:lpstr>
      <vt:lpstr>PowerPoint 演示文稿</vt:lpstr>
      <vt:lpstr>PowerPoint 演示文稿</vt:lpstr>
      <vt:lpstr>PowerPoint 演示文稿</vt:lpstr>
      <vt:lpstr>PowerPoint 演示文稿</vt:lpstr>
      <vt:lpstr>FDMA的主要干扰</vt:lpstr>
      <vt:lpstr>FDMA系统的特点 </vt:lpstr>
      <vt:lpstr>PowerPoint 演示文稿</vt:lpstr>
      <vt:lpstr>TDMA系统的特点</vt:lpstr>
      <vt:lpstr>PowerPoint 演示文稿</vt:lpstr>
      <vt:lpstr>CDMA系统的特点 </vt:lpstr>
      <vt:lpstr>CDMA系统存在问题</vt:lpstr>
      <vt:lpstr>PowerPoint 演示文稿</vt:lpstr>
      <vt:lpstr>SDMA的工作原理</vt:lpstr>
      <vt:lpstr>蜂窝系统中反向链路的困难</vt:lpstr>
      <vt:lpstr>自适应式阵列天线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BAO Yawei</dc:creator>
  <cp:lastModifiedBy>一片云</cp:lastModifiedBy>
  <cp:revision>698</cp:revision>
  <dcterms:created xsi:type="dcterms:W3CDTF">2007-01-25T13:54:00Z</dcterms:created>
  <dcterms:modified xsi:type="dcterms:W3CDTF">2025-04-07T02:49:13Z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C2EAEACC241F49C295D673558A355284</vt:lpwstr>
  </property>
</Properties>
</file>