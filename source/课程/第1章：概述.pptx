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1" r:id="rId5"/>
    <p:sldId id="262" r:id="rId6"/>
    <p:sldId id="308" r:id="rId7"/>
    <p:sldId id="332" r:id="rId8"/>
    <p:sldId id="263" r:id="rId9"/>
    <p:sldId id="304" r:id="rId10"/>
    <p:sldId id="305" r:id="rId11"/>
    <p:sldId id="306" r:id="rId12"/>
    <p:sldId id="290" r:id="rId13"/>
    <p:sldId id="292" r:id="rId14"/>
    <p:sldId id="293" r:id="rId15"/>
    <p:sldId id="371" r:id="rId16"/>
    <p:sldId id="294" r:id="rId17"/>
    <p:sldId id="295" r:id="rId18"/>
    <p:sldId id="372" r:id="rId19"/>
    <p:sldId id="356" r:id="rId20"/>
    <p:sldId id="296" r:id="rId21"/>
    <p:sldId id="297" r:id="rId22"/>
    <p:sldId id="373" r:id="rId23"/>
    <p:sldId id="374" r:id="rId24"/>
    <p:sldId id="298" r:id="rId25"/>
    <p:sldId id="299" r:id="rId26"/>
    <p:sldId id="300" r:id="rId27"/>
    <p:sldId id="301" r:id="rId28"/>
    <p:sldId id="303" r:id="rId29"/>
    <p:sldId id="268" r:id="rId30"/>
    <p:sldId id="307" r:id="rId31"/>
    <p:sldId id="309" r:id="rId32"/>
    <p:sldId id="276" r:id="rId33"/>
    <p:sldId id="310" r:id="rId34"/>
    <p:sldId id="357" r:id="rId3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2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-318" y="-90"/>
      </p:cViewPr>
      <p:guideLst>
        <p:guide orient="horz" pos="1632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286000" y="2343150"/>
            <a:ext cx="6172200" cy="142077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286000" y="3752492"/>
            <a:ext cx="6172200" cy="10287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8050371" y="832948"/>
            <a:ext cx="1714500" cy="381000"/>
          </a:xfrm>
        </p:spPr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34469" y="3088246"/>
            <a:ext cx="27432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81000" y="0"/>
            <a:ext cx="609600" cy="51435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276336" y="0"/>
            <a:ext cx="104664" cy="51435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矩形 13"/>
          <p:cNvSpPr/>
          <p:nvPr/>
        </p:nvSpPr>
        <p:spPr bwMode="auto">
          <a:xfrm>
            <a:off x="990600" y="0"/>
            <a:ext cx="181872" cy="51435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 bwMode="auto">
          <a:xfrm>
            <a:off x="1141320" y="0"/>
            <a:ext cx="230280" cy="51435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106344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接连接符 17"/>
          <p:cNvSpPr>
            <a:spLocks noChangeShapeType="1"/>
          </p:cNvSpPr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854112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51435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0668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接连接符 21"/>
          <p:cNvSpPr>
            <a:spLocks noChangeShapeType="1"/>
          </p:cNvSpPr>
          <p:nvPr/>
        </p:nvSpPr>
        <p:spPr bwMode="auto">
          <a:xfrm>
            <a:off x="9113856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矩形 26"/>
          <p:cNvSpPr/>
          <p:nvPr/>
        </p:nvSpPr>
        <p:spPr bwMode="auto">
          <a:xfrm>
            <a:off x="1219200" y="0"/>
            <a:ext cx="76200" cy="51435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609600" y="2571750"/>
            <a:ext cx="1295400" cy="97155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309632" y="3650064"/>
            <a:ext cx="641424" cy="48106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椭圆 23"/>
          <p:cNvSpPr/>
          <p:nvPr/>
        </p:nvSpPr>
        <p:spPr bwMode="auto">
          <a:xfrm>
            <a:off x="1091080" y="4125474"/>
            <a:ext cx="137160" cy="10287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椭圆 25"/>
          <p:cNvSpPr/>
          <p:nvPr/>
        </p:nvSpPr>
        <p:spPr bwMode="auto">
          <a:xfrm>
            <a:off x="1664208" y="4341114"/>
            <a:ext cx="274320" cy="20574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椭圆 24"/>
          <p:cNvSpPr/>
          <p:nvPr/>
        </p:nvSpPr>
        <p:spPr>
          <a:xfrm>
            <a:off x="1905000" y="3371850"/>
            <a:ext cx="365760" cy="27432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3696527"/>
            <a:ext cx="609600" cy="388143"/>
          </a:xfrm>
        </p:spPr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21506" name="AutoShape 2" descr="https://www.hzu.edu.cn/_upload/article/images/2e/40/7aa4fb8d4194a4cd347f56e1bc55/5bc6fc52-b49d-4298-b410-192e1f0ef3a5.gif"/>
          <p:cNvSpPr>
            <a:spLocks noChangeAspect="1" noChangeArrowheads="1"/>
          </p:cNvSpPr>
          <p:nvPr userDrawn="1"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508" name="AutoShape 4" descr="https://www.hzu.edu.cn/_upload/article/images/2e/40/7aa4fb8d4194a4cd347f56e1bc55/5bc6fc52-b49d-4298-b410-192e1f0ef3a5.gif"/>
          <p:cNvSpPr>
            <a:spLocks noChangeAspect="1" noChangeArrowheads="1"/>
          </p:cNvSpPr>
          <p:nvPr userDrawn="1"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510" name="AutoShape 6" descr="https://www.hzu.edu.cn/_upload/article/images/2e/40/7aa4fb8d4194a4cd347f56e1bc55/5bc6fc52-b49d-4298-b410-192e1f0ef3a5.gif"/>
          <p:cNvSpPr>
            <a:spLocks noChangeAspect="1" noChangeArrowheads="1"/>
          </p:cNvSpPr>
          <p:nvPr userDrawn="1"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33" name="图片 32" descr="5bc6fc52-b49d-4298-b410-192e1f0ef3a5.gif"/>
          <p:cNvPicPr>
            <a:picLocks noChangeAspect="1"/>
          </p:cNvPicPr>
          <p:nvPr userDrawn="1"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7467600" cy="3655314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0" y="2171700"/>
            <a:ext cx="6172200" cy="1540193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286000" y="3757613"/>
            <a:ext cx="6172200" cy="10287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8049006" y="830199"/>
            <a:ext cx="1714500" cy="381000"/>
          </a:xfrm>
        </p:spPr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34656" y="3086100"/>
            <a:ext cx="2743200" cy="3840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 bwMode="auto">
          <a:xfrm>
            <a:off x="381000" y="0"/>
            <a:ext cx="609600" cy="51435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276336" y="0"/>
            <a:ext cx="104664" cy="51435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990600" y="0"/>
            <a:ext cx="181872" cy="51435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1141320" y="0"/>
            <a:ext cx="230280" cy="51435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106344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接连接符 13"/>
          <p:cNvSpPr>
            <a:spLocks noChangeShapeType="1"/>
          </p:cNvSpPr>
          <p:nvPr/>
        </p:nvSpPr>
        <p:spPr bwMode="auto">
          <a:xfrm>
            <a:off x="914400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854112" y="0"/>
            <a:ext cx="0" cy="51435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1726640" y="0"/>
            <a:ext cx="0" cy="51435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接连接符 16"/>
          <p:cNvSpPr>
            <a:spLocks noChangeShapeType="1"/>
          </p:cNvSpPr>
          <p:nvPr/>
        </p:nvSpPr>
        <p:spPr bwMode="auto">
          <a:xfrm>
            <a:off x="10668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矩形 17"/>
          <p:cNvSpPr/>
          <p:nvPr/>
        </p:nvSpPr>
        <p:spPr bwMode="auto">
          <a:xfrm>
            <a:off x="1219200" y="0"/>
            <a:ext cx="76200" cy="51435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椭圆 18"/>
          <p:cNvSpPr/>
          <p:nvPr/>
        </p:nvSpPr>
        <p:spPr bwMode="auto">
          <a:xfrm>
            <a:off x="609600" y="2571750"/>
            <a:ext cx="1295400" cy="97155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椭圆 19"/>
          <p:cNvSpPr/>
          <p:nvPr/>
        </p:nvSpPr>
        <p:spPr bwMode="auto">
          <a:xfrm>
            <a:off x="1324704" y="3650064"/>
            <a:ext cx="641424" cy="481068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椭圆 20"/>
          <p:cNvSpPr/>
          <p:nvPr/>
        </p:nvSpPr>
        <p:spPr bwMode="auto">
          <a:xfrm>
            <a:off x="1091080" y="4125474"/>
            <a:ext cx="137160" cy="10287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1664208" y="4343400"/>
            <a:ext cx="274320" cy="20574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椭圆 22"/>
          <p:cNvSpPr/>
          <p:nvPr/>
        </p:nvSpPr>
        <p:spPr bwMode="auto">
          <a:xfrm>
            <a:off x="1879040" y="3359916"/>
            <a:ext cx="365760" cy="27432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接连接符 25"/>
          <p:cNvSpPr>
            <a:spLocks noChangeShapeType="1"/>
          </p:cNvSpPr>
          <p:nvPr/>
        </p:nvSpPr>
        <p:spPr bwMode="auto">
          <a:xfrm>
            <a:off x="9097944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3696527"/>
            <a:ext cx="609600" cy="388143"/>
          </a:xfrm>
        </p:spPr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3657600" cy="3429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270248" y="1200150"/>
            <a:ext cx="3657600" cy="3429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7543800" cy="85725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1771650"/>
            <a:ext cx="3657600" cy="291465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371975" y="1771650"/>
            <a:ext cx="3657600" cy="291465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"/>
          </p:nvPr>
        </p:nvSpPr>
        <p:spPr>
          <a:xfrm>
            <a:off x="457200" y="1177290"/>
            <a:ext cx="3657600" cy="4937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3"/>
          </p:nvPr>
        </p:nvSpPr>
        <p:spPr>
          <a:xfrm>
            <a:off x="4343400" y="1177290"/>
            <a:ext cx="3657600" cy="49377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</p:spTree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160520" y="2343150"/>
            <a:ext cx="473202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12280" y="205740"/>
            <a:ext cx="1527048" cy="373761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2484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192296" y="0"/>
            <a:ext cx="0" cy="51435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矩形 11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"/>
          </p:nvPr>
        </p:nvSpPr>
        <p:spPr>
          <a:xfrm>
            <a:off x="304800" y="205740"/>
            <a:ext cx="5638800" cy="4745736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5400000">
            <a:off x="4138803" y="2343150"/>
            <a:ext cx="473202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51435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765798" y="198596"/>
            <a:ext cx="1524000" cy="3717036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接连接符 18"/>
          <p:cNvSpPr>
            <a:spLocks noChangeShapeType="1"/>
          </p:cNvSpPr>
          <p:nvPr/>
        </p:nvSpPr>
        <p:spPr bwMode="auto">
          <a:xfrm>
            <a:off x="62484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接连接符 19"/>
          <p:cNvSpPr>
            <a:spLocks noChangeShapeType="1"/>
          </p:cNvSpPr>
          <p:nvPr/>
        </p:nvSpPr>
        <p:spPr bwMode="auto">
          <a:xfrm>
            <a:off x="6192296" y="0"/>
            <a:ext cx="0" cy="51435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1676400" cy="4388644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450" y="171450"/>
            <a:ext cx="854075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200150"/>
            <a:ext cx="4000500" cy="16299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200150"/>
            <a:ext cx="4000500" cy="16299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609600" y="2944416"/>
            <a:ext cx="8153400" cy="16299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298450" y="4683919"/>
            <a:ext cx="2289175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1025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0025" y="4683919"/>
            <a:ext cx="2289175" cy="357188"/>
          </a:xfrm>
        </p:spPr>
        <p:txBody>
          <a:bodyPr/>
          <a:lstStyle>
            <a:lvl1pPr>
              <a:defRPr/>
            </a:lvl1pPr>
          </a:lstStyle>
          <a:p>
            <a:fld id="{2AD810FB-0E05-435A-9FA2-1DBEBBD990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接连接符 15"/>
          <p:cNvSpPr>
            <a:spLocks noChangeShapeType="1"/>
          </p:cNvSpPr>
          <p:nvPr/>
        </p:nvSpPr>
        <p:spPr bwMode="auto">
          <a:xfrm>
            <a:off x="8763000" y="0"/>
            <a:ext cx="0" cy="51435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05978"/>
            <a:ext cx="7467600" cy="85725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7467600" cy="365531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 rot="5400000">
            <a:off x="7840980" y="763382"/>
            <a:ext cx="150876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0C7BC11-E0CC-4494-B7BD-9387D3D7AC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 rot="5400000">
            <a:off x="7390236" y="2757210"/>
            <a:ext cx="24003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76200" y="0"/>
            <a:ext cx="0" cy="51435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8991600" y="0"/>
            <a:ext cx="0" cy="51435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矩形 9"/>
          <p:cNvSpPr/>
          <p:nvPr/>
        </p:nvSpPr>
        <p:spPr bwMode="auto">
          <a:xfrm>
            <a:off x="8839200" y="0"/>
            <a:ext cx="304800" cy="51435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8915400" y="0"/>
            <a:ext cx="0" cy="51435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8156448" y="4286250"/>
            <a:ext cx="548640" cy="41148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129016" y="4300538"/>
            <a:ext cx="609600" cy="390906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3BC538-BE33-4BF6-8C7D-E939CDFBAB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d"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1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7.jpeg"/><Relationship Id="rId1" Type="http://schemas.openxmlformats.org/officeDocument/2006/relationships/image" Target="../media/image1.GI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image" Target="../media/image1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1" Type="http://schemas.openxmlformats.org/officeDocument/2006/relationships/image" Target="../media/image1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jpeg"/><Relationship Id="rId2" Type="http://schemas.openxmlformats.org/officeDocument/2006/relationships/image" Target="../media/image9.jpeg"/><Relationship Id="rId1" Type="http://schemas.openxmlformats.org/officeDocument/2006/relationships/image" Target="../media/image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1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1" Type="http://schemas.openxmlformats.org/officeDocument/2006/relationships/image" Target="../media/image1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1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GI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GIF"/><Relationship Id="rId6" Type="http://schemas.openxmlformats.org/officeDocument/2006/relationships/image" Target="../media/image25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GI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0065" y="843280"/>
            <a:ext cx="542925" cy="3041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4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动</a:t>
            </a:r>
            <a:endParaRPr lang="en-US" altLang="zh-CN" sz="4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</a:t>
            </a:r>
            <a:endParaRPr lang="en-US" altLang="zh-CN" sz="4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信</a:t>
            </a:r>
            <a:endParaRPr lang="en-US" altLang="zh-CN" sz="4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原</a:t>
            </a:r>
            <a:endParaRPr lang="en-US" altLang="zh-CN" sz="44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理</a:t>
            </a:r>
            <a:endParaRPr lang="zh-CN" altLang="en-US" sz="4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64480" y="51435"/>
            <a:ext cx="3383915" cy="47529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560" y="843558"/>
            <a:ext cx="4176464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这门课，共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48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学时，期中理论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36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学时，实验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学时。按照教学计划，理论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1~9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周，每周</a:t>
            </a:r>
            <a:r>
              <a:rPr lang="en-US" altLang="zh-CN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8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节课，之后就是实验。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64480" y="51435"/>
            <a:ext cx="3383915" cy="47529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681540"/>
            <a:ext cx="5040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目   录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第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章：概述；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第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章：移动通信电波传播与传播预测模型；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第</a:t>
            </a:r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章：信道编码和调制解调技术；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第</a:t>
            </a:r>
            <a:r>
              <a:rPr lang="en-US" altLang="zh-CN" sz="2400" dirty="0" smtClean="0">
                <a:latin typeface="+mn-ea"/>
              </a:rPr>
              <a:t>4</a:t>
            </a:r>
            <a:r>
              <a:rPr lang="zh-CN" altLang="en-US" sz="2400" dirty="0" smtClean="0">
                <a:latin typeface="+mn-ea"/>
              </a:rPr>
              <a:t>章：抗衰落和链路性能增强技术；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第</a:t>
            </a:r>
            <a:r>
              <a:rPr lang="en-US" altLang="zh-CN" sz="2400" dirty="0" smtClean="0">
                <a:latin typeface="+mn-ea"/>
              </a:rPr>
              <a:t>5</a:t>
            </a:r>
            <a:r>
              <a:rPr lang="zh-CN" altLang="en-US" sz="2400" dirty="0" smtClean="0">
                <a:latin typeface="+mn-ea"/>
              </a:rPr>
              <a:t>章：蜂窝组网技术；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64480" y="51435"/>
            <a:ext cx="3383915" cy="47529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681540"/>
            <a:ext cx="4968552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   录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章：第五代移动通信系统；</a:t>
            </a:r>
            <a:endParaRPr lang="zh-CN" altLang="en-US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章：第五代移动通信系统关键技术及其应用；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章：移动通信未来发展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64480" y="51435"/>
            <a:ext cx="3383915" cy="47529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7467600" cy="565572"/>
          </a:xfrm>
        </p:spPr>
        <p:txBody>
          <a:bodyPr/>
          <a:lstStyle/>
          <a:p>
            <a:pPr algn="ctr"/>
            <a:r>
              <a:rPr lang="zh-CN" altLang="en-US" dirty="0" smtClean="0"/>
              <a:t>美国制裁华为事件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95605" y="843280"/>
            <a:ext cx="8349615" cy="3655060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美国制裁华为事件始于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年，至今仍在持续，主要涉及贸易战和芯片战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2019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，美国正式对华为实施制裁，将其列入实体清单，限制其获取美国技术和产品。此后，美国不断升级制裁措施，包括加强对华为的出口管制、限制其使用美国技术设计和生产的产品、将华为在全球多个国家的子公司列入实体清单等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在芯片领域，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2020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年，台积电断供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5nm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芯片给华为，导致华为面临芯片短缺的困境。为此，华为加大了自研芯片的投入，最终在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2023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年推出了搭载全新自研麒麟芯片的华为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Mate60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系列，成功打破了美国的芯片封锁。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除了贸易战和芯片战，美国还在全球范围内对华为实施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连坐令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全球追杀令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，要求所有含美国技术的设备都不得给华为使用。此外，美国还试图通过人才封锁战来打压华为，如在美留学的微电子专业中国学生，其毕业论文涉及芯片设计的必须经过国防部审查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5447" y="843298"/>
            <a:ext cx="7488832" cy="421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7467600" cy="565572"/>
          </a:xfrm>
        </p:spPr>
        <p:txBody>
          <a:bodyPr/>
          <a:lstStyle/>
          <a:p>
            <a:pPr algn="ctr"/>
            <a:r>
              <a:rPr lang="zh-CN" altLang="en-US" dirty="0" smtClean="0"/>
              <a:t>美国制裁华为事件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95605" y="843280"/>
            <a:ext cx="8349615" cy="3655060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特别是华为老总任正非的女儿孟晚舟，主要负责华为的财务运营和管理。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2018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日，孟晚舟在加拿大温哥华被捕，美国向加拿大要求引渡她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具体来说，孟晚舟在加拿大转机时，被加方无理拘押，而这一切都是来自于美国的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授意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。美国声称孟晚舟违反了美国针对伊朗的禁令，并且欺骗了汇丰银行，导致汇丰银行也违反了美国对伊朗的制裁规定。实际上，这是美国试图通过孟晚舟来打压华为，甚至肢解华为。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事件发生后，华为以及我国政府经过长时间的斗争，最终在中方的压力之下，加拿大放弃引渡孟晚舟，并同意她于当地时间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日乘坐中国政府包机离开加拿大，返回中国。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日，美国法院也正式撤销了对孟晚舟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银行欺诈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等指控，且不能重新提出诉讼，这意味着孟晚舟事件终于彻底画上了句号。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595" y="411480"/>
            <a:ext cx="6276975" cy="453136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Rot="1" noChangeArrowheads="1"/>
          </p:cNvSpPr>
          <p:nvPr/>
        </p:nvSpPr>
        <p:spPr bwMode="auto">
          <a:xfrm>
            <a:off x="323850" y="519113"/>
            <a:ext cx="8540750" cy="857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711200" indent="-711200" algn="ctr"/>
            <a:r>
              <a:rPr lang="zh-CN" altLang="en-US" sz="4400">
                <a:solidFill>
                  <a:schemeClr val="tx2"/>
                </a:solidFill>
              </a:rPr>
              <a:t>第一章 移动通信概述</a:t>
            </a:r>
            <a:endParaRPr lang="zh-CN" altLang="en-US" sz="4400">
              <a:solidFill>
                <a:schemeClr val="tx2"/>
              </a:solidFill>
            </a:endParaRPr>
          </a:p>
        </p:txBody>
      </p:sp>
      <p:sp>
        <p:nvSpPr>
          <p:cNvPr id="119812" name="AutoShape 4"/>
          <p:cNvSpPr>
            <a:spLocks noChangeArrowheads="1"/>
          </p:cNvSpPr>
          <p:nvPr/>
        </p:nvSpPr>
        <p:spPr bwMode="auto">
          <a:xfrm>
            <a:off x="1333500" y="2031448"/>
            <a:ext cx="431800" cy="270272"/>
          </a:xfrm>
          <a:prstGeom prst="flowChartDecision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57150" cmpd="thinThick">
            <a:noFill/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13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692276" y="1790682"/>
            <a:ext cx="5903913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+mn-ea"/>
              </a:rPr>
              <a:t>1.1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GB" sz="2800" b="1" u="sng" dirty="0">
                <a:solidFill>
                  <a:schemeClr val="folHlink"/>
                </a:solidFill>
                <a:latin typeface="+mn-ea"/>
                <a:hlinkClick r:id="rId1" action="ppaction://hlinksldjump"/>
              </a:rPr>
              <a:t>移动通信发展简述</a:t>
            </a:r>
            <a:endParaRPr lang="zh-CN" altLang="en-US" sz="2800" b="1" u="sng" dirty="0">
              <a:solidFill>
                <a:schemeClr val="folHlink"/>
              </a:solidFill>
              <a:latin typeface="+mn-ea"/>
            </a:endParaRPr>
          </a:p>
        </p:txBody>
      </p:sp>
      <p:sp>
        <p:nvSpPr>
          <p:cNvPr id="119814" name="AutoShape 6"/>
          <p:cNvSpPr>
            <a:spLocks noChangeArrowheads="1"/>
          </p:cNvSpPr>
          <p:nvPr/>
        </p:nvSpPr>
        <p:spPr bwMode="auto">
          <a:xfrm>
            <a:off x="1331913" y="2625514"/>
            <a:ext cx="431800" cy="270272"/>
          </a:xfrm>
          <a:prstGeom prst="flowChartDecision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57150" cmpd="thinThick">
            <a:noFill/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15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692276" y="2471536"/>
            <a:ext cx="5903913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+mn-ea"/>
              </a:rPr>
              <a:t>1.2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GB" sz="2800" b="1" u="sng" dirty="0">
                <a:solidFill>
                  <a:schemeClr val="folHlink"/>
                </a:solidFill>
                <a:latin typeface="+mn-ea"/>
                <a:hlinkClick r:id="" action="ppaction://noaction"/>
              </a:rPr>
              <a:t>移动通信的特点</a:t>
            </a:r>
            <a:endParaRPr lang="zh-CN" altLang="en-US" sz="2800" dirty="0">
              <a:solidFill>
                <a:schemeClr val="folHlink"/>
              </a:solidFill>
              <a:latin typeface="+mn-ea"/>
            </a:endParaRPr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1549400" y="2301720"/>
            <a:ext cx="6121400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diamond" w="med" len="med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19" name="AutoShape 11"/>
          <p:cNvSpPr>
            <a:spLocks noChangeArrowheads="1"/>
          </p:cNvSpPr>
          <p:nvPr/>
        </p:nvSpPr>
        <p:spPr bwMode="auto">
          <a:xfrm>
            <a:off x="1330325" y="3111568"/>
            <a:ext cx="431800" cy="270272"/>
          </a:xfrm>
          <a:prstGeom prst="flowChartDecision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57150" cmpd="thinThick">
            <a:noFill/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20" name="Text Box 1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689100" y="3003798"/>
            <a:ext cx="5903913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+mn-ea"/>
              </a:rPr>
              <a:t>1.3 </a:t>
            </a:r>
            <a:r>
              <a:rPr lang="zh-CN" altLang="en-US" sz="2800" b="1" u="sng" dirty="0">
                <a:solidFill>
                  <a:schemeClr val="folHlink"/>
                </a:solidFill>
                <a:latin typeface="+mn-ea"/>
                <a:hlinkClick r:id="" action="ppaction://noaction"/>
              </a:rPr>
              <a:t>移动通信的工作方式 </a:t>
            </a:r>
            <a:endParaRPr lang="zh-CN" altLang="en-US" sz="2800" b="1" u="sng" dirty="0">
              <a:solidFill>
                <a:schemeClr val="folHlink"/>
              </a:solidFill>
              <a:latin typeface="+mn-ea"/>
            </a:endParaRPr>
          </a:p>
        </p:txBody>
      </p:sp>
      <p:sp>
        <p:nvSpPr>
          <p:cNvPr id="119821" name="AutoShape 13"/>
          <p:cNvSpPr>
            <a:spLocks noChangeArrowheads="1"/>
          </p:cNvSpPr>
          <p:nvPr/>
        </p:nvSpPr>
        <p:spPr bwMode="auto">
          <a:xfrm>
            <a:off x="1328738" y="3597622"/>
            <a:ext cx="431800" cy="270272"/>
          </a:xfrm>
          <a:prstGeom prst="flowChartDecision">
            <a:avLst/>
          </a:prstGeom>
          <a:gradFill rotWithShape="1">
            <a:gsLst>
              <a:gs pos="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57150" cmpd="thinThick">
            <a:noFill/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22" name="Text Box 1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689100" y="3633286"/>
            <a:ext cx="5903913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zh-CN" sz="2800" b="1" dirty="0">
                <a:solidFill>
                  <a:schemeClr val="folHlink"/>
                </a:solidFill>
                <a:latin typeface="+mn-ea"/>
              </a:rPr>
              <a:t>1.4 </a:t>
            </a:r>
            <a:r>
              <a:rPr lang="zh-CN" altLang="en-US" sz="2800" b="1" u="sng" dirty="0">
                <a:solidFill>
                  <a:schemeClr val="folHlink"/>
                </a:solidFill>
                <a:latin typeface="+mn-ea"/>
                <a:hlinkClick r:id="rId2" action="ppaction://hlinksldjump"/>
              </a:rPr>
              <a:t>移动通信的分类及应用系统</a:t>
            </a:r>
            <a:endParaRPr lang="zh-CN" altLang="en-US" sz="2800" b="1" u="sng" dirty="0">
              <a:solidFill>
                <a:schemeClr val="folHlink"/>
              </a:solidFill>
              <a:latin typeface="+mn-ea"/>
            </a:endParaRPr>
          </a:p>
        </p:txBody>
      </p:sp>
      <p:sp>
        <p:nvSpPr>
          <p:cNvPr id="119824" name="Line 16"/>
          <p:cNvSpPr>
            <a:spLocks noChangeShapeType="1"/>
          </p:cNvSpPr>
          <p:nvPr/>
        </p:nvSpPr>
        <p:spPr bwMode="auto">
          <a:xfrm>
            <a:off x="1546225" y="3003798"/>
            <a:ext cx="6121400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diamond" w="med" len="med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25" name="Line 17"/>
          <p:cNvSpPr>
            <a:spLocks noChangeShapeType="1"/>
          </p:cNvSpPr>
          <p:nvPr/>
        </p:nvSpPr>
        <p:spPr bwMode="auto">
          <a:xfrm>
            <a:off x="1547664" y="3579862"/>
            <a:ext cx="6116786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diamond" w="med" len="med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  <p:sp>
        <p:nvSpPr>
          <p:cNvPr id="119826" name="Line 18"/>
          <p:cNvSpPr>
            <a:spLocks noChangeShapeType="1"/>
          </p:cNvSpPr>
          <p:nvPr/>
        </p:nvSpPr>
        <p:spPr bwMode="auto">
          <a:xfrm>
            <a:off x="1552575" y="4227934"/>
            <a:ext cx="6121400" cy="0"/>
          </a:xfrm>
          <a:prstGeom prst="line">
            <a:avLst/>
          </a:prstGeom>
          <a:noFill/>
          <a:ln w="28575">
            <a:solidFill>
              <a:srgbClr val="3366FF"/>
            </a:solidFill>
            <a:prstDash val="sysDot"/>
            <a:round/>
            <a:tailEnd type="diamond" w="med" len="med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zh-CN" altLang="en-US" sz="2800">
              <a:latin typeface="+mn-ea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346" name="Rectangle 650"/>
          <p:cNvSpPr>
            <a:spLocks noChangeArrowheads="1"/>
          </p:cNvSpPr>
          <p:nvPr/>
        </p:nvSpPr>
        <p:spPr bwMode="auto">
          <a:xfrm>
            <a:off x="179513" y="868383"/>
            <a:ext cx="8712968" cy="1961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提到移动通信，各位同学，首先会想起什么？</a:t>
            </a:r>
            <a:endParaRPr lang="en-US" altLang="zh-CN" sz="2400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手机，各种手机，小米手机、苹果手机、华为手机，短信，微信等。</a:t>
            </a:r>
            <a:r>
              <a:rPr lang="zh-CN" altLang="en-US" sz="24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那么各位同学又用过什么样的手机，或者见过什么样的手机？</a:t>
            </a:r>
            <a:endParaRPr lang="zh-CN" altLang="en-US" sz="24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pic>
        <p:nvPicPr>
          <p:cNvPr id="6146" name="Picture 2" descr="https://ss1.bdstatic.com/70cFuXSh_Q1YnxGkpoWK1HF6hhy/it/u=3550487338,756186377&amp;fm=26&amp;gp=0.jpg"/>
          <p:cNvPicPr>
            <a:picLocks noChangeAspect="1" noChangeArrowheads="1"/>
          </p:cNvPicPr>
          <p:nvPr/>
        </p:nvPicPr>
        <p:blipFill>
          <a:blip r:embed="rId2" cstate="print"/>
          <a:srcRect l="25275" r="22491"/>
          <a:stretch>
            <a:fillRect/>
          </a:stretch>
        </p:blipFill>
        <p:spPr bwMode="auto">
          <a:xfrm>
            <a:off x="2123728" y="2715766"/>
            <a:ext cx="1656184" cy="2250819"/>
          </a:xfrm>
          <a:prstGeom prst="rect">
            <a:avLst/>
          </a:prstGeom>
          <a:noFill/>
        </p:spPr>
      </p:pic>
      <p:pic>
        <p:nvPicPr>
          <p:cNvPr id="6148" name="Picture 4" descr="https://ss0.bdstatic.com/70cFvHSh_Q1YnxGkpoWK1HF6hhy/it/u=3274359231,1843474831&amp;fm=26&amp;gp=0.jpg"/>
          <p:cNvPicPr>
            <a:picLocks noChangeAspect="1" noChangeArrowheads="1"/>
          </p:cNvPicPr>
          <p:nvPr/>
        </p:nvPicPr>
        <p:blipFill>
          <a:blip r:embed="rId3" cstate="print"/>
          <a:srcRect l="11795" r="17437"/>
          <a:stretch>
            <a:fillRect/>
          </a:stretch>
        </p:blipFill>
        <p:spPr bwMode="auto">
          <a:xfrm>
            <a:off x="323528" y="2715766"/>
            <a:ext cx="1512168" cy="2136776"/>
          </a:xfrm>
          <a:prstGeom prst="rect">
            <a:avLst/>
          </a:prstGeom>
          <a:noFill/>
        </p:spPr>
      </p:pic>
      <p:pic>
        <p:nvPicPr>
          <p:cNvPr id="6150" name="Picture 6" descr="https://timgsa.baidu.com/timg?image&amp;quality=80&amp;size=b9999_10000&amp;sec=1605417096202&amp;di=83468eb38c5edc3e9e9cf9ee59553805&amp;imgtype=0&amp;src=http%3A%2F%2Fpic3.58cdn.com.cn%2Fzhuanzh%2Fn_v21ba4bc5a56a54d92a501483ec6672ee8.jpg%3Fw%3D750%26h%3D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075806"/>
            <a:ext cx="2472481" cy="1856351"/>
          </a:xfrm>
          <a:prstGeom prst="rect">
            <a:avLst/>
          </a:prstGeom>
          <a:noFill/>
        </p:spPr>
      </p:pic>
      <p:pic>
        <p:nvPicPr>
          <p:cNvPr id="6152" name="Picture 8" descr="https://timgsa.baidu.com/timg?image&amp;quality=80&amp;size=b9999_10000&amp;sec=1605417154860&amp;di=4af90128c34fe0b012e182a8fc015285&amp;imgtype=0&amp;src=http%3A%2F%2Fimage4.buy.ccb.com%2Fimages%2F55697734%2F1387530118313_4.jpg"/>
          <p:cNvPicPr>
            <a:picLocks noChangeAspect="1" noChangeArrowheads="1"/>
          </p:cNvPicPr>
          <p:nvPr/>
        </p:nvPicPr>
        <p:blipFill>
          <a:blip r:embed="rId5" cstate="print"/>
          <a:srcRect l="27382" t="7372" r="29439" b="6269"/>
          <a:stretch>
            <a:fillRect/>
          </a:stretch>
        </p:blipFill>
        <p:spPr bwMode="auto">
          <a:xfrm>
            <a:off x="7092280" y="2643758"/>
            <a:ext cx="1249871" cy="2499742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0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346" name="Rectangle 650"/>
          <p:cNvSpPr>
            <a:spLocks noChangeArrowheads="1"/>
          </p:cNvSpPr>
          <p:nvPr/>
        </p:nvSpPr>
        <p:spPr bwMode="auto">
          <a:xfrm>
            <a:off x="179513" y="868383"/>
            <a:ext cx="8712968" cy="39046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信息化的社会，人们总是期望随时随地、及时可靠、不受时空限制地进行信息交流。</a:t>
            </a:r>
            <a:endParaRPr lang="en-US" altLang="zh-CN" sz="2400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个人通信：它是用各种可能的网络技术实现任何人（</a:t>
            </a:r>
            <a:r>
              <a:rPr lang="en-US" altLang="zh-C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whoever</a:t>
            </a: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）在任何时间（</a:t>
            </a:r>
            <a:r>
              <a:rPr lang="en-US" altLang="zh-C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whenever</a:t>
            </a: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）、任何地点（</a:t>
            </a:r>
            <a:r>
              <a:rPr lang="en-US" altLang="zh-C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wherever</a:t>
            </a: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）与任何人（</a:t>
            </a:r>
            <a:r>
              <a:rPr lang="en-US" altLang="zh-C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whoever</a:t>
            </a: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）进行任何种类（</a:t>
            </a:r>
            <a:r>
              <a:rPr lang="en-US" altLang="zh-C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whatever</a:t>
            </a:r>
            <a:r>
              <a:rPr lang="zh-CN" altLang="en-US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）的信息交换。</a:t>
            </a:r>
            <a:endParaRPr lang="en-US" altLang="zh-CN" sz="2400" dirty="0" smtClean="0">
              <a:solidFill>
                <a:srgbClr val="00B0F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显然，移动通信的发展将满足个人通信的愿望。</a:t>
            </a:r>
            <a:endParaRPr lang="en-US" altLang="zh-CN" sz="2400" dirty="0" smtClean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移动通信是指通信双方或至少有一方处于运动中进行信息交换方式。</a:t>
            </a:r>
            <a:endParaRPr lang="zh-CN" altLang="en-US" sz="2400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0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0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0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0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0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0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346" name="Rectangle 650"/>
          <p:cNvSpPr>
            <a:spLocks noChangeArrowheads="1"/>
          </p:cNvSpPr>
          <p:nvPr/>
        </p:nvSpPr>
        <p:spPr bwMode="auto">
          <a:xfrm>
            <a:off x="179513" y="868383"/>
            <a:ext cx="8712968" cy="1960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移</a:t>
            </a:r>
            <a:r>
              <a:rPr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动通信是指通信双方或至少有一方处于运动中进行信息交换方式。</a:t>
            </a:r>
            <a:endParaRPr lang="zh-CN" altLang="en-US" sz="2400" dirty="0" smtClean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>
              <a:lnSpc>
                <a:spcPts val="35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移动通信的主要应用系统有无绳电话、无线寻呼、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陆地蜂窝移动通信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和卫星移动通信等。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pic>
        <p:nvPicPr>
          <p:cNvPr id="110598" name="Picture 6" descr="u=2918483113,4115173391&amp;gp=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315" y="2895600"/>
            <a:ext cx="2553970" cy="1915795"/>
          </a:xfrm>
          <a:prstGeom prst="rect">
            <a:avLst/>
          </a:prstGeom>
          <a:noFill/>
        </p:spPr>
      </p:pic>
      <p:pic>
        <p:nvPicPr>
          <p:cNvPr id="110599" name="Picture 7" descr="u=1651149303,1044909900&amp;gp=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0020" y="2895600"/>
            <a:ext cx="2576830" cy="1932940"/>
          </a:xfrm>
          <a:prstGeom prst="rect">
            <a:avLst/>
          </a:prstGeom>
          <a:noFill/>
        </p:spPr>
      </p:pic>
      <p:pic>
        <p:nvPicPr>
          <p:cNvPr id="110600" name="Picture 8" descr="u=3621756844,3533095036&amp;gp=4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15585" y="2894965"/>
            <a:ext cx="2536190" cy="1943735"/>
          </a:xfrm>
          <a:prstGeom prst="rect">
            <a:avLst/>
          </a:prstGeom>
          <a:noFill/>
        </p:spPr>
      </p:pic>
      <p:sp>
        <p:nvSpPr>
          <p:cNvPr id="2" name="椭圆形标注 1"/>
          <p:cNvSpPr/>
          <p:nvPr/>
        </p:nvSpPr>
        <p:spPr>
          <a:xfrm>
            <a:off x="4211960" y="339502"/>
            <a:ext cx="2592288" cy="1872615"/>
          </a:xfrm>
          <a:prstGeom prst="wedgeEllipseCallout">
            <a:avLst>
              <a:gd name="adj1" fmla="val 85031"/>
              <a:gd name="adj2" fmla="val 36923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20</a:t>
            </a:r>
            <a:r>
              <a:rPr lang="zh-CN" altLang="en-US" sz="2400" dirty="0">
                <a:solidFill>
                  <a:schemeClr val="tx1"/>
                </a:solidFill>
              </a:rPr>
              <a:t>世纪最伟大的科技成果之一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0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6" y="3429000"/>
            <a:ext cx="2906713" cy="144661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dirty="0" smtClean="0"/>
              <a:t>数字芯片的处理能力每个</a:t>
            </a:r>
            <a:r>
              <a:rPr lang="en-US" altLang="zh-CN" sz="2200" dirty="0" smtClean="0">
                <a:solidFill>
                  <a:srgbClr val="FF0000"/>
                </a:solidFill>
              </a:rPr>
              <a:t>18</a:t>
            </a:r>
            <a:r>
              <a:rPr lang="zh-CN" altLang="en-US" sz="2200" dirty="0" smtClean="0">
                <a:solidFill>
                  <a:srgbClr val="FF0000"/>
                </a:solidFill>
              </a:rPr>
              <a:t>月</a:t>
            </a:r>
            <a:r>
              <a:rPr lang="zh-CN" altLang="en-US" sz="2200" dirty="0" smtClean="0"/>
              <a:t>就增加</a:t>
            </a:r>
            <a:r>
              <a:rPr lang="en-US" altLang="zh-CN" sz="2200" dirty="0" smtClean="0">
                <a:solidFill>
                  <a:srgbClr val="FF0000"/>
                </a:solidFill>
              </a:rPr>
              <a:t>1</a:t>
            </a:r>
            <a:r>
              <a:rPr lang="zh-CN" altLang="en-US" sz="2200" dirty="0" smtClean="0">
                <a:solidFill>
                  <a:srgbClr val="FF0000"/>
                </a:solidFill>
              </a:rPr>
              <a:t>倍</a:t>
            </a:r>
            <a:r>
              <a:rPr lang="zh-CN" altLang="en-US" sz="2200" dirty="0" smtClean="0"/>
              <a:t>（摩尔定律）</a:t>
            </a:r>
            <a:endParaRPr lang="en-US" altLang="zh-CN" sz="22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dirty="0" smtClean="0"/>
              <a:t>用户数据速率以</a:t>
            </a:r>
            <a:r>
              <a:rPr lang="zh-CN" altLang="en-US" sz="2200" dirty="0" smtClean="0">
                <a:solidFill>
                  <a:srgbClr val="FF0000"/>
                </a:solidFill>
              </a:rPr>
              <a:t>指数形式增长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814" y="735806"/>
            <a:ext cx="5786437" cy="248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3144838" y="3219450"/>
            <a:ext cx="2881312" cy="216694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00050" latinLnBrk="1">
              <a:lnSpc>
                <a:spcPct val="80000"/>
              </a:lnSpc>
              <a:spcBef>
                <a:spcPts val="600"/>
              </a:spcBef>
              <a:defRPr/>
            </a:pPr>
            <a:r>
              <a:rPr kumimoji="1" lang="zh-CN" altLang="en-US" sz="1600" dirty="0">
                <a:latin typeface="楷体_GB2312" pitchFamily="49" charset="-122"/>
                <a:ea typeface="楷体_GB2312" pitchFamily="49" charset="-122"/>
              </a:rPr>
              <a:t>无线通信技术的速率发展速度</a:t>
            </a:r>
            <a:endParaRPr kumimoji="1" lang="en-US" altLang="zh-CN" sz="1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3995739" y="3819525"/>
            <a:ext cx="1755775" cy="8584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dirty="0" smtClean="0"/>
              <a:t>无线通信的速率每</a:t>
            </a:r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</a:rPr>
              <a:t>年</a:t>
            </a:r>
            <a:r>
              <a:rPr lang="zh-CN" altLang="en-US" dirty="0" smtClean="0"/>
              <a:t>增加</a:t>
            </a:r>
            <a:r>
              <a:rPr lang="en-US" altLang="zh-CN" dirty="0" smtClean="0">
                <a:solidFill>
                  <a:srgbClr val="FF0000"/>
                </a:solidFill>
              </a:rPr>
              <a:t>10</a:t>
            </a:r>
            <a:r>
              <a:rPr lang="zh-CN" altLang="en-US" dirty="0" smtClean="0">
                <a:solidFill>
                  <a:srgbClr val="FF0000"/>
                </a:solidFill>
              </a:rPr>
              <a:t>倍</a:t>
            </a:r>
            <a:endParaRPr lang="en-US" altLang="zh-CN" sz="1800" dirty="0" smtClean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0" name="燕尾形 9"/>
          <p:cNvSpPr/>
          <p:nvPr/>
        </p:nvSpPr>
        <p:spPr bwMode="auto">
          <a:xfrm>
            <a:off x="3276601" y="4056460"/>
            <a:ext cx="531813" cy="390525"/>
          </a:xfrm>
          <a:prstGeom prst="chevron">
            <a:avLst>
              <a:gd name="adj" fmla="val 33674"/>
            </a:avLst>
          </a:prstGeom>
          <a:solidFill>
            <a:srgbClr val="FFC000"/>
          </a:solidFill>
          <a:ln>
            <a:headEnd type="triangle" w="sm" len="lg"/>
            <a:tailEnd type="triangle" w="sm" len="lg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>
              <a:defRPr/>
            </a:pPr>
            <a:endParaRPr kumimoji="1" lang="zh-CN" altLang="en-US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1" name="内容占位符 2"/>
          <p:cNvSpPr txBox="1"/>
          <p:nvPr/>
        </p:nvSpPr>
        <p:spPr bwMode="auto">
          <a:xfrm>
            <a:off x="6588126" y="3429000"/>
            <a:ext cx="2447925" cy="14585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000" dirty="0" smtClean="0"/>
              <a:t>通信高速发展带来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solidFill>
                  <a:srgbClr val="FF0000"/>
                </a:solidFill>
              </a:rPr>
              <a:t>频谱资源紧张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solidFill>
                  <a:srgbClr val="FF0000"/>
                </a:solidFill>
              </a:rPr>
              <a:t>能量资源浪费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zh-CN" altLang="en-US" sz="2000" dirty="0" smtClean="0">
                <a:solidFill>
                  <a:srgbClr val="FF0000"/>
                </a:solidFill>
              </a:rPr>
              <a:t>运营商利润降低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5940426" y="4025504"/>
            <a:ext cx="531813" cy="390525"/>
          </a:xfrm>
          <a:prstGeom prst="chevron">
            <a:avLst>
              <a:gd name="adj" fmla="val 33674"/>
            </a:avLst>
          </a:prstGeom>
          <a:solidFill>
            <a:srgbClr val="FFC000"/>
          </a:solidFill>
          <a:ln>
            <a:headEnd type="triangle" w="sm" len="lg"/>
            <a:tailEnd type="triangle" w="sm" len="lg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>
              <a:defRPr/>
            </a:pPr>
            <a:endParaRPr kumimoji="1" lang="zh-CN" altLang="en-US">
              <a:solidFill>
                <a:schemeClr val="tx1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14" name="图片 13" descr="5bc6fc52-b49d-4298-b410-192e1f0ef3a5.gif"/>
          <p:cNvPicPr>
            <a:picLocks noChangeAspect="1"/>
          </p:cNvPicPr>
          <p:nvPr/>
        </p:nvPicPr>
        <p:blipFill>
          <a:blip r:embed="rId2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5" name="Rectangle 2"/>
          <p:cNvSpPr txBox="1">
            <a:spLocks noRot="1" noChangeArrowheads="1"/>
          </p:cNvSpPr>
          <p:nvPr/>
        </p:nvSpPr>
        <p:spPr>
          <a:xfrm>
            <a:off x="298450" y="388386"/>
            <a:ext cx="8540750" cy="509178"/>
          </a:xfrm>
          <a:prstGeom prst="rect">
            <a:avLst/>
          </a:prstGeom>
        </p:spPr>
        <p:txBody>
          <a:bodyPr vert="horz" anchor="b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1.1 </a:t>
            </a:r>
            <a:r>
              <a:rPr kumimoji="0" lang="zh-CN" altLang="en-US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移动通信发展简述 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charset="-128"/>
              <a:ea typeface="+mj-ea"/>
              <a:cs typeface="+mj-cs"/>
            </a:endParaRPr>
          </a:p>
        </p:txBody>
      </p:sp>
      <p:sp>
        <p:nvSpPr>
          <p:cNvPr id="17" name="云形标注 16"/>
          <p:cNvSpPr/>
          <p:nvPr/>
        </p:nvSpPr>
        <p:spPr>
          <a:xfrm>
            <a:off x="2771800" y="627534"/>
            <a:ext cx="4536504" cy="2160240"/>
          </a:xfrm>
          <a:prstGeom prst="cloudCallou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移动通信的飞速发展是超乎寻常的，它是</a:t>
            </a:r>
            <a:r>
              <a:rPr lang="en-US" altLang="zh-CN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20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世纪人类最伟大的科技成果之一。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  <p:bldP spid="7" grpId="0" animBg="1"/>
      <p:bldP spid="9" grpId="0" animBg="1"/>
      <p:bldP spid="10" grpId="0" animBg="1"/>
      <p:bldP spid="11" grpId="0" animBg="1"/>
      <p:bldP spid="13" grpId="0" animBg="1"/>
      <p:bldP spid="17" grpId="0" animBg="1"/>
      <p:bldP spid="1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pic>
        <p:nvPicPr>
          <p:cNvPr id="15" name="Picture 4" descr="https://ss0.bdstatic.com/70cFvHSh_Q1YnxGkpoWK1HF6hhy/it/u=3274359231,1843474831&amp;fm=26&amp;gp=0.jpg"/>
          <p:cNvPicPr>
            <a:picLocks noChangeAspect="1" noChangeArrowheads="1"/>
          </p:cNvPicPr>
          <p:nvPr/>
        </p:nvPicPr>
        <p:blipFill>
          <a:blip r:embed="rId2" cstate="print"/>
          <a:srcRect l="11795" r="17437"/>
          <a:stretch>
            <a:fillRect/>
          </a:stretch>
        </p:blipFill>
        <p:spPr bwMode="auto">
          <a:xfrm>
            <a:off x="1979712" y="2859782"/>
            <a:ext cx="1512168" cy="2136776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95536" y="1059582"/>
            <a:ext cx="8064896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1G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也称第一代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蜂窝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移动移动通信系统，始于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世纪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70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年代末，是模拟通信系统，采用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FDMA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（频分多址）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接入方式。典型代表有美国的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AMPS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、欧洲的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TACS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。目前已淘汰。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1746" name="Picture 2" descr="https://ss0.bdstatic.com/70cFuHSh_Q1YnxGkpoWK1HF6hhy/it/u=1796264749,1050666909&amp;fm=26&amp;gp=0.jpg"/>
          <p:cNvPicPr>
            <a:picLocks noChangeAspect="1" noChangeArrowheads="1"/>
          </p:cNvPicPr>
          <p:nvPr/>
        </p:nvPicPr>
        <p:blipFill>
          <a:blip r:embed="rId3" cstate="print"/>
          <a:srcRect l="34776" t="40742" r="18353"/>
          <a:stretch>
            <a:fillRect/>
          </a:stretch>
        </p:blipFill>
        <p:spPr bwMode="auto">
          <a:xfrm>
            <a:off x="3419872" y="2931790"/>
            <a:ext cx="2232248" cy="1885206"/>
          </a:xfrm>
          <a:prstGeom prst="rect">
            <a:avLst/>
          </a:prstGeom>
          <a:noFill/>
        </p:spPr>
      </p:pic>
      <p:pic>
        <p:nvPicPr>
          <p:cNvPr id="31748" name="Picture 4" descr="https://timgsa.baidu.com/timg?image&amp;quality=80&amp;size=b9999_10000&amp;sec=1605500899107&amp;di=0bf857fe3843d2ed09d9d01b221643c3&amp;imgtype=0&amp;src=http%3A%2F%2Fbpic.588ku.com%2Felement_pic%2F20%2F06%2F30%2F5d88b2c9fe17981ddddff703c5dffd36.jpg%2521%2Ffw%2F253%2Fquality%2F90%2Funsharp%2Ftrue%2Fcompress%2Ftrue"/>
          <p:cNvPicPr>
            <a:picLocks noChangeAspect="1" noChangeArrowheads="1"/>
          </p:cNvPicPr>
          <p:nvPr/>
        </p:nvPicPr>
        <p:blipFill>
          <a:blip r:embed="rId4" cstate="print"/>
          <a:srcRect l="11952" t="8964" r="22309" b="19321"/>
          <a:stretch>
            <a:fillRect/>
          </a:stretch>
        </p:blipFill>
        <p:spPr bwMode="auto">
          <a:xfrm>
            <a:off x="755576" y="3003798"/>
            <a:ext cx="1584176" cy="1728192"/>
          </a:xfrm>
          <a:prstGeom prst="rect">
            <a:avLst/>
          </a:prstGeom>
          <a:noFill/>
        </p:spPr>
      </p:pic>
      <p:sp>
        <p:nvSpPr>
          <p:cNvPr id="13" name="燕尾形箭头 12"/>
          <p:cNvSpPr/>
          <p:nvPr/>
        </p:nvSpPr>
        <p:spPr>
          <a:xfrm>
            <a:off x="2483768" y="3579862"/>
            <a:ext cx="720080" cy="576064"/>
          </a:xfrm>
          <a:prstGeom prst="notchedRightArrow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750" name="Picture 6" descr="https://timgsa.baidu.com/timg?image&amp;quality=80&amp;size=b9999_10000&amp;sec=1605500997850&amp;di=c0641429fe8ea449c164f915acca581d&amp;imgtype=0&amp;src=http%3A%2F%2Fwww.elecfans.com%2Fuploads%2Fallimg%2F171225%2F2749555-1G2250913164A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2787774"/>
            <a:ext cx="4388921" cy="2167617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13" grpId="0" animBg="1"/>
      <p:bldP spid="1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51520" y="915566"/>
            <a:ext cx="8496944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第二代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数字蜂窝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移动通信系统，始于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世纪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年代初，典型代表有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GSM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系统和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CDMA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GSM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，采用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TDMA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（时分多址）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接入方式，是迄今为止最为成功的全球性移动通信系统。最初它是作为欧洲系统来开发的，但在欧洲推广应用的同时，整个世界范围内就已经开始了对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GSM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的广泛应用，并逐渐成为了全球性的移动通信标准。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" name="Picture 2" descr="https://ss1.bdstatic.com/70cFuXSh_Q1YnxGkpoWK1HF6hhy/it/u=3550487338,756186377&amp;fm=26&amp;gp=0.jpg"/>
          <p:cNvPicPr>
            <a:picLocks noChangeAspect="1" noChangeArrowheads="1"/>
          </p:cNvPicPr>
          <p:nvPr/>
        </p:nvPicPr>
        <p:blipFill>
          <a:blip r:embed="rId2" cstate="print"/>
          <a:srcRect l="25275" r="22491"/>
          <a:stretch>
            <a:fillRect/>
          </a:stretch>
        </p:blipFill>
        <p:spPr bwMode="auto">
          <a:xfrm>
            <a:off x="2987824" y="915566"/>
            <a:ext cx="1656184" cy="2250819"/>
          </a:xfrm>
          <a:prstGeom prst="rect">
            <a:avLst/>
          </a:prstGeom>
          <a:noFill/>
        </p:spPr>
      </p:pic>
      <p:pic>
        <p:nvPicPr>
          <p:cNvPr id="19" name="Picture 6" descr="https://timgsa.baidu.com/timg?image&amp;quality=80&amp;size=b9999_10000&amp;sec=1605417096202&amp;di=83468eb38c5edc3e9e9cf9ee59553805&amp;imgtype=0&amp;src=http%3A%2F%2Fpic3.58cdn.com.cn%2Fzhuanzh%2Fn_v21ba4bc5a56a54d92a501483ec6672ee8.jpg%3Fw%3D750%26h%3D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275606"/>
            <a:ext cx="2472481" cy="1856351"/>
          </a:xfrm>
          <a:prstGeom prst="rect">
            <a:avLst/>
          </a:prstGeom>
          <a:noFill/>
        </p:spPr>
      </p:pic>
      <p:sp>
        <p:nvSpPr>
          <p:cNvPr id="20" name="云形标注 19"/>
          <p:cNvSpPr/>
          <p:nvPr/>
        </p:nvSpPr>
        <p:spPr>
          <a:xfrm>
            <a:off x="3203848" y="3075806"/>
            <a:ext cx="3384376" cy="1728192"/>
          </a:xfrm>
          <a:prstGeom prst="cloudCallout">
            <a:avLst>
              <a:gd name="adj1" fmla="val -70616"/>
              <a:gd name="adj2" fmla="val -5142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002060"/>
                </a:solidFill>
              </a:rPr>
              <a:t>中国联通和中国移动的</a:t>
            </a:r>
            <a:r>
              <a:rPr lang="en-US" altLang="zh-CN" sz="2400" dirty="0" smtClean="0">
                <a:solidFill>
                  <a:srgbClr val="002060"/>
                </a:solidFill>
              </a:rPr>
              <a:t>2G</a:t>
            </a:r>
            <a:r>
              <a:rPr lang="zh-CN" altLang="en-US" sz="2400" dirty="0" smtClean="0">
                <a:solidFill>
                  <a:srgbClr val="002060"/>
                </a:solidFill>
              </a:rPr>
              <a:t>网络是</a:t>
            </a:r>
            <a:r>
              <a:rPr lang="en-US" altLang="zh-CN" sz="2400" dirty="0" smtClean="0">
                <a:solidFill>
                  <a:srgbClr val="002060"/>
                </a:solidFill>
              </a:rPr>
              <a:t>GSM</a:t>
            </a:r>
            <a:r>
              <a:rPr lang="zh-CN" altLang="en-US" sz="2400" dirty="0" smtClean="0">
                <a:solidFill>
                  <a:srgbClr val="002060"/>
                </a:solidFill>
              </a:rPr>
              <a:t>系统。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51520" y="915566"/>
            <a:ext cx="8496944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我国三大运营商已经开始进行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网络的清退工作。中国联通在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年已全面完成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退网，中国电信在逐渐实现了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网络的退出。而中国移动在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日宣布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网络彻底退网。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网络的频谱将进行重新分配给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网络使用，但仍有部分用户在使用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网络。主要包括一些不愿更换手机终端的中老年人、只保留电话功能的特殊人群，以及仍在使用的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物联网终端设备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512" y="915566"/>
            <a:ext cx="8496944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CDMA</a:t>
            </a:r>
            <a:r>
              <a:rPr lang="zh-CN" altLang="en-US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系统：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1995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年美国高通公司（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Qualcomm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）正式推出的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CDMA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标准，特点：系统区分地址时在频率、时间和空间上是重叠的，这种技术带来的好处有：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）多种形式的分集（时间分集、空间分集和频率分集）；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）低的发射功率；（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）保密性；（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）软切换；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）大容量；（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）话音激活技术；（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）频率再用及扇区化；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）低的信噪比或载干比需求；（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）软件容量。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4283968" y="2067694"/>
            <a:ext cx="2952328" cy="2376264"/>
          </a:xfrm>
          <a:prstGeom prst="cloudCallout">
            <a:avLst>
              <a:gd name="adj1" fmla="val -104398"/>
              <a:gd name="adj2" fmla="val -31228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002060"/>
                </a:solidFill>
              </a:rPr>
              <a:t>中国电信的</a:t>
            </a:r>
            <a:r>
              <a:rPr lang="en-US" altLang="zh-CN" sz="2400" dirty="0" smtClean="0">
                <a:solidFill>
                  <a:srgbClr val="002060"/>
                </a:solidFill>
              </a:rPr>
              <a:t>2G</a:t>
            </a:r>
            <a:r>
              <a:rPr lang="zh-CN" altLang="en-US" sz="2400" dirty="0" smtClean="0">
                <a:solidFill>
                  <a:srgbClr val="002060"/>
                </a:solidFill>
              </a:rPr>
              <a:t>网络采用的是</a:t>
            </a:r>
            <a:r>
              <a:rPr lang="en-US" altLang="zh-CN" sz="2400" dirty="0" smtClean="0">
                <a:solidFill>
                  <a:srgbClr val="002060"/>
                </a:solidFill>
              </a:rPr>
              <a:t>CDMA</a:t>
            </a:r>
            <a:r>
              <a:rPr lang="zh-CN" altLang="en-US" sz="2400" dirty="0" smtClean="0">
                <a:solidFill>
                  <a:srgbClr val="002060"/>
                </a:solidFill>
              </a:rPr>
              <a:t>系统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512" y="951570"/>
            <a:ext cx="849694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第三代数字蜂窝移动通信系统。有三个国际标准：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欧洲的</a:t>
            </a: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WCDMA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，北美的</a:t>
            </a: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CDMA2000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和中国的</a:t>
            </a: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TD-SCDMA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主要特点：高速传输以支持多媒体业务。室内环境至少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2Mb/s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，室外步行环境至少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384Kb/s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，室外车辆环境至少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144Kb/s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074" name="Picture 2" descr="https://timgsa.baidu.com/timg?image&amp;quality=80&amp;size=b9999_10000&amp;sec=1605453644371&amp;di=496f08f30ad6ac078322318e3773f7c3&amp;imgtype=0&amp;src=http%3A%2F%2F5b0988e595225.cdn.sohucs.com%2Fimages%2F20190503%2Fa16761c71a38416ea227d4513c2a9341.png"/>
          <p:cNvPicPr>
            <a:picLocks noChangeAspect="1" noChangeArrowheads="1"/>
          </p:cNvPicPr>
          <p:nvPr/>
        </p:nvPicPr>
        <p:blipFill>
          <a:blip r:embed="rId2" cstate="print"/>
          <a:srcRect r="50570" b="39354"/>
          <a:stretch>
            <a:fillRect/>
          </a:stretch>
        </p:blipFill>
        <p:spPr bwMode="auto">
          <a:xfrm>
            <a:off x="5076056" y="2362378"/>
            <a:ext cx="2808312" cy="2297022"/>
          </a:xfrm>
          <a:prstGeom prst="rect">
            <a:avLst/>
          </a:prstGeom>
          <a:noFill/>
        </p:spPr>
      </p:pic>
      <p:pic>
        <p:nvPicPr>
          <p:cNvPr id="3076" name="Picture 4" descr="https://timgsa.baidu.com/timg?image&amp;quality=80&amp;size=b9999_10000&amp;sec=1605453644371&amp;di=496f08f30ad6ac078322318e3773f7c3&amp;imgtype=0&amp;src=http%3A%2F%2F5b0988e595225.cdn.sohucs.com%2Fimages%2F20190503%2Fa16761c71a38416ea227d4513c2a9341.png"/>
          <p:cNvPicPr>
            <a:picLocks noChangeAspect="1" noChangeArrowheads="1"/>
          </p:cNvPicPr>
          <p:nvPr/>
        </p:nvPicPr>
        <p:blipFill>
          <a:blip r:embed="rId2" cstate="print"/>
          <a:srcRect l="60091" b="39354"/>
          <a:stretch>
            <a:fillRect/>
          </a:stretch>
        </p:blipFill>
        <p:spPr bwMode="auto">
          <a:xfrm>
            <a:off x="1763688" y="2427734"/>
            <a:ext cx="2370684" cy="2401702"/>
          </a:xfrm>
          <a:prstGeom prst="rect">
            <a:avLst/>
          </a:prstGeom>
          <a:noFill/>
        </p:spPr>
      </p:pic>
      <p:pic>
        <p:nvPicPr>
          <p:cNvPr id="3078" name="Picture 6" descr="https://timgsa.baidu.com/timg?image&amp;quality=80&amp;size=b9999_10000&amp;sec=1605453644371&amp;di=496f08f30ad6ac078322318e3773f7c3&amp;imgtype=0&amp;src=http%3A%2F%2F5b0988e595225.cdn.sohucs.com%2Fimages%2F20190503%2Fa16761c71a38416ea227d4513c2a9341.png"/>
          <p:cNvPicPr>
            <a:picLocks noChangeAspect="1" noChangeArrowheads="1"/>
          </p:cNvPicPr>
          <p:nvPr/>
        </p:nvPicPr>
        <p:blipFill>
          <a:blip r:embed="rId2" cstate="print"/>
          <a:srcRect l="11631" t="74245" r="13740"/>
          <a:stretch>
            <a:fillRect/>
          </a:stretch>
        </p:blipFill>
        <p:spPr bwMode="auto">
          <a:xfrm>
            <a:off x="1979712" y="0"/>
            <a:ext cx="5544616" cy="1275606"/>
          </a:xfrm>
          <a:prstGeom prst="rect">
            <a:avLst/>
          </a:prstGeom>
          <a:noFill/>
        </p:spPr>
      </p:pic>
      <p:sp>
        <p:nvSpPr>
          <p:cNvPr id="20" name="下箭头 19"/>
          <p:cNvSpPr/>
          <p:nvPr/>
        </p:nvSpPr>
        <p:spPr>
          <a:xfrm rot="3414977">
            <a:off x="1378365" y="755719"/>
            <a:ext cx="504056" cy="999689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 rot="11561282">
            <a:off x="2470885" y="1899768"/>
            <a:ext cx="504056" cy="594408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 rot="9949887">
            <a:off x="5479224" y="1915076"/>
            <a:ext cx="504056" cy="725104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512" y="951570"/>
            <a:ext cx="8496944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400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目前运营商一直在陆续清退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网络，将更多资源放在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网络上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，但在清退工作全面完成之前，可能仍有部分地区或特定情况下的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网络在用。</a:t>
            </a:r>
            <a:endParaRPr lang="zh-CN" altLang="en-US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3528" y="1059582"/>
            <a:ext cx="8496944" cy="364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。3GPP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（第三代合作伙伴计划）提出基于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OFDM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（正交频分复用）、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MIMO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（多输入多输出）天线技术的准4G移动通信系统，即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 LTE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 Long Term Evolution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长期演进），其主要特点：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20MHz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带宽下提供下行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100Mbit/s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，上行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50Mbit/s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的峰值速率；（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）相对于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大大提高小区的容量；</a:t>
            </a:r>
            <a:endParaRPr lang="zh-CN" altLang="en-US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）网络延迟大大降低，数据平面单向传输延时低于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5ms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，控制平面从睡眠态到激活太迁移低于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50ms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，驻留态到激活态迁移低于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3528" y="1059582"/>
            <a:ext cx="8496944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，第四代移动通信系统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国际电信联盟无线电通信组标准化组织（ITU-R）的IMT-Advanced；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无论是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LTE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还是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IEEE 802.16m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都在向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IMT-Advanced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标准化演进。其技术特点：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100MHz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带宽，下行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1Gbit/s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，上行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500Mbit/s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的峰值速率；</a:t>
            </a:r>
            <a:endParaRPr lang="zh-CN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）下行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30bit/(s.Hz)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，上行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bit/(s.Hz)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的峰值频带利用率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）有效支持新频段、离散频段和大带宽应用等。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Picture 8" descr="https://timgsa.baidu.com/timg?image&amp;quality=80&amp;size=b9999_10000&amp;sec=1605417154860&amp;di=4af90128c34fe0b012e182a8fc015285&amp;imgtype=0&amp;src=http%3A%2F%2Fimage4.buy.ccb.com%2Fimages%2F55697734%2F1387530118313_4.jpg"/>
          <p:cNvPicPr>
            <a:picLocks noChangeAspect="1" noChangeArrowheads="1"/>
          </p:cNvPicPr>
          <p:nvPr/>
        </p:nvPicPr>
        <p:blipFill>
          <a:blip r:embed="rId2" cstate="print"/>
          <a:srcRect l="27382" t="7372" r="29439" b="6269"/>
          <a:stretch>
            <a:fillRect/>
          </a:stretch>
        </p:blipFill>
        <p:spPr bwMode="auto">
          <a:xfrm>
            <a:off x="2195855" y="1656854"/>
            <a:ext cx="1249871" cy="2499742"/>
          </a:xfrm>
          <a:prstGeom prst="rect">
            <a:avLst/>
          </a:prstGeom>
          <a:noFill/>
        </p:spPr>
      </p:pic>
      <p:pic>
        <p:nvPicPr>
          <p:cNvPr id="12" name="Picture 2" descr="https://ss3.bdstatic.com/70cFv8Sh_Q1YnxGkpoWK1HF6hhy/it/u=2297051467,1081486454&amp;fm=26&amp;gp=0.jpg"/>
          <p:cNvPicPr>
            <a:picLocks noChangeAspect="1" noChangeArrowheads="1"/>
          </p:cNvPicPr>
          <p:nvPr/>
        </p:nvPicPr>
        <p:blipFill>
          <a:blip r:embed="rId3" cstate="print"/>
          <a:srcRect l="27216" t="8201" r="25913" b="5617"/>
          <a:stretch>
            <a:fillRect/>
          </a:stretch>
        </p:blipFill>
        <p:spPr bwMode="auto">
          <a:xfrm>
            <a:off x="4788148" y="1348239"/>
            <a:ext cx="1409841" cy="2592288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536" y="988080"/>
            <a:ext cx="7776864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2015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年，为顺应未来爆炸性数据流量增长、海量设备接入和各类新业务与多样应用场景的发展走势，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ITU-R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制定了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IMT-2020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的需求，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IMT-2020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又称为</a:t>
            </a: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将为社会提供全方位的信息生态系统，实现人与万物智能互联的愿景。</a:t>
            </a:r>
            <a:endParaRPr lang="zh-CN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的三大应用场景为：</a:t>
            </a:r>
            <a:endParaRPr lang="zh-CN" altLang="en-US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）增强型移动宽带（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eMBB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）超高可靠低时延通信（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uRLLC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）；</a:t>
            </a:r>
            <a:endParaRPr lang="zh-CN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）海量机器类通信（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mMTC</a:t>
            </a:r>
            <a:r>
              <a:rPr lang="zh-CN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8170" y="771525"/>
            <a:ext cx="548640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536" y="988080"/>
            <a:ext cx="7776864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2020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年完成初始标准化版本后，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3GPP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陆续引入新的场景和业务，包括</a:t>
            </a:r>
            <a:r>
              <a:rPr lang="en-US" altLang="zh-CN" sz="2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RedCap</a:t>
            </a:r>
            <a:r>
              <a:rPr lang="zh-CN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Reduced Capability new radio devices,</a:t>
            </a:r>
            <a:r>
              <a:rPr lang="zh-CN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新无线电性能简化设备，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为那些不需要完整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能力的设备提供简化版本的通信支持，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通过降低部分功能来降低成本和复杂度，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如工业传感器和执行器、智能手表等），</a:t>
            </a:r>
            <a:r>
              <a:rPr lang="en-US" altLang="zh-CN" sz="2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NTN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Non-Terrestrial Networks</a:t>
            </a:r>
            <a:r>
              <a:rPr lang="zh-CN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非地面网络技术的简称，是基于新空口技术的终端与卫星直接通信技术，包括卫星通信网络和高空平台系统，以及空对地网络等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。）</a:t>
            </a:r>
            <a:endParaRPr lang="zh-CN" altLang="en-US" sz="2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536" y="988080"/>
            <a:ext cx="7776864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2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MBS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Multicast and Broadcast Services,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一种新的广播组播标准，旨在通过广播的传输方式将多媒体内容传送给用户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‌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。它允许用户在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同一时间、同一内容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下接收内容数据，且不受移动网络信号的影响，甚至在手机无网络、不插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SIM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卡的情况下也能接收高清电视节目或其他多媒体内容。</a:t>
            </a:r>
            <a:endParaRPr lang="zh-CN" altLang="en-US" sz="22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0826" y="789385"/>
            <a:ext cx="8289925" cy="3794522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71805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86205" indent="-4572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20000"/>
              </a:spcBef>
              <a:defRPr/>
            </a:pPr>
            <a:endParaRPr kumimoji="1" lang="en-US" altLang="zh-CN" sz="2200" b="1" dirty="0" smtClean="0">
              <a:solidFill>
                <a:srgbClr val="333399"/>
              </a:solidFill>
              <a:ea typeface="楷体_GB2312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kumimoji="1" lang="en-US" altLang="zh-CN" sz="2200" b="1" dirty="0" smtClean="0">
                <a:solidFill>
                  <a:srgbClr val="333399"/>
                </a:solidFill>
                <a:ea typeface="楷体_GB2312" pitchFamily="49" charset="-122"/>
              </a:rPr>
              <a:t>   </a:t>
            </a:r>
            <a:endParaRPr kumimoji="1" lang="en-US" altLang="zh-CN" sz="2200" b="1" dirty="0" smtClean="0">
              <a:solidFill>
                <a:srgbClr val="0066FF"/>
              </a:solidFill>
              <a:ea typeface="楷体_GB2312" pitchFamily="49" charset="-122"/>
            </a:endParaRPr>
          </a:p>
          <a:p>
            <a:pPr lvl="1" algn="l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defRPr/>
            </a:pPr>
            <a:r>
              <a:rPr kumimoji="1" lang="en-US" altLang="zh-CN" sz="2200" dirty="0" smtClean="0">
                <a:solidFill>
                  <a:srgbClr val="0066FF"/>
                </a:solidFill>
                <a:ea typeface="楷体_GB2312" pitchFamily="49" charset="-122"/>
              </a:rPr>
              <a:t>	</a:t>
            </a:r>
            <a:endParaRPr kumimoji="1" lang="en-US" altLang="zh-CN" sz="2200" b="1" dirty="0" smtClean="0">
              <a:solidFill>
                <a:srgbClr val="0066FF"/>
              </a:solidFill>
              <a:ea typeface="楷体_GB2312" pitchFamily="49" charset="-122"/>
            </a:endParaRPr>
          </a:p>
        </p:txBody>
      </p:sp>
      <p:sp>
        <p:nvSpPr>
          <p:cNvPr id="1031" name="Rectangle 10"/>
          <p:cNvSpPr>
            <a:spLocks noChangeArrowheads="1"/>
          </p:cNvSpPr>
          <p:nvPr/>
        </p:nvSpPr>
        <p:spPr bwMode="auto">
          <a:xfrm>
            <a:off x="0" y="-184987"/>
            <a:ext cx="186013" cy="369974"/>
          </a:xfrm>
          <a:prstGeom prst="rect">
            <a:avLst/>
          </a:prstGeom>
          <a:noFill/>
          <a:ln w="38100" algn="ctr">
            <a:noFill/>
            <a:miter lim="800000"/>
            <a:tailEnd type="none" w="sm" len="med"/>
          </a:ln>
          <a:effectLst>
            <a:prstShdw prst="shdw12">
              <a:srgbClr val="808080">
                <a:alpha val="50000"/>
              </a:srgbClr>
            </a:prstShdw>
          </a:effec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/>
          <p:cNvSpPr txBox="1"/>
          <p:nvPr/>
        </p:nvSpPr>
        <p:spPr>
          <a:xfrm>
            <a:off x="900311" y="141710"/>
            <a:ext cx="5975945" cy="4227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91" tIns="34295" rIns="68591" bIns="34295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9.2 5G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图片 10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63763" b="38327"/>
          <a:stretch>
            <a:fillRect/>
          </a:stretch>
        </p:blipFill>
        <p:spPr>
          <a:xfrm>
            <a:off x="0" y="0"/>
            <a:ext cx="755576" cy="648072"/>
          </a:xfrm>
          <a:prstGeom prst="rect">
            <a:avLst/>
          </a:prstGeom>
        </p:spPr>
      </p:pic>
      <p:pic>
        <p:nvPicPr>
          <p:cNvPr id="12" name="图片 11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36267" t="33821" r="11138" b="38327"/>
          <a:stretch>
            <a:fillRect/>
          </a:stretch>
        </p:blipFill>
        <p:spPr>
          <a:xfrm>
            <a:off x="7308304" y="4495428"/>
            <a:ext cx="1835696" cy="648072"/>
          </a:xfrm>
          <a:prstGeom prst="rect">
            <a:avLst/>
          </a:prstGeom>
        </p:spPr>
      </p:pic>
      <p:pic>
        <p:nvPicPr>
          <p:cNvPr id="13" name="图片 12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36267" t="33821" r="11138" b="38327"/>
          <a:stretch>
            <a:fillRect/>
          </a:stretch>
        </p:blipFill>
        <p:spPr>
          <a:xfrm>
            <a:off x="7308304" y="4495428"/>
            <a:ext cx="1835696" cy="6480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75856" y="958069"/>
            <a:ext cx="5256584" cy="360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10~20Gb/s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的峰值速率，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100M~1Gb/s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的用户体验速率；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相对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系统提升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3~5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倍的频谱效率；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500km/h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的移动性支持；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1ms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的空口时延；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每平方公里百万的连接数密度；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相对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系统百倍提升的网络能量效率；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每平方米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10Mb/s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的流量密度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ectangle 2"/>
          <p:cNvSpPr txBox="1">
            <a:spLocks noRot="1" noChangeArrowheads="1"/>
          </p:cNvSpPr>
          <p:nvPr/>
        </p:nvSpPr>
        <p:spPr>
          <a:xfrm>
            <a:off x="298450" y="388386"/>
            <a:ext cx="8540750" cy="509178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1.1 </a:t>
            </a:r>
            <a:r>
              <a:rPr kumimoji="0" lang="zh-CN" altLang="en-US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移动通信发展简述 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charset="-128"/>
              <a:ea typeface="+mj-ea"/>
              <a:cs typeface="+mj-cs"/>
            </a:endParaRPr>
          </a:p>
        </p:txBody>
      </p:sp>
      <p:pic>
        <p:nvPicPr>
          <p:cNvPr id="17" name="图片 16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8" name="AutoShape 3"/>
          <p:cNvSpPr>
            <a:spLocks noChangeArrowheads="1"/>
          </p:cNvSpPr>
          <p:nvPr/>
        </p:nvSpPr>
        <p:spPr bwMode="gray">
          <a:xfrm>
            <a:off x="107951" y="1168004"/>
            <a:ext cx="2987675" cy="3314700"/>
          </a:xfrm>
          <a:prstGeom prst="rightArrow">
            <a:avLst>
              <a:gd name="adj1" fmla="val 62787"/>
              <a:gd name="adj2" fmla="val 41259"/>
            </a:avLst>
          </a:prstGeom>
          <a:gradFill rotWithShape="1">
            <a:gsLst>
              <a:gs pos="0">
                <a:schemeClr val="bg2">
                  <a:gamma/>
                  <a:tint val="0"/>
                  <a:invGamma/>
                  <a:alpha val="0"/>
                </a:schemeClr>
              </a:gs>
              <a:gs pos="100000">
                <a:schemeClr val="bg2">
                  <a:alpha val="50000"/>
                </a:schemeClr>
              </a:gs>
            </a:gsLst>
            <a:lin ang="0" scaled="1"/>
          </a:gradFill>
          <a:ln w="19050" cap="rnd" algn="ctr">
            <a:solidFill>
              <a:schemeClr val="bg2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8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5G</a:t>
            </a:r>
            <a:r>
              <a:rPr lang="zh-CN" altLang="en-US" sz="28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的能力指标</a:t>
            </a:r>
            <a:endParaRPr lang="zh-CN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0826" y="789385"/>
            <a:ext cx="8289925" cy="3794522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>
            <a:lvl1pPr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71805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86205" indent="-4572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DC5C7A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20000"/>
              </a:spcBef>
              <a:defRPr/>
            </a:pPr>
            <a:endParaRPr kumimoji="1" lang="en-US" altLang="zh-CN" sz="2200" b="1" dirty="0" smtClean="0">
              <a:solidFill>
                <a:srgbClr val="333399"/>
              </a:solidFill>
              <a:ea typeface="楷体_GB2312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kumimoji="1" lang="en-US" altLang="zh-CN" sz="2200" b="1" dirty="0" smtClean="0">
                <a:solidFill>
                  <a:srgbClr val="333399"/>
                </a:solidFill>
                <a:ea typeface="楷体_GB2312" pitchFamily="49" charset="-122"/>
              </a:rPr>
              <a:t>   </a:t>
            </a:r>
            <a:endParaRPr kumimoji="1" lang="en-US" altLang="zh-CN" sz="2200" b="1" dirty="0" smtClean="0">
              <a:solidFill>
                <a:srgbClr val="0066FF"/>
              </a:solidFill>
              <a:ea typeface="楷体_GB2312" pitchFamily="49" charset="-122"/>
            </a:endParaRPr>
          </a:p>
          <a:p>
            <a:pPr lvl="1" algn="l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defRPr/>
            </a:pPr>
            <a:r>
              <a:rPr kumimoji="1" lang="en-US" altLang="zh-CN" sz="2200" dirty="0" smtClean="0">
                <a:solidFill>
                  <a:srgbClr val="0066FF"/>
                </a:solidFill>
                <a:ea typeface="楷体_GB2312" pitchFamily="49" charset="-122"/>
              </a:rPr>
              <a:t>	</a:t>
            </a:r>
            <a:endParaRPr kumimoji="1" lang="en-US" altLang="zh-CN" sz="2200" b="1" dirty="0" smtClean="0">
              <a:solidFill>
                <a:srgbClr val="0066FF"/>
              </a:solidFill>
              <a:ea typeface="楷体_GB2312" pitchFamily="49" charset="-122"/>
            </a:endParaRPr>
          </a:p>
        </p:txBody>
      </p:sp>
      <p:sp>
        <p:nvSpPr>
          <p:cNvPr id="1031" name="Rectangle 10"/>
          <p:cNvSpPr>
            <a:spLocks noChangeArrowheads="1"/>
          </p:cNvSpPr>
          <p:nvPr/>
        </p:nvSpPr>
        <p:spPr bwMode="auto">
          <a:xfrm>
            <a:off x="0" y="-184987"/>
            <a:ext cx="186013" cy="369974"/>
          </a:xfrm>
          <a:prstGeom prst="rect">
            <a:avLst/>
          </a:prstGeom>
          <a:noFill/>
          <a:ln w="38100" algn="ctr">
            <a:noFill/>
            <a:miter lim="800000"/>
            <a:tailEnd type="none" w="sm" len="med"/>
          </a:ln>
          <a:effectLst>
            <a:prstShdw prst="shdw12">
              <a:srgbClr val="808080">
                <a:alpha val="50000"/>
              </a:srgbClr>
            </a:prstShdw>
          </a:effec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0" name="Rectangle 2"/>
          <p:cNvSpPr txBox="1"/>
          <p:nvPr/>
        </p:nvSpPr>
        <p:spPr>
          <a:xfrm>
            <a:off x="900311" y="141710"/>
            <a:ext cx="5975945" cy="4227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91" tIns="34295" rIns="68591" bIns="34295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9.2 5G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图片 10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63763" b="38327"/>
          <a:stretch>
            <a:fillRect/>
          </a:stretch>
        </p:blipFill>
        <p:spPr>
          <a:xfrm>
            <a:off x="0" y="0"/>
            <a:ext cx="755576" cy="648072"/>
          </a:xfrm>
          <a:prstGeom prst="rect">
            <a:avLst/>
          </a:prstGeom>
        </p:spPr>
      </p:pic>
      <p:pic>
        <p:nvPicPr>
          <p:cNvPr id="12" name="图片 11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36267" t="33821" r="11138" b="38327"/>
          <a:stretch>
            <a:fillRect/>
          </a:stretch>
        </p:blipFill>
        <p:spPr>
          <a:xfrm>
            <a:off x="7308304" y="4495428"/>
            <a:ext cx="1835696" cy="648072"/>
          </a:xfrm>
          <a:prstGeom prst="rect">
            <a:avLst/>
          </a:prstGeom>
        </p:spPr>
      </p:pic>
      <p:pic>
        <p:nvPicPr>
          <p:cNvPr id="13" name="图片 12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36267" t="33821" r="11138" b="38327"/>
          <a:stretch>
            <a:fillRect/>
          </a:stretch>
        </p:blipFill>
        <p:spPr>
          <a:xfrm>
            <a:off x="7308304" y="4495428"/>
            <a:ext cx="1835696" cy="648072"/>
          </a:xfrm>
          <a:prstGeom prst="rect">
            <a:avLst/>
          </a:prstGeom>
        </p:spPr>
      </p:pic>
      <p:sp>
        <p:nvSpPr>
          <p:cNvPr id="16" name="Rectangle 2"/>
          <p:cNvSpPr txBox="1">
            <a:spLocks noRot="1" noChangeArrowheads="1"/>
          </p:cNvSpPr>
          <p:nvPr/>
        </p:nvSpPr>
        <p:spPr>
          <a:xfrm>
            <a:off x="298450" y="388386"/>
            <a:ext cx="8540750" cy="509178"/>
          </a:xfrm>
          <a:prstGeom prst="rect">
            <a:avLst/>
          </a:prstGeom>
        </p:spPr>
        <p:txBody>
          <a:bodyPr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1.1 </a:t>
            </a:r>
            <a:r>
              <a:rPr kumimoji="0" lang="zh-CN" altLang="en-US" sz="3600" b="0" i="0" u="none" strike="noStrike" kern="1200" cap="small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charset="-128"/>
                <a:ea typeface="+mj-ea"/>
                <a:cs typeface="+mj-cs"/>
              </a:rPr>
              <a:t>移动通信发展简述 </a:t>
            </a:r>
            <a:endParaRPr kumimoji="0" lang="zh-CN" altLang="en-US" sz="36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charset="-128"/>
              <a:ea typeface="+mj-ea"/>
              <a:cs typeface="+mj-cs"/>
            </a:endParaRPr>
          </a:p>
        </p:txBody>
      </p:sp>
      <p:pic>
        <p:nvPicPr>
          <p:cNvPr id="17" name="图片 16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pic>
        <p:nvPicPr>
          <p:cNvPr id="14" name="Picture 2" descr="http://pics2.baidu.com/feed/267f9e2f070828386e54e03362816c054c08f15d.jpeg?token=cdeaf658186eb456fd36e7ef95c68b62&amp;s=5C43CF140EDB5CCA707660530300C0F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843558"/>
            <a:ext cx="6096000" cy="40576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 txBox="1"/>
          <p:nvPr/>
        </p:nvSpPr>
        <p:spPr>
          <a:xfrm>
            <a:off x="900311" y="141710"/>
            <a:ext cx="3383657" cy="4227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91" tIns="34295" rIns="68591" bIns="34295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3.1 5G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pic>
        <p:nvPicPr>
          <p:cNvPr id="30" name="图片 2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552" y="1059582"/>
            <a:ext cx="7632848" cy="1292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</a:rPr>
              <a:t>思考：</a:t>
            </a:r>
            <a:r>
              <a:rPr lang="zh-CN" altLang="en-US" sz="2800" b="1" dirty="0" smtClean="0"/>
              <a:t>在这场移动通信技术革命中，中国扮演着什么角色？</a:t>
            </a:r>
            <a:endParaRPr lang="zh-CN" altLang="en-US" sz="2800" b="1" dirty="0"/>
          </a:p>
        </p:txBody>
      </p:sp>
      <p:pic>
        <p:nvPicPr>
          <p:cNvPr id="38916" name="Picture 4" descr="https://timgsa.baidu.com/timg?image&amp;quality=80&amp;size=b9999_10000&amp;sec=1605456246556&amp;di=912a47a84dc58b2ec7b0289395301222&amp;imgtype=0&amp;src=http%3A%2F%2Fbpic.588ku.com%2Felement_origin_min_pic%2F17%2F11%2F15%2F81923043008cde9909793f187f7d4262.jpg"/>
          <p:cNvPicPr>
            <a:picLocks noChangeAspect="1" noChangeArrowheads="1"/>
          </p:cNvPicPr>
          <p:nvPr/>
        </p:nvPicPr>
        <p:blipFill>
          <a:blip r:embed="rId2" cstate="print"/>
          <a:srcRect l="16856" r="16849"/>
          <a:stretch>
            <a:fillRect/>
          </a:stretch>
        </p:blipFill>
        <p:spPr bwMode="auto">
          <a:xfrm>
            <a:off x="3203848" y="1851670"/>
            <a:ext cx="2000778" cy="3013374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 txBox="1"/>
          <p:nvPr/>
        </p:nvSpPr>
        <p:spPr>
          <a:xfrm>
            <a:off x="900311" y="141710"/>
            <a:ext cx="3383657" cy="4227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91" tIns="34295" rIns="68591" bIns="34295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3.1 5G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pic>
        <p:nvPicPr>
          <p:cNvPr id="30" name="图片 2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19872" y="1419622"/>
            <a:ext cx="40324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2060"/>
                </a:solidFill>
              </a:rPr>
              <a:t>1G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空白、</a:t>
            </a:r>
            <a:r>
              <a:rPr lang="en-US" altLang="zh-CN" sz="2800" b="1" dirty="0" smtClean="0">
                <a:solidFill>
                  <a:srgbClr val="002060"/>
                </a:solidFill>
              </a:rPr>
              <a:t>2G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跟随、</a:t>
            </a:r>
            <a:r>
              <a:rPr lang="en-US" altLang="zh-CN" sz="2800" b="1" dirty="0" smtClean="0">
                <a:solidFill>
                  <a:srgbClr val="002060"/>
                </a:solidFill>
              </a:rPr>
              <a:t>3G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突破、</a:t>
            </a:r>
            <a:r>
              <a:rPr lang="en-US" altLang="zh-CN" sz="2800" b="1" dirty="0" smtClean="0">
                <a:solidFill>
                  <a:srgbClr val="002060"/>
                </a:solidFill>
              </a:rPr>
              <a:t>4G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并跑”到“</a:t>
            </a:r>
            <a:r>
              <a:rPr lang="en-US" altLang="zh-CN" sz="2800" b="1" dirty="0" smtClean="0">
                <a:solidFill>
                  <a:srgbClr val="002060"/>
                </a:solidFill>
              </a:rPr>
              <a:t>5G</a:t>
            </a:r>
            <a:r>
              <a:rPr lang="zh-CN" altLang="en-US" sz="2800" b="1" dirty="0" smtClean="0">
                <a:solidFill>
                  <a:srgbClr val="002060"/>
                </a:solidFill>
              </a:rPr>
              <a:t>领先。</a:t>
            </a:r>
            <a:endParaRPr lang="zh-CN" altLang="en-US" sz="2800" b="1" dirty="0">
              <a:solidFill>
                <a:srgbClr val="002060"/>
              </a:solidFill>
            </a:endParaRPr>
          </a:p>
        </p:txBody>
      </p:sp>
      <p:pic>
        <p:nvPicPr>
          <p:cNvPr id="40962" name="Picture 2" descr="https://timgsa.baidu.com/timg?image&amp;quality=80&amp;size=b9999_10000&amp;sec=1605456142957&amp;di=df875fb0e9aeeaa3601fdbf4192d3e52&amp;imgtype=0&amp;src=http%3A%2F%2Fpic.51yuansu.com%2Fpic3%2Fcover%2F03%2F54%2F88%2F5bc701fa4da61_610.jpg"/>
          <p:cNvPicPr>
            <a:picLocks noChangeAspect="1" noChangeArrowheads="1"/>
          </p:cNvPicPr>
          <p:nvPr/>
        </p:nvPicPr>
        <p:blipFill>
          <a:blip r:embed="rId2" cstate="print"/>
          <a:srcRect l="26449" r="18999"/>
          <a:stretch>
            <a:fillRect/>
          </a:stretch>
        </p:blipFill>
        <p:spPr bwMode="auto">
          <a:xfrm>
            <a:off x="899592" y="1203598"/>
            <a:ext cx="1728192" cy="3167983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388386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3600" dirty="0" smtClean="0">
                <a:solidFill>
                  <a:schemeClr val="tx1"/>
                </a:solidFill>
              </a:rPr>
              <a:t>1.1 </a:t>
            </a:r>
            <a:r>
              <a:rPr lang="zh-CN" altLang="en-US" sz="3600" dirty="0">
                <a:solidFill>
                  <a:schemeClr val="tx1"/>
                </a:solidFill>
              </a:rPr>
              <a:t>移动通信发展简述 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0070" name="Rectangle 374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30071" name="Rectangle 375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pic>
        <p:nvPicPr>
          <p:cNvPr id="9" name="图片 8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544" y="1419949"/>
            <a:ext cx="792088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目前，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业务逐步演进到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4G/5G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，并以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4G+5G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网络为基础架构。</a:t>
            </a:r>
            <a:endParaRPr lang="en-US" altLang="zh-CN" sz="22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截至202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年底，我国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5G基站总量已达到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425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万个，占全球比例超过60%。移动电话用户规模为1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亿户，人口普及率升至每百人1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部，高于全球平均的每百人106.2部。其中，5G移动电话用户达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10.14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亿户，占移动电话用户的比例达到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56.6</a:t>
            </a:r>
            <a:r>
              <a:rPr lang="zh-CN" altLang="en-US" sz="22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%。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5516" y="843811"/>
            <a:ext cx="24482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rgbClr val="FF0000"/>
                </a:solidFill>
              </a:rPr>
              <a:t>我国移动通信现状</a:t>
            </a:r>
            <a:endParaRPr lang="en-US" altLang="zh-CN" sz="2200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/>
              <a:t>1.2  </a:t>
            </a:r>
            <a:r>
              <a:rPr lang="zh-CN" altLang="en-US" dirty="0"/>
              <a:t>移动通信的特</a:t>
            </a:r>
            <a:r>
              <a:rPr lang="zh-CN" altLang="en-US" dirty="0" smtClean="0"/>
              <a:t>点 </a:t>
            </a:r>
            <a:endParaRPr lang="zh-CN" altLang="en-US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539751" y="1059582"/>
            <a:ext cx="8208963" cy="3780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利用无线电波进行信息传输</a:t>
            </a:r>
            <a:endParaRPr lang="zh-CN" altLang="en-US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0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复杂的无线传播环境导致信号衰落</a:t>
            </a:r>
            <a:endParaRPr lang="zh-CN" altLang="en-US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US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在强干扰环境（外部干扰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自身干扰）下工作</a:t>
            </a:r>
            <a:endParaRPr lang="zh-CN" altLang="en-US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GB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lang="zh-CN" altLang="en-GB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通信容量有限</a:t>
            </a:r>
            <a:endParaRPr lang="zh-CN" altLang="en-GB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GB" altLang="zh-CN" sz="2800" dirty="0" smtClean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GB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GB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通信系统复杂</a:t>
            </a:r>
            <a:endParaRPr lang="zh-CN" altLang="en-US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n-GB" altLang="zh-CN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lang="zh-CN" altLang="en-GB" sz="28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对移动台的要求高</a:t>
            </a:r>
            <a:endParaRPr lang="zh-CN" altLang="en-GB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en-GB" sz="28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1.3  </a:t>
            </a:r>
            <a:r>
              <a:rPr lang="zh-CN" altLang="en-US" dirty="0"/>
              <a:t>移动通</a:t>
            </a:r>
            <a:r>
              <a:rPr lang="zh-CN" altLang="en-US" dirty="0" smtClean="0"/>
              <a:t>信工作频段 </a:t>
            </a:r>
            <a:endParaRPr lang="zh-CN" altLang="en-US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179513" y="987574"/>
            <a:ext cx="8569202" cy="40324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GSM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频段。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1880MHz-1900MHz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2010MHz-2025MHz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的频率和频段是：中国移动，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1880-1900MHz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2320-2370MHz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2575-2635MHz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；中国联通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2300~2320MHz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2555~2575MHz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；中国电信，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2370~2390MHz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2635~2655MHz</a:t>
            </a:r>
            <a:endParaRPr lang="zh-CN" altLang="en-US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的频率和频段频段：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3300-3400MHz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（原则上限室内使用）、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3400-3600MHz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4800-5000MHz</a:t>
            </a:r>
            <a:endParaRPr lang="en-US" altLang="zh-CN" sz="2400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1.4  </a:t>
            </a:r>
            <a:r>
              <a:rPr lang="zh-CN" altLang="en-US" dirty="0"/>
              <a:t>移动通</a:t>
            </a:r>
            <a:r>
              <a:rPr lang="zh-CN" altLang="en-US" dirty="0" smtClean="0"/>
              <a:t>信的工作方式 </a:t>
            </a:r>
            <a:endParaRPr lang="zh-CN" altLang="en-US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468313" y="2842022"/>
            <a:ext cx="8218487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323850" y="2895600"/>
            <a:ext cx="8218488" cy="1943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endParaRPr lang="zh-CN" altLang="zh-CN" sz="240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179513" y="987574"/>
            <a:ext cx="8569202" cy="40324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）单工通信；</a:t>
            </a:r>
            <a:endParaRPr lang="en-US" altLang="zh-CN" sz="2400" dirty="0" smtClean="0">
              <a:latin typeface="+mn-ea"/>
            </a:endParaRP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）双工通信；</a:t>
            </a:r>
            <a:endParaRPr lang="en-US" altLang="zh-CN" sz="2400" dirty="0" smtClean="0">
              <a:latin typeface="+mn-ea"/>
            </a:endParaRP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）半双工通信；</a:t>
            </a:r>
            <a:endParaRPr lang="en-US" altLang="zh-CN" sz="2400" dirty="0" smtClean="0">
              <a:latin typeface="+mn-ea"/>
            </a:endParaRPr>
          </a:p>
          <a:p>
            <a:pPr marL="609600" indent="-6096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dirty="0" smtClean="0">
                <a:latin typeface="+mn-ea"/>
              </a:rPr>
              <a:t>（</a:t>
            </a:r>
            <a:r>
              <a:rPr lang="en-US" altLang="zh-CN" sz="2400" dirty="0" smtClean="0">
                <a:latin typeface="+mn-ea"/>
              </a:rPr>
              <a:t>4</a:t>
            </a:r>
            <a:r>
              <a:rPr lang="zh-CN" altLang="en-US" sz="2400" dirty="0" smtClean="0">
                <a:latin typeface="+mn-ea"/>
              </a:rPr>
              <a:t>）中继方式</a:t>
            </a:r>
            <a:endParaRPr lang="en-US" altLang="zh-CN" sz="2400" dirty="0">
              <a:latin typeface="+mn-ea"/>
            </a:endParaRPr>
          </a:p>
        </p:txBody>
      </p:sp>
      <p:pic>
        <p:nvPicPr>
          <p:cNvPr id="6" name="图片 5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07704" y="1059582"/>
            <a:ext cx="5185246" cy="30861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蜂</a:t>
            </a: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窝式公用移动通信系统</a:t>
            </a:r>
            <a:endParaRPr lang="zh-CN" altLang="en-US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集群调度移动通信系统</a:t>
            </a:r>
            <a:endParaRPr lang="zh-CN" altLang="en-US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无绳电话系统</a:t>
            </a:r>
            <a:endParaRPr lang="zh-CN" altLang="en-US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无线电寻呼系统</a:t>
            </a:r>
            <a:endParaRPr lang="zh-CN" altLang="en-US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卫星移动通信系统</a:t>
            </a:r>
            <a:endParaRPr lang="zh-CN" altLang="en-US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无线</a:t>
            </a:r>
            <a:r>
              <a:rPr lang="en-US" altLang="zh-CN" sz="28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LAN/WAN</a:t>
            </a:r>
            <a:endParaRPr lang="en-US" altLang="zh-CN" sz="2800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0596" name="Picture 4" descr="00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735807"/>
            <a:ext cx="1682750" cy="1565672"/>
          </a:xfrm>
          <a:prstGeom prst="rect">
            <a:avLst/>
          </a:prstGeom>
          <a:noFill/>
        </p:spPr>
      </p:pic>
      <p:pic>
        <p:nvPicPr>
          <p:cNvPr id="110597" name="Picture 5" descr="im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950" y="735807"/>
            <a:ext cx="1638300" cy="1660922"/>
          </a:xfrm>
          <a:prstGeom prst="rect">
            <a:avLst/>
          </a:prstGeom>
          <a:noFill/>
        </p:spPr>
      </p:pic>
      <p:pic>
        <p:nvPicPr>
          <p:cNvPr id="110598" name="Picture 6" descr="u=2918483113,4115173391&amp;gp=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2301479"/>
            <a:ext cx="1692275" cy="1269206"/>
          </a:xfrm>
          <a:prstGeom prst="rect">
            <a:avLst/>
          </a:prstGeom>
          <a:noFill/>
        </p:spPr>
      </p:pic>
      <p:pic>
        <p:nvPicPr>
          <p:cNvPr id="110599" name="Picture 7" descr="u=1651149303,1044909900&amp;gp=3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9926" y="2409826"/>
            <a:ext cx="1655763" cy="1241822"/>
          </a:xfrm>
          <a:prstGeom prst="rect">
            <a:avLst/>
          </a:prstGeom>
          <a:noFill/>
        </p:spPr>
      </p:pic>
      <p:pic>
        <p:nvPicPr>
          <p:cNvPr id="110600" name="Picture 8" descr="u=3621756844,3533095036&amp;gp=4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3543300"/>
            <a:ext cx="1692275" cy="1296591"/>
          </a:xfrm>
          <a:prstGeom prst="rect">
            <a:avLst/>
          </a:prstGeom>
          <a:noFill/>
        </p:spPr>
      </p:pic>
      <p:pic>
        <p:nvPicPr>
          <p:cNvPr id="110601" name="Picture 9" descr="u=509853290,689745389&amp;gp=3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19926" y="3651648"/>
            <a:ext cx="1655763" cy="1188244"/>
          </a:xfrm>
          <a:prstGeom prst="rect">
            <a:avLst/>
          </a:prstGeom>
          <a:noFill/>
        </p:spPr>
      </p:pic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7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1.5  </a:t>
            </a:r>
            <a:r>
              <a:rPr lang="zh-CN" altLang="en-US" dirty="0"/>
              <a:t>移动通信</a:t>
            </a:r>
            <a:r>
              <a:rPr lang="zh-CN" altLang="en-US" dirty="0" smtClean="0"/>
              <a:t>的分类及应</a:t>
            </a:r>
            <a:r>
              <a:rPr lang="zh-CN" altLang="en-US" dirty="0" smtClean="0"/>
              <a:t>用系统 </a:t>
            </a:r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528" y="1059582"/>
            <a:ext cx="8496944" cy="38164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）万兆之路构筑虚拟与现实桥梁；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）一张网络融合全场景千亿物联；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）星地融合拓展全域立体网络；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）通感一体塑造全真全感互联；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）把智能带入每个行业、每个联接；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）全链路全周期原生绿色网络；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Sub-100GHz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全频段灵活使用</a:t>
            </a:r>
            <a:endParaRPr lang="zh-CN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1.6  </a:t>
            </a:r>
            <a:r>
              <a:rPr lang="zh-CN" altLang="en-US" dirty="0"/>
              <a:t>移动通</a:t>
            </a:r>
            <a:r>
              <a:rPr lang="zh-CN" altLang="en-US" dirty="0" smtClean="0"/>
              <a:t>信网的发展趋势 </a:t>
            </a:r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23528" y="1059582"/>
            <a:ext cx="8496944" cy="38164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）广义多天线极大地降低了比特成本，是原来成本的百分之一以下；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）安全将成为数字化未来的基石；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）移动计算网络，端管云深度协同。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 descr="5bc6fc52-b49d-4298-b410-192e1f0ef3a5.gif"/>
          <p:cNvPicPr>
            <a:picLocks noChangeAspect="1"/>
          </p:cNvPicPr>
          <p:nvPr/>
        </p:nvPicPr>
        <p:blipFill>
          <a:blip r:embed="rId1" cstate="print"/>
          <a:srcRect l="14589" t="33821" r="11138" b="38327"/>
          <a:stretch>
            <a:fillRect/>
          </a:stretch>
        </p:blipFill>
        <p:spPr>
          <a:xfrm>
            <a:off x="0" y="0"/>
            <a:ext cx="2592288" cy="486054"/>
          </a:xfrm>
          <a:prstGeom prst="rect">
            <a:avLst/>
          </a:prstGeom>
        </p:spPr>
      </p:pic>
      <p:sp>
        <p:nvSpPr>
          <p:cNvPr id="1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450" y="411510"/>
            <a:ext cx="8540750" cy="50917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 smtClean="0"/>
              <a:t>1.6  </a:t>
            </a:r>
            <a:r>
              <a:rPr lang="zh-CN" altLang="en-US" dirty="0"/>
              <a:t>移动通</a:t>
            </a:r>
            <a:r>
              <a:rPr lang="zh-CN" altLang="en-US" dirty="0" smtClean="0"/>
              <a:t>信网的发展趋势 </a:t>
            </a:r>
            <a:endParaRPr lang="zh-CN" alt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凸显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凸显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4633</Words>
  <Application>WPS 演示</Application>
  <PresentationFormat>全屏显示(16:9)</PresentationFormat>
  <Paragraphs>237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Wingdings 2</vt:lpstr>
      <vt:lpstr>Wingdings</vt:lpstr>
      <vt:lpstr>楷体</vt:lpstr>
      <vt:lpstr>Century Schoolbook</vt:lpstr>
      <vt:lpstr>Segoe Print</vt:lpstr>
      <vt:lpstr>微软雅黑</vt:lpstr>
      <vt:lpstr>Arial Unicode MS</vt:lpstr>
      <vt:lpstr>华文楷体</vt:lpstr>
      <vt:lpstr>Calibri</vt:lpstr>
      <vt:lpstr>楷体_GB2312</vt:lpstr>
      <vt:lpstr>新宋体</vt:lpstr>
      <vt:lpstr>黑体</vt:lpstr>
      <vt:lpstr>Times New Roman</vt:lpstr>
      <vt:lpstr>Gulim</vt:lpstr>
      <vt:lpstr>Meiryo UI</vt:lpstr>
      <vt:lpstr>凸显</vt:lpstr>
      <vt:lpstr>PowerPoint 演示文稿</vt:lpstr>
      <vt:lpstr>PowerPoint 演示文稿</vt:lpstr>
      <vt:lpstr>PowerPoint 演示文稿</vt:lpstr>
      <vt:lpstr>PowerPoint 演示文稿</vt:lpstr>
      <vt:lpstr>美国制裁华为事件</vt:lpstr>
      <vt:lpstr>美国制裁华为事件</vt:lpstr>
      <vt:lpstr>PowerPoint 演示文稿</vt:lpstr>
      <vt:lpstr>1.1 移动通信发展简述 </vt:lpstr>
      <vt:lpstr>1.1 移动通信发展简述 </vt:lpstr>
      <vt:lpstr>1.1 移动通信发展简述 </vt:lpstr>
      <vt:lpstr>PowerPoint 演示文稿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1.1 移动通信发展简述 </vt:lpstr>
      <vt:lpstr>PowerPoint 演示文稿</vt:lpstr>
      <vt:lpstr>PowerPoint 演示文稿</vt:lpstr>
      <vt:lpstr>1.1 移动通信发展简述 </vt:lpstr>
      <vt:lpstr>1.1 移动通信发展简述 </vt:lpstr>
      <vt:lpstr>1.1 移动通信发展简述 </vt:lpstr>
      <vt:lpstr>1.2  移动通信的特点 </vt:lpstr>
      <vt:lpstr>1.3  移动通信工作频段 </vt:lpstr>
      <vt:lpstr>1.4  移动通信的工作方式 </vt:lpstr>
      <vt:lpstr>1.5  移动通信的分类及应用系统 </vt:lpstr>
      <vt:lpstr>1.6  移动通信网的发展趋势 </vt:lpstr>
      <vt:lpstr>1.6  移动通信网的发展趋势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一片云</cp:lastModifiedBy>
  <cp:revision>51</cp:revision>
  <dcterms:created xsi:type="dcterms:W3CDTF">2020-02-12T14:30:00Z</dcterms:created>
  <dcterms:modified xsi:type="dcterms:W3CDTF">2025-02-17T01:20:40Z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58F9D0BEC07346A384DB20A32E0B6140</vt:lpwstr>
  </property>
  <property fmtid="{D5CDD505-2E9C-101B-9397-08002B2CF9AE}" pid="3" name="KSOProductBuildVer">
    <vt:lpwstr>2052-12.1.0.20260</vt:lpwstr>
  </property>
</Properties>
</file>