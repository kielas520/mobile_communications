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53"/>
  </p:notesMasterIdLst>
  <p:sldIdLst>
    <p:sldId id="428" r:id="rId6"/>
    <p:sldId id="429" r:id="rId7"/>
    <p:sldId id="640" r:id="rId8"/>
    <p:sldId id="641" r:id="rId9"/>
    <p:sldId id="642" r:id="rId10"/>
    <p:sldId id="643" r:id="rId11"/>
    <p:sldId id="644" r:id="rId12"/>
    <p:sldId id="645" r:id="rId13"/>
    <p:sldId id="647" r:id="rId14"/>
    <p:sldId id="648" r:id="rId15"/>
    <p:sldId id="646" r:id="rId16"/>
    <p:sldId id="649" r:id="rId17"/>
    <p:sldId id="650" r:id="rId18"/>
    <p:sldId id="651" r:id="rId19"/>
    <p:sldId id="652" r:id="rId20"/>
    <p:sldId id="653" r:id="rId21"/>
    <p:sldId id="654" r:id="rId22"/>
    <p:sldId id="655" r:id="rId23"/>
    <p:sldId id="656" r:id="rId24"/>
    <p:sldId id="657" r:id="rId25"/>
    <p:sldId id="658" r:id="rId26"/>
    <p:sldId id="659" r:id="rId27"/>
    <p:sldId id="660" r:id="rId28"/>
    <p:sldId id="661" r:id="rId29"/>
    <p:sldId id="662" r:id="rId30"/>
    <p:sldId id="663" r:id="rId31"/>
    <p:sldId id="665" r:id="rId32"/>
    <p:sldId id="666" r:id="rId33"/>
    <p:sldId id="668" r:id="rId34"/>
    <p:sldId id="669" r:id="rId35"/>
    <p:sldId id="670" r:id="rId36"/>
    <p:sldId id="671" r:id="rId37"/>
    <p:sldId id="672" r:id="rId38"/>
    <p:sldId id="673" r:id="rId39"/>
    <p:sldId id="674" r:id="rId40"/>
    <p:sldId id="675" r:id="rId41"/>
    <p:sldId id="676" r:id="rId42"/>
    <p:sldId id="677" r:id="rId43"/>
    <p:sldId id="678" r:id="rId44"/>
    <p:sldId id="679" r:id="rId45"/>
    <p:sldId id="680" r:id="rId46"/>
    <p:sldId id="681" r:id="rId47"/>
    <p:sldId id="682" r:id="rId48"/>
    <p:sldId id="683" r:id="rId49"/>
    <p:sldId id="684" r:id="rId50"/>
    <p:sldId id="685" r:id="rId51"/>
    <p:sldId id="686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7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g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978" y="-114"/>
      </p:cViewPr>
      <p:guideLst>
        <p:guide orient="horz" pos="2163"/>
        <p:guide pos="37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notesMaster" Target="notesMasters/notesMaster1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D26BF-8D9E-4EF8-BD7C-0D0BAE30ED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6DB93-D7E0-4B26-844F-847E0D19D8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image" Target="../media/image5.svg"/><Relationship Id="rId2" Type="http://schemas.openxmlformats.org/officeDocument/2006/relationships/tags" Target="../tags/tag1.xml"/><Relationship Id="rId19" Type="http://schemas.openxmlformats.org/officeDocument/2006/relationships/image" Target="../media/image4.png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6" Type="http://schemas.openxmlformats.org/officeDocument/2006/relationships/tags" Target="../tags/tag113.xml"/><Relationship Id="rId25" Type="http://schemas.openxmlformats.org/officeDocument/2006/relationships/image" Target="../media/image5.svg"/><Relationship Id="rId24" Type="http://schemas.openxmlformats.org/officeDocument/2006/relationships/image" Target="../media/image6.png"/><Relationship Id="rId23" Type="http://schemas.openxmlformats.org/officeDocument/2006/relationships/tags" Target="../tags/tag112.xml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8"/>
            <a:ext cx="2743200" cy="59150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8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DFCB55-F173-45F5-B818-D08428FBB604}" type="datetimeFigureOut">
              <a:rPr lang="en-US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CC8206-9D07-4F74-977F-8705EA8A2872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598080-ED2C-44CF-B863-D500246BE011}" type="datetimeFigureOut">
              <a:rPr lang="en-US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34F543-C0C1-41E3-9ECC-EA67137ECE6D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1B8236-A89B-48D6-A291-3A8F8FE55176}" type="datetimeFigureOut">
              <a:rPr lang="en-US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C108F-FF38-4BB4-B312-354F4E9B4506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1845FF-6906-45EB-8B37-58B0A86EE721}" type="datetimeFigureOut">
              <a:rPr lang="en-US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7C57D-5E5A-4E28-8621-A02EA6679CD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EF514E-558A-4721-9A3C-D87B4CC88751}" type="datetimeFigureOut">
              <a:rPr lang="en-US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4FD56-EBC6-4F0D-91C5-74CE947AC978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5E5915-D72F-4949-B84E-61F1F29F37A2}" type="datetimeFigureOut">
              <a:rPr lang="en-US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2E7275-860A-4D7E-BD5C-C791C66E28C2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BC8147-419C-49FE-B54E-B927FAEBB599}" type="datetimeFigureOut">
              <a:rPr lang="en-US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F8BEBD-3113-4043-BBA2-097CA073CD02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53C8C0-6564-4FD0-AB3A-05DA09B0E7D3}" type="datetimeFigureOut">
              <a:rPr lang="en-US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A17EB2-97FD-4B6E-BC93-A25B2070A04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61CD6E-F22A-4411-A4A0-D16E10BB2BBD}" type="datetimeFigureOut">
              <a:rPr lang="en-US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4E699-DF9F-4D92-B5B6-F7F8DD9ACFAD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2D9ACE-1C14-48C9-84EC-CF1F30CCA0E7}" type="datetimeFigureOut">
              <a:rPr lang="en-US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D1D882-3AC2-4134-AD90-5E6B14D1A943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1138"/>
            <a:ext cx="2743200" cy="59150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1138"/>
            <a:ext cx="8026400" cy="59150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915542-4E5B-410C-A25B-365C13BDE272}" type="datetimeFigureOut">
              <a:rPr lang="en-US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39E42-8DE3-40DE-9584-76C522B5EB65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352828" y="1174097"/>
            <a:ext cx="3048000" cy="381000"/>
          </a:xfrm>
        </p:spPr>
        <p:txBody>
          <a:bodyPr/>
          <a:lstStyle/>
          <a:p>
            <a:fld id="{16DFCB55-F173-45F5-B818-D08428FBB604}" type="datetimeFigureOut">
              <a:rPr lang="en-US" smtClean="0"/>
            </a:fld>
            <a:endParaRPr 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9436359" y="4181669"/>
            <a:ext cx="48768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矩形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97CC8206-9D07-4F74-977F-8705EA8A2872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D598080-ED2C-44CF-B863-D500246BE011}" type="datetimeFigureOut">
              <a:rPr lang="en-US" smtClean="0"/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B34F543-C0C1-41E3-9ECC-EA67137ECE6D}" type="slidenum">
              <a:rPr lang="en-US" smtClean="0"/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351008" y="1170432"/>
            <a:ext cx="3048000" cy="381000"/>
          </a:xfrm>
        </p:spPr>
        <p:txBody>
          <a:bodyPr/>
          <a:lstStyle/>
          <a:p>
            <a:fld id="{B11B8236-A89B-48D6-A291-3A8F8FE55176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9436608" y="4178808"/>
            <a:ext cx="48768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9BDC108F-FF38-4BB4-B312-354F4E9B4506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45FF-6906-45EB-8B37-58B0A86EE721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C57D-5E5A-4E28-8621-A02EA6679CDF}" type="slidenum">
              <a:rPr lang="en-US" smtClean="0"/>
            </a:fld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514E-558A-4721-9A3C-D87B4CC88751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4FD56-EBC6-4F0D-91C5-74CE947AC978}" type="slidenum">
              <a:rPr lang="en-US" smtClean="0"/>
            </a:fld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55E5915-D72F-4949-B84E-61F1F29F37A2}" type="datetimeFigureOut">
              <a:rPr lang="en-US" smtClean="0"/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D2E7275-860A-4D7E-BD5C-C791C66E28C2}" type="slidenum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8147-419C-49FE-B54E-B927FAEBB599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BEBD-3113-4043-BBA2-097CA073CD02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4495800" y="3200400"/>
            <a:ext cx="841248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E53C8C0-6564-4FD0-AB3A-05DA09B0E7D3}" type="datetimeFigureOut">
              <a:rPr lang="en-US" smtClean="0"/>
            </a:fld>
            <a:endParaRPr 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5A17EB2-97FD-4B6E-BC93-A25B2070A04F}" type="slidenum">
              <a:rPr lang="en-US" smtClean="0"/>
            </a:fld>
            <a:endParaRPr 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4466844" y="3200400"/>
            <a:ext cx="841248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61CD6E-F22A-4411-A4A0-D16E10BB2BBD}" type="datetimeFigureOut">
              <a:rPr lang="en-US" smtClean="0"/>
            </a:fld>
            <a:endParaRPr 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234E699-DF9F-4D92-B5B6-F7F8DD9ACFAD}" type="slidenum">
              <a:rPr lang="en-US" smtClean="0"/>
            </a:fld>
            <a:endParaRPr 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9ACE-1C14-48C9-84EC-CF1F30CCA0E7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1D882-3AC2-4134-AD90-5E6B14D1A94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2352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15542-4E5B-410C-A25B-365C13BDE272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9E42-8DE3-40DE-9584-76C522B5EB65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3"/>
            </p:custDataLst>
          </p:nvPr>
        </p:nvSpPr>
        <p:spPr>
          <a:xfrm>
            <a:off x="7370926" y="1455960"/>
            <a:ext cx="3240000" cy="324000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>
            <p:custDataLst>
              <p:tags r:id="rId4"/>
            </p:custDataLst>
          </p:nvPr>
        </p:nvSpPr>
        <p:spPr>
          <a:xfrm>
            <a:off x="8451850" y="1632262"/>
            <a:ext cx="3740150" cy="5210789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83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6"/>
            </p:custDataLst>
          </p:nvPr>
        </p:nvCxnSpPr>
        <p:spPr>
          <a:xfrm>
            <a:off x="695960" y="6605101"/>
            <a:ext cx="1007745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7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>
            <p:custDataLst>
              <p:tags r:id="rId8"/>
            </p:custDataLst>
          </p:nvPr>
        </p:nvSpPr>
        <p:spPr>
          <a:xfrm>
            <a:off x="1065726" y="867326"/>
            <a:ext cx="108000" cy="10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471998" y="867326"/>
            <a:ext cx="108000" cy="10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1675135" y="867326"/>
            <a:ext cx="108000" cy="1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1268862" y="867326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12"/>
            </p:custDataLst>
          </p:nvPr>
        </p:nvSpPr>
        <p:spPr>
          <a:xfrm>
            <a:off x="1" y="1"/>
            <a:ext cx="1320207" cy="1156508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弧形 20"/>
          <p:cNvSpPr/>
          <p:nvPr>
            <p:custDataLst>
              <p:tags r:id="rId13"/>
            </p:custDataLst>
          </p:nvPr>
        </p:nvSpPr>
        <p:spPr>
          <a:xfrm flipH="1" flipV="1">
            <a:off x="6581827" y="572963"/>
            <a:ext cx="4505466" cy="4505466"/>
          </a:xfrm>
          <a:prstGeom prst="arc">
            <a:avLst>
              <a:gd name="adj1" fmla="val 8263304"/>
              <a:gd name="adj2" fmla="val 8979118"/>
            </a:avLst>
          </a:prstGeom>
          <a:solidFill>
            <a:schemeClr val="bg2">
              <a:alpha val="0"/>
            </a:schemeClr>
          </a:solidFill>
          <a:ln>
            <a:solidFill>
              <a:schemeClr val="bg2">
                <a:lumMod val="9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7819164" y="890328"/>
            <a:ext cx="334236" cy="334236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15"/>
            </p:custDataLst>
          </p:nvPr>
        </p:nvSpPr>
        <p:spPr>
          <a:xfrm>
            <a:off x="10137187" y="3838727"/>
            <a:ext cx="1174493" cy="1174493"/>
          </a:xfrm>
          <a:prstGeom prst="ellipse">
            <a:avLst/>
          </a:prstGeom>
          <a:gradFill>
            <a:gsLst>
              <a:gs pos="100000">
                <a:schemeClr val="accent2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6"/>
            </p:custDataLst>
          </p:nvPr>
        </p:nvSpPr>
        <p:spPr>
          <a:xfrm>
            <a:off x="10741220" y="2120901"/>
            <a:ext cx="828798" cy="828798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>
            <p:custDataLst>
              <p:tags r:id="rId17"/>
            </p:custDataLst>
          </p:nvPr>
        </p:nvSpPr>
        <p:spPr>
          <a:xfrm>
            <a:off x="1054100" y="4624668"/>
            <a:ext cx="1889646" cy="54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2800" b="1" dirty="0">
              <a:latin typeface="+mj-ea"/>
              <a:ea typeface="+mj-ea"/>
              <a:sym typeface="+mn-ea"/>
            </a:endParaRPr>
          </a:p>
        </p:txBody>
      </p:sp>
      <p:pic>
        <p:nvPicPr>
          <p:cNvPr id="30" name="图形 2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4"/>
            </p:custDataLst>
          </p:nvPr>
        </p:nvSpPr>
        <p:spPr>
          <a:xfrm>
            <a:off x="1054102" y="1589837"/>
            <a:ext cx="6093417" cy="229485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479674" y="654348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rgbClr val="031A2F"/>
                </a:solidFill>
                <a:latin typeface="+mn-ea"/>
                <a:ea typeface="+mn-ea"/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 marL="0" indent="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defRPr sz="2600"/>
            </a:lvl1pPr>
            <a:lvl2pPr marL="0" indent="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defRPr sz="2600"/>
            </a:lvl2pPr>
            <a:lvl3pPr marL="0" indent="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defRPr sz="2600"/>
            </a:lvl3pPr>
            <a:lvl4pPr marL="0" indent="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defRPr sz="2600"/>
            </a:lvl4pPr>
            <a:lvl5pPr marL="0" indent="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defRPr sz="26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椭圆 18"/>
          <p:cNvSpPr/>
          <p:nvPr>
            <p:custDataLst>
              <p:tags r:id="rId3"/>
            </p:custDataLst>
          </p:nvPr>
        </p:nvSpPr>
        <p:spPr>
          <a:xfrm>
            <a:off x="10122177" y="390350"/>
            <a:ext cx="1224507" cy="1224507"/>
          </a:xfrm>
          <a:prstGeom prst="ellipse">
            <a:avLst/>
          </a:prstGeom>
          <a:gradFill>
            <a:gsLst>
              <a:gs pos="100000">
                <a:schemeClr val="accent2">
                  <a:alpha val="7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65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>
            <p:custDataLst>
              <p:tags r:id="rId4"/>
            </p:custDataLst>
          </p:nvPr>
        </p:nvSpPr>
        <p:spPr>
          <a:xfrm>
            <a:off x="10315575" y="527100"/>
            <a:ext cx="1876425" cy="1444245"/>
          </a:xfrm>
          <a:custGeom>
            <a:avLst/>
            <a:gdLst>
              <a:gd name="connsiteX0" fmla="*/ 1762548 w 1762548"/>
              <a:gd name="connsiteY0" fmla="*/ 0 h 1540757"/>
              <a:gd name="connsiteX1" fmla="*/ 1762548 w 1762548"/>
              <a:gd name="connsiteY1" fmla="*/ 1540757 h 1540757"/>
              <a:gd name="connsiteX2" fmla="*/ 0 w 1762548"/>
              <a:gd name="connsiteY2" fmla="*/ 1540757 h 1540757"/>
              <a:gd name="connsiteX3" fmla="*/ 18169 w 1762548"/>
              <a:gd name="connsiteY3" fmla="*/ 1421710 h 1540757"/>
              <a:gd name="connsiteX4" fmla="*/ 1762548 w 1762548"/>
              <a:gd name="connsiteY4" fmla="*/ 0 h 1540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548" h="1540757">
                <a:moveTo>
                  <a:pt x="1762548" y="0"/>
                </a:moveTo>
                <a:lnTo>
                  <a:pt x="1762548" y="1540757"/>
                </a:lnTo>
                <a:lnTo>
                  <a:pt x="0" y="1540757"/>
                </a:lnTo>
                <a:lnTo>
                  <a:pt x="18169" y="1421710"/>
                </a:lnTo>
                <a:cubicBezTo>
                  <a:pt x="184199" y="610342"/>
                  <a:pt x="902097" y="0"/>
                  <a:pt x="1762548" y="0"/>
                </a:cubicBezTo>
                <a:close/>
              </a:path>
            </a:pathLst>
          </a:custGeom>
          <a:gradFill flip="none" rotWithShape="1">
            <a:gsLst>
              <a:gs pos="71000">
                <a:schemeClr val="bg1">
                  <a:alpha val="68000"/>
                </a:schemeClr>
              </a:gs>
              <a:gs pos="50000">
                <a:schemeClr val="bg1">
                  <a:alpha val="5000"/>
                </a:schemeClr>
              </a:gs>
            </a:gsLst>
            <a:lin ang="13500000" scaled="1"/>
            <a:tileRect/>
          </a:gradFill>
          <a:ln w="6350">
            <a:gradFill flip="none" rotWithShape="1">
              <a:gsLst>
                <a:gs pos="17000">
                  <a:schemeClr val="bg2"/>
                </a:gs>
                <a:gs pos="30000">
                  <a:schemeClr val="bg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矩形 30"/>
          <p:cNvSpPr/>
          <p:nvPr>
            <p:custDataLst>
              <p:tags r:id="rId5"/>
            </p:custDataLst>
          </p:nvPr>
        </p:nvSpPr>
        <p:spPr>
          <a:xfrm>
            <a:off x="0" y="1893811"/>
            <a:ext cx="12192000" cy="4964189"/>
          </a:xfrm>
          <a:prstGeom prst="rect">
            <a:avLst/>
          </a:prstGeom>
          <a:gradFill>
            <a:gsLst>
              <a:gs pos="95000">
                <a:srgbClr val="FEFEFF">
                  <a:alpha val="100000"/>
                </a:srgbClr>
              </a:gs>
              <a:gs pos="0">
                <a:srgbClr val="E6EFFE">
                  <a:alpha val="100000"/>
                  <a:lumMod val="5000"/>
                  <a:lumOff val="9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0" y="6585002"/>
            <a:ext cx="12192000" cy="27299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>
            <p:custDataLst>
              <p:tags r:id="rId7"/>
            </p:custDataLst>
          </p:nvPr>
        </p:nvSpPr>
        <p:spPr>
          <a:xfrm>
            <a:off x="2" y="2"/>
            <a:ext cx="891201" cy="780696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8"/>
            </p:custDataLst>
          </p:nvPr>
        </p:nvSpPr>
        <p:spPr>
          <a:xfrm>
            <a:off x="8346055" y="1014463"/>
            <a:ext cx="106363" cy="10636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9"/>
            </p:custDataLst>
          </p:nvPr>
        </p:nvSpPr>
        <p:spPr>
          <a:xfrm>
            <a:off x="8708679" y="1014463"/>
            <a:ext cx="106363" cy="10636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>
            <p:custDataLst>
              <p:tags r:id="rId10"/>
            </p:custDataLst>
          </p:nvPr>
        </p:nvSpPr>
        <p:spPr>
          <a:xfrm>
            <a:off x="8889990" y="1014463"/>
            <a:ext cx="106363" cy="1063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11"/>
            </p:custDataLst>
          </p:nvPr>
        </p:nvSpPr>
        <p:spPr>
          <a:xfrm>
            <a:off x="8527367" y="1014463"/>
            <a:ext cx="106363" cy="1063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1066800" y="527100"/>
            <a:ext cx="1760105" cy="1081088"/>
          </a:xfrm>
        </p:spPr>
        <p:txBody>
          <a:bodyPr wrap="square" anchor="ctr" anchorCtr="0">
            <a:normAutofit/>
          </a:bodyPr>
          <a:lstStyle>
            <a:lvl1pPr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3700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: 形状 4"/>
          <p:cNvSpPr/>
          <p:nvPr>
            <p:custDataLst>
              <p:tags r:id="rId3"/>
            </p:custDataLst>
          </p:nvPr>
        </p:nvSpPr>
        <p:spPr>
          <a:xfrm>
            <a:off x="11163935" y="5203190"/>
            <a:ext cx="1028065" cy="1173480"/>
          </a:xfrm>
          <a:custGeom>
            <a:avLst/>
            <a:gdLst>
              <a:gd name="connsiteX0" fmla="*/ 1028065 w 1028065"/>
              <a:gd name="connsiteY0" fmla="*/ 0 h 1173480"/>
              <a:gd name="connsiteX1" fmla="*/ 1028065 w 1028065"/>
              <a:gd name="connsiteY1" fmla="*/ 1173480 h 1173480"/>
              <a:gd name="connsiteX2" fmla="*/ 0 w 1028065"/>
              <a:gd name="connsiteY2" fmla="*/ 1173480 h 1173480"/>
              <a:gd name="connsiteX3" fmla="*/ 3825 w 1028065"/>
              <a:gd name="connsiteY3" fmla="*/ 1097731 h 1173480"/>
              <a:gd name="connsiteX4" fmla="*/ 991311 w 1028065"/>
              <a:gd name="connsiteY4" fmla="*/ 5608 h 1173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065" h="1173480">
                <a:moveTo>
                  <a:pt x="1028065" y="0"/>
                </a:moveTo>
                <a:lnTo>
                  <a:pt x="1028065" y="1173480"/>
                </a:lnTo>
                <a:lnTo>
                  <a:pt x="0" y="1173480"/>
                </a:lnTo>
                <a:lnTo>
                  <a:pt x="3825" y="1097731"/>
                </a:lnTo>
                <a:cubicBezTo>
                  <a:pt x="59071" y="553783"/>
                  <a:pt x="464603" y="113379"/>
                  <a:pt x="991311" y="5608"/>
                </a:cubicBezTo>
                <a:close/>
              </a:path>
            </a:pathLst>
          </a:custGeom>
          <a:gradFill>
            <a:gsLst>
              <a:gs pos="33000">
                <a:schemeClr val="bg1">
                  <a:alpha val="0"/>
                </a:schemeClr>
              </a:gs>
              <a:gs pos="85000">
                <a:schemeClr val="bg1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 flipH="1">
            <a:off x="2304848" y="959828"/>
            <a:ext cx="2704621" cy="270462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>
            <p:custDataLst>
              <p:tags r:id="rId5"/>
            </p:custDataLst>
          </p:nvPr>
        </p:nvSpPr>
        <p:spPr>
          <a:xfrm flipH="1">
            <a:off x="0" y="922053"/>
            <a:ext cx="4260648" cy="5935948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83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777048" y="3626673"/>
            <a:ext cx="1055600" cy="1055600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8"/>
            </p:custDataLst>
          </p:nvPr>
        </p:nvSpPr>
        <p:spPr>
          <a:xfrm>
            <a:off x="1675814" y="673304"/>
            <a:ext cx="436971" cy="436971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9"/>
            </p:custDataLst>
          </p:nvPr>
        </p:nvSpPr>
        <p:spPr>
          <a:xfrm flipH="1">
            <a:off x="10690611" y="5145127"/>
            <a:ext cx="92066" cy="920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 flipH="1">
            <a:off x="10376728" y="5145127"/>
            <a:ext cx="92066" cy="920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11"/>
            </p:custDataLst>
          </p:nvPr>
        </p:nvSpPr>
        <p:spPr>
          <a:xfrm flipH="1">
            <a:off x="10219788" y="5145127"/>
            <a:ext cx="92066" cy="9206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2"/>
            </p:custDataLst>
          </p:nvPr>
        </p:nvSpPr>
        <p:spPr>
          <a:xfrm flipH="1">
            <a:off x="10533670" y="5145127"/>
            <a:ext cx="92066" cy="92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5305909" y="3019881"/>
            <a:ext cx="5466468" cy="2055473"/>
          </a:xfrm>
        </p:spPr>
        <p:txBody>
          <a:bodyPr wrap="square" anchor="t" anchorCtr="0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7"/>
            </p:custDataLst>
          </p:nvPr>
        </p:nvSpPr>
        <p:spPr>
          <a:xfrm>
            <a:off x="5303509" y="1110275"/>
            <a:ext cx="5466468" cy="1813863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8800" b="1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cxnSp>
        <p:nvCxnSpPr>
          <p:cNvPr id="3" name="直接连接符 2"/>
          <p:cNvCxnSpPr/>
          <p:nvPr>
            <p:custDataLst>
              <p:tags r:id="rId18"/>
            </p:custDataLst>
          </p:nvPr>
        </p:nvCxnSpPr>
        <p:spPr>
          <a:xfrm>
            <a:off x="695960" y="6605101"/>
            <a:ext cx="1007745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9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6000">
                <a:schemeClr val="accent2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3"/>
            </p:custDataLst>
          </p:nvPr>
        </p:nvSpPr>
        <p:spPr>
          <a:xfrm>
            <a:off x="7367286" y="1479791"/>
            <a:ext cx="3240000" cy="324000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9" name="任意多边形: 形状 18"/>
          <p:cNvSpPr/>
          <p:nvPr>
            <p:custDataLst>
              <p:tags r:id="rId4"/>
            </p:custDataLst>
          </p:nvPr>
        </p:nvSpPr>
        <p:spPr>
          <a:xfrm>
            <a:off x="8451850" y="1632262"/>
            <a:ext cx="3740150" cy="5210789"/>
          </a:xfrm>
          <a:custGeom>
            <a:avLst/>
            <a:gdLst>
              <a:gd name="connsiteX0" fmla="*/ 3740150 w 3740150"/>
              <a:gd name="connsiteY0" fmla="*/ 0 h 5210789"/>
              <a:gd name="connsiteX1" fmla="*/ 3740150 w 3740150"/>
              <a:gd name="connsiteY1" fmla="*/ 5210789 h 5210789"/>
              <a:gd name="connsiteX2" fmla="*/ 301051 w 3740150"/>
              <a:gd name="connsiteY2" fmla="*/ 5210789 h 5210789"/>
              <a:gd name="connsiteX3" fmla="*/ 293920 w 3740150"/>
              <a:gd name="connsiteY3" fmla="*/ 5195985 h 5210789"/>
              <a:gd name="connsiteX4" fmla="*/ 0 w 3740150"/>
              <a:gd name="connsiteY4" fmla="*/ 3740150 h 5210789"/>
              <a:gd name="connsiteX5" fmla="*/ 3740150 w 3740150"/>
              <a:gd name="connsiteY5" fmla="*/ 0 h 521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0150" h="5210789">
                <a:moveTo>
                  <a:pt x="3740150" y="0"/>
                </a:moveTo>
                <a:lnTo>
                  <a:pt x="3740150" y="5210789"/>
                </a:lnTo>
                <a:lnTo>
                  <a:pt x="301051" y="5210789"/>
                </a:lnTo>
                <a:lnTo>
                  <a:pt x="293920" y="5195985"/>
                </a:lnTo>
                <a:cubicBezTo>
                  <a:pt x="104658" y="4748520"/>
                  <a:pt x="0" y="4256557"/>
                  <a:pt x="0" y="3740150"/>
                </a:cubicBezTo>
                <a:cubicBezTo>
                  <a:pt x="0" y="1674522"/>
                  <a:pt x="1674522" y="0"/>
                  <a:pt x="3740150" y="0"/>
                </a:cubicBezTo>
                <a:close/>
              </a:path>
            </a:pathLst>
          </a:custGeom>
          <a:gradFill flip="none" rotWithShape="1">
            <a:gsLst>
              <a:gs pos="88000">
                <a:schemeClr val="bg2"/>
              </a:gs>
              <a:gs pos="39000">
                <a:schemeClr val="bg2">
                  <a:alpha val="0"/>
                </a:schemeClr>
              </a:gs>
            </a:gsLst>
            <a:lin ang="13500000" scaled="1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0" y="6351259"/>
            <a:ext cx="12192000" cy="50674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83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695960" y="6605101"/>
            <a:ext cx="10077450" cy="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7"/>
            </p:custDataLst>
          </p:nvPr>
        </p:nvCxnSpPr>
        <p:spPr>
          <a:xfrm flipH="1">
            <a:off x="10945019" y="6605101"/>
            <a:ext cx="573881" cy="0"/>
          </a:xfrm>
          <a:prstGeom prst="line">
            <a:avLst/>
          </a:prstGeom>
          <a:ln w="22225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>
            <p:custDataLst>
              <p:tags r:id="rId8"/>
            </p:custDataLst>
          </p:nvPr>
        </p:nvSpPr>
        <p:spPr>
          <a:xfrm>
            <a:off x="1" y="1"/>
            <a:ext cx="1320207" cy="1156508"/>
          </a:xfrm>
          <a:custGeom>
            <a:avLst/>
            <a:gdLst>
              <a:gd name="connsiteX0" fmla="*/ 0 w 1809977"/>
              <a:gd name="connsiteY0" fmla="*/ 0 h 1585549"/>
              <a:gd name="connsiteX1" fmla="*/ 1809977 w 1809977"/>
              <a:gd name="connsiteY1" fmla="*/ 0 h 1585549"/>
              <a:gd name="connsiteX2" fmla="*/ 1801326 w 1809977"/>
              <a:gd name="connsiteY2" fmla="*/ 56684 h 1585549"/>
              <a:gd name="connsiteX3" fmla="*/ 116835 w 1809977"/>
              <a:gd name="connsiteY3" fmla="*/ 1579650 h 1585549"/>
              <a:gd name="connsiteX4" fmla="*/ 0 w 1809977"/>
              <a:gd name="connsiteY4" fmla="*/ 1585549 h 158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9977" h="1585549">
                <a:moveTo>
                  <a:pt x="0" y="0"/>
                </a:moveTo>
                <a:lnTo>
                  <a:pt x="1809977" y="0"/>
                </a:lnTo>
                <a:lnTo>
                  <a:pt x="1801326" y="56684"/>
                </a:lnTo>
                <a:cubicBezTo>
                  <a:pt x="1635100" y="869008"/>
                  <a:pt x="955821" y="1494446"/>
                  <a:pt x="116835" y="1579650"/>
                </a:cubicBezTo>
                <a:lnTo>
                  <a:pt x="0" y="1585549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弧形 20"/>
          <p:cNvSpPr/>
          <p:nvPr>
            <p:custDataLst>
              <p:tags r:id="rId9"/>
            </p:custDataLst>
          </p:nvPr>
        </p:nvSpPr>
        <p:spPr>
          <a:xfrm flipH="1" flipV="1">
            <a:off x="6581827" y="572963"/>
            <a:ext cx="4505466" cy="4505466"/>
          </a:xfrm>
          <a:prstGeom prst="arc">
            <a:avLst>
              <a:gd name="adj1" fmla="val 8263304"/>
              <a:gd name="adj2" fmla="val 8979118"/>
            </a:avLst>
          </a:prstGeom>
          <a:solidFill>
            <a:schemeClr val="bg2">
              <a:alpha val="0"/>
            </a:schemeClr>
          </a:solidFill>
          <a:ln>
            <a:solidFill>
              <a:schemeClr val="bg2">
                <a:lumMod val="9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10"/>
            </p:custDataLst>
          </p:nvPr>
        </p:nvSpPr>
        <p:spPr>
          <a:xfrm>
            <a:off x="7819164" y="890328"/>
            <a:ext cx="334236" cy="334236"/>
          </a:xfrm>
          <a:prstGeom prst="ellipse">
            <a:avLst/>
          </a:prstGeom>
          <a:gradFill>
            <a:gsLst>
              <a:gs pos="9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4"/>
            </p:custDataLst>
          </p:nvPr>
        </p:nvSpPr>
        <p:spPr>
          <a:xfrm>
            <a:off x="1063228" y="1775895"/>
            <a:ext cx="5235972" cy="2024362"/>
          </a:xfr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8473202" y="667501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2" name="椭圆 21"/>
          <p:cNvSpPr/>
          <p:nvPr>
            <p:custDataLst>
              <p:tags r:id="rId16"/>
            </p:custDataLst>
          </p:nvPr>
        </p:nvSpPr>
        <p:spPr>
          <a:xfrm>
            <a:off x="1074851" y="867326"/>
            <a:ext cx="108000" cy="10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17"/>
            </p:custDataLst>
          </p:nvPr>
        </p:nvSpPr>
        <p:spPr>
          <a:xfrm>
            <a:off x="1481123" y="867326"/>
            <a:ext cx="108000" cy="10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>
            <p:custDataLst>
              <p:tags r:id="rId18"/>
            </p:custDataLst>
          </p:nvPr>
        </p:nvSpPr>
        <p:spPr>
          <a:xfrm>
            <a:off x="1684260" y="867326"/>
            <a:ext cx="108000" cy="1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19"/>
            </p:custDataLst>
          </p:nvPr>
        </p:nvSpPr>
        <p:spPr>
          <a:xfrm>
            <a:off x="1277987" y="867326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20"/>
            </p:custDataLst>
          </p:nvPr>
        </p:nvSpPr>
        <p:spPr>
          <a:xfrm>
            <a:off x="10137187" y="3838727"/>
            <a:ext cx="1174493" cy="1174493"/>
          </a:xfrm>
          <a:prstGeom prst="ellipse">
            <a:avLst/>
          </a:prstGeom>
          <a:gradFill>
            <a:gsLst>
              <a:gs pos="100000">
                <a:schemeClr val="accent2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21"/>
            </p:custDataLst>
          </p:nvPr>
        </p:nvSpPr>
        <p:spPr>
          <a:xfrm>
            <a:off x="10741220" y="2120901"/>
            <a:ext cx="828798" cy="828798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52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>
            <p:custDataLst>
              <p:tags r:id="rId22"/>
            </p:custDataLst>
          </p:nvPr>
        </p:nvSpPr>
        <p:spPr>
          <a:xfrm>
            <a:off x="1054100" y="4624668"/>
            <a:ext cx="1889646" cy="54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2800" b="1" dirty="0">
              <a:latin typeface="+mj-ea"/>
              <a:ea typeface="+mj-ea"/>
              <a:sym typeface="+mn-ea"/>
            </a:endParaRPr>
          </a:p>
        </p:txBody>
      </p:sp>
      <p:pic>
        <p:nvPicPr>
          <p:cNvPr id="33" name="图形 32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3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1600" b="1" dirty="0">
                <a:solidFill>
                  <a:srgbClr val="031A2F"/>
                </a:solidFill>
                <a:latin typeface="+mn-ea"/>
                <a:ea typeface="+mn-ea"/>
              </a:defRPr>
            </a:lvl1pPr>
          </a:lstStyle>
          <a:p>
            <a:pPr marL="0" lvl="0" algn="ctr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2" Type="http://schemas.openxmlformats.org/officeDocument/2006/relationships/theme" Target="../theme/theme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slideLayout" Target="../slideLayouts/slideLayout35.xml"/><Relationship Id="rId19" Type="http://schemas.openxmlformats.org/officeDocument/2006/relationships/tags" Target="../tags/tag121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gradFill flip="none" rotWithShape="1"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0638"/>
            <a:ext cx="12192000" cy="1438276"/>
          </a:xfrm>
          <a:prstGeom prst="rect">
            <a:avLst/>
          </a:prstGeom>
          <a:solidFill>
            <a:srgbClr val="243AA8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1167" y="6742113"/>
            <a:ext cx="12170833" cy="115887"/>
          </a:xfrm>
          <a:prstGeom prst="rect">
            <a:avLst/>
          </a:prstGeom>
          <a:solidFill>
            <a:srgbClr val="C1C1C1"/>
          </a:solidFill>
          <a:ln w="9525">
            <a:noFill/>
            <a:miter lim="800000"/>
          </a:ln>
        </p:spPr>
        <p:txBody>
          <a:bodyPr lIns="36000" tIns="7200" rIns="36000" bIns="18000" anchor="ctr"/>
          <a:lstStyle/>
          <a:p>
            <a:pPr eaLnBrk="0" hangingPunct="0"/>
            <a:endParaRPr lang="en-US" sz="10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1167" y="-9525"/>
            <a:ext cx="12192000" cy="109538"/>
          </a:xfrm>
          <a:prstGeom prst="rect">
            <a:avLst/>
          </a:prstGeom>
          <a:solidFill>
            <a:srgbClr val="C1C1C1"/>
          </a:solidFill>
          <a:ln w="9525">
            <a:noFill/>
            <a:miter lim="800000"/>
          </a:ln>
        </p:spPr>
        <p:txBody>
          <a:bodyPr lIns="36000" tIns="7200" rIns="36000" bIns="18000" anchor="ctr"/>
          <a:lstStyle/>
          <a:p>
            <a:pPr eaLnBrk="0" hangingPunct="0"/>
            <a:endParaRPr lang="en-US" sz="1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/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/>
            </a:lvl1pPr>
          </a:lstStyle>
          <a:p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400"/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gradFill flip="none" rotWithShape="1"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11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/>
            </a:lvl1pPr>
          </a:lstStyle>
          <a:p>
            <a:fld id="{7F38D4D6-07F1-4AF8-BD2C-12D92F7E3819}" type="datetimeFigureOut">
              <a:rPr lang="en-US"/>
            </a:fld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/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400"/>
            </a:lvl1pPr>
          </a:lstStyle>
          <a:p>
            <a:fld id="{CEE1EFF2-7DAE-49AD-8626-84311454F8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10119360" y="1081851"/>
            <a:ext cx="268224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51E076A-D082-4979-AE26-5A58F612EF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9320248" y="3737240"/>
            <a:ext cx="42672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F627BD8-852E-48A8-825E-323F49DB03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cut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3700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13"/>
            </p:custDataLst>
          </p:nvPr>
        </p:nvSpPr>
        <p:spPr>
          <a:xfrm>
            <a:off x="10767139" y="296501"/>
            <a:ext cx="742236" cy="742238"/>
          </a:xfrm>
          <a:prstGeom prst="ellipse">
            <a:avLst/>
          </a:prstGeom>
          <a:gradFill>
            <a:gsLst>
              <a:gs pos="100000">
                <a:schemeClr val="accent2">
                  <a:alpha val="50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14"/>
            </p:custDataLst>
          </p:nvPr>
        </p:nvSpPr>
        <p:spPr>
          <a:xfrm>
            <a:off x="10975832" y="261411"/>
            <a:ext cx="1216167" cy="936058"/>
          </a:xfrm>
          <a:custGeom>
            <a:avLst/>
            <a:gdLst>
              <a:gd name="connsiteX0" fmla="*/ 1762548 w 1762548"/>
              <a:gd name="connsiteY0" fmla="*/ 0 h 1540757"/>
              <a:gd name="connsiteX1" fmla="*/ 1762548 w 1762548"/>
              <a:gd name="connsiteY1" fmla="*/ 1540757 h 1540757"/>
              <a:gd name="connsiteX2" fmla="*/ 0 w 1762548"/>
              <a:gd name="connsiteY2" fmla="*/ 1540757 h 1540757"/>
              <a:gd name="connsiteX3" fmla="*/ 18169 w 1762548"/>
              <a:gd name="connsiteY3" fmla="*/ 1421710 h 1540757"/>
              <a:gd name="connsiteX4" fmla="*/ 1762548 w 1762548"/>
              <a:gd name="connsiteY4" fmla="*/ 0 h 1540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548" h="1540757">
                <a:moveTo>
                  <a:pt x="1762548" y="0"/>
                </a:moveTo>
                <a:lnTo>
                  <a:pt x="1762548" y="1540757"/>
                </a:lnTo>
                <a:lnTo>
                  <a:pt x="0" y="1540757"/>
                </a:lnTo>
                <a:lnTo>
                  <a:pt x="18169" y="1421710"/>
                </a:lnTo>
                <a:cubicBezTo>
                  <a:pt x="184199" y="610342"/>
                  <a:pt x="902097" y="0"/>
                  <a:pt x="1762548" y="0"/>
                </a:cubicBezTo>
                <a:close/>
              </a:path>
            </a:pathLst>
          </a:custGeom>
          <a:gradFill flip="none" rotWithShape="1">
            <a:gsLst>
              <a:gs pos="83000">
                <a:schemeClr val="bg1">
                  <a:alpha val="50000"/>
                </a:schemeClr>
              </a:gs>
              <a:gs pos="39000">
                <a:schemeClr val="bg1">
                  <a:alpha val="5000"/>
                </a:schemeClr>
              </a:gs>
            </a:gsLst>
            <a:lin ang="13500000" scaled="1"/>
            <a:tileRect/>
          </a:gradFill>
          <a:ln w="6350">
            <a:gradFill flip="none" rotWithShape="1">
              <a:gsLst>
                <a:gs pos="17000">
                  <a:schemeClr val="bg1"/>
                </a:gs>
                <a:gs pos="43000">
                  <a:schemeClr val="bg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0" y="6585002"/>
            <a:ext cx="12192000" cy="27299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KSO_TEMPLATE" hidden="1"/>
          <p:cNvSpPr/>
          <p:nvPr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fontAlgn="auto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fontAlgn="auto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fontAlgn="auto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fontAlgn="auto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4.xml"/><Relationship Id="rId5" Type="http://schemas.openxmlformats.org/officeDocument/2006/relationships/tags" Target="../tags/tag127.xml"/><Relationship Id="rId4" Type="http://schemas.openxmlformats.org/officeDocument/2006/relationships/image" Target="../media/image7.GIF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30.xml"/><Relationship Id="rId3" Type="http://schemas.openxmlformats.org/officeDocument/2006/relationships/image" Target="../media/image7.GIF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5.xml"/><Relationship Id="rId5" Type="http://schemas.openxmlformats.org/officeDocument/2006/relationships/tags" Target="../tags/tag133.xml"/><Relationship Id="rId4" Type="http://schemas.openxmlformats.org/officeDocument/2006/relationships/image" Target="../media/image8.jpeg"/><Relationship Id="rId3" Type="http://schemas.openxmlformats.org/officeDocument/2006/relationships/image" Target="../media/image7.GIF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image" Target="../media/image7.GIF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image" Target="../media/image7.GIF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image" Target="../media/image7.GIF"/><Relationship Id="rId1" Type="http://schemas.openxmlformats.org/officeDocument/2006/relationships/tags" Target="../tags/tag14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35.xml"/><Relationship Id="rId6" Type="http://schemas.openxmlformats.org/officeDocument/2006/relationships/tags" Target="../tags/tag145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3" Type="http://schemas.openxmlformats.org/officeDocument/2006/relationships/tags" Target="../tags/tag144.xml"/><Relationship Id="rId2" Type="http://schemas.openxmlformats.org/officeDocument/2006/relationships/image" Target="../media/image7.GIF"/><Relationship Id="rId1" Type="http://schemas.openxmlformats.org/officeDocument/2006/relationships/tags" Target="../tags/tag14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image" Target="../media/image7.GIF"/><Relationship Id="rId1" Type="http://schemas.openxmlformats.org/officeDocument/2006/relationships/tags" Target="../tags/tag14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image" Target="../media/image7.GIF"/><Relationship Id="rId1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image" Target="../media/image7.GIF"/><Relationship Id="rId1" Type="http://schemas.openxmlformats.org/officeDocument/2006/relationships/tags" Target="../tags/tag15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image" Target="../media/image7.GIF"/><Relationship Id="rId1" Type="http://schemas.openxmlformats.org/officeDocument/2006/relationships/tags" Target="../tags/tag15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35.xml"/><Relationship Id="rId6" Type="http://schemas.openxmlformats.org/officeDocument/2006/relationships/tags" Target="../tags/tag160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3" Type="http://schemas.openxmlformats.org/officeDocument/2006/relationships/tags" Target="../tags/tag159.xml"/><Relationship Id="rId2" Type="http://schemas.openxmlformats.org/officeDocument/2006/relationships/image" Target="../media/image7.GIF"/><Relationship Id="rId1" Type="http://schemas.openxmlformats.org/officeDocument/2006/relationships/tags" Target="../tags/tag15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image" Target="../media/image7.GIF"/><Relationship Id="rId1" Type="http://schemas.openxmlformats.org/officeDocument/2006/relationships/tags" Target="../tags/tag16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image" Target="../media/image7.GIF"/><Relationship Id="rId1" Type="http://schemas.openxmlformats.org/officeDocument/2006/relationships/tags" Target="../tags/tag16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image" Target="../media/image7.GIF"/><Relationship Id="rId1" Type="http://schemas.openxmlformats.org/officeDocument/2006/relationships/tags" Target="../tags/tag16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image" Target="../media/image7.GIF"/><Relationship Id="rId1" Type="http://schemas.openxmlformats.org/officeDocument/2006/relationships/tags" Target="../tags/tag17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image" Target="../media/image7.GIF"/><Relationship Id="rId1" Type="http://schemas.openxmlformats.org/officeDocument/2006/relationships/tags" Target="../tags/tag17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image" Target="../media/image7.GIF"/><Relationship Id="rId1" Type="http://schemas.openxmlformats.org/officeDocument/2006/relationships/tags" Target="../tags/tag17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image" Target="../media/image7.GIF"/><Relationship Id="rId1" Type="http://schemas.openxmlformats.org/officeDocument/2006/relationships/tags" Target="../tags/tag17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image" Target="../media/image7.GIF"/><Relationship Id="rId1" Type="http://schemas.openxmlformats.org/officeDocument/2006/relationships/tags" Target="../tags/tag18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image" Target="../media/image7.GIF"/><Relationship Id="rId1" Type="http://schemas.openxmlformats.org/officeDocument/2006/relationships/tags" Target="../tags/tag185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image" Target="../media/image7.GIF"/><Relationship Id="rId1" Type="http://schemas.openxmlformats.org/officeDocument/2006/relationships/tags" Target="../tags/tag188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image" Target="../media/image7.GIF"/><Relationship Id="rId1" Type="http://schemas.openxmlformats.org/officeDocument/2006/relationships/tags" Target="../tags/tag191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image" Target="../media/image7.GIF"/><Relationship Id="rId1" Type="http://schemas.openxmlformats.org/officeDocument/2006/relationships/tags" Target="../tags/tag19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image" Target="../media/image7.GIF"/><Relationship Id="rId1" Type="http://schemas.openxmlformats.org/officeDocument/2006/relationships/tags" Target="../tags/tag19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image" Target="../media/image7.GIF"/><Relationship Id="rId1" Type="http://schemas.openxmlformats.org/officeDocument/2006/relationships/tags" Target="../tags/tag200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image" Target="../media/image7.GIF"/><Relationship Id="rId1" Type="http://schemas.openxmlformats.org/officeDocument/2006/relationships/tags" Target="../tags/tag203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image" Target="../media/image7.GIF"/><Relationship Id="rId1" Type="http://schemas.openxmlformats.org/officeDocument/2006/relationships/tags" Target="../tags/tag206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image" Target="../media/image7.GIF"/><Relationship Id="rId1" Type="http://schemas.openxmlformats.org/officeDocument/2006/relationships/tags" Target="../tags/tag20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35.xml"/><Relationship Id="rId6" Type="http://schemas.openxmlformats.org/officeDocument/2006/relationships/tags" Target="../tags/tag214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3.bin"/><Relationship Id="rId3" Type="http://schemas.openxmlformats.org/officeDocument/2006/relationships/tags" Target="../tags/tag213.xml"/><Relationship Id="rId2" Type="http://schemas.openxmlformats.org/officeDocument/2006/relationships/image" Target="../media/image7.GIF"/><Relationship Id="rId1" Type="http://schemas.openxmlformats.org/officeDocument/2006/relationships/tags" Target="../tags/tag212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image" Target="../media/image7.GIF"/><Relationship Id="rId1" Type="http://schemas.openxmlformats.org/officeDocument/2006/relationships/tags" Target="../tags/tag215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image" Target="../media/image7.GIF"/><Relationship Id="rId1" Type="http://schemas.openxmlformats.org/officeDocument/2006/relationships/tags" Target="../tags/tag218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image" Target="../media/image7.GIF"/><Relationship Id="rId1" Type="http://schemas.openxmlformats.org/officeDocument/2006/relationships/tags" Target="../tags/tag221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image" Target="../media/image7.GIF"/><Relationship Id="rId1" Type="http://schemas.openxmlformats.org/officeDocument/2006/relationships/tags" Target="../tags/tag22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image" Target="../media/image7.GIF"/><Relationship Id="rId1" Type="http://schemas.openxmlformats.org/officeDocument/2006/relationships/tags" Target="../tags/tag227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image" Target="../media/image7.GIF"/><Relationship Id="rId1" Type="http://schemas.openxmlformats.org/officeDocument/2006/relationships/tags" Target="../tags/tag230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image" Target="../media/image7.GIF"/><Relationship Id="rId1" Type="http://schemas.openxmlformats.org/officeDocument/2006/relationships/tags" Target="../tags/tag233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image" Target="../media/image7.GIF"/><Relationship Id="rId1" Type="http://schemas.openxmlformats.org/officeDocument/2006/relationships/tags" Target="../tags/tag23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35.xml"/><Relationship Id="rId6" Type="http://schemas.openxmlformats.org/officeDocument/2006/relationships/tags" Target="../tags/tag241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4.bin"/><Relationship Id="rId3" Type="http://schemas.openxmlformats.org/officeDocument/2006/relationships/tags" Target="../tags/tag240.xml"/><Relationship Id="rId2" Type="http://schemas.openxmlformats.org/officeDocument/2006/relationships/image" Target="../media/image7.GIF"/><Relationship Id="rId1" Type="http://schemas.openxmlformats.org/officeDocument/2006/relationships/tags" Target="../tags/tag2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image" Target="../media/image7.GIF"/><Relationship Id="rId1" Type="http://schemas.openxmlformats.org/officeDocument/2006/relationships/tags" Target="../tags/tag24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image" Target="../media/image7.GIF"/><Relationship Id="rId1" Type="http://schemas.openxmlformats.org/officeDocument/2006/relationships/tags" Target="../tags/tag245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oleObject" Target="../embeddings/oleObject7.bin"/><Relationship Id="rId7" Type="http://schemas.openxmlformats.org/officeDocument/2006/relationships/image" Target="../media/image14.wmf"/><Relationship Id="rId6" Type="http://schemas.openxmlformats.org/officeDocument/2006/relationships/oleObject" Target="../embeddings/oleObject6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Relationship Id="rId3" Type="http://schemas.openxmlformats.org/officeDocument/2006/relationships/tags" Target="../tags/tag249.xml"/><Relationship Id="rId2" Type="http://schemas.openxmlformats.org/officeDocument/2006/relationships/image" Target="../media/image7.GI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35.xml"/><Relationship Id="rId10" Type="http://schemas.openxmlformats.org/officeDocument/2006/relationships/tags" Target="../tags/tag250.xml"/><Relationship Id="rId1" Type="http://schemas.openxmlformats.org/officeDocument/2006/relationships/tags" Target="../tags/tag248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image" Target="../media/image7.GIF"/><Relationship Id="rId1" Type="http://schemas.openxmlformats.org/officeDocument/2006/relationships/tags" Target="../tags/tag251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image" Target="../media/image7.GIF"/><Relationship Id="rId1" Type="http://schemas.openxmlformats.org/officeDocument/2006/relationships/tags" Target="../tags/tag25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image" Target="../media/image7.GIF"/><Relationship Id="rId1" Type="http://schemas.openxmlformats.org/officeDocument/2006/relationships/tags" Target="../tags/tag257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image" Target="../media/image7.GIF"/><Relationship Id="rId1" Type="http://schemas.openxmlformats.org/officeDocument/2006/relationships/tags" Target="../tags/tag260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35.xml"/><Relationship Id="rId6" Type="http://schemas.openxmlformats.org/officeDocument/2006/relationships/tags" Target="../tags/tag265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8.bin"/><Relationship Id="rId3" Type="http://schemas.openxmlformats.org/officeDocument/2006/relationships/tags" Target="../tags/tag264.xml"/><Relationship Id="rId2" Type="http://schemas.openxmlformats.org/officeDocument/2006/relationships/image" Target="../media/image7.GIF"/><Relationship Id="rId1" Type="http://schemas.openxmlformats.org/officeDocument/2006/relationships/tags" Target="../tags/tag2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4100" y="1590040"/>
            <a:ext cx="7543800" cy="2294890"/>
          </a:xfrm>
        </p:spPr>
        <p:txBody>
          <a:bodyPr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6000"/>
              <a:t>第</a:t>
            </a:r>
            <a:r>
              <a:rPr lang="zh-CN" sz="6000"/>
              <a:t>七</a:t>
            </a:r>
            <a:r>
              <a:rPr altLang="en-US" sz="6000"/>
              <a:t>章 </a:t>
            </a:r>
            <a:r>
              <a:rPr lang="zh-CN" sz="6000"/>
              <a:t>第五代移动通信系统关键技术及其应用</a:t>
            </a:r>
            <a:endParaRPr lang="zh-CN" sz="6000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4655820" y="5589270"/>
            <a:ext cx="3924935" cy="504190"/>
          </a:xfrm>
        </p:spPr>
        <p:txBody>
          <a:bodyPr>
            <a:normAutofit/>
          </a:bodyPr>
          <a:p>
            <a:r>
              <a:rPr lang="zh-CN" altLang="en-US" sz="2000"/>
              <a:t>惠州学院电子信息与电气工程学院</a:t>
            </a:r>
            <a:endParaRPr lang="zh-CN" altLang="en-US" sz="2000"/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13688" y="4624668"/>
            <a:ext cx="2880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2"/>
            </a:solidFill>
          </a:ln>
          <a:effectLst>
            <a:outerShdw blurRad="101600" dist="1016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600" b="1" kern="1200" dirty="0">
                <a:solidFill>
                  <a:srgbClr val="031A2F"/>
                </a:solidFill>
                <a:latin typeface="+mn-ea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dk2"/>
                </a:solidFill>
              </a:rPr>
              <a:t>汇报人：</a:t>
            </a:r>
            <a:r>
              <a:rPr>
                <a:solidFill>
                  <a:schemeClr val="dk2"/>
                </a:solidFill>
              </a:rPr>
              <a:t>凌家良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4" cstate="print"/>
          <a:srcRect l="14589" t="33821" r="11138" b="38327"/>
          <a:stretch>
            <a:fillRect/>
          </a:stretch>
        </p:blipFill>
        <p:spPr>
          <a:xfrm>
            <a:off x="0" y="0"/>
            <a:ext cx="1990090" cy="5873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1301750"/>
            <a:ext cx="10800080" cy="53289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这章的主要内容有：</a:t>
            </a:r>
            <a:endParaRPr lang="en-US" altLang="zh-CN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）熟悉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移动通信系统的关键技术</a:t>
            </a:r>
            <a:endParaRPr lang="zh-CN" altLang="en-US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）了解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移动通信系统的应用</a:t>
            </a:r>
            <a:endParaRPr lang="zh-CN" altLang="en-US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第</a:t>
            </a:r>
            <a:r>
              <a:rPr lang="en-US" altLang="zh-CN" dirty="0">
                <a:sym typeface="+mn-ea"/>
              </a:rPr>
              <a:t>7</a:t>
            </a:r>
            <a:r>
              <a:rPr lang="zh-CN" altLang="en-US" dirty="0">
                <a:sym typeface="+mn-ea"/>
              </a:rPr>
              <a:t>章</a:t>
            </a:r>
            <a:r>
              <a:rPr lang="zh-CN" altLang="en-US" dirty="0">
                <a:sym typeface="+mn-ea"/>
              </a:rPr>
              <a:t> 第五代移动通信系统关键技术及其应用</a:t>
            </a:r>
            <a:endParaRPr lang="zh-CN" altLang="en-US" dirty="0">
              <a:sym typeface="+mn-ea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3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1301750"/>
            <a:ext cx="10800080" cy="5328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大规模天线技术（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Massive MIMO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），通过在基站部署数十至数百个天线单元，利用空间维度资源提升频谱效率和网络容量。作用：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）频谱效率倍增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：通过多用户空分复用（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MU-MIMO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），实现同一时频资源下多终端并行通信，理论容量可达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4G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的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10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倍以上；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2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）能耗优化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：精准波束赋形技术将信号能量聚焦于目标用户，减少无效辐射，基站能耗同比降低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30%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；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3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）覆盖增强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：高频段（如毫米波）通过大规模天线阵列补偿路径损耗，扩展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5G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网络覆盖边界。</a:t>
            </a:r>
            <a:endParaRPr lang="en-US" altLang="zh-CN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   </a:t>
            </a:r>
            <a:r>
              <a:rPr lang="zh-CN" altLang="en-US" dirty="0">
                <a:sym typeface="+mn-ea"/>
              </a:rPr>
              <a:t>大规模天线技术</a:t>
            </a:r>
            <a:endParaRPr lang="zh-CN" altLang="en-US" dirty="0">
              <a:sym typeface="+mn-ea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3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2352040" y="836930"/>
            <a:ext cx="8328025" cy="53657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1301750"/>
            <a:ext cx="10800080" cy="5328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主要技术：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）波束赋形</a:t>
            </a:r>
            <a:r>
              <a:rPr 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：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通过动态调整天线相位与幅度，形成窄波束定向传输信号，减少多径干扰，提升终端接收信噪比。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2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）超维度天线阵列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：结合二维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/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三维阵列形态，支持水平和垂直方向波束扫描，适应低空、海洋等复杂场景覆盖需求。甚至引入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AI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算法预测信道状态，动态优化天线配置。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3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）数字预编码与信道估计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‌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：基于实时信道状态信息（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CSI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）设计预编码矩阵，补偿多用户信道差异，最大化空间复用增益。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   </a:t>
            </a:r>
            <a:r>
              <a:rPr lang="zh-CN" altLang="en-US" dirty="0">
                <a:sym typeface="+mn-ea"/>
              </a:rPr>
              <a:t>大规模天线技术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毫米波</a:t>
            </a:r>
            <a:r>
              <a:rPr 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是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指频率在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24GHz~100GHz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之间的电磁波（波长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1~10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毫米），可提供超大带宽（数百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MHz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至数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），显著提升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5G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的传输速率和容量。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 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毫米波的频段划分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n257/n258/n260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（北美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/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韩国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/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日本）：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28GHz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n257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）、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26GHz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n258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）、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39GHz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n260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欧洲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/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中国：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26GHz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n258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）和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40GHz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（未来可能扩展）。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特点：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带宽大：单载波可达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400MHz~2GHz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Sub-6GHz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仅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100MHz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速率高：理论峰值速率可达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10Gbps+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Sub-6GHz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仅</a:t>
            </a:r>
            <a:r>
              <a:rPr lang="en-US" altLang="zh-CN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1~2Gbps</a:t>
            </a:r>
            <a:r>
              <a:rPr lang="zh-CN" altLang="en-US" sz="26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）。</a:t>
            </a:r>
            <a:endParaRPr lang="zh-CN" altLang="en-US" sz="26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7.1.2  </a:t>
            </a:r>
            <a:r>
              <a:rPr lang="zh-CN" altLang="en-US" dirty="0">
                <a:sym typeface="+mn-ea"/>
              </a:rPr>
              <a:t>毫米波技术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）毫米波的优势</a:t>
            </a:r>
            <a:endParaRPr lang="zh-CN" altLang="en-US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超高速度：</a:t>
            </a:r>
            <a:r>
              <a:rPr lang="zh-CN" altLang="en-US" sz="2800" dirty="0" smtClean="0">
                <a:cs typeface="宋体" panose="02010600030101010101" pitchFamily="2" charset="-122"/>
                <a:sym typeface="+mn-ea"/>
              </a:rPr>
              <a:t>理论峰值速率可达</a:t>
            </a:r>
            <a:r>
              <a:rPr lang="en-US" altLang="zh-CN" sz="2800" dirty="0" smtClean="0">
                <a:cs typeface="宋体" panose="02010600030101010101" pitchFamily="2" charset="-122"/>
                <a:sym typeface="+mn-ea"/>
              </a:rPr>
              <a:t>10Gbps+</a:t>
            </a:r>
            <a:r>
              <a:rPr lang="zh-CN" altLang="en-US" sz="2800" dirty="0" smtClean="0"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适用于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4K/8K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视频、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VR/AR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、云游戏等大流量场景。</a:t>
            </a:r>
            <a:endParaRPr lang="zh-CN" altLang="en-US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超大容量：可支持高密度设备连接（如体育场、演唱会等）。</a:t>
            </a:r>
            <a:endParaRPr lang="zh-CN" altLang="en-US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低延迟：结合边缘计算（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MEC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），延迟可降至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1ms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，适合工业自动化、远程手术等。</a:t>
            </a:r>
            <a:endParaRPr lang="zh-CN" altLang="en-US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波束赋形（</a:t>
            </a:r>
            <a:r>
              <a:rPr lang="en-US" altLang="zh-CN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Beamforming</a:t>
            </a:r>
            <a:r>
              <a:rPr lang="zh-CN" altLang="en-US" sz="2800" dirty="0" smtClean="0">
                <a:solidFill>
                  <a:schemeClr val="tx1"/>
                </a:solidFill>
                <a:cs typeface="宋体" panose="02010600030101010101" pitchFamily="2" charset="-122"/>
              </a:rPr>
              <a:t>）增强：毫米波易受阻挡，但通过动态调整波束方向，可精准覆盖用户。</a:t>
            </a:r>
            <a:endParaRPr lang="zh-CN" altLang="en-US" sz="28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7.1.2  </a:t>
            </a:r>
            <a:r>
              <a:rPr lang="zh-CN" altLang="en-US" dirty="0">
                <a:sym typeface="+mn-ea"/>
              </a:rPr>
              <a:t>毫米波技术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毫米波的缺点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覆盖范围小：高频信号衰减快，典型覆盖仅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100~300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米（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可达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1km+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穿透能力差：难以穿透墙壁、玻璃、树木等，易受雨雪天气影响。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部署成本高：需密集部署小基站（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Small Cells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），增加网络建设成本。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终端功耗大：高频信号处理复杂，手机等终端需优化天线和散热设计。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7.1.2  </a:t>
            </a:r>
            <a:r>
              <a:rPr lang="zh-CN" altLang="en-US" dirty="0">
                <a:sym typeface="+mn-ea"/>
              </a:rPr>
              <a:t>毫米波技术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19380" y="1917065"/>
          <a:ext cx="11983085" cy="2758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10220325" imgH="2352675" progId="Paint.Picture">
                  <p:embed/>
                </p:oleObj>
              </mc:Choice>
              <mc:Fallback>
                <p:oleObj name="" r:id="rId4" imgW="10220325" imgH="23526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380" y="1917065"/>
                        <a:ext cx="11983085" cy="2758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）毫米波的解决方案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小基站（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Small Cells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）密集组网：在热点区域（如商场、地铁站）部署大量低功率基站，弥补覆盖不足。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波束赋形（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Beamforming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 Massive MIMO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：基站使用多天线阵列，动态调整信号方向，增强用户连接稳定性。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中继与反射面（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Repeaters/IRS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）：利用智能反射面（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Intelligent Reflecting Surface, IRS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）增强信号绕射能力。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Sub-6GHz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协同组网：广域覆盖用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Sub-6GHz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（如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3.5GHz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），热点区域用毫米波，平衡覆盖与速率。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7.1.2  </a:t>
            </a:r>
            <a:r>
              <a:rPr lang="zh-CN" altLang="en-US" dirty="0">
                <a:sym typeface="+mn-ea"/>
              </a:rPr>
              <a:t>毫米波技术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）毫米波的全球发展现状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北美（美国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加拿大）：已商用毫米波（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28GHz/39GHz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），主要用于热点覆盖。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韩国：在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频段部署毫米波，用于体育场馆和商业区。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欧洲：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频段逐步开放，但部署较慢（受限于政策和高成本）。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中国：目前以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3.5GHz/4.9GHz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）为主，毫米波（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）仍在试验阶段（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年后可能商用）。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7.1.2  </a:t>
            </a:r>
            <a:r>
              <a:rPr lang="zh-CN" altLang="en-US" dirty="0">
                <a:sym typeface="+mn-ea"/>
              </a:rPr>
              <a:t>毫米波技术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）毫米波的未来趋势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延伸（太赫兹通信）：未来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可能使用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100GHz~1THz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频段，速率进一步提升（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1Tbps+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优化波束管理：机器学习动态调整波束，提升毫米波网络效率。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卫星通信结合：低轨卫星（如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Starlink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）可能采用毫米波，提供全球高速连接。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7.1.2  </a:t>
            </a:r>
            <a:r>
              <a:rPr lang="zh-CN" altLang="en-US" dirty="0">
                <a:sym typeface="+mn-ea"/>
              </a:rPr>
              <a:t>毫米波技术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灵活空口通过可扩展参数（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SCS</a:t>
            </a:r>
            <a:r>
              <a:rPr lang="zh-CN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，子载波间隔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）、动态帧结构（微时隙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/TDD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BWP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节能等技术，实现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一套空口适配多场景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。其核心思想在于：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降低延迟（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uRLLC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微时隙）。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提升效率（动态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TDD/BWP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兼容未来（支持毫米波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太赫兹）。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这一设计是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超越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的关键创新，也为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智能弹性空口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奠定基础。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7.1.3  </a:t>
            </a:r>
            <a:r>
              <a:rPr lang="zh-CN" altLang="en-US" dirty="0">
                <a:sym typeface="+mn-ea"/>
              </a:rPr>
              <a:t>灵活空口技术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包括：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）灵活参数设计（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Numerology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 NR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引入可扩展的子载波间隔（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SCS, Subcarrier Spacing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）和时隙结构，取代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 LTE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的固定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15kHz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子载波间隔。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7.1.3  </a:t>
            </a:r>
            <a:r>
              <a:rPr lang="zh-CN" altLang="en-US" dirty="0">
                <a:sym typeface="+mn-ea"/>
              </a:rPr>
              <a:t>灵活空口技术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559560" y="3616325"/>
          <a:ext cx="8438515" cy="2906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5172075" imgH="1781175" progId="Paint.Picture">
                  <p:embed/>
                </p:oleObj>
              </mc:Choice>
              <mc:Fallback>
                <p:oleObj name="" r:id="rId4" imgW="5172075" imgH="17811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59560" y="3616325"/>
                        <a:ext cx="8438515" cy="2906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）灵活帧结构（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Flexible Frame Structure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 NR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的帧结构支持动态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TDD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和微时隙（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Mini-slot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），实现资源按需分配：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TDD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：上下行资源比例可实时调整（适应突发流量）。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微时隙（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Mini-slot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传统时隙，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OFDM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符号（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1ms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），微时隙：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2~7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个符号（可短至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0.125ms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），满足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uRLLC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极低延迟需求（如工业控制）。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7.1.3  </a:t>
            </a:r>
            <a:r>
              <a:rPr lang="zh-CN" altLang="en-US" dirty="0">
                <a:sym typeface="+mn-ea"/>
              </a:rPr>
              <a:t>灵活空口技术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）带宽部分（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BWP, Bandwidth Part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将整个载波带宽划分为多个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子带宽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，终端仅激活部分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BWP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以节能。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应用场景：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低功耗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IoT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设备：使用窄带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BWP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（如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5MHz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高速率手机：切换至宽带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BWP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（如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）前导码与随机接入优化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步流程（延迟约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10ms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优化：合并为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“Msg1+Msg3”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两步，延迟降低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50%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以上，适合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uRLLC</a:t>
            </a:r>
            <a:r>
              <a:rPr lang="zh-CN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超可靠低延迟通信）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7.1.3  </a:t>
            </a:r>
            <a:r>
              <a:rPr lang="zh-CN" altLang="en-US" dirty="0">
                <a:sym typeface="+mn-ea"/>
              </a:rPr>
              <a:t>灵活空口技术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大带宽技术是实现超高速率（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10Gbps+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）和高容量的核心，主要通过频谱扩展、载波聚合、高阶调制等关键技术实现。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）频谱资源扩展，包括：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毫米波（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mmWave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）高频段：如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39GHz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，单载波可达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400MHz~2GHz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Sub-6GHz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中频段：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3.5GHz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（中国）、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2.6GHz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（欧洲），单载波带宽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，覆盖半径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1~3km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频谱共享技术：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4G/5G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动态共享同一频段（如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1.8GHz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），平滑过渡。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免许可频段（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NR-U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）：利用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5GHz/6GHz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非授权频谱补充容量（类似</a:t>
            </a:r>
            <a:r>
              <a:rPr lang="en-US" altLang="zh-CN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Wi-Fi</a:t>
            </a:r>
            <a:r>
              <a:rPr lang="zh-CN" altLang="en-US" sz="27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7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7.1.4  </a:t>
            </a:r>
            <a:r>
              <a:rPr lang="zh-CN" altLang="en-US" dirty="0">
                <a:sym typeface="+mn-ea"/>
              </a:rPr>
              <a:t>大带宽技术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）载波聚合（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CA, Carrier Aggregation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将多个载波（频段）捆绑使用，提升总带宽，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理论峰值速率可达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10Gbps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（毫米波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8CA + Sub-6GHz 4CA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），大大提升网络容量和用户平均速率。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包括：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同频段内聚合（如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3.5GHz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载波）；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跨频段聚合（如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3.5GHz + 2.6GHz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7.1.4  </a:t>
            </a:r>
            <a:r>
              <a:rPr lang="zh-CN" altLang="en-US" dirty="0">
                <a:sym typeface="+mn-ea"/>
              </a:rPr>
              <a:t>大带宽技术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辅助上行技术是一种通过增加额外的上行（移动台到基站）链路资源来提升网络上行性能的解决方案，主要用于弥补高频段（如毫米波）覆盖不足或上行链路容量受限的问题。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高频段上行短板：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中频段（如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3.5GHz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）或毫米波（如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）上行覆盖范围较小，且终端发射功率有限，导致上行链路成为瓶颈。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低频段优势：低频段（如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1.8GHz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）穿透性强、覆盖广，适合作为上行补充。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7.1.5  </a:t>
            </a:r>
            <a:r>
              <a:rPr lang="zh-CN" altLang="en-US" dirty="0">
                <a:sym typeface="+mn-ea"/>
              </a:rPr>
              <a:t>辅助上行技术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实现：</a:t>
            </a:r>
            <a:endParaRPr 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双上行链路：终端同时配置低频段（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SUL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）和高频段（主上行链路），低频段专用于上行传输，高频段用于下行或上下行动态分配。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动态切换：根据信道条件（如信号强度、负载情况），网络可动态指示终端使用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SUL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或主上行链路。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应用场景：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室内深度覆盖：弥补高频段在室内穿透损耗大的问题。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农村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边缘地区：解决基站稀疏导致的上行信号弱问题。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实时应用：支持直播、视频会议等高上行需求业务。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7.1.5  </a:t>
            </a:r>
            <a:r>
              <a:rPr lang="zh-CN" altLang="en-US" dirty="0">
                <a:sym typeface="+mn-ea"/>
              </a:rPr>
              <a:t>辅助上行技术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频谱共享技术是指通过动态、灵活的方式让多个运营商、服务商或通信系统（如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4G/5G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）共享同一段频谱资源，以提高频谱利用率并满足多样化需求。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技术背景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频谱稀缺：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需要大带宽（如毫米波），但优质低频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中频资源有限。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效率需求：传统静态分配导致频谱利用率低（如某些频段闲置）。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多系统共存：需协调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Wi-Fi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、卫星通信等系统的频谱使用。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7.1.6  </a:t>
            </a:r>
            <a:r>
              <a:rPr lang="zh-CN" altLang="en-US" dirty="0">
                <a:sym typeface="+mn-ea"/>
              </a:rPr>
              <a:t>频谱共享技术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主要频谱共享技术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）动态频谱共享</a:t>
            </a:r>
            <a:r>
              <a:rPr 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在同一频段上动态分配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LTE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）资源，根据实时需求调整比例。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实现：通过软件升级基站，支持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LTE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共存的帧结构。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优势：平滑演进，无需清退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即可部署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，降低运营商成本。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按需分配：根据用户比例动态调整资源（如白天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需求高时分配更多资源）。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Sub-3GHz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1.8GHz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2.1GHz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4G/5G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共享。</a:t>
            </a: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7.1.6  </a:t>
            </a:r>
            <a:r>
              <a:rPr lang="zh-CN" altLang="en-US" dirty="0">
                <a:sym typeface="+mn-ea"/>
              </a:rPr>
              <a:t>频谱共享技术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主要频谱共享技术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）授权共享接入：在特定地理区域或时间段，将授权频谱（如军用、广电）共享给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商用网络。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实现：通过中央数据库协调主用户（如雷达）和次用户（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基站）的接入。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）非授权频谱共享：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 NR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在非授权频段（如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）运行，与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Wi-Fi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等共存。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应用：补充容量（如室内热点），支持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专网。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7.1.6  </a:t>
            </a:r>
            <a:r>
              <a:rPr lang="zh-CN" altLang="en-US" dirty="0">
                <a:sym typeface="+mn-ea"/>
              </a:rPr>
              <a:t>频谱共享技术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运营商间共享：多家运营商共享同一频段（如乡村共建共享）。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垂直行业专网：工厂、港口使用共享频谱部署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专网。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应急通信：灾害时临时共享公共安全频段。。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7.1.6  </a:t>
            </a:r>
            <a:r>
              <a:rPr lang="zh-CN" altLang="en-US" dirty="0">
                <a:sym typeface="+mn-ea"/>
              </a:rPr>
              <a:t>频谱共享技术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边缘计算（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Multi-access Edge Computing, MEC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）技术通过将计算、存储和网络资源下沉到靠近用户或数据源的网络边缘（如基站侧、城域网汇聚点），显著降低时延、提升效率，并赋能新型应用场景。目前，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中国移动已经在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15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个省份部署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MEC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技术实现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）网络架构：用户面下沉（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UPF Local Breakout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数据流量在边缘节点（如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服务器）直接分流至本地网络，无需回传至核心网。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示例：工厂摄像头视频流在园区内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处理，避免上传至云端。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7.1.7  </a:t>
            </a:r>
            <a:r>
              <a:rPr lang="zh-CN" altLang="en-US" dirty="0">
                <a:sym typeface="+mn-ea"/>
              </a:rPr>
              <a:t>边缘计算技术（</a:t>
            </a:r>
            <a:r>
              <a:rPr lang="en-US" altLang="zh-CN" dirty="0">
                <a:sym typeface="+mn-ea"/>
              </a:rPr>
              <a:t>MEC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技术实现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）资源管理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动态负载均衡：根据业务需求（如突发流量）在边缘节点间迁移计算任务。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分布式协同：边缘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云端协同计算（如边缘处理实时数据，云端训练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7.1.7  </a:t>
            </a:r>
            <a:r>
              <a:rPr lang="zh-CN" altLang="en-US" dirty="0">
                <a:sym typeface="+mn-ea"/>
              </a:rPr>
              <a:t>边缘计算技术（</a:t>
            </a:r>
            <a:r>
              <a:rPr lang="en-US" altLang="zh-CN" dirty="0">
                <a:sym typeface="+mn-ea"/>
              </a:rPr>
              <a:t>MEC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典型应用场景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工业互联网：预测性维护，边缘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实时分析设备传感器数据。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处理多机器人路径规划。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智慧城市：如交通优化，边缘节点处理路口摄像头数据，实时调整信号灯。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云游戏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/VR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：渲染任务在边缘服务器完成，降低操作延迟至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医疗：如远程手术，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确保术中视频流与机械臂控制的极低时延。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7.1.7  </a:t>
            </a:r>
            <a:r>
              <a:rPr lang="zh-CN" altLang="en-US" dirty="0">
                <a:sym typeface="+mn-ea"/>
              </a:rPr>
              <a:t>边缘计算技术（</a:t>
            </a:r>
            <a:r>
              <a:rPr lang="en-US" altLang="zh-CN" dirty="0">
                <a:sym typeface="+mn-ea"/>
              </a:rPr>
              <a:t>MEC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时延优化：端到端时延从云端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降至边缘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带宽节省：本地处理减少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60%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以上的回传流量。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数据安全：敏感数据（如人脸信息）不出园区。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挑战与解决方案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资源受限：边缘节点算力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存储有限；解决方案：分级边缘（轻量级边缘节点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区域边缘云）。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异构管理：多厂商设备（如华为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诺基亚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）协同困难。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方案：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ETSI MEC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标准化接口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开源平台（如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StarlingX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7.1.7  </a:t>
            </a:r>
            <a:r>
              <a:rPr lang="zh-CN" altLang="en-US" dirty="0">
                <a:sym typeface="+mn-ea"/>
              </a:rPr>
              <a:t>边缘计算技术（</a:t>
            </a:r>
            <a:r>
              <a:rPr lang="en-US" altLang="zh-CN" dirty="0">
                <a:sym typeface="+mn-ea"/>
              </a:rPr>
              <a:t>MEC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695960" y="991870"/>
            <a:ext cx="10800080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网络切片（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Network Slicing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）是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核心创新技术之一，它通过虚拟化技术将一个物理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网络划分为多个逻辑独立的虚拟子网络（切片），每个切片可针对不同业务需求提供定制化的网络服务（如带宽、时延、可靠性等），从而实现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一网多用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就像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公路车道划分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：将一条物理公路划分为公交专用道、快车道、慢车道，不同车辆按需选择。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7.1.8  </a:t>
            </a:r>
            <a:r>
              <a:rPr lang="zh-CN" altLang="en-US" dirty="0">
                <a:sym typeface="+mn-ea"/>
              </a:rPr>
              <a:t>网络切片技术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网络切片的概念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逻辑独立：每个切片拥有独立的网络资源（计算、存储、带宽）和功能模块（如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AMF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SMF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UPF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），互不干扰。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按需定制：可针对不同应用场景（如工业控制、高清视频、物联网）配置不同的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QoS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（服务质量）参数。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资源高效利用：避免为每种业务单独建网。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快速部署：通过软件定义方式分钟级生成新切片（如临时赛事直播）。安全隔离：金融、政务等敏感业务数据独立传输，防止跨切片干扰。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7.1.8  </a:t>
            </a:r>
            <a:r>
              <a:rPr lang="zh-CN" altLang="en-US" dirty="0">
                <a:sym typeface="+mn-ea"/>
              </a:rPr>
              <a:t>网络切片技术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网络切片的架构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）核心网切片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控制面（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）共享；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用户面（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UP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）隔离；每个切片可部署独立的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UPF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（用户面功能），实现数据流本地分流。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）接入网切片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无线资源划分：将空口资源（如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PRB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资源块）动态分配给不同切片。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URLLC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（超可靠低时延）、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eMBB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（增强移动宽带）、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mMTC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（海量物联网）的差异化调度。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7.1.8  </a:t>
            </a:r>
            <a:r>
              <a:rPr lang="zh-CN" altLang="en-US" dirty="0">
                <a:sym typeface="+mn-ea"/>
              </a:rPr>
              <a:t>网络切片技术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（设备直连通信）是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关键技术之一，允许终端设备在近距离范围内直接通信，无需通过基站或核心网中转，从而降低时延、节省网络资源，并支持新业务场景（如车联网、公共安全通信）。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的基本定义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直接通信：终端（如手机、车载设备、传感器）之间通过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空口（如侧行链路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Sidelink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）直接传输数据。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网络控制：基站（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gNB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）仍参与资源分配、干扰管理和连接建立，但数据不经过核心网。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7.1.9  D2D</a:t>
            </a:r>
            <a:r>
              <a:rPr lang="zh-CN" altLang="zh-CN" dirty="0">
                <a:sym typeface="+mn-ea"/>
              </a:rPr>
              <a:t>通信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479425" y="3501390"/>
          <a:ext cx="11009630" cy="278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5429250" imgH="1371600" progId="Paint.Picture">
                  <p:embed/>
                </p:oleObj>
              </mc:Choice>
              <mc:Fallback>
                <p:oleObj name="" r:id="rId4" imgW="5429250" imgH="13716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9425" y="3501390"/>
                        <a:ext cx="11009630" cy="2781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）车联网（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V2X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V2V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（车车通信）：车辆直接交换位置、速度信息，实现碰撞预警。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（车路协同）：红绿灯、路侧单元通过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向车辆发送实时信号。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时延要求：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&lt;10ms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，可靠性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&gt;99.9%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）公共安全通信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应急通信：消防员、警察在无网络覆盖时通过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组网。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广播增强：地震预警信息通过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快速扩散。</a:t>
            </a: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7.1.9  D2D</a:t>
            </a:r>
            <a:r>
              <a:rPr lang="zh-CN" altLang="zh-CN" dirty="0">
                <a:sym typeface="+mn-ea"/>
              </a:rPr>
              <a:t>通信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）物联网（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IoT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）与边缘计算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设备直连：工厂传感器直接交换数据，减少云端回传。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边缘协同：多终端协作处理计算任务（如分布式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推理）。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）社交与本地服务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近场文件传输：手机间高速共享大文件（如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隔空投送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AR/VR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协作：多用户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游戏通过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同步数据。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7.1.9  D2D</a:t>
            </a:r>
            <a:r>
              <a:rPr lang="zh-CN" altLang="zh-CN" dirty="0">
                <a:sym typeface="+mn-ea"/>
              </a:rPr>
              <a:t>通信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的关键技术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）侧行链路（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Sidelink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频段：使用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授权频段（如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Sub-6GHz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或毫米波），避免与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Wi-Fi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等非授权频段干扰。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传输模式：基于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OFDM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的物理侧行共享信道（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PSSCH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资源分配：支持动态调度（基站分配）和感知预留（终端自主选择）。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7.1.9  D2D</a:t>
            </a:r>
            <a:r>
              <a:rPr lang="zh-CN" altLang="zh-CN" dirty="0">
                <a:sym typeface="+mn-ea"/>
              </a:rPr>
              <a:t>通信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的关键技术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）干扰管理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功率控制：基站或终端动态调整发射功率，避免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链路与蜂窝链路互相干扰。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资源隔离：为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分配专用资源块（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RB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），或通过空分复用（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SDM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）共享资源。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）发现与连接建立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发现协议：终端通过广播信号（如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Discovery Signal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）寻找邻近设备。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连接建立：基站辅助或终端自主协商建立安全链路（如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PC5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接口）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7.1.9  D2D</a:t>
            </a:r>
            <a:r>
              <a:rPr lang="zh-CN" altLang="zh-CN" dirty="0">
                <a:sym typeface="+mn-ea"/>
              </a:rPr>
              <a:t>通信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的技术问题与解决方案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）：资源竞争与干扰，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与蜂窝用户共享频谱时可能互相干扰。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解决方案：动态资源分配，基站通过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预测流量需求，优化资源分配；频分复用：为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D2D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分配专用频段（如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5.9GHz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V2X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）：移动性管理，高速移动场景（如车辆）下链路易中断。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解决方案：快速切换，基于预测的链路预建立（如车辆轨迹预测）；中继辅助：通过其他终端或路边单元（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RSU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）转发数据。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）：安全与隐私，直连通信易受窃听或伪造攻击。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解决方案：身份认证，加密传输。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7.1.9  D2D</a:t>
            </a:r>
            <a:r>
              <a:rPr lang="zh-CN" altLang="zh-CN" dirty="0">
                <a:sym typeface="+mn-ea"/>
              </a:rPr>
              <a:t>通信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不仅提供高速通信，还具备厘米级至亚米级的高精度定位能力，远超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（通常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10~100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米精度）。这一技术赋能自动驾驶、工业物联网、智慧城市等场景，成为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的关键差异化能力之一。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高精度定位通过多基站协同、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纠偏和侧行链路等技术，突破传统定位瓶颈，成为工业、交通和消费领域的核心使能技术。随着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R18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进一步优化，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定位将向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全域厘米级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演进，成为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智能社会的空间感知基石。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7.1.10  </a:t>
            </a:r>
            <a:r>
              <a:rPr lang="zh-CN" altLang="en-US" dirty="0">
                <a:sym typeface="+mn-ea"/>
              </a:rPr>
              <a:t>高精度定位技术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5G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高精度定位的核心技术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）多基站协同定位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TOA/TDOA</a:t>
            </a:r>
            <a:r>
              <a:rPr lang="zh-CN" altLang="en-US" sz="2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（到达时间</a:t>
            </a:r>
            <a:r>
              <a:rPr lang="en-US" altLang="zh-CN" sz="2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时间差定位）</a:t>
            </a:r>
            <a:endParaRPr lang="zh-CN" altLang="en-US" sz="26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TOA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：测量信号从终端到多个基站的绝对传播时间，通过球面交汇计算位置（需严格时间同步）。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TDOA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：通过信号到达不同基站的时间差计算终端位置（无需终端时间同步）。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精度：室外可达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1~3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米，依赖基站密度和同步精度。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7.1.10  </a:t>
            </a:r>
            <a:r>
              <a:rPr lang="zh-CN" altLang="en-US" dirty="0">
                <a:sym typeface="+mn-ea"/>
              </a:rPr>
              <a:t>高精度定位技术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5G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高精度定位的核心技术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）多基站协同定位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AOA</a:t>
            </a:r>
            <a:r>
              <a:rPr lang="zh-CN" altLang="en-US" sz="2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（到达角定位）</a:t>
            </a:r>
            <a:endParaRPr lang="zh-CN" altLang="en-US" sz="26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利用大规模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MIMO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天线阵列测量信号入射角度，结合距离信息定位。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优势：适用于室内或基站稀疏场景。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）终端侧辅助定位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 NR Sidelink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（侧行链路）：车联网中车辆通过直连通信交换位置信息，实现协同定位。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传感器融合：结合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IMU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（惯性测量单元）、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GNSS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（卫星定位）和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测量数据。</a:t>
            </a:r>
            <a:endParaRPr lang="en-US" altLang="zh-CN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7.1.10  </a:t>
            </a:r>
            <a:r>
              <a:rPr lang="zh-CN" altLang="en-US" dirty="0">
                <a:sym typeface="+mn-ea"/>
              </a:rPr>
              <a:t>高精度定位技术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5G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高精度定位的核心技术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R16/R17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增强技术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多频段测量：结合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Sub-6GHz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（覆盖广）和毫米波（方向性强）提升精度。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定位优化：通过机器学习校正多径误差（如</a:t>
            </a:r>
            <a:r>
              <a:rPr lang="en-US" altLang="zh-CN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NLOS</a:t>
            </a:r>
            <a:r>
              <a:rPr lang="zh-CN" altLang="en-US" sz="2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非视距传播）。</a:t>
            </a:r>
            <a:endParaRPr lang="zh-CN" altLang="en-US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7.1.10  </a:t>
            </a:r>
            <a:r>
              <a:rPr lang="zh-CN" altLang="en-US" dirty="0">
                <a:sym typeface="+mn-ea"/>
              </a:rPr>
              <a:t>高精度定位技术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487805" y="3397250"/>
          <a:ext cx="8881745" cy="3388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5667375" imgH="2162175" progId="Paint.Picture">
                  <p:embed/>
                </p:oleObj>
              </mc:Choice>
              <mc:Fallback>
                <p:oleObj name="" r:id="rId4" imgW="5667375" imgH="21621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87805" y="3397250"/>
                        <a:ext cx="8881745" cy="3388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）工业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4.0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（智能制造）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AGV/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机器人定位：工厂内搬运机器人通过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基站实现厘米级实时定位。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资产追踪：高价值设备（如半导体晶圆盒）位置监控，防丢防错。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）自动驾驶与车联网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车道级导航：结合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5G+V2X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，车辆定位精度达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厘米，支持匝道精准驶入。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泊车辅助：地下停车场无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GNSS</a:t>
            </a:r>
            <a:r>
              <a:rPr lang="zh-CN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（卫星信号）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时，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定位引导自动泊车。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7.1.10  </a:t>
            </a:r>
            <a:r>
              <a:rPr lang="zh-CN" altLang="en-US" dirty="0">
                <a:sym typeface="+mn-ea"/>
              </a:rPr>
              <a:t>高精度定位技术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）智慧城市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紧急救援：消防员在烟雾中通过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室内定位快速找到受困者。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无人机巡检：基站为无人机提供实时位置更新，避免碰撞。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AR/VR</a:t>
            </a: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元宇宙交互：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5G+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定位实现虚拟物体与真实空间的精准叠加（如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导览）。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7.1.10  </a:t>
            </a:r>
            <a:r>
              <a:rPr lang="zh-CN" altLang="en-US" dirty="0">
                <a:sym typeface="+mn-ea"/>
              </a:rPr>
              <a:t>高精度定位技术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标准化与商用进展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3GPP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标准：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R16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：定义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定位架构（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LMF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定位管理功能）、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NR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定位信号（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R17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：增强工业物联网（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IIoT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）定位，支持更低时延（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&lt;10ms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商用案例：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中国移动：在深圳机场部署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室内定位（精度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米），引导旅客登机。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德国博世：工厂内通过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AGV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，误差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&lt;30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厘米。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Verizon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：与车企合作测试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5G+V2X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车道级定位。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7.1.10  </a:t>
            </a:r>
            <a:r>
              <a:rPr lang="zh-CN" altLang="en-US" dirty="0">
                <a:sym typeface="+mn-ea"/>
              </a:rPr>
              <a:t>高精度定位技术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263525" y="332740"/>
          <a:ext cx="11819255" cy="383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8867775" imgH="2876550" progId="Paint.Picture">
                  <p:embed/>
                </p:oleObj>
              </mc:Choice>
              <mc:Fallback>
                <p:oleObj name="" r:id="rId4" imgW="8867775" imgH="28765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3525" y="332740"/>
                        <a:ext cx="11819255" cy="3833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63525" y="2708910"/>
          <a:ext cx="11532870" cy="3931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6" imgW="8886825" imgH="3028950" progId="Paint.Picture">
                  <p:embed/>
                </p:oleObj>
              </mc:Choice>
              <mc:Fallback>
                <p:oleObj name="" r:id="rId6" imgW="8886825" imgH="302895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3525" y="2708910"/>
                        <a:ext cx="11532870" cy="3931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263525" y="1988820"/>
          <a:ext cx="11624945" cy="358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8" imgW="8439150" imgH="2600325" progId="Paint.Picture">
                  <p:embed/>
                </p:oleObj>
              </mc:Choice>
              <mc:Fallback>
                <p:oleObj name="" r:id="rId8" imgW="8439150" imgH="26003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3525" y="1988820"/>
                        <a:ext cx="11624945" cy="3582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非公共网络（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Non-Public Network, 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）技术是专为特定行业或组织设计的私有网络解决方案，提供高安全性、低延迟和定制化服务。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技术，企业能构建适应垂直行业需求的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专网，平衡性能、安全与成本，推动数字化转型。实际部署时需根据业务需求选择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（独立部署）或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PNI-NPN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（公共网络集成）模式。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7.1.11  </a:t>
            </a:r>
            <a:r>
              <a:rPr lang="zh-CN" altLang="en-US" dirty="0">
                <a:sym typeface="+mn-ea"/>
              </a:rPr>
              <a:t>非公共网络技术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两种实现方式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）独立部署（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Standalone NPN, SNPN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），完全独立于公共网络，拥有专属的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核心网、无线接入网（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）及频谱资源。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适用场景：工厂、军事基地、偏远矿区等需要完全隔离的场景。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优势：数据本地化、超高可靠性（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99.9999%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）、完全控制权。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）公共网络集成（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Public Network Integrated NPN, PNI-NPN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），基于运营商公共网络基础设施，通过网络切片或专用资源实现虚拟私有化。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适用场景：医院、智慧园区、港口等需要部分公网连接的场景。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优势：成本较低、快速部署、灵活扩展。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7.1.11  </a:t>
            </a:r>
            <a:r>
              <a:rPr lang="zh-CN" altLang="en-US" dirty="0">
                <a:sym typeface="+mn-ea"/>
              </a:rPr>
              <a:t>非公共网络技术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典型应用场景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）工业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4.0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（智能制造），如富士康工厂部署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（独立部署），故障响应时间从小时级降至分钟级。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）能源行业，智能电网中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支持广域传感器数据实时回传（延迟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&lt;20ms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）医疗健康，医院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PNI-NPN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切片保障远程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超等高带宽业务，同时隔离普通用户流量。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交）通与港口，天津港采用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NPN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实现无人集卡调度，定位精度达厘米级。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7.1.11  </a:t>
            </a:r>
            <a:r>
              <a:rPr lang="zh-CN" altLang="en-US" dirty="0">
                <a:sym typeface="+mn-ea"/>
              </a:rPr>
              <a:t>非公共网络技术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传统网络：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IP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网络基于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尽力而为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原则，时延受拥塞、路由变化等影响，波动大（可达毫秒级）。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工业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4.0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需求：例如机器人协同（时延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，抖动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&lt;10μs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）、电网差动保护（时延</a:t>
            </a:r>
            <a:r>
              <a:rPr lang="en-US" altLang="zh-CN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&lt;10ms</a:t>
            </a: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，零丢包）等场景需严格保障。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时延确定性网络（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Deterministic Networking, DetNet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）是为满足工业自动化、远程控制等场景对超低时延（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Ultra-Low Latency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）和时延抖动（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Jitter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）严格需求而设计的关键技术。其目标是确保数据在端到端传输中的可预测性和可靠性，时延波动控制在微秒级（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μs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）甚至更低。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7.1.12  </a:t>
            </a:r>
            <a:r>
              <a:rPr lang="zh-CN" altLang="en-US" dirty="0">
                <a:sym typeface="+mn-ea"/>
              </a:rPr>
              <a:t>时延确定性网络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300990" y="991870"/>
            <a:ext cx="11411585" cy="563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典型应用场景</a:t>
            </a:r>
            <a:endParaRPr lang="zh-CN" altLang="en-US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图片 25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9730740" y="-3175"/>
            <a:ext cx="2459990" cy="7264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144735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7.1 </a:t>
            </a:r>
            <a:r>
              <a:rPr lang="zh-CN" dirty="0">
                <a:sym typeface="+mn-ea"/>
              </a:rPr>
              <a:t>关键技术</a:t>
            </a:r>
            <a:r>
              <a:rPr lang="en-US" altLang="zh-CN" dirty="0">
                <a:sym typeface="+mn-ea"/>
              </a:rPr>
              <a:t>             7.1.12  </a:t>
            </a:r>
            <a:r>
              <a:rPr lang="zh-CN" altLang="en-US" dirty="0">
                <a:sym typeface="+mn-ea"/>
              </a:rPr>
              <a:t>时延确定性网络</a:t>
            </a:r>
            <a:endParaRPr lang="zh-CN" altLang="en-US" dirty="0"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695960" y="2061210"/>
          <a:ext cx="10493375" cy="407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5638800" imgH="2190750" progId="Paint.Picture">
                  <p:embed/>
                </p:oleObj>
              </mc:Choice>
              <mc:Fallback>
                <p:oleObj name="" r:id="rId4" imgW="5638800" imgH="21907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5960" y="2061210"/>
                        <a:ext cx="10493375" cy="4076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2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  <p:tag name="KSO_WM_UNIT_TEXT_LAYER_COUNT" val="1"/>
</p:tagLst>
</file>

<file path=ppt/tags/tag2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6"/>
  <p:tag name="KSO_WM_UNIT_TEXT_LAYER_COUNT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4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3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6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7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7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4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34"/>
</p:tagLst>
</file>

<file path=ppt/tags/tag1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5934"/>
</p:tagLst>
</file>

<file path=ppt/tags/tag12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34"/>
  <p:tag name="KSO_WM_TEMPLATE_CATEGORY" val="custom"/>
  <p:tag name="KSO_WM_TEMPLATE_MASTER_TYPE" val="0"/>
  <p:tag name="KSO_WM_TEMPLATE_COLORSEQUENCE" val="1,2,3,4,5,6"/>
</p:tagLst>
</file>

<file path=ppt/tags/tag1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3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34"/>
  <p:tag name="KSO_WM_TEMPLATE_CATEGORY" val="custom"/>
  <p:tag name="KSO_WM_UNIT_ISCONTENTSTITLE" val="0"/>
  <p:tag name="KSO_WM_UNIT_TEXT_TYPE" val="1"/>
  <p:tag name="KSO_WM_UNIT_PRESET_TEXT" val="单击此处&#10;添加文档标题"/>
</p:tagLst>
</file>

<file path=ppt/tags/tag125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5934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34"/>
  <p:tag name="KSO_WM_TEMPLATE_CATEGORY" val="custom"/>
  <p:tag name="KSO_WM_UNIT_VALUE" val="13"/>
  <p:tag name="KSO_WM_UNIT_TEXT_LAYER_COUNT" val="1"/>
  <p:tag name="KSO_WM_UNIT_PRESET_TEXT_INDEX" val="-1"/>
  <p:tag name="KSO_WM_UNIT_PRESET_TEXT_LEN" val="0"/>
</p:tagLst>
</file>

<file path=ppt/tags/tag12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3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34"/>
  <p:tag name="KSO_WM_TEMPLATE_CATEGORY" val="custom"/>
  <p:tag name="KSO_WM_UNIT_TEXT_LAYER_COUNT" val="1"/>
  <p:tag name="KSO_WM_UNIT_PRESET_TEXT_INDEX" val="-1"/>
  <p:tag name="KSO_WM_UNIT_PRESET_TEXT_LEN" val="0"/>
</p:tagLst>
</file>

<file path=ppt/tags/tag127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34"/>
  <p:tag name="KSO_WM_TEMPLATE_CATEGORY" val="custom"/>
  <p:tag name="KSO_WM_SLIDE_INDEX" val="1"/>
  <p:tag name="KSO_WM_SLIDE_ID" val="custom20235934_1"/>
  <p:tag name="KSO_WM_TEMPLATE_MASTER_TYPE" val="0"/>
  <p:tag name="KSO_WM_SLIDE_LAYOUT" val="a_f"/>
  <p:tag name="KSO_WM_SLIDE_LAYOUT_CNT" val="1_2"/>
  <p:tag name="KSO_WM_TEMPLATE_COLORSEQUENCE" val="1,2,3,4,5,6"/>
  <p:tag name="KSO_WM_SLIDE_THEME_ID" val="3326740"/>
  <p:tag name="KSO_WM_SLIDE_THEME_NAME" val="蓝色职场办公简约风主题"/>
</p:tagLst>
</file>

<file path=ppt/tags/tag12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3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3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3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3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3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37.xml><?xml version="1.0" encoding="utf-8"?>
<p:tagLst xmlns:p="http://schemas.openxmlformats.org/presentationml/2006/main">
  <p:tag name="KSO_WM_UNIT_SUBTYPE" val="a"/>
</p:tagLst>
</file>

<file path=ppt/tags/tag138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3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40.xml><?xml version="1.0" encoding="utf-8"?>
<p:tagLst xmlns:p="http://schemas.openxmlformats.org/presentationml/2006/main">
  <p:tag name="KSO_WM_UNIT_SUBTYPE" val="a"/>
</p:tagLst>
</file>

<file path=ppt/tags/tag141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4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43.xml><?xml version="1.0" encoding="utf-8"?>
<p:tagLst xmlns:p="http://schemas.openxmlformats.org/presentationml/2006/main">
  <p:tag name="KSO_WM_UNIT_SUBTYPE" val="a"/>
</p:tagLst>
</file>

<file path=ppt/tags/tag144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4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46.xml><?xml version="1.0" encoding="utf-8"?>
<p:tagLst xmlns:p="http://schemas.openxmlformats.org/presentationml/2006/main">
  <p:tag name="KSO_WM_UNIT_SUBTYPE" val="a"/>
</p:tagLst>
</file>

<file path=ppt/tags/tag14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4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49.xml><?xml version="1.0" encoding="utf-8"?>
<p:tagLst xmlns:p="http://schemas.openxmlformats.org/presentationml/2006/main">
  <p:tag name="KSO_WM_UNIT_SUBTYPE" val="a"/>
</p:tagLst>
</file>

<file path=ppt/tags/tag150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5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52.xml><?xml version="1.0" encoding="utf-8"?>
<p:tagLst xmlns:p="http://schemas.openxmlformats.org/presentationml/2006/main">
  <p:tag name="KSO_WM_UNIT_SUBTYPE" val="a"/>
</p:tagLst>
</file>

<file path=ppt/tags/tag153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5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55.xml><?xml version="1.0" encoding="utf-8"?>
<p:tagLst xmlns:p="http://schemas.openxmlformats.org/presentationml/2006/main">
  <p:tag name="KSO_WM_UNIT_SUBTYPE" val="a"/>
</p:tagLst>
</file>

<file path=ppt/tags/tag156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5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58.xml><?xml version="1.0" encoding="utf-8"?>
<p:tagLst xmlns:p="http://schemas.openxmlformats.org/presentationml/2006/main">
  <p:tag name="KSO_WM_UNIT_SUBTYPE" val="a"/>
</p:tagLst>
</file>

<file path=ppt/tags/tag159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6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61.xml><?xml version="1.0" encoding="utf-8"?>
<p:tagLst xmlns:p="http://schemas.openxmlformats.org/presentationml/2006/main">
  <p:tag name="KSO_WM_UNIT_SUBTYPE" val="a"/>
</p:tagLst>
</file>

<file path=ppt/tags/tag162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6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64.xml><?xml version="1.0" encoding="utf-8"?>
<p:tagLst xmlns:p="http://schemas.openxmlformats.org/presentationml/2006/main">
  <p:tag name="KSO_WM_UNIT_SUBTYPE" val="a"/>
</p:tagLst>
</file>

<file path=ppt/tags/tag165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6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67.xml><?xml version="1.0" encoding="utf-8"?>
<p:tagLst xmlns:p="http://schemas.openxmlformats.org/presentationml/2006/main">
  <p:tag name="KSO_WM_UNIT_SUBTYPE" val="a"/>
</p:tagLst>
</file>

<file path=ppt/tags/tag168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6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70.xml><?xml version="1.0" encoding="utf-8"?>
<p:tagLst xmlns:p="http://schemas.openxmlformats.org/presentationml/2006/main">
  <p:tag name="KSO_WM_UNIT_SUBTYPE" val="a"/>
</p:tagLst>
</file>

<file path=ppt/tags/tag171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73.xml><?xml version="1.0" encoding="utf-8"?>
<p:tagLst xmlns:p="http://schemas.openxmlformats.org/presentationml/2006/main">
  <p:tag name="KSO_WM_UNIT_SUBTYPE" val="a"/>
</p:tagLst>
</file>

<file path=ppt/tags/tag174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7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76.xml><?xml version="1.0" encoding="utf-8"?>
<p:tagLst xmlns:p="http://schemas.openxmlformats.org/presentationml/2006/main">
  <p:tag name="KSO_WM_UNIT_SUBTYPE" val="a"/>
</p:tagLst>
</file>

<file path=ppt/tags/tag17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7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79.xml><?xml version="1.0" encoding="utf-8"?>
<p:tagLst xmlns:p="http://schemas.openxmlformats.org/presentationml/2006/main">
  <p:tag name="KSO_WM_UNIT_SUBTYPE" val="a"/>
</p:tagLst>
</file>

<file path=ppt/tags/tag180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8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82.xml><?xml version="1.0" encoding="utf-8"?>
<p:tagLst xmlns:p="http://schemas.openxmlformats.org/presentationml/2006/main">
  <p:tag name="KSO_WM_UNIT_SUBTYPE" val="a"/>
</p:tagLst>
</file>

<file path=ppt/tags/tag183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8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85.xml><?xml version="1.0" encoding="utf-8"?>
<p:tagLst xmlns:p="http://schemas.openxmlformats.org/presentationml/2006/main">
  <p:tag name="KSO_WM_UNIT_SUBTYPE" val="a"/>
</p:tagLst>
</file>

<file path=ppt/tags/tag186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8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88.xml><?xml version="1.0" encoding="utf-8"?>
<p:tagLst xmlns:p="http://schemas.openxmlformats.org/presentationml/2006/main">
  <p:tag name="KSO_WM_UNIT_SUBTYPE" val="a"/>
</p:tagLst>
</file>

<file path=ppt/tags/tag189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9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91.xml><?xml version="1.0" encoding="utf-8"?>
<p:tagLst xmlns:p="http://schemas.openxmlformats.org/presentationml/2006/main">
  <p:tag name="KSO_WM_UNIT_SUBTYPE" val="a"/>
</p:tagLst>
</file>

<file path=ppt/tags/tag192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9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94.xml><?xml version="1.0" encoding="utf-8"?>
<p:tagLst xmlns:p="http://schemas.openxmlformats.org/presentationml/2006/main">
  <p:tag name="KSO_WM_UNIT_SUBTYPE" val="a"/>
</p:tagLst>
</file>

<file path=ppt/tags/tag195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9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197.xml><?xml version="1.0" encoding="utf-8"?>
<p:tagLst xmlns:p="http://schemas.openxmlformats.org/presentationml/2006/main">
  <p:tag name="KSO_WM_UNIT_SUBTYPE" val="a"/>
</p:tagLst>
</file>

<file path=ppt/tags/tag198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19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00.xml><?xml version="1.0" encoding="utf-8"?>
<p:tagLst xmlns:p="http://schemas.openxmlformats.org/presentationml/2006/main">
  <p:tag name="KSO_WM_UNIT_SUBTYPE" val="a"/>
</p:tagLst>
</file>

<file path=ppt/tags/tag201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0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03.xml><?xml version="1.0" encoding="utf-8"?>
<p:tagLst xmlns:p="http://schemas.openxmlformats.org/presentationml/2006/main">
  <p:tag name="KSO_WM_UNIT_SUBTYPE" val="a"/>
</p:tagLst>
</file>

<file path=ppt/tags/tag204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06.xml><?xml version="1.0" encoding="utf-8"?>
<p:tagLst xmlns:p="http://schemas.openxmlformats.org/presentationml/2006/main">
  <p:tag name="KSO_WM_UNIT_SUBTYPE" val="a"/>
</p:tagLst>
</file>

<file path=ppt/tags/tag20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0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09.xml><?xml version="1.0" encoding="utf-8"?>
<p:tagLst xmlns:p="http://schemas.openxmlformats.org/presentationml/2006/main">
  <p:tag name="KSO_WM_UNIT_SUBTYPE" val="a"/>
</p:tagLst>
</file>

<file path=ppt/tags/tag210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1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12.xml><?xml version="1.0" encoding="utf-8"?>
<p:tagLst xmlns:p="http://schemas.openxmlformats.org/presentationml/2006/main">
  <p:tag name="KSO_WM_UNIT_SUBTYPE" val="a"/>
</p:tagLst>
</file>

<file path=ppt/tags/tag213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1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15.xml><?xml version="1.0" encoding="utf-8"?>
<p:tagLst xmlns:p="http://schemas.openxmlformats.org/presentationml/2006/main">
  <p:tag name="KSO_WM_UNIT_SUBTYPE" val="a"/>
</p:tagLst>
</file>

<file path=ppt/tags/tag216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1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18.xml><?xml version="1.0" encoding="utf-8"?>
<p:tagLst xmlns:p="http://schemas.openxmlformats.org/presentationml/2006/main">
  <p:tag name="KSO_WM_UNIT_SUBTYPE" val="a"/>
</p:tagLst>
</file>

<file path=ppt/tags/tag219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2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21.xml><?xml version="1.0" encoding="utf-8"?>
<p:tagLst xmlns:p="http://schemas.openxmlformats.org/presentationml/2006/main">
  <p:tag name="KSO_WM_UNIT_SUBTYPE" val="a"/>
</p:tagLst>
</file>

<file path=ppt/tags/tag222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2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24.xml><?xml version="1.0" encoding="utf-8"?>
<p:tagLst xmlns:p="http://schemas.openxmlformats.org/presentationml/2006/main">
  <p:tag name="KSO_WM_UNIT_SUBTYPE" val="a"/>
</p:tagLst>
</file>

<file path=ppt/tags/tag225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2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27.xml><?xml version="1.0" encoding="utf-8"?>
<p:tagLst xmlns:p="http://schemas.openxmlformats.org/presentationml/2006/main">
  <p:tag name="KSO_WM_UNIT_SUBTYPE" val="a"/>
</p:tagLst>
</file>

<file path=ppt/tags/tag228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2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30.xml><?xml version="1.0" encoding="utf-8"?>
<p:tagLst xmlns:p="http://schemas.openxmlformats.org/presentationml/2006/main">
  <p:tag name="KSO_WM_UNIT_SUBTYPE" val="a"/>
</p:tagLst>
</file>

<file path=ppt/tags/tag231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3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33.xml><?xml version="1.0" encoding="utf-8"?>
<p:tagLst xmlns:p="http://schemas.openxmlformats.org/presentationml/2006/main">
  <p:tag name="KSO_WM_UNIT_SUBTYPE" val="a"/>
</p:tagLst>
</file>

<file path=ppt/tags/tag234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36.xml><?xml version="1.0" encoding="utf-8"?>
<p:tagLst xmlns:p="http://schemas.openxmlformats.org/presentationml/2006/main">
  <p:tag name="KSO_WM_UNIT_SUBTYPE" val="a"/>
</p:tagLst>
</file>

<file path=ppt/tags/tag23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3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39.xml><?xml version="1.0" encoding="utf-8"?>
<p:tagLst xmlns:p="http://schemas.openxmlformats.org/presentationml/2006/main">
  <p:tag name="KSO_WM_UNIT_SUBTYPE" val="a"/>
</p:tagLst>
</file>

<file path=ppt/tags/tag240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4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42.xml><?xml version="1.0" encoding="utf-8"?>
<p:tagLst xmlns:p="http://schemas.openxmlformats.org/presentationml/2006/main">
  <p:tag name="KSO_WM_UNIT_SUBTYPE" val="a"/>
</p:tagLst>
</file>

<file path=ppt/tags/tag243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4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45.xml><?xml version="1.0" encoding="utf-8"?>
<p:tagLst xmlns:p="http://schemas.openxmlformats.org/presentationml/2006/main">
  <p:tag name="KSO_WM_UNIT_SUBTYPE" val="a"/>
</p:tagLst>
</file>

<file path=ppt/tags/tag246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4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48.xml><?xml version="1.0" encoding="utf-8"?>
<p:tagLst xmlns:p="http://schemas.openxmlformats.org/presentationml/2006/main">
  <p:tag name="KSO_WM_UNIT_SUBTYPE" val="a"/>
</p:tagLst>
</file>

<file path=ppt/tags/tag249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5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51.xml><?xml version="1.0" encoding="utf-8"?>
<p:tagLst xmlns:p="http://schemas.openxmlformats.org/presentationml/2006/main">
  <p:tag name="KSO_WM_UNIT_SUBTYPE" val="a"/>
</p:tagLst>
</file>

<file path=ppt/tags/tag252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5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54.xml><?xml version="1.0" encoding="utf-8"?>
<p:tagLst xmlns:p="http://schemas.openxmlformats.org/presentationml/2006/main">
  <p:tag name="KSO_WM_UNIT_SUBTYPE" val="a"/>
</p:tagLst>
</file>

<file path=ppt/tags/tag255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5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57.xml><?xml version="1.0" encoding="utf-8"?>
<p:tagLst xmlns:p="http://schemas.openxmlformats.org/presentationml/2006/main">
  <p:tag name="KSO_WM_UNIT_SUBTYPE" val="a"/>
</p:tagLst>
</file>

<file path=ppt/tags/tag258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5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60.xml><?xml version="1.0" encoding="utf-8"?>
<p:tagLst xmlns:p="http://schemas.openxmlformats.org/presentationml/2006/main">
  <p:tag name="KSO_WM_UNIT_SUBTYPE" val="a"/>
</p:tagLst>
</file>

<file path=ppt/tags/tag261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6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ags/tag26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64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6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34"/>
  <p:tag name="KSO_WM_TEMPLATE_CATEGORY" val="custom"/>
  <p:tag name="KSO_WM_SLIDE_INDEX" val="8"/>
  <p:tag name="KSO_WM_SLIDE_ID" val="custom20235934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4,5,6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通用_蓝">
  <a:themeElements>
    <a:clrScheme name="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通用_蓝">
  <a:themeElements>
    <a:clrScheme name="1_通用_蓝 13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通用_蓝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通用_蓝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通用_蓝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2024.3.12-4">
      <a:dk1>
        <a:srgbClr val="333333"/>
      </a:dk1>
      <a:lt1>
        <a:sysClr val="window" lastClr="FFFFFF"/>
      </a:lt1>
      <a:dk2>
        <a:srgbClr val="031A2F"/>
      </a:dk2>
      <a:lt2>
        <a:srgbClr val="E6EFFE"/>
      </a:lt2>
      <a:accent1>
        <a:srgbClr val="3758FB"/>
      </a:accent1>
      <a:accent2>
        <a:srgbClr val="419BFD"/>
      </a:accent2>
      <a:accent3>
        <a:srgbClr val="6542FC"/>
      </a:accent3>
      <a:accent4>
        <a:srgbClr val="9B42FC"/>
      </a:accent4>
      <a:accent5>
        <a:srgbClr val="D042FC"/>
      </a:accent5>
      <a:accent6>
        <a:srgbClr val="FB43CB"/>
      </a:accent6>
      <a:hlink>
        <a:srgbClr val="0026E5"/>
      </a:hlink>
      <a:folHlink>
        <a:srgbClr val="7E1FAD"/>
      </a:folHlink>
    </a:clrScheme>
    <a:fontScheme name="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蓝白</Template>
  <TotalTime>0</TotalTime>
  <Words>9361</Words>
  <Application>WPS 演示</Application>
  <PresentationFormat>全屏显示(4:3)</PresentationFormat>
  <Paragraphs>418</Paragraphs>
  <Slides>47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47</vt:i4>
      </vt:variant>
    </vt:vector>
  </HeadingPairs>
  <TitlesOfParts>
    <vt:vector size="71" baseType="lpstr">
      <vt:lpstr>Arial</vt:lpstr>
      <vt:lpstr>宋体</vt:lpstr>
      <vt:lpstr>Wingdings</vt:lpstr>
      <vt:lpstr>隶书</vt:lpstr>
      <vt:lpstr>微软雅黑</vt:lpstr>
      <vt:lpstr>Wingdings</vt:lpstr>
      <vt:lpstr>Wingdings 2</vt:lpstr>
      <vt:lpstr>Wingdings</vt:lpstr>
      <vt:lpstr>江城圆体 400W</vt:lpstr>
      <vt:lpstr>Calibri</vt:lpstr>
      <vt:lpstr>Calibri Light</vt:lpstr>
      <vt:lpstr>Arial Unicode MS</vt:lpstr>
      <vt:lpstr>通用_蓝</vt:lpstr>
      <vt:lpstr>1_通用_蓝</vt:lpstr>
      <vt:lpstr>凸显</vt:lpstr>
      <vt:lpstr>Office 主题​​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第七章 第五代移动通信系统关键技术及其应用</vt:lpstr>
      <vt:lpstr>第7章 第五代移动通信系统关键技术及其应用</vt:lpstr>
      <vt:lpstr>7.1 关键技术             7.1.1   大规模天线技术</vt:lpstr>
      <vt:lpstr>7.1 关键技术             7.1.1   大规模天线技术</vt:lpstr>
      <vt:lpstr>7.1 关键技术             7.1.2  毫米波技术</vt:lpstr>
      <vt:lpstr>7.1 关键技术             7.1.2  毫米波技术</vt:lpstr>
      <vt:lpstr>7.1 关键技术             7.1.2  毫米波技术</vt:lpstr>
      <vt:lpstr>7.1 关键技术             7.1.2  毫米波技术</vt:lpstr>
      <vt:lpstr>7.1 关键技术             7.1.2  毫米波技术</vt:lpstr>
      <vt:lpstr>7.1 关键技术             7.1.2  毫米波技术</vt:lpstr>
      <vt:lpstr>7.1 关键技术             7.1.3  灵活空口技术</vt:lpstr>
      <vt:lpstr>7.1 关键技术             7.1.3  灵活空口技术</vt:lpstr>
      <vt:lpstr>7.1 关键技术             7.1.3  灵活空口技术</vt:lpstr>
      <vt:lpstr>7.1 关键技术             7.1.3  灵活空口技术</vt:lpstr>
      <vt:lpstr>7.1 关键技术             7.1.4  大带宽技术</vt:lpstr>
      <vt:lpstr>7.1 关键技术             7.1.4  大带宽技术</vt:lpstr>
      <vt:lpstr>7.1 关键技术             7.1.5  辅助上行技术</vt:lpstr>
      <vt:lpstr>7.1 关键技术             7.1.5  辅助上行技术</vt:lpstr>
      <vt:lpstr>7.1 关键技术             7.1.6  频谱共享技术</vt:lpstr>
      <vt:lpstr>7.1 关键技术             7.1.6  频谱共享技术</vt:lpstr>
      <vt:lpstr>7.1 关键技术             7.1.6  频谱共享技术</vt:lpstr>
      <vt:lpstr>7.1 关键技术             7.1.6  频谱共享技术</vt:lpstr>
      <vt:lpstr>7.1 关键技术             7.1.7  边缘计算技术（MEC）</vt:lpstr>
      <vt:lpstr>7.1 关键技术             7.1.7  边缘计算技术（MEC）</vt:lpstr>
      <vt:lpstr>7.1 关键技术             7.1.7  边缘计算技术（MEC）</vt:lpstr>
      <vt:lpstr>7.1 关键技术             7.1.7  边缘计算技术（MEC）</vt:lpstr>
      <vt:lpstr>7.1 关键技术             7.1.8  网络切片技术</vt:lpstr>
      <vt:lpstr>7.1 关键技术             7.1.8  网络切片技术</vt:lpstr>
      <vt:lpstr>7.1 关键技术             7.1.8  网络切片技术</vt:lpstr>
      <vt:lpstr>7.1 关键技术             7.1.9  D2D通信技术</vt:lpstr>
      <vt:lpstr>7.1 关键技术             7.1.9  D2D通信技术</vt:lpstr>
      <vt:lpstr>7.1 关键技术             7.1.9  D2D通信技术</vt:lpstr>
      <vt:lpstr>7.1 关键技术             7.1.9  D2D通信技术</vt:lpstr>
      <vt:lpstr>7.1 关键技术             7.1.9  D2D通信技术</vt:lpstr>
      <vt:lpstr>7.1 关键技术             7.1.9  D2D通信技术</vt:lpstr>
      <vt:lpstr>7.1 关键技术             7.1.10  高精度定位技术</vt:lpstr>
      <vt:lpstr>7.1 关键技术             7.1.10  高精度定位技术</vt:lpstr>
      <vt:lpstr>7.1 关键技术             7.1.10  高精度定位技术</vt:lpstr>
      <vt:lpstr>7.1 关键技术             7.1.10  高精度定位技术</vt:lpstr>
      <vt:lpstr>7.1 关键技术             7.1.10  高精度定位技术</vt:lpstr>
      <vt:lpstr>7.1 关键技术             7.1.10  高精度定位技术</vt:lpstr>
      <vt:lpstr>7.1 关键技术             7.1.10  高精度定位技术</vt:lpstr>
      <vt:lpstr>7.1 关键技术             7.1.11  非公共网络技术</vt:lpstr>
      <vt:lpstr>7.1 关键技术             7.1.11  非公共网络技术</vt:lpstr>
      <vt:lpstr>7.1 关键技术             7.1.11  非公共网络技术</vt:lpstr>
      <vt:lpstr>7.1 关键技术             7.1.12  时延确定性网络</vt:lpstr>
      <vt:lpstr>7.1 关键技术             7.1.12  时延确定性网络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一片云</cp:lastModifiedBy>
  <cp:revision>279</cp:revision>
  <dcterms:created xsi:type="dcterms:W3CDTF">2020-02-17T02:50:00Z</dcterms:created>
  <dcterms:modified xsi:type="dcterms:W3CDTF">2025-05-08T01:15:59Z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F7AC7067B8F74EBAA58CCC849925E155_13</vt:lpwstr>
  </property>
  <property fmtid="{D5CDD505-2E9C-101B-9397-08002B2CF9AE}" pid="3" name="KSOProductBuildVer">
    <vt:lpwstr>2052-12.1.0.20784</vt:lpwstr>
  </property>
</Properties>
</file>